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5764f5c4-7a5e-4e53-92dd-32a1fe97e9e9}">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Rainfall (mm)</c:v>
                </c:pt>
              </c:strCache>
            </c:strRef>
          </c:tx>
          <c:spPr>
            <a:solidFill>
              <a:srgbClr val="2A78D6"/>
            </a:solidFill>
            <a:effectLst/>
          </c:spPr>
          <c:invertIfNegative val="0"/>
          <c:dLbls>
            <c:numFmt formatCode="0" sourceLinked="0"/>
            <c:txPr>
              <a:bodyPr/>
              <a:lstStyle/>
              <a:p>
                <a:pPr>
                  <a:defRPr b="1" i="0" strike="noStrike" sz="1400" u="none">
                    <a:solidFill>
                      <a:srgbClr val="0B1530"/>
                    </a:solidFill>
                    <a:latin typeface="+mn-lt"/>
                  </a:defRPr>
                </a:pPr>
              </a:p>
            </c:txPr>
            <c:showLegendKey val="0"/>
            <c:showVal val="1"/>
            <c:showCatName val="0"/>
            <c:showSerName val="0"/>
            <c:showPercent val="0"/>
            <c:showBubbleSize val="0"/>
            <c:showLeaderLines val="0"/>
          </c:dLbls>
          <c:cat>
            <c:multiLvlStrRef>
              <c:f>Sheet1!$A$2:$A$3</c:f>
              <c:multiLvlStrCache>
                <c:ptCount val="2"/>
                <c:lvl>
                  <c:pt idx="0">
                    <c:v>Santacruz</c:v>
                  </c:pt>
                  <c:pt idx="1">
                    <c:v>Colaba</c:v>
                  </c:pt>
                </c:lvl>
              </c:multiLvlStrCache>
            </c:multiLvlStrRef>
          </c:cat>
          <c:val>
            <c:numRef>
              <c:f>Sheet1!$B$2:$B$3</c:f>
              <c:numCache>
                <c:formatCode>General</c:formatCode>
                <c:ptCount val="2"/>
                <c:pt idx="0">
                  <c:v>944</c:v>
                </c:pt>
                <c:pt idx="1">
                  <c:v>73</c:v>
                </c:pt>
              </c:numCache>
            </c:numRef>
          </c:val>
        </c:ser>
        <c:dLbls>
          <c:numFmt formatCode="0" sourceLinked="0"/>
          <c:txPr>
            <a:bodyPr/>
            <a:lstStyle/>
            <a:p>
              <a:pPr>
                <a:defRPr b="1" i="0" strike="noStrike" sz="1400" u="none">
                  <a:solidFill>
                    <a:srgbClr val="0B15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4A5578"/>
                </a:solidFill>
                <a:latin typeface="+mn-lt"/>
              </a:defRPr>
            </a:pPr>
            <a:endParaRPr lang="en-US"/>
          </a:p>
        </c:txPr>
        <c:crossAx val="2094734552"/>
        <c:crosses val="autoZero"/>
        <c:auto val="1"/>
        <c:lblAlgn val="ctr"/>
        <c:noMultiLvlLbl val="1"/>
      </c:catAx>
      <c:valAx>
        <c:axId val="2094734552"/>
        <c:scaling>
          <c:orientation val="minMax"/>
          <c:max val="1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4A5578"/>
                </a:solidFill>
                <a:latin typeface="+mn-lt"/>
              </a:defRPr>
            </a:pPr>
            <a:r>
              <a:rPr sz="1000" b="0" i="0" u="none" strike="noStrike">
                <a:solidFill>
                  <a:srgbClr val="4A5578"/>
                </a:solidFill>
                <a:latin typeface="+mn-lt"/>
              </a:rPr>
              <a:t>Network average, hourly (mm/h): links tracked radar closely</a:t>
            </a:r>
          </a:p>
        </c:rich>
      </c:tx>
      <c:layout/>
      <c:overlay val="0"/>
    </c:title>
    <c:autoTitleDeleted val="0"/>
    <c:plotArea>
      <c:layout/>
      <c:lineChart>
        <c:varyColors val="0"/>
        <c:ser>
          <c:idx val="0"/>
          <c:order val="0"/>
          <c:tx>
            <c:strRef>
              <c:f>Sheet1!$B$1</c:f>
              <c:strCache>
                <c:ptCount val="1"/>
                <c:pt idx="0">
                  <c:v>Radar</c:v>
                </c:pt>
              </c:strCache>
            </c:strRef>
          </c:tx>
          <c:spPr>
            <a:solidFill>
              <a:srgbClr val="D95926"/>
            </a:solidFill>
            <a:ln w="19050" cap="flat">
              <a:solidFill>
                <a:srgbClr val="D9592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5926"/>
              </a:solidFill>
              <a:ln w="9525" cap="flat">
                <a:solidFill>
                  <a:srgbClr val="D95926"/>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Sheet1!$B$2:$B$265</c:f>
              <c:numCache>
                <c:formatCode>General</c:formatCode>
                <c:ptCount val="264"/>
                <c:pt idx="0">
                  <c:v>0.01</c:v>
                </c:pt>
                <c:pt idx="1">
                  <c:v>0.03</c:v>
                </c:pt>
                <c:pt idx="2">
                  <c:v>0.07</c:v>
                </c:pt>
                <c:pt idx="3">
                  <c:v>0.07</c:v>
                </c:pt>
                <c:pt idx="4">
                  <c:v>0.13</c:v>
                </c:pt>
                <c:pt idx="5">
                  <c:v>0.13</c:v>
                </c:pt>
                <c:pt idx="6">
                  <c:v>0.1</c:v>
                </c:pt>
                <c:pt idx="7">
                  <c:v>0.03</c:v>
                </c:pt>
                <c:pt idx="8">
                  <c:v>0.06</c:v>
                </c:pt>
                <c:pt idx="9">
                  <c:v>0.14</c:v>
                </c:pt>
                <c:pt idx="10">
                  <c:v>0.36</c:v>
                </c:pt>
                <c:pt idx="11">
                  <c:v>0.8</c:v>
                </c:pt>
                <c:pt idx="12">
                  <c:v>1.04</c:v>
                </c:pt>
                <c:pt idx="13">
                  <c:v>0.51</c:v>
                </c:pt>
                <c:pt idx="14">
                  <c:v>0.44</c:v>
                </c:pt>
                <c:pt idx="15">
                  <c:v>0.25</c:v>
                </c:pt>
                <c:pt idx="16">
                  <c:v>0.22</c:v>
                </c:pt>
                <c:pt idx="17">
                  <c:v>0.27</c:v>
                </c:pt>
                <c:pt idx="18">
                  <c:v>0.41</c:v>
                </c:pt>
                <c:pt idx="19">
                  <c:v>0.2</c:v>
                </c:pt>
                <c:pt idx="20">
                  <c:v>0.03</c:v>
                </c:pt>
                <c:pt idx="21">
                  <c:v>0.02</c:v>
                </c:pt>
                <c:pt idx="22">
                  <c:v>0.01</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0.01</c:v>
                </c:pt>
                <c:pt idx="65">
                  <c:v>0.03</c:v>
                </c:pt>
                <c:pt idx="66">
                  <c:v>0.03</c:v>
                </c:pt>
                <c:pt idx="67">
                  <c:v>0</c:v>
                </c:pt>
                <c:pt idx="68">
                  <c:v>0.01</c:v>
                </c:pt>
                <c:pt idx="69">
                  <c:v>0.04</c:v>
                </c:pt>
                <c:pt idx="70">
                  <c:v>0.02</c:v>
                </c:pt>
                <c:pt idx="71">
                  <c:v>0.02</c:v>
                </c:pt>
                <c:pt idx="72">
                  <c:v>0</c:v>
                </c:pt>
                <c:pt idx="73">
                  <c:v>0</c:v>
                </c:pt>
                <c:pt idx="74">
                  <c:v>0</c:v>
                </c:pt>
                <c:pt idx="75">
                  <c:v>0</c:v>
                </c:pt>
                <c:pt idx="76">
                  <c:v>0</c:v>
                </c:pt>
                <c:pt idx="77">
                  <c:v>0</c:v>
                </c:pt>
                <c:pt idx="78">
                  <c:v>0.02</c:v>
                </c:pt>
                <c:pt idx="79">
                  <c:v>0.02</c:v>
                </c:pt>
                <c:pt idx="80">
                  <c:v>0.02</c:v>
                </c:pt>
                <c:pt idx="81">
                  <c:v>0</c:v>
                </c:pt>
                <c:pt idx="82">
                  <c:v>0</c:v>
                </c:pt>
                <c:pt idx="83">
                  <c:v>0</c:v>
                </c:pt>
                <c:pt idx="84">
                  <c:v>0.13</c:v>
                </c:pt>
                <c:pt idx="85">
                  <c:v>0.4</c:v>
                </c:pt>
                <c:pt idx="86">
                  <c:v>0.54</c:v>
                </c:pt>
                <c:pt idx="87">
                  <c:v>1.22</c:v>
                </c:pt>
                <c:pt idx="88">
                  <c:v>1.35</c:v>
                </c:pt>
                <c:pt idx="89">
                  <c:v>1.18</c:v>
                </c:pt>
                <c:pt idx="90">
                  <c:v>1.54</c:v>
                </c:pt>
                <c:pt idx="91">
                  <c:v>1.75</c:v>
                </c:pt>
                <c:pt idx="92">
                  <c:v>1.51</c:v>
                </c:pt>
                <c:pt idx="93">
                  <c:v>1.86</c:v>
                </c:pt>
                <c:pt idx="94">
                  <c:v>1.75</c:v>
                </c:pt>
                <c:pt idx="95">
                  <c:v>1.55</c:v>
                </c:pt>
                <c:pt idx="96">
                  <c:v>0.87</c:v>
                </c:pt>
                <c:pt idx="97">
                  <c:v>0.25</c:v>
                </c:pt>
                <c:pt idx="98">
                  <c:v>0.25</c:v>
                </c:pt>
                <c:pt idx="99">
                  <c:v>0.3</c:v>
                </c:pt>
                <c:pt idx="100">
                  <c:v>0.16</c:v>
                </c:pt>
                <c:pt idx="101">
                  <c:v>0.09</c:v>
                </c:pt>
                <c:pt idx="102">
                  <c:v>0.05</c:v>
                </c:pt>
                <c:pt idx="103">
                  <c:v>0.04</c:v>
                </c:pt>
                <c:pt idx="104">
                  <c:v>0.01</c:v>
                </c:pt>
                <c:pt idx="105">
                  <c:v>0.02</c:v>
                </c:pt>
                <c:pt idx="106">
                  <c:v>0.02</c:v>
                </c:pt>
                <c:pt idx="107">
                  <c:v>0.04</c:v>
                </c:pt>
                <c:pt idx="108">
                  <c:v>0.25</c:v>
                </c:pt>
                <c:pt idx="109">
                  <c:v>0.38</c:v>
                </c:pt>
                <c:pt idx="110">
                  <c:v>0.7</c:v>
                </c:pt>
                <c:pt idx="111">
                  <c:v>0.63</c:v>
                </c:pt>
                <c:pt idx="112">
                  <c:v>0.41</c:v>
                </c:pt>
                <c:pt idx="113">
                  <c:v>0.17</c:v>
                </c:pt>
                <c:pt idx="114">
                  <c:v>0.29</c:v>
                </c:pt>
                <c:pt idx="115">
                  <c:v>0.45</c:v>
                </c:pt>
                <c:pt idx="116">
                  <c:v>0.42</c:v>
                </c:pt>
                <c:pt idx="117">
                  <c:v>0.49</c:v>
                </c:pt>
                <c:pt idx="118">
                  <c:v>0.11</c:v>
                </c:pt>
                <c:pt idx="119">
                  <c:v>0</c:v>
                </c:pt>
                <c:pt idx="120">
                  <c:v>0</c:v>
                </c:pt>
                <c:pt idx="121">
                  <c:v>0</c:v>
                </c:pt>
                <c:pt idx="122">
                  <c:v>0</c:v>
                </c:pt>
                <c:pt idx="123">
                  <c:v>0</c:v>
                </c:pt>
                <c:pt idx="124">
                  <c:v>0.01</c:v>
                </c:pt>
                <c:pt idx="125">
                  <c:v>0.03</c:v>
                </c:pt>
                <c:pt idx="126">
                  <c:v>0.03</c:v>
                </c:pt>
                <c:pt idx="127">
                  <c:v>0.05</c:v>
                </c:pt>
                <c:pt idx="128">
                  <c:v>0</c:v>
                </c:pt>
                <c:pt idx="129">
                  <c:v>0</c:v>
                </c:pt>
                <c:pt idx="130">
                  <c:v>0</c:v>
                </c:pt>
                <c:pt idx="131">
                  <c:v>0.03</c:v>
                </c:pt>
                <c:pt idx="132">
                  <c:v>0.15</c:v>
                </c:pt>
                <c:pt idx="133">
                  <c:v>0.12</c:v>
                </c:pt>
                <c:pt idx="134">
                  <c:v>0.18</c:v>
                </c:pt>
                <c:pt idx="135">
                  <c:v>0.25</c:v>
                </c:pt>
                <c:pt idx="136">
                  <c:v>0.38</c:v>
                </c:pt>
                <c:pt idx="137">
                  <c:v>0.36</c:v>
                </c:pt>
                <c:pt idx="138">
                  <c:v>0.13</c:v>
                </c:pt>
                <c:pt idx="139">
                  <c:v>0.03</c:v>
                </c:pt>
                <c:pt idx="140">
                  <c:v>0.02</c:v>
                </c:pt>
                <c:pt idx="141">
                  <c:v>0.05</c:v>
                </c:pt>
                <c:pt idx="142">
                  <c:v>0.1</c:v>
                </c:pt>
                <c:pt idx="143">
                  <c:v>0.27</c:v>
                </c:pt>
                <c:pt idx="144">
                  <c:v>0.53</c:v>
                </c:pt>
                <c:pt idx="145">
                  <c:v>0.8</c:v>
                </c:pt>
                <c:pt idx="146">
                  <c:v>0.97</c:v>
                </c:pt>
                <c:pt idx="147">
                  <c:v>0.88</c:v>
                </c:pt>
                <c:pt idx="148">
                  <c:v>0.73</c:v>
                </c:pt>
                <c:pt idx="149">
                  <c:v>0.35</c:v>
                </c:pt>
                <c:pt idx="150">
                  <c:v>0.13</c:v>
                </c:pt>
                <c:pt idx="151">
                  <c:v>0.05</c:v>
                </c:pt>
                <c:pt idx="152">
                  <c:v>0.12</c:v>
                </c:pt>
                <c:pt idx="153">
                  <c:v>0.11</c:v>
                </c:pt>
                <c:pt idx="154">
                  <c:v>0.06</c:v>
                </c:pt>
                <c:pt idx="155">
                  <c:v>0.24</c:v>
                </c:pt>
                <c:pt idx="156">
                  <c:v>0.32</c:v>
                </c:pt>
                <c:pt idx="157">
                  <c:v>0.54</c:v>
                </c:pt>
                <c:pt idx="158">
                  <c:v>0.74</c:v>
                </c:pt>
                <c:pt idx="159">
                  <c:v>0.63</c:v>
                </c:pt>
                <c:pt idx="160">
                  <c:v>0.44</c:v>
                </c:pt>
                <c:pt idx="161">
                  <c:v>0.26</c:v>
                </c:pt>
                <c:pt idx="162">
                  <c:v>0.17</c:v>
                </c:pt>
                <c:pt idx="163">
                  <c:v>0.15</c:v>
                </c:pt>
                <c:pt idx="164">
                  <c:v>0.23</c:v>
                </c:pt>
                <c:pt idx="165">
                  <c:v>0.33</c:v>
                </c:pt>
                <c:pt idx="166">
                  <c:v>0.63</c:v>
                </c:pt>
                <c:pt idx="167">
                  <c:v>0.46</c:v>
                </c:pt>
                <c:pt idx="168">
                  <c:v>0.61</c:v>
                </c:pt>
                <c:pt idx="169">
                  <c:v>0.47</c:v>
                </c:pt>
                <c:pt idx="170">
                  <c:v>0.49</c:v>
                </c:pt>
                <c:pt idx="171">
                  <c:v>0.24</c:v>
                </c:pt>
                <c:pt idx="172">
                  <c:v>0.29</c:v>
                </c:pt>
                <c:pt idx="173">
                  <c:v>0.36</c:v>
                </c:pt>
                <c:pt idx="174">
                  <c:v>0.19</c:v>
                </c:pt>
                <c:pt idx="175">
                  <c:v>0.07</c:v>
                </c:pt>
                <c:pt idx="176">
                  <c:v>0.04</c:v>
                </c:pt>
                <c:pt idx="177">
                  <c:v>0.04</c:v>
                </c:pt>
                <c:pt idx="178">
                  <c:v>0.04</c:v>
                </c:pt>
                <c:pt idx="179">
                  <c:v>0.04</c:v>
                </c:pt>
                <c:pt idx="180">
                  <c:v>0.01</c:v>
                </c:pt>
                <c:pt idx="181">
                  <c:v>0</c:v>
                </c:pt>
                <c:pt idx="182">
                  <c:v>0</c:v>
                </c:pt>
                <c:pt idx="183">
                  <c:v>0</c:v>
                </c:pt>
                <c:pt idx="184">
                  <c:v>0</c:v>
                </c:pt>
                <c:pt idx="185">
                  <c:v>0</c:v>
                </c:pt>
                <c:pt idx="186">
                  <c:v>0</c:v>
                </c:pt>
                <c:pt idx="187">
                  <c:v>0</c:v>
                </c:pt>
                <c:pt idx="188">
                  <c:v>0</c:v>
                </c:pt>
                <c:pt idx="189">
                  <c:v>0</c:v>
                </c:pt>
                <c:pt idx="190">
                  <c:v>0.01</c:v>
                </c:pt>
                <c:pt idx="191">
                  <c:v>0.01</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0.01</c:v>
                </c:pt>
                <c:pt idx="229">
                  <c:v>0.01</c:v>
                </c:pt>
                <c:pt idx="230">
                  <c:v>0.07</c:v>
                </c:pt>
                <c:pt idx="231">
                  <c:v>0.11</c:v>
                </c:pt>
                <c:pt idx="232">
                  <c:v>0.12</c:v>
                </c:pt>
                <c:pt idx="233">
                  <c:v>0.13</c:v>
                </c:pt>
                <c:pt idx="234">
                  <c:v>0.16</c:v>
                </c:pt>
                <c:pt idx="235">
                  <c:v>0.13</c:v>
                </c:pt>
                <c:pt idx="236">
                  <c:v>0.05</c:v>
                </c:pt>
                <c:pt idx="237">
                  <c:v>0.04</c:v>
                </c:pt>
                <c:pt idx="238">
                  <c:v>0.11</c:v>
                </c:pt>
                <c:pt idx="239">
                  <c:v>0.24</c:v>
                </c:pt>
                <c:pt idx="240">
                  <c:v>0.49</c:v>
                </c:pt>
                <c:pt idx="241">
                  <c:v>0.77</c:v>
                </c:pt>
                <c:pt idx="242">
                  <c:v>0.72</c:v>
                </c:pt>
                <c:pt idx="243">
                  <c:v>0.51</c:v>
                </c:pt>
                <c:pt idx="244">
                  <c:v>0.33</c:v>
                </c:pt>
                <c:pt idx="245">
                  <c:v>0.55</c:v>
                </c:pt>
                <c:pt idx="246">
                  <c:v>0.49</c:v>
                </c:pt>
                <c:pt idx="247">
                  <c:v>0.32</c:v>
                </c:pt>
                <c:pt idx="248">
                  <c:v>0.21</c:v>
                </c:pt>
                <c:pt idx="249">
                  <c:v>0.14</c:v>
                </c:pt>
                <c:pt idx="250">
                  <c:v>0.17</c:v>
                </c:pt>
                <c:pt idx="251">
                  <c:v>0.14</c:v>
                </c:pt>
                <c:pt idx="252">
                  <c:v>0.1</c:v>
                </c:pt>
                <c:pt idx="253">
                  <c:v>0.05</c:v>
                </c:pt>
                <c:pt idx="254">
                  <c:v>0.04</c:v>
                </c:pt>
                <c:pt idx="255">
                  <c:v>0.04</c:v>
                </c:pt>
                <c:pt idx="256">
                  <c:v>0.02</c:v>
                </c:pt>
                <c:pt idx="257">
                  <c:v>0.02</c:v>
                </c:pt>
                <c:pt idx="258">
                  <c:v>0.03</c:v>
                </c:pt>
                <c:pt idx="259">
                  <c:v>0.01</c:v>
                </c:pt>
                <c:pt idx="260">
                  <c:v>0</c:v>
                </c:pt>
                <c:pt idx="261">
                  <c:v>0</c:v>
                </c:pt>
                <c:pt idx="262">
                  <c:v>0</c:v>
                </c:pt>
                <c:pt idx="263">
                  <c:v>0</c:v>
                </c:pt>
              </c:numCache>
            </c:numRef>
          </c:val>
          <c:smooth val="0"/>
        </c:ser>
        <c:ser>
          <c:idx val="1"/>
          <c:order val="1"/>
          <c:tx>
            <c:strRef>
              <c:f>Sheet1!$C$1</c:f>
              <c:strCache>
                <c:ptCount val="1"/>
                <c:pt idx="0">
                  <c:v>Links (our check)</c:v>
                </c:pt>
              </c:strCache>
            </c:strRef>
          </c:tx>
          <c:spPr>
            <a:solidFill>
              <a:srgbClr val="2A78D6"/>
            </a:solidFill>
            <a:ln w="190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Sheet1!$A$2:$A$265</c:f>
              <c:multiLvlStrCache>
                <c:ptCount val="264"/>
                <c:lvl>
                  <c:pt idx="0">
                    <c:v/>
                  </c:pt>
                  <c:pt idx="1">
                    <c:v/>
                  </c:pt>
                  <c:pt idx="2">
                    <c:v/>
                  </c:pt>
                  <c:pt idx="3">
                    <c:v/>
                  </c:pt>
                  <c:pt idx="4">
                    <c:v/>
                  </c:pt>
                  <c:pt idx="5">
                    <c:v/>
                  </c:pt>
                  <c:pt idx="6">
                    <c:v/>
                  </c:pt>
                  <c:pt idx="7">
                    <c:v/>
                  </c:pt>
                  <c:pt idx="8">
                    <c:v/>
                  </c:pt>
                  <c:pt idx="9">
                    <c:v/>
                  </c:pt>
                  <c:pt idx="10">
                    <c:v/>
                  </c:pt>
                  <c:pt idx="11">
                    <c:v/>
                  </c:pt>
                  <c:pt idx="12">
                    <c:v>10 May</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12 May</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14 May</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16 May</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18 May</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20 May</c:v>
                  </c:pt>
                  <c:pt idx="253">
                    <c:v/>
                  </c:pt>
                  <c:pt idx="254">
                    <c:v/>
                  </c:pt>
                  <c:pt idx="255">
                    <c:v/>
                  </c:pt>
                  <c:pt idx="256">
                    <c:v/>
                  </c:pt>
                  <c:pt idx="257">
                    <c:v/>
                  </c:pt>
                  <c:pt idx="258">
                    <c:v/>
                  </c:pt>
                  <c:pt idx="259">
                    <c:v/>
                  </c:pt>
                  <c:pt idx="260">
                    <c:v/>
                  </c:pt>
                  <c:pt idx="261">
                    <c:v/>
                  </c:pt>
                  <c:pt idx="262">
                    <c:v/>
                  </c:pt>
                  <c:pt idx="263">
                    <c:v/>
                  </c:pt>
                </c:lvl>
              </c:multiLvlStrCache>
            </c:multiLvlStrRef>
          </c:cat>
          <c:val>
            <c:numRef>
              <c:f>Sheet1!$C$2:$C$265</c:f>
              <c:numCache>
                <c:formatCode>General</c:formatCode>
                <c:ptCount val="264"/>
                <c:pt idx="0">
                  <c:v>0.01</c:v>
                </c:pt>
                <c:pt idx="1">
                  <c:v>0.05</c:v>
                </c:pt>
                <c:pt idx="2">
                  <c:v>0.07</c:v>
                </c:pt>
                <c:pt idx="3">
                  <c:v>0.09</c:v>
                </c:pt>
                <c:pt idx="4">
                  <c:v>0.1</c:v>
                </c:pt>
                <c:pt idx="5">
                  <c:v>0.08</c:v>
                </c:pt>
                <c:pt idx="6">
                  <c:v>0.05</c:v>
                </c:pt>
                <c:pt idx="7">
                  <c:v>0.02</c:v>
                </c:pt>
                <c:pt idx="8">
                  <c:v>0.05</c:v>
                </c:pt>
                <c:pt idx="9">
                  <c:v>0.09</c:v>
                </c:pt>
                <c:pt idx="10">
                  <c:v>0.37</c:v>
                </c:pt>
                <c:pt idx="11">
                  <c:v>0.63</c:v>
                </c:pt>
                <c:pt idx="12">
                  <c:v>0.75</c:v>
                </c:pt>
                <c:pt idx="13">
                  <c:v>0.55</c:v>
                </c:pt>
                <c:pt idx="14">
                  <c:v>0.54</c:v>
                </c:pt>
                <c:pt idx="15">
                  <c:v>0.33</c:v>
                </c:pt>
                <c:pt idx="16">
                  <c:v>0.29</c:v>
                </c:pt>
                <c:pt idx="17">
                  <c:v>0.38</c:v>
                </c:pt>
                <c:pt idx="18">
                  <c:v>0.41</c:v>
                </c:pt>
                <c:pt idx="19">
                  <c:v>0.17</c:v>
                </c:pt>
                <c:pt idx="20">
                  <c:v>0.03</c:v>
                </c:pt>
                <c:pt idx="21">
                  <c:v>0.01</c:v>
                </c:pt>
                <c:pt idx="22">
                  <c:v>0.01</c:v>
                </c:pt>
                <c:pt idx="23">
                  <c:v>0</c:v>
                </c:pt>
                <c:pt idx="24">
                  <c:v>0</c:v>
                </c:pt>
                <c:pt idx="25">
                  <c:v>0</c:v>
                </c:pt>
                <c:pt idx="26">
                  <c:v>0.01</c:v>
                </c:pt>
                <c:pt idx="27">
                  <c:v>0</c:v>
                </c:pt>
                <c:pt idx="28">
                  <c:v>0</c:v>
                </c:pt>
                <c:pt idx="29">
                  <c:v>0</c:v>
                </c:pt>
                <c:pt idx="30">
                  <c:v>0</c:v>
                </c:pt>
                <c:pt idx="31">
                  <c:v>0</c:v>
                </c:pt>
                <c:pt idx="32">
                  <c:v>0</c:v>
                </c:pt>
                <c:pt idx="33">
                  <c:v>0</c:v>
                </c:pt>
                <c:pt idx="34">
                  <c:v>0.01</c:v>
                </c:pt>
                <c:pt idx="35">
                  <c:v>0.01</c:v>
                </c:pt>
                <c:pt idx="36">
                  <c:v>0.01</c:v>
                </c:pt>
                <c:pt idx="37">
                  <c:v>0</c:v>
                </c:pt>
                <c:pt idx="38">
                  <c:v>0</c:v>
                </c:pt>
                <c:pt idx="39">
                  <c:v>0</c:v>
                </c:pt>
                <c:pt idx="40">
                  <c:v>0</c:v>
                </c:pt>
                <c:pt idx="41">
                  <c:v>0</c:v>
                </c:pt>
                <c:pt idx="42">
                  <c:v>0</c:v>
                </c:pt>
                <c:pt idx="43">
                  <c:v>0</c:v>
                </c:pt>
                <c:pt idx="44">
                  <c:v>0.01</c:v>
                </c:pt>
                <c:pt idx="45">
                  <c:v>0.01</c:v>
                </c:pt>
                <c:pt idx="46">
                  <c:v>0</c:v>
                </c:pt>
                <c:pt idx="47">
                  <c:v>0.01</c:v>
                </c:pt>
                <c:pt idx="48">
                  <c:v>0.01</c:v>
                </c:pt>
                <c:pt idx="49">
                  <c:v>0.02</c:v>
                </c:pt>
                <c:pt idx="50">
                  <c:v>0.02</c:v>
                </c:pt>
                <c:pt idx="51">
                  <c:v>0.02</c:v>
                </c:pt>
                <c:pt idx="52">
                  <c:v>0.03</c:v>
                </c:pt>
                <c:pt idx="53">
                  <c:v>0.04</c:v>
                </c:pt>
                <c:pt idx="54">
                  <c:v>0.01</c:v>
                </c:pt>
                <c:pt idx="55">
                  <c:v>0.01</c:v>
                </c:pt>
                <c:pt idx="56">
                  <c:v>0</c:v>
                </c:pt>
                <c:pt idx="57">
                  <c:v>0</c:v>
                </c:pt>
                <c:pt idx="58">
                  <c:v>0.01</c:v>
                </c:pt>
                <c:pt idx="59">
                  <c:v>0.01</c:v>
                </c:pt>
                <c:pt idx="60">
                  <c:v>0.01</c:v>
                </c:pt>
                <c:pt idx="61">
                  <c:v>0.01</c:v>
                </c:pt>
                <c:pt idx="62">
                  <c:v>0.01</c:v>
                </c:pt>
                <c:pt idx="63">
                  <c:v>0</c:v>
                </c:pt>
                <c:pt idx="64">
                  <c:v>0</c:v>
                </c:pt>
                <c:pt idx="65">
                  <c:v>0.01</c:v>
                </c:pt>
                <c:pt idx="66">
                  <c:v>0.01</c:v>
                </c:pt>
                <c:pt idx="67">
                  <c:v>0</c:v>
                </c:pt>
                <c:pt idx="68">
                  <c:v>0.01</c:v>
                </c:pt>
                <c:pt idx="69">
                  <c:v>0.04</c:v>
                </c:pt>
                <c:pt idx="70">
                  <c:v>0.02</c:v>
                </c:pt>
                <c:pt idx="71">
                  <c:v>0.02</c:v>
                </c:pt>
                <c:pt idx="72">
                  <c:v>0.01</c:v>
                </c:pt>
                <c:pt idx="73">
                  <c:v>0.01</c:v>
                </c:pt>
                <c:pt idx="74">
                  <c:v>0</c:v>
                </c:pt>
                <c:pt idx="75">
                  <c:v>0</c:v>
                </c:pt>
                <c:pt idx="76">
                  <c:v>0</c:v>
                </c:pt>
                <c:pt idx="77">
                  <c:v>0.01</c:v>
                </c:pt>
                <c:pt idx="78">
                  <c:v>0.02</c:v>
                </c:pt>
                <c:pt idx="79">
                  <c:v>0.02</c:v>
                </c:pt>
                <c:pt idx="80">
                  <c:v>0.03</c:v>
                </c:pt>
                <c:pt idx="81">
                  <c:v>0.01</c:v>
                </c:pt>
                <c:pt idx="82">
                  <c:v>0.01</c:v>
                </c:pt>
                <c:pt idx="83">
                  <c:v>0.02</c:v>
                </c:pt>
                <c:pt idx="84">
                  <c:v>0.1</c:v>
                </c:pt>
                <c:pt idx="85">
                  <c:v>0.22</c:v>
                </c:pt>
                <c:pt idx="86">
                  <c:v>0.43</c:v>
                </c:pt>
                <c:pt idx="87">
                  <c:v>0.82</c:v>
                </c:pt>
                <c:pt idx="88">
                  <c:v>0.99</c:v>
                </c:pt>
                <c:pt idx="89">
                  <c:v>1.11</c:v>
                </c:pt>
                <c:pt idx="90">
                  <c:v>1.43</c:v>
                </c:pt>
                <c:pt idx="91">
                  <c:v>1.51</c:v>
                </c:pt>
                <c:pt idx="92">
                  <c:v>1.55</c:v>
                </c:pt>
                <c:pt idx="93">
                  <c:v>1.92</c:v>
                </c:pt>
                <c:pt idx="94">
                  <c:v>1.86</c:v>
                </c:pt>
                <c:pt idx="95">
                  <c:v>1.16</c:v>
                </c:pt>
                <c:pt idx="96">
                  <c:v>0.64</c:v>
                </c:pt>
                <c:pt idx="97">
                  <c:v>0.16</c:v>
                </c:pt>
                <c:pt idx="98">
                  <c:v>0.13</c:v>
                </c:pt>
                <c:pt idx="99">
                  <c:v>0.23</c:v>
                </c:pt>
                <c:pt idx="100">
                  <c:v>0.08</c:v>
                </c:pt>
                <c:pt idx="101">
                  <c:v>0.05</c:v>
                </c:pt>
                <c:pt idx="102">
                  <c:v>0.05</c:v>
                </c:pt>
                <c:pt idx="103">
                  <c:v>0.02</c:v>
                </c:pt>
                <c:pt idx="104">
                  <c:v>0.01</c:v>
                </c:pt>
                <c:pt idx="105">
                  <c:v>0.01</c:v>
                </c:pt>
                <c:pt idx="106">
                  <c:v>0.02</c:v>
                </c:pt>
                <c:pt idx="107">
                  <c:v>0.03</c:v>
                </c:pt>
                <c:pt idx="108">
                  <c:v>0.22</c:v>
                </c:pt>
                <c:pt idx="109">
                  <c:v>0.48</c:v>
                </c:pt>
                <c:pt idx="110">
                  <c:v>0.56</c:v>
                </c:pt>
                <c:pt idx="111">
                  <c:v>0.43</c:v>
                </c:pt>
                <c:pt idx="112">
                  <c:v>0.3</c:v>
                </c:pt>
                <c:pt idx="113">
                  <c:v>0.19</c:v>
                </c:pt>
                <c:pt idx="114">
                  <c:v>0.25</c:v>
                </c:pt>
                <c:pt idx="115">
                  <c:v>0.5</c:v>
                </c:pt>
                <c:pt idx="116">
                  <c:v>0.44</c:v>
                </c:pt>
                <c:pt idx="117">
                  <c:v>0.44</c:v>
                </c:pt>
                <c:pt idx="118">
                  <c:v>0.07</c:v>
                </c:pt>
                <c:pt idx="119">
                  <c:v>0.02</c:v>
                </c:pt>
                <c:pt idx="120">
                  <c:v>0.01</c:v>
                </c:pt>
                <c:pt idx="121">
                  <c:v>0.01</c:v>
                </c:pt>
                <c:pt idx="122">
                  <c:v>0.01</c:v>
                </c:pt>
                <c:pt idx="123">
                  <c:v>0.01</c:v>
                </c:pt>
                <c:pt idx="124">
                  <c:v>0.01</c:v>
                </c:pt>
                <c:pt idx="125">
                  <c:v>0.02</c:v>
                </c:pt>
                <c:pt idx="126">
                  <c:v>0.04</c:v>
                </c:pt>
                <c:pt idx="127">
                  <c:v>0.05</c:v>
                </c:pt>
                <c:pt idx="128">
                  <c:v>0.01</c:v>
                </c:pt>
                <c:pt idx="129">
                  <c:v>0.02</c:v>
                </c:pt>
                <c:pt idx="130">
                  <c:v>0.02</c:v>
                </c:pt>
                <c:pt idx="131">
                  <c:v>0.07</c:v>
                </c:pt>
                <c:pt idx="132">
                  <c:v>0.17</c:v>
                </c:pt>
                <c:pt idx="133">
                  <c:v>0.12</c:v>
                </c:pt>
                <c:pt idx="134">
                  <c:v>0.19</c:v>
                </c:pt>
                <c:pt idx="135">
                  <c:v>0.31</c:v>
                </c:pt>
                <c:pt idx="136">
                  <c:v>0.32</c:v>
                </c:pt>
                <c:pt idx="137">
                  <c:v>0.3</c:v>
                </c:pt>
                <c:pt idx="138">
                  <c:v>0.09</c:v>
                </c:pt>
                <c:pt idx="139">
                  <c:v>0.01</c:v>
                </c:pt>
                <c:pt idx="140">
                  <c:v>0.01</c:v>
                </c:pt>
                <c:pt idx="141">
                  <c:v>0.02</c:v>
                </c:pt>
                <c:pt idx="142">
                  <c:v>0.03</c:v>
                </c:pt>
                <c:pt idx="143">
                  <c:v>0.13</c:v>
                </c:pt>
                <c:pt idx="144">
                  <c:v>0.25</c:v>
                </c:pt>
                <c:pt idx="145">
                  <c:v>0.39</c:v>
                </c:pt>
                <c:pt idx="146">
                  <c:v>0.48</c:v>
                </c:pt>
                <c:pt idx="147">
                  <c:v>0.45</c:v>
                </c:pt>
                <c:pt idx="148">
                  <c:v>0.33</c:v>
                </c:pt>
                <c:pt idx="149">
                  <c:v>0.16</c:v>
                </c:pt>
                <c:pt idx="150">
                  <c:v>0.1</c:v>
                </c:pt>
                <c:pt idx="151">
                  <c:v>0.1</c:v>
                </c:pt>
                <c:pt idx="152">
                  <c:v>0.14</c:v>
                </c:pt>
                <c:pt idx="153">
                  <c:v>0.09</c:v>
                </c:pt>
                <c:pt idx="154">
                  <c:v>0.12</c:v>
                </c:pt>
                <c:pt idx="155">
                  <c:v>0.31</c:v>
                </c:pt>
                <c:pt idx="156">
                  <c:v>0.42</c:v>
                </c:pt>
                <c:pt idx="157">
                  <c:v>0.61</c:v>
                </c:pt>
                <c:pt idx="158">
                  <c:v>0.85</c:v>
                </c:pt>
                <c:pt idx="159">
                  <c:v>0.71</c:v>
                </c:pt>
                <c:pt idx="160">
                  <c:v>0.37</c:v>
                </c:pt>
                <c:pt idx="161">
                  <c:v>0.22</c:v>
                </c:pt>
                <c:pt idx="162">
                  <c:v>0.16</c:v>
                </c:pt>
                <c:pt idx="163">
                  <c:v>0.13</c:v>
                </c:pt>
                <c:pt idx="164">
                  <c:v>0.19</c:v>
                </c:pt>
                <c:pt idx="165">
                  <c:v>0.34</c:v>
                </c:pt>
                <c:pt idx="166">
                  <c:v>0.66</c:v>
                </c:pt>
                <c:pt idx="167">
                  <c:v>0.41</c:v>
                </c:pt>
                <c:pt idx="168">
                  <c:v>0.65</c:v>
                </c:pt>
                <c:pt idx="169">
                  <c:v>0.59</c:v>
                </c:pt>
                <c:pt idx="170">
                  <c:v>0.61</c:v>
                </c:pt>
                <c:pt idx="171">
                  <c:v>0.29</c:v>
                </c:pt>
                <c:pt idx="172">
                  <c:v>0.34</c:v>
                </c:pt>
                <c:pt idx="173">
                  <c:v>0.29</c:v>
                </c:pt>
                <c:pt idx="174">
                  <c:v>0.17</c:v>
                </c:pt>
                <c:pt idx="175">
                  <c:v>0.05</c:v>
                </c:pt>
                <c:pt idx="176">
                  <c:v>0.06</c:v>
                </c:pt>
                <c:pt idx="177">
                  <c:v>0.05</c:v>
                </c:pt>
                <c:pt idx="178">
                  <c:v>0.06</c:v>
                </c:pt>
                <c:pt idx="179">
                  <c:v>0.05</c:v>
                </c:pt>
                <c:pt idx="180">
                  <c:v>0.03</c:v>
                </c:pt>
                <c:pt idx="181">
                  <c:v>0.01</c:v>
                </c:pt>
                <c:pt idx="182">
                  <c:v>0</c:v>
                </c:pt>
                <c:pt idx="183">
                  <c:v>0.01</c:v>
                </c:pt>
                <c:pt idx="184">
                  <c:v>0</c:v>
                </c:pt>
                <c:pt idx="185">
                  <c:v>0</c:v>
                </c:pt>
                <c:pt idx="186">
                  <c:v>0</c:v>
                </c:pt>
                <c:pt idx="187">
                  <c:v>0</c:v>
                </c:pt>
                <c:pt idx="188">
                  <c:v>0.01</c:v>
                </c:pt>
                <c:pt idx="189">
                  <c:v>0.01</c:v>
                </c:pt>
                <c:pt idx="190">
                  <c:v>0.01</c:v>
                </c:pt>
                <c:pt idx="191">
                  <c:v>0.01</c:v>
                </c:pt>
                <c:pt idx="192">
                  <c:v>0.01</c:v>
                </c:pt>
                <c:pt idx="193">
                  <c:v>0</c:v>
                </c:pt>
                <c:pt idx="194">
                  <c:v>0.01</c:v>
                </c:pt>
                <c:pt idx="195">
                  <c:v>0</c:v>
                </c:pt>
                <c:pt idx="196">
                  <c:v>0</c:v>
                </c:pt>
                <c:pt idx="197">
                  <c:v>0</c:v>
                </c:pt>
                <c:pt idx="198">
                  <c:v>0.01</c:v>
                </c:pt>
                <c:pt idx="199">
                  <c:v>0</c:v>
                </c:pt>
                <c:pt idx="200">
                  <c:v>0</c:v>
                </c:pt>
                <c:pt idx="201">
                  <c:v>0</c:v>
                </c:pt>
                <c:pt idx="202">
                  <c:v>0</c:v>
                </c:pt>
                <c:pt idx="203">
                  <c:v>0</c:v>
                </c:pt>
                <c:pt idx="204">
                  <c:v>0</c:v>
                </c:pt>
                <c:pt idx="205">
                  <c:v>0.01</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0.01</c:v>
                </c:pt>
                <c:pt idx="221">
                  <c:v>0.01</c:v>
                </c:pt>
                <c:pt idx="222">
                  <c:v>0</c:v>
                </c:pt>
                <c:pt idx="223">
                  <c:v>0</c:v>
                </c:pt>
                <c:pt idx="224">
                  <c:v>0</c:v>
                </c:pt>
                <c:pt idx="225">
                  <c:v>0</c:v>
                </c:pt>
                <c:pt idx="226">
                  <c:v>0</c:v>
                </c:pt>
                <c:pt idx="227">
                  <c:v>0.01</c:v>
                </c:pt>
                <c:pt idx="228">
                  <c:v>0.01</c:v>
                </c:pt>
                <c:pt idx="229">
                  <c:v>0.01</c:v>
                </c:pt>
                <c:pt idx="230">
                  <c:v>0.09</c:v>
                </c:pt>
                <c:pt idx="231">
                  <c:v>0.1</c:v>
                </c:pt>
                <c:pt idx="232">
                  <c:v>0.08</c:v>
                </c:pt>
                <c:pt idx="233">
                  <c:v>0.12</c:v>
                </c:pt>
                <c:pt idx="234">
                  <c:v>0.09</c:v>
                </c:pt>
                <c:pt idx="235">
                  <c:v>0.08</c:v>
                </c:pt>
                <c:pt idx="236">
                  <c:v>0.04</c:v>
                </c:pt>
                <c:pt idx="237">
                  <c:v>0.05</c:v>
                </c:pt>
                <c:pt idx="238">
                  <c:v>0.07</c:v>
                </c:pt>
                <c:pt idx="239">
                  <c:v>0.1</c:v>
                </c:pt>
                <c:pt idx="240">
                  <c:v>0.2</c:v>
                </c:pt>
                <c:pt idx="241">
                  <c:v>0.23</c:v>
                </c:pt>
                <c:pt idx="242">
                  <c:v>0.33</c:v>
                </c:pt>
                <c:pt idx="243">
                  <c:v>0.26</c:v>
                </c:pt>
                <c:pt idx="244">
                  <c:v>0.1</c:v>
                </c:pt>
                <c:pt idx="245">
                  <c:v>0.22</c:v>
                </c:pt>
                <c:pt idx="246">
                  <c:v>0.17</c:v>
                </c:pt>
                <c:pt idx="247">
                  <c:v>0.12</c:v>
                </c:pt>
                <c:pt idx="248">
                  <c:v>0.08</c:v>
                </c:pt>
                <c:pt idx="249">
                  <c:v>0.04</c:v>
                </c:pt>
                <c:pt idx="250">
                  <c:v>0.07</c:v>
                </c:pt>
                <c:pt idx="251">
                  <c:v>0.06</c:v>
                </c:pt>
                <c:pt idx="252">
                  <c:v>0.06</c:v>
                </c:pt>
                <c:pt idx="253">
                  <c:v>0.03</c:v>
                </c:pt>
                <c:pt idx="254">
                  <c:v>0.01</c:v>
                </c:pt>
                <c:pt idx="255">
                  <c:v>0.02</c:v>
                </c:pt>
                <c:pt idx="256">
                  <c:v>0.02</c:v>
                </c:pt>
                <c:pt idx="257">
                  <c:v>0.01</c:v>
                </c:pt>
                <c:pt idx="258">
                  <c:v>0.01</c:v>
                </c:pt>
                <c:pt idx="259">
                  <c:v>0.02</c:v>
                </c:pt>
                <c:pt idx="260">
                  <c:v>0.02</c:v>
                </c:pt>
                <c:pt idx="261">
                  <c:v>0.01</c:v>
                </c:pt>
                <c:pt idx="262">
                  <c:v>0.01</c:v>
                </c:pt>
                <c:pt idx="263">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4A5578"/>
                </a:solidFill>
                <a:latin typeface="+mn-lt"/>
              </a:defRPr>
            </a:pPr>
            <a:endParaRPr lang="en-US"/>
          </a:p>
        </c:txPr>
        <c:crossAx val="2094734552"/>
        <c:crosses val="autoZero"/>
        <c:auto val="1"/>
        <c:lblAlgn val="ctr"/>
        <c:noMultiLvlLbl val="1"/>
        <c:tickLblSkip val="1"/>
      </c:catAx>
      <c:valAx>
        <c:axId val="2094734552"/>
        <c:scaling>
          <c:orientation val="minMax"/>
          <c:max val="2"/>
        </c:scaling>
        <c:delete val="0"/>
        <c:axPos val="l"/>
        <c:majorGridlines>
          <c:spPr>
            <a:ln w="6350" cap="flat">
              <a:solidFill>
                <a:srgbClr val="E3E6E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4A5578"/>
                </a:solidFill>
                <a:latin typeface="+mn-lt"/>
              </a:defRPr>
            </a:pPr>
            <a:endParaRPr lang="en-US"/>
          </a:p>
        </c:txPr>
        <c:crossAx val="2094734554"/>
        <c:crosses val="autoZero"/>
        <c:crossBetween val="between"/>
        <c:majorUnit val="1"/>
      </c:valAx>
      <c:spPr>
        <a:noFill/>
        <a:ln>
          <a:noFill/>
        </a:ln>
        <a:effectLst/>
      </c:spPr>
    </c:plotArea>
    <c:legend>
      <c:legendPos val="r"/>
      <c:overlay val="0"/>
      <c:txPr>
        <a:bodyPr/>
        <a:lstStyle/>
        <a:p>
          <a:pPr>
            <a:defRPr sz="950">
              <a:solidFill>
                <a:srgbClr val="4A557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[0:00–0:38] Imagine you’re running deliveries in Mumbai. Your dashboard says: “Heavy rain in Mumbai.” Do you stop the whole city? On 26 July 2005, Santacruz got 944 millimetres of rain. Colaba, 20 kilometres away, got 73. The problem isn’t weather data. It’s knowing what to do, zone by zone. But Jio may already own infrastructure that can carry a signal about that rain. Rain weakens microwave signals between telecom sites. Measure the extra loss and you can estimate rain along each link. JioMausam combines that with radar and gauges into alerts businesses can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[0:38–1:13] The physics is well established, so we tested it ourselves: 500 real links from a public dataset in Germany, not Jio’s. The links tracked radar closely, but alone they caught only 68% of rain events. Our bar is 80%. That gap told us how to build JioMausam. So we don’t bet on one sensor. Accuracy decides the mix: Jio’s links, network-health data to filter out faults, radar, gauges, satellite. The pilot tests every combination against held-out gauges. The answer isn’t “Jio only”. It’s the cheapest mix that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[1:13–2:02] Before selling to Swiggy, where do we prove it? Inside Reliance, starting with Jio. A signal drops: is it rain, or is something broken? If JioMausam can answer that before a crew goes out, that’s real value. Then JioMart tests commercial value; MyJio tests reach. Once that works, the same intelligence goes outside. Rain hits Zone A. JioMausam flags it. The platform decides whether to reroute, delay or raise incentives. That’s the product: not a prettier weather map, but a signal that changes a business decision. So why Jio? Not because it invented the physics. The edge is integration: Jio’s signal, JioMausam’s intelligence, Reliance’s proving ground and reach. We can monetise the intelligence outside and create savings inside Reliance, even if insurance never launches.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[2:02–2:58] Kavach is where we started: protection for workers. Then we stress-tested it. Who pays? Is the trigger accurate? Can an insurer price it? The insurance isn’t the business; the intelligence underneath it is. So Kavach becomes one application, only after the accuracy and actuarial gates pass. If we offer it, weather risk sets the starting price. From 25 years of IMD records: about 45 rupees a month in Mumbai, 52 in Nagpur, 29 in Ahmedabad, and 208 for Mumbai Plus. All illustrative until actuarial validation. We’re not asking you to believe us. We’re asking Jio to test it. Ninety days, three questions. Does Jio have the coverage? Does the combined system clear our bar? Does it improve a real Reliance operation? If yes, scale. If not, stop. First prove the signal. Then sell the intelligence. Protection comes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1460175" y="274320"/>
            <a:ext cx="274320" cy="274320"/>
          </a:xfrm>
          <a:prstGeom prst="rect">
            <a:avLst/>
          </a:prstGeom>
        </p:spPr>
      </p:pic>
      <p:sp>
        <p:nvSpPr>
          <p:cNvPr id="3" name="Text 0"/>
          <p:cNvSpPr/>
          <p:nvPr/>
        </p:nvSpPr>
        <p:spPr>
          <a:xfrm>
            <a:off x="9494215" y="274320"/>
            <a:ext cx="1874520" cy="274320"/>
          </a:xfrm>
          <a:prstGeom prst="rect">
            <a:avLst/>
          </a:prstGeom>
          <a:noFill/>
          <a:ln/>
        </p:spPr>
        <p:txBody>
          <a:bodyPr wrap="square" lIns="0" tIns="0" rIns="0" bIns="0" rtlCol="0" anchor="ctr"/>
          <a:lstStyle/>
          <a:p>
            <a:pPr algn="r" indent="0" marL="0">
              <a:buNone/>
            </a:pPr>
            <a:r>
              <a:rPr lang="en-US" sz="1300" b="1" dirty="0">
                <a:solidFill>
                  <a:schemeClr val="tx1"/>
                </a:solidFill>
              </a:rPr>
              <a:t>JioMausam</a:t>
            </a:r>
            <a:endParaRPr lang="en-US" sz="1300" dirty="0"/>
          </a:p>
        </p:txBody>
      </p:sp>
      <p:sp>
        <p:nvSpPr>
          <p:cNvPr id="4" name="Text 1"/>
          <p:cNvSpPr/>
          <p:nvPr>
            <p:ph idx="102" type="title" hasCustomPrompt="1"/>
          </p:nvPr>
        </p:nvSpPr>
        <p:spPr>
          <a:xfrm>
            <a:off x="457200" y="566928"/>
            <a:ext cx="11277295" cy="530352"/>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1-10.png"/><Relationship Id="rId12" Type="http://schemas.openxmlformats.org/officeDocument/2006/relationships/slideLayout" Target="../slideLayouts/slideLayout2.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 Id="rId11" Type="http://schemas.openxmlformats.org/officeDocument/2006/relationships/image" Target="../media/image-2-10.png"/><Relationship Id="rId12" Type="http://schemas.openxmlformats.org/officeDocument/2006/relationships/slideLayout" Target="../slideLayouts/slideLayout2.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292608"/>
            <a:ext cx="82296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1 · THE PROBLEM AND THE INSIGHT</a:t>
            </a:r>
            <a:endParaRPr lang="en-US" sz="1100" dirty="0"/>
          </a:p>
        </p:txBody>
      </p:sp>
      <p:sp>
        <p:nvSpPr>
          <p:cNvPr id="3" name="Text 1"/>
          <p:cNvSpPr/>
          <p:nvPr>
            <p:ph idx="102" type="title" hasCustomPrompt="1"/>
          </p:nvPr>
        </p:nvSpPr>
        <p:spPr>
          <a:xfrm>
            <a:off x="457200" y="566928"/>
            <a:ext cx="11277295" cy="530352"/>
          </a:xfrm>
          <a:prstGeom prst="rect">
            <a:avLst/>
          </a:prstGeom>
          <a:noFill/>
          <a:ln/>
        </p:spPr>
        <p:txBody>
          <a:bodyPr wrap="square" lIns="0" tIns="0" rIns="0" bIns="0" rtlCol="0" anchor="ctr"/>
          <a:lstStyle/>
          <a:p>
            <a:pPr algn="l" indent="0" marL="0">
              <a:buNone/>
            </a:pPr>
            <a:r>
              <a:rPr lang="en-US" sz="2400" b="1" dirty="0">
                <a:solidFill>
                  <a:schemeClr val="tx1"/>
                </a:solidFill>
              </a:rPr>
              <a:t>A weather-decision problem, and a signal Jio may already carry</a:t>
            </a:r>
            <a:endParaRPr lang="en-US" sz="2400" dirty="0"/>
          </a:p>
        </p:txBody>
      </p:sp>
      <p:sp>
        <p:nvSpPr>
          <p:cNvPr id="4" name="mumCard"/>
          <p:cNvSpPr/>
          <p:nvPr/>
        </p:nvSpPr>
        <p:spPr>
          <a:xfrm>
            <a:off x="457200" y="1280160"/>
            <a:ext cx="5440680" cy="2606040"/>
          </a:xfrm>
          <a:prstGeom prst="roundRect">
            <a:avLst>
              <a:gd name="adj" fmla="val 2807"/>
            </a:avLst>
          </a:prstGeom>
          <a:solidFill>
            <a:schemeClr val="bg2"/>
          </a:solidFill>
          <a:ln/>
        </p:spPr>
      </p:sp>
      <p:sp>
        <p:nvSpPr>
          <p:cNvPr id="5" name="mumH"/>
          <p:cNvSpPr txBox="1"/>
          <p:nvPr/>
        </p:nvSpPr>
        <p:spPr>
          <a:xfrm>
            <a:off x="640080" y="1389888"/>
            <a:ext cx="2743200" cy="457200"/>
          </a:xfrm>
          <a:prstGeom prst="rect">
            <a:avLst/>
          </a:prstGeom>
          <a:noFill/>
          <a:ln/>
        </p:spPr>
        <p:txBody>
          <a:bodyPr wrap="square" lIns="0" tIns="0" rIns="0" bIns="0" rtlCol="0" anchor="t"/>
          <a:lstStyle/>
          <a:p>
            <a:pPr indent="0" marL="0">
              <a:buNone/>
            </a:pPr>
            <a:r>
              <a:rPr lang="en-US" sz="950" b="1" spc="150" kern="0" dirty="0">
                <a:solidFill>
                  <a:schemeClr val="accent1"/>
                </a:solidFill>
              </a:rPr>
              <a:t>SAME CITY, DIFFERENT WEATHER</a:t>
            </a:r>
            <a:endParaRPr lang="en-US" sz="1150" dirty="0"/>
          </a:p>
          <a:p>
            <a:pPr indent="0" marL="0">
              <a:buNone/>
            </a:pPr>
            <a:r>
              <a:rPr lang="en-US" sz="1000" dirty="0">
                <a:solidFill>
                  <a:schemeClr val="tx2"/>
                </a:solidFill>
              </a:rPr>
              <a:t>Rainfall (mm) · 26 July 2005 · IMD</a:t>
            </a:r>
            <a:endParaRPr lang="en-US" sz="1150" dirty="0"/>
          </a:p>
        </p:txBody>
      </p:sp>
      <p:graphicFrame>
        <p:nvGraphicFramePr>
          <p:cNvPr id="6" name="mumChart" descr=""/>
          <p:cNvGraphicFramePr/>
          <p:nvPr/>
        </p:nvGraphicFramePr>
        <p:xfrm>
          <a:off x="502920" y="1828800"/>
          <a:ext cx="2651760" cy="2011680"/>
        </p:xfrm>
        <a:graphic xmlns:a="http://schemas.openxmlformats.org/drawingml/2006/main">
          <a:graphicData uri="http://schemas.openxmlformats.org/drawingml/2006/chart">
            <c:chart xmlns:c="http://schemas.openxmlformats.org/drawingml/2006/chart" r:id="rId1"/>
          </a:graphicData>
        </a:graphic>
      </p:graphicFrame>
      <p:sp>
        <p:nvSpPr>
          <p:cNvPr id="7" name="alert"/>
          <p:cNvSpPr/>
          <p:nvPr/>
        </p:nvSpPr>
        <p:spPr>
          <a:xfrm>
            <a:off x="3291840" y="1417320"/>
            <a:ext cx="2423160" cy="868680"/>
          </a:xfrm>
          <a:prstGeom prst="roundRect">
            <a:avLst>
              <a:gd name="adj" fmla="val 8421"/>
            </a:avLst>
          </a:prstGeom>
          <a:solidFill>
            <a:schemeClr val="bg1"/>
          </a:solidFill>
          <a:ln/>
        </p:spPr>
      </p:sp>
      <p:sp>
        <p:nvSpPr>
          <p:cNvPr id="8" name="alertT"/>
          <p:cNvSpPr txBox="1"/>
          <p:nvPr/>
        </p:nvSpPr>
        <p:spPr>
          <a:xfrm>
            <a:off x="3429000" y="1490472"/>
            <a:ext cx="2148840" cy="731520"/>
          </a:xfrm>
          <a:prstGeom prst="rect">
            <a:avLst/>
          </a:prstGeom>
          <a:noFill/>
          <a:ln/>
        </p:spPr>
        <p:txBody>
          <a:bodyPr wrap="square" lIns="0" tIns="0" rIns="0" bIns="0" rtlCol="0" anchor="t"/>
          <a:lstStyle/>
          <a:p>
            <a:pPr indent="0" marL="0">
              <a:buNone/>
            </a:pPr>
            <a:r>
              <a:rPr lang="en-US" sz="950" b="1" spc="150" kern="0" dirty="0">
                <a:solidFill>
                  <a:schemeClr val="tx2"/>
                </a:solidFill>
              </a:rPr>
              <a:t>WHAT A CITY-LEVEL ALERT SAYS</a:t>
            </a:r>
            <a:endParaRPr lang="en-US" sz="1150" dirty="0"/>
          </a:p>
          <a:p>
            <a:pPr indent="0" marL="0">
              <a:buNone/>
            </a:pPr>
            <a:r>
              <a:rPr lang="en-US" sz="1300" b="1" i="1" dirty="0">
                <a:solidFill>
                  <a:schemeClr val="tx1"/>
                </a:solidFill>
                <a:latin typeface="+mj-lt" pitchFamily="34" charset="0"/>
                <a:ea typeface="+mj-lt" pitchFamily="34" charset="-122"/>
                <a:cs typeface="+mj-lt" pitchFamily="34" charset="-120"/>
              </a:rPr>
              <a:t>“Heavy rain in Mumbai.”</a:t>
            </a:r>
            <a:endParaRPr lang="en-US" sz="1150" dirty="0"/>
          </a:p>
        </p:txBody>
      </p:sp>
      <p:sp>
        <p:nvSpPr>
          <p:cNvPr id="9" name="alertA"/>
          <p:cNvSpPr/>
          <p:nvPr/>
        </p:nvSpPr>
        <p:spPr>
          <a:xfrm>
            <a:off x="4503420" y="2304288"/>
            <a:ext cx="0" cy="146304"/>
          </a:xfrm>
          <a:prstGeom prst="line">
            <a:avLst/>
          </a:prstGeom>
          <a:noFill/>
          <a:ln w="15875">
            <a:solidFill>
              <a:srgbClr val="4A5578"/>
            </a:solidFill>
            <a:prstDash val="solid"/>
            <a:tailEnd type="triangle"/>
          </a:ln>
        </p:spPr>
      </p:sp>
      <p:sp>
        <p:nvSpPr>
          <p:cNvPr id="10" name="need"/>
          <p:cNvSpPr/>
          <p:nvPr/>
        </p:nvSpPr>
        <p:spPr>
          <a:xfrm>
            <a:off x="3291840" y="2468880"/>
            <a:ext cx="2423160" cy="868680"/>
          </a:xfrm>
          <a:prstGeom prst="roundRect">
            <a:avLst>
              <a:gd name="adj" fmla="val 8421"/>
            </a:avLst>
          </a:prstGeom>
          <a:solidFill>
            <a:schemeClr val="accent1">
              <a:alpha val="14000"/>
            </a:schemeClr>
          </a:solidFill>
          <a:ln/>
        </p:spPr>
      </p:sp>
      <p:sp>
        <p:nvSpPr>
          <p:cNvPr id="11" name="needT"/>
          <p:cNvSpPr txBox="1"/>
          <p:nvPr/>
        </p:nvSpPr>
        <p:spPr>
          <a:xfrm>
            <a:off x="3429000" y="2532888"/>
            <a:ext cx="2148840" cy="777240"/>
          </a:xfrm>
          <a:prstGeom prst="rect">
            <a:avLst/>
          </a:prstGeom>
          <a:noFill/>
          <a:ln/>
        </p:spPr>
        <p:txBody>
          <a:bodyPr wrap="square" lIns="0" tIns="0" rIns="0" bIns="0" rtlCol="0" anchor="t"/>
          <a:lstStyle/>
          <a:p>
            <a:pPr indent="0" marL="0">
              <a:buNone/>
            </a:pPr>
            <a:r>
              <a:rPr lang="en-US" sz="950" b="1" spc="150" kern="0" dirty="0">
                <a:solidFill>
                  <a:schemeClr val="accent1"/>
                </a:solidFill>
              </a:rPr>
              <a:t>WHAT IT NEEDS TO DECIDE</a:t>
            </a:r>
            <a:endParaRPr lang="en-US" sz="1150" dirty="0"/>
          </a:p>
          <a:p>
            <a:pPr indent="0" marL="0">
              <a:buNone/>
            </a:pPr>
            <a:r>
              <a:rPr lang="en-US" sz="1300" b="1" i="1" dirty="0">
                <a:solidFill>
                  <a:schemeClr val="tx1"/>
                </a:solidFill>
                <a:latin typeface="+mj-lt" pitchFamily="34" charset="0"/>
                <a:ea typeface="+mj-lt" pitchFamily="34" charset="-122"/>
                <a:cs typeface="+mj-lt" pitchFamily="34" charset="-120"/>
              </a:rPr>
              <a:t>“Which zones do I act on, right now?”</a:t>
            </a:r>
            <a:endParaRPr lang="en-US" sz="1150" dirty="0"/>
          </a:p>
        </p:txBody>
      </p:sp>
      <p:sp>
        <p:nvSpPr>
          <p:cNvPr id="12" name="mumNote"/>
          <p:cNvSpPr txBox="1"/>
          <p:nvPr/>
        </p:nvSpPr>
        <p:spPr>
          <a:xfrm>
            <a:off x="3291840" y="3401568"/>
            <a:ext cx="2423160" cy="438912"/>
          </a:xfrm>
          <a:prstGeom prst="rect">
            <a:avLst/>
          </a:prstGeom>
          <a:noFill/>
          <a:ln/>
        </p:spPr>
        <p:txBody>
          <a:bodyPr wrap="square" lIns="0" tIns="0" rIns="0" bIns="0" rtlCol="0" anchor="t"/>
          <a:lstStyle/>
          <a:p>
            <a:pPr indent="0" marL="0">
              <a:buNone/>
            </a:pPr>
            <a:r>
              <a:rPr lang="en-US" sz="950" dirty="0">
                <a:solidFill>
                  <a:schemeClr val="tx2"/>
                </a:solidFill>
              </a:rPr>
              <a:t>Stations ~20 km apart. In 2020–24, on 5 of 15 heavy-rain days the other station got less than half.</a:t>
            </a:r>
            <a:endParaRPr lang="en-US" sz="950" dirty="0"/>
          </a:p>
        </p:txBody>
      </p:sp>
      <p:sp>
        <p:nvSpPr>
          <p:cNvPr id="13" name="imp"/>
          <p:cNvSpPr/>
          <p:nvPr/>
        </p:nvSpPr>
        <p:spPr>
          <a:xfrm>
            <a:off x="457200" y="4023360"/>
            <a:ext cx="5440680" cy="960120"/>
          </a:xfrm>
          <a:prstGeom prst="roundRect">
            <a:avLst>
              <a:gd name="adj" fmla="val 7619"/>
            </a:avLst>
          </a:prstGeom>
          <a:solidFill>
            <a:schemeClr val="bg2"/>
          </a:solidFill>
          <a:ln/>
        </p:spPr>
      </p:sp>
      <p:pic>
        <p:nvPicPr>
          <p:cNvPr id="14" name="impI0" descr="preencoded.png">    </p:cNvPr>
          <p:cNvPicPr>
            <a:picLocks noChangeAspect="1"/>
          </p:cNvPicPr>
          <p:nvPr/>
        </p:nvPicPr>
        <p:blipFill>
          <a:blip r:embed="rId2"/>
          <a:stretch>
            <a:fillRect/>
          </a:stretch>
        </p:blipFill>
        <p:spPr>
          <a:xfrm>
            <a:off x="640080" y="4334256"/>
            <a:ext cx="329184" cy="329184"/>
          </a:xfrm>
          <a:prstGeom prst="rect">
            <a:avLst/>
          </a:prstGeom>
        </p:spPr>
      </p:pic>
      <p:sp>
        <p:nvSpPr>
          <p:cNvPr id="15" name="impT0"/>
          <p:cNvSpPr txBox="1"/>
          <p:nvPr/>
        </p:nvSpPr>
        <p:spPr>
          <a:xfrm>
            <a:off x="1097280" y="4206240"/>
            <a:ext cx="2103120" cy="594360"/>
          </a:xfrm>
          <a:prstGeom prst="rect">
            <a:avLst/>
          </a:prstGeom>
          <a:noFill/>
          <a:ln/>
        </p:spPr>
        <p:txBody>
          <a:bodyPr wrap="square" lIns="0" tIns="0" rIns="0" bIns="0" rtlCol="0" anchor="ctr"/>
          <a:lstStyle/>
          <a:p>
            <a:pPr indent="0" marL="0">
              <a:buNone/>
            </a:pPr>
            <a:r>
              <a:rPr lang="en-US" sz="1200" b="1" dirty="0">
                <a:solidFill>
                  <a:schemeClr val="tx1"/>
                </a:solidFill>
              </a:rPr>
              <a:t>Businesses decide blind</a:t>
            </a:r>
            <a:endParaRPr lang="en-US" sz="1150" dirty="0"/>
          </a:p>
          <a:p>
            <a:pPr indent="0" marL="0">
              <a:buNone/>
            </a:pPr>
            <a:r>
              <a:rPr lang="en-US" sz="1050" dirty="0">
                <a:solidFill>
                  <a:schemeClr val="tx2"/>
                </a:solidFill>
              </a:rPr>
              <a:t>dispatch, incentives, delivery promises</a:t>
            </a:r>
            <a:endParaRPr lang="en-US" sz="1150" dirty="0"/>
          </a:p>
        </p:txBody>
      </p:sp>
      <p:pic>
        <p:nvPicPr>
          <p:cNvPr id="16" name="impI1" descr="preencoded.png">    </p:cNvPr>
          <p:cNvPicPr>
            <a:picLocks noChangeAspect="1"/>
          </p:cNvPicPr>
          <p:nvPr/>
        </p:nvPicPr>
        <p:blipFill>
          <a:blip r:embed="rId3"/>
          <a:stretch>
            <a:fillRect/>
          </a:stretch>
        </p:blipFill>
        <p:spPr>
          <a:xfrm>
            <a:off x="3337560" y="4334256"/>
            <a:ext cx="329184" cy="329184"/>
          </a:xfrm>
          <a:prstGeom prst="rect">
            <a:avLst/>
          </a:prstGeom>
        </p:spPr>
      </p:pic>
      <p:sp>
        <p:nvSpPr>
          <p:cNvPr id="17" name="impT1"/>
          <p:cNvSpPr txBox="1"/>
          <p:nvPr/>
        </p:nvSpPr>
        <p:spPr>
          <a:xfrm>
            <a:off x="3794760" y="4206240"/>
            <a:ext cx="2103120" cy="594360"/>
          </a:xfrm>
          <a:prstGeom prst="rect">
            <a:avLst/>
          </a:prstGeom>
          <a:noFill/>
          <a:ln/>
        </p:spPr>
        <p:txBody>
          <a:bodyPr wrap="square" lIns="0" tIns="0" rIns="0" bIns="0" rtlCol="0" anchor="ctr"/>
          <a:lstStyle/>
          <a:p>
            <a:pPr indent="0" marL="0">
              <a:buNone/>
            </a:pPr>
            <a:r>
              <a:rPr lang="en-US" sz="1200" b="1" dirty="0">
                <a:solidFill>
                  <a:schemeClr val="tx1"/>
                </a:solidFill>
              </a:rPr>
              <a:t>Workers carry the loss</a:t>
            </a:r>
            <a:endParaRPr lang="en-US" sz="1150" dirty="0"/>
          </a:p>
          <a:p>
            <a:pPr indent="0" marL="0">
              <a:buNone/>
            </a:pPr>
            <a:r>
              <a:rPr lang="en-US" sz="1050" dirty="0">
                <a:solidFill>
                  <a:schemeClr val="tx2"/>
                </a:solidFill>
              </a:rPr>
              <a:t>income and safety, street by street</a:t>
            </a:r>
            <a:endParaRPr lang="en-US" sz="1150" dirty="0"/>
          </a:p>
        </p:txBody>
      </p:sp>
      <p:sp>
        <p:nvSpPr>
          <p:cNvPr id="18" name="take1"/>
          <p:cNvSpPr/>
          <p:nvPr/>
        </p:nvSpPr>
        <p:spPr>
          <a:xfrm>
            <a:off x="457200" y="5120640"/>
            <a:ext cx="5440680" cy="1188720"/>
          </a:xfrm>
          <a:prstGeom prst="roundRect">
            <a:avLst>
              <a:gd name="adj" fmla="val 6154"/>
            </a:avLst>
          </a:prstGeom>
          <a:solidFill>
            <a:schemeClr val="tx1"/>
          </a:solidFill>
          <a:ln/>
        </p:spPr>
      </p:sp>
      <p:sp>
        <p:nvSpPr>
          <p:cNvPr id="19" name="take1T"/>
          <p:cNvSpPr txBox="1"/>
          <p:nvPr/>
        </p:nvSpPr>
        <p:spPr>
          <a:xfrm>
            <a:off x="640080" y="5120640"/>
            <a:ext cx="5074920" cy="1188720"/>
          </a:xfrm>
          <a:prstGeom prst="rect">
            <a:avLst/>
          </a:prstGeom>
          <a:noFill/>
          <a:ln/>
        </p:spPr>
        <p:txBody>
          <a:bodyPr wrap="square" lIns="0" tIns="0" rIns="0" bIns="0" rtlCol="0" anchor="ctr"/>
          <a:lstStyle/>
          <a:p>
            <a:pPr indent="0" marL="0">
              <a:buNone/>
            </a:pPr>
            <a:r>
              <a:rPr lang="en-US" sz="1300" dirty="0">
                <a:solidFill>
                  <a:schemeClr val="bg1"/>
                </a:solidFill>
              </a:rPr>
              <a:t>India doesn’t have a weather-data problem.</a:t>
            </a:r>
            <a:endParaRPr lang="en-US" sz="1150" dirty="0"/>
          </a:p>
          <a:p>
            <a:pPr indent="0" marL="0">
              <a:buNone/>
            </a:pPr>
            <a:r>
              <a:rPr lang="en-US" sz="1700" b="1" dirty="0">
                <a:solidFill>
                  <a:schemeClr val="accent5"/>
                </a:solidFill>
                <a:latin typeface="+mj-lt" pitchFamily="34" charset="0"/>
                <a:ea typeface="+mj-lt" pitchFamily="34" charset="-122"/>
                <a:cs typeface="+mj-lt" pitchFamily="34" charset="-120"/>
              </a:rPr>
              <a:t>It has a weather-decision problem.</a:t>
            </a:r>
            <a:endParaRPr lang="en-US" sz="1150" dirty="0"/>
          </a:p>
        </p:txBody>
      </p:sp>
      <p:sp>
        <p:nvSpPr>
          <p:cNvPr id="20" name="sigCard"/>
          <p:cNvSpPr/>
          <p:nvPr/>
        </p:nvSpPr>
        <p:spPr>
          <a:xfrm>
            <a:off x="6172200" y="1280160"/>
            <a:ext cx="5562295" cy="2011680"/>
          </a:xfrm>
          <a:prstGeom prst="roundRect">
            <a:avLst>
              <a:gd name="adj" fmla="val 3636"/>
            </a:avLst>
          </a:prstGeom>
          <a:solidFill>
            <a:schemeClr val="bg2"/>
          </a:solidFill>
          <a:ln/>
        </p:spPr>
      </p:sp>
      <p:sp>
        <p:nvSpPr>
          <p:cNvPr id="21" name="sigH"/>
          <p:cNvSpPr txBox="1"/>
          <p:nvPr/>
        </p:nvSpPr>
        <p:spPr>
          <a:xfrm>
            <a:off x="6355080" y="1389888"/>
            <a:ext cx="5196535" cy="274320"/>
          </a:xfrm>
          <a:prstGeom prst="rect">
            <a:avLst/>
          </a:prstGeom>
          <a:noFill/>
          <a:ln/>
        </p:spPr>
        <p:txBody>
          <a:bodyPr wrap="square" lIns="0" tIns="0" rIns="0" bIns="0" rtlCol="0" anchor="t"/>
          <a:lstStyle/>
          <a:p>
            <a:pPr indent="0" marL="0">
              <a:buNone/>
            </a:pPr>
            <a:r>
              <a:rPr lang="en-US" sz="950" b="1" spc="150" kern="0" dirty="0">
                <a:solidFill>
                  <a:schemeClr val="accent1"/>
                </a:solidFill>
              </a:rPr>
              <a:t>THE INSIGHT: JIO’S MICROWAVE LINKS MAY CARRY A WEATHER SIGNAL</a:t>
            </a:r>
            <a:endParaRPr lang="en-US" sz="1150" dirty="0"/>
          </a:p>
        </p:txBody>
      </p:sp>
      <p:pic>
        <p:nvPicPr>
          <p:cNvPr id="22" name="twA" descr="preencoded.png">    </p:cNvPr>
          <p:cNvPicPr>
            <a:picLocks noChangeAspect="1"/>
          </p:cNvPicPr>
          <p:nvPr/>
        </p:nvPicPr>
        <p:blipFill>
          <a:blip r:embed="rId4"/>
          <a:stretch>
            <a:fillRect/>
          </a:stretch>
        </p:blipFill>
        <p:spPr>
          <a:xfrm>
            <a:off x="6446520" y="1783080"/>
            <a:ext cx="502920" cy="502920"/>
          </a:xfrm>
          <a:prstGeom prst="rect">
            <a:avLst/>
          </a:prstGeom>
        </p:spPr>
      </p:pic>
      <p:pic>
        <p:nvPicPr>
          <p:cNvPr id="23" name="twB" descr="preencoded.png">    </p:cNvPr>
          <p:cNvPicPr>
            <a:picLocks noChangeAspect="1"/>
          </p:cNvPicPr>
          <p:nvPr/>
        </p:nvPicPr>
        <p:blipFill>
          <a:blip r:embed="rId5"/>
          <a:stretch>
            <a:fillRect/>
          </a:stretch>
        </p:blipFill>
        <p:spPr>
          <a:xfrm>
            <a:off x="8686800" y="1783080"/>
            <a:ext cx="502920" cy="502920"/>
          </a:xfrm>
          <a:prstGeom prst="rect">
            <a:avLst/>
          </a:prstGeom>
        </p:spPr>
      </p:pic>
      <p:sp>
        <p:nvSpPr>
          <p:cNvPr id="24" name="beam"/>
          <p:cNvSpPr/>
          <p:nvPr/>
        </p:nvSpPr>
        <p:spPr>
          <a:xfrm>
            <a:off x="6949440" y="1874520"/>
            <a:ext cx="1737360" cy="0"/>
          </a:xfrm>
          <a:prstGeom prst="line">
            <a:avLst/>
          </a:prstGeom>
          <a:noFill/>
          <a:ln w="25400">
            <a:solidFill>
              <a:srgbClr val="C77700"/>
            </a:solidFill>
            <a:prstDash val="dash"/>
          </a:ln>
        </p:spPr>
      </p:sp>
      <p:pic>
        <p:nvPicPr>
          <p:cNvPr id="25" name="drop0" descr="preencoded.png">    </p:cNvPr>
          <p:cNvPicPr>
            <a:picLocks noChangeAspect="1"/>
          </p:cNvPicPr>
          <p:nvPr/>
        </p:nvPicPr>
        <p:blipFill>
          <a:blip r:embed="rId6"/>
          <a:stretch>
            <a:fillRect/>
          </a:stretch>
        </p:blipFill>
        <p:spPr>
          <a:xfrm>
            <a:off x="7223760" y="2011680"/>
            <a:ext cx="155448" cy="155448"/>
          </a:xfrm>
          <a:prstGeom prst="rect">
            <a:avLst/>
          </a:prstGeom>
        </p:spPr>
      </p:pic>
      <p:pic>
        <p:nvPicPr>
          <p:cNvPr id="26" name="drop1" descr="preencoded.png">    </p:cNvPr>
          <p:cNvPicPr>
            <a:picLocks noChangeAspect="1"/>
          </p:cNvPicPr>
          <p:nvPr/>
        </p:nvPicPr>
        <p:blipFill>
          <a:blip r:embed="rId7"/>
          <a:stretch>
            <a:fillRect/>
          </a:stretch>
        </p:blipFill>
        <p:spPr>
          <a:xfrm>
            <a:off x="7589520" y="2176272"/>
            <a:ext cx="155448" cy="155448"/>
          </a:xfrm>
          <a:prstGeom prst="rect">
            <a:avLst/>
          </a:prstGeom>
        </p:spPr>
      </p:pic>
      <p:pic>
        <p:nvPicPr>
          <p:cNvPr id="27" name="drop2" descr="preencoded.png">    </p:cNvPr>
          <p:cNvPicPr>
            <a:picLocks noChangeAspect="1"/>
          </p:cNvPicPr>
          <p:nvPr/>
        </p:nvPicPr>
        <p:blipFill>
          <a:blip r:embed="rId8"/>
          <a:stretch>
            <a:fillRect/>
          </a:stretch>
        </p:blipFill>
        <p:spPr>
          <a:xfrm>
            <a:off x="7955280" y="1993392"/>
            <a:ext cx="155448" cy="155448"/>
          </a:xfrm>
          <a:prstGeom prst="rect">
            <a:avLst/>
          </a:prstGeom>
        </p:spPr>
      </p:pic>
      <p:pic>
        <p:nvPicPr>
          <p:cNvPr id="28" name="drop3" descr="preencoded.png">    </p:cNvPr>
          <p:cNvPicPr>
            <a:picLocks noChangeAspect="1"/>
          </p:cNvPicPr>
          <p:nvPr/>
        </p:nvPicPr>
        <p:blipFill>
          <a:blip r:embed="rId9"/>
          <a:stretch>
            <a:fillRect/>
          </a:stretch>
        </p:blipFill>
        <p:spPr>
          <a:xfrm>
            <a:off x="8321040" y="2157984"/>
            <a:ext cx="155448" cy="155448"/>
          </a:xfrm>
          <a:prstGeom prst="rect">
            <a:avLst/>
          </a:prstGeom>
        </p:spPr>
      </p:pic>
      <p:sp>
        <p:nvSpPr>
          <p:cNvPr id="29" name="beamL"/>
          <p:cNvSpPr txBox="1"/>
          <p:nvPr/>
        </p:nvSpPr>
        <p:spPr>
          <a:xfrm>
            <a:off x="6446520" y="2377440"/>
            <a:ext cx="2743200" cy="228600"/>
          </a:xfrm>
          <a:prstGeom prst="rect">
            <a:avLst/>
          </a:prstGeom>
          <a:noFill/>
          <a:ln/>
        </p:spPr>
        <p:txBody>
          <a:bodyPr wrap="square" lIns="0" tIns="0" rIns="0" bIns="0" rtlCol="0" anchor="t"/>
          <a:lstStyle/>
          <a:p>
            <a:pPr algn="ctr" indent="0" marL="0">
              <a:buNone/>
            </a:pPr>
            <a:r>
              <a:rPr lang="en-US" sz="950" dirty="0">
                <a:solidFill>
                  <a:schemeClr val="tx2"/>
                </a:solidFill>
              </a:rPr>
              <a:t>microwave link between two sites</a:t>
            </a:r>
            <a:endParaRPr lang="en-US" sz="950" dirty="0"/>
          </a:p>
        </p:txBody>
      </p:sp>
      <p:sp>
        <p:nvSpPr>
          <p:cNvPr id="30" name="sigT"/>
          <p:cNvSpPr txBox="1"/>
          <p:nvPr/>
        </p:nvSpPr>
        <p:spPr>
          <a:xfrm>
            <a:off x="9418320" y="1755648"/>
            <a:ext cx="2133295" cy="914400"/>
          </a:xfrm>
          <a:prstGeom prst="rect">
            <a:avLst/>
          </a:prstGeom>
          <a:noFill/>
          <a:ln/>
        </p:spPr>
        <p:txBody>
          <a:bodyPr wrap="square" lIns="0" tIns="0" rIns="0" bIns="0" rtlCol="0" anchor="t"/>
          <a:lstStyle/>
          <a:p>
            <a:pPr indent="0" marL="0">
              <a:buNone/>
            </a:pPr>
            <a:r>
              <a:rPr lang="en-US" sz="1150" b="1" dirty="0">
                <a:solidFill>
                  <a:schemeClr val="tx1"/>
                </a:solidFill>
              </a:rPr>
              <a:t>Rain weakens the signal. </a:t>
            </a:r>
            <a:pPr indent="0" marL="0">
              <a:buNone/>
            </a:pPr>
            <a:r>
              <a:rPr lang="en-US" sz="1150" dirty="0">
                <a:solidFill>
                  <a:schemeClr val="tx2"/>
                </a:solidFill>
              </a:rPr>
              <a:t>Measure the excess loss and estimate path-averaged rainfall along each link, in near-real-time.</a:t>
            </a:r>
            <a:endParaRPr lang="en-US" sz="1150" dirty="0"/>
          </a:p>
        </p:txBody>
      </p:sp>
      <p:pic>
        <p:nvPicPr>
          <p:cNvPr id="31" name="okI" descr="preencoded.png">    </p:cNvPr>
          <p:cNvPicPr>
            <a:picLocks noChangeAspect="1"/>
          </p:cNvPicPr>
          <p:nvPr/>
        </p:nvPicPr>
        <p:blipFill>
          <a:blip r:embed="rId10"/>
          <a:stretch>
            <a:fillRect/>
          </a:stretch>
        </p:blipFill>
        <p:spPr>
          <a:xfrm>
            <a:off x="6446520" y="2816352"/>
            <a:ext cx="219456" cy="219456"/>
          </a:xfrm>
          <a:prstGeom prst="rect">
            <a:avLst/>
          </a:prstGeom>
        </p:spPr>
      </p:pic>
      <p:sp>
        <p:nvSpPr>
          <p:cNvPr id="32" name="okT"/>
          <p:cNvSpPr txBox="1"/>
          <p:nvPr/>
        </p:nvSpPr>
        <p:spPr>
          <a:xfrm>
            <a:off x="6720840" y="2798064"/>
            <a:ext cx="2011680" cy="256032"/>
          </a:xfrm>
          <a:prstGeom prst="rect">
            <a:avLst/>
          </a:prstGeom>
          <a:noFill/>
          <a:ln/>
        </p:spPr>
        <p:txBody>
          <a:bodyPr wrap="square" lIns="0" tIns="0" rIns="0" bIns="0" rtlCol="0" anchor="ctr"/>
          <a:lstStyle/>
          <a:p>
            <a:pPr indent="0" marL="0">
              <a:buNone/>
            </a:pPr>
            <a:r>
              <a:rPr lang="en-US" sz="1100" b="1" dirty="0">
                <a:solidFill>
                  <a:schemeClr val="tx1"/>
                </a:solidFill>
              </a:rPr>
              <a:t>Microwave links: usable</a:t>
            </a:r>
            <a:endParaRPr lang="en-US" sz="1100" dirty="0"/>
          </a:p>
        </p:txBody>
      </p:sp>
      <p:pic>
        <p:nvPicPr>
          <p:cNvPr id="33" name="noI" descr="preencoded.png">    </p:cNvPr>
          <p:cNvPicPr>
            <a:picLocks noChangeAspect="1"/>
          </p:cNvPicPr>
          <p:nvPr/>
        </p:nvPicPr>
        <p:blipFill>
          <a:blip r:embed="rId11"/>
          <a:stretch>
            <a:fillRect/>
          </a:stretch>
        </p:blipFill>
        <p:spPr>
          <a:xfrm>
            <a:off x="8778240" y="2816352"/>
            <a:ext cx="219456" cy="219456"/>
          </a:xfrm>
          <a:prstGeom prst="rect">
            <a:avLst/>
          </a:prstGeom>
        </p:spPr>
      </p:pic>
      <p:sp>
        <p:nvSpPr>
          <p:cNvPr id="34" name="noT"/>
          <p:cNvSpPr txBox="1"/>
          <p:nvPr/>
        </p:nvSpPr>
        <p:spPr>
          <a:xfrm>
            <a:off x="9052560" y="2798064"/>
            <a:ext cx="2194560" cy="256032"/>
          </a:xfrm>
          <a:prstGeom prst="rect">
            <a:avLst/>
          </a:prstGeom>
          <a:noFill/>
          <a:ln/>
        </p:spPr>
        <p:txBody>
          <a:bodyPr wrap="square" lIns="0" tIns="0" rIns="0" bIns="0" rtlCol="0" anchor="ctr"/>
          <a:lstStyle/>
          <a:p>
            <a:pPr indent="0" marL="0">
              <a:buNone/>
            </a:pPr>
            <a:r>
              <a:rPr lang="en-US" sz="1100" b="1" dirty="0">
                <a:solidFill>
                  <a:schemeClr val="tx1"/>
                </a:solidFill>
              </a:rPr>
              <a:t>Fibre: no rain signal</a:t>
            </a:r>
            <a:endParaRPr lang="en-US" sz="1100" dirty="0"/>
          </a:p>
        </p:txBody>
      </p:sp>
      <p:sp>
        <p:nvSpPr>
          <p:cNvPr id="35" name="defCard"/>
          <p:cNvSpPr/>
          <p:nvPr/>
        </p:nvSpPr>
        <p:spPr>
          <a:xfrm>
            <a:off x="6172200" y="3429000"/>
            <a:ext cx="5562295" cy="1554480"/>
          </a:xfrm>
          <a:prstGeom prst="roundRect">
            <a:avLst>
              <a:gd name="adj" fmla="val 4706"/>
            </a:avLst>
          </a:prstGeom>
          <a:solidFill>
            <a:schemeClr val="accent1">
              <a:alpha val="12000"/>
            </a:schemeClr>
          </a:solidFill>
          <a:ln/>
        </p:spPr>
      </p:sp>
      <p:sp>
        <p:nvSpPr>
          <p:cNvPr id="36" name="defT"/>
          <p:cNvSpPr txBox="1"/>
          <p:nvPr/>
        </p:nvSpPr>
        <p:spPr>
          <a:xfrm>
            <a:off x="6355080" y="3529584"/>
            <a:ext cx="5196535" cy="548640"/>
          </a:xfrm>
          <a:prstGeom prst="rect">
            <a:avLst/>
          </a:prstGeom>
          <a:noFill/>
          <a:ln/>
        </p:spPr>
        <p:txBody>
          <a:bodyPr wrap="square" lIns="0" tIns="0" rIns="0" bIns="0" rtlCol="0" anchor="t"/>
          <a:lstStyle/>
          <a:p>
            <a:pPr indent="0" marL="0">
              <a:buNone/>
            </a:pPr>
            <a:r>
              <a:rPr lang="en-US" sz="950" b="1" spc="150" kern="0" dirty="0">
                <a:solidFill>
                  <a:schemeClr val="accent1"/>
                </a:solidFill>
              </a:rPr>
              <a:t>JIOMAUSAM IS</a:t>
            </a:r>
            <a:endParaRPr lang="en-US" sz="1150" dirty="0"/>
          </a:p>
          <a:p>
            <a:pPr indent="0" marL="0">
              <a:buNone/>
            </a:pPr>
            <a:r>
              <a:rPr lang="en-US" sz="1500" b="1" dirty="0">
                <a:solidFill>
                  <a:schemeClr val="tx1"/>
                </a:solidFill>
                <a:latin typeface="+mj-lt" pitchFamily="34" charset="0"/>
                <a:ea typeface="+mj-lt" pitchFamily="34" charset="-122"/>
                <a:cs typeface="+mj-lt" pitchFamily="34" charset="-120"/>
              </a:rPr>
              <a:t>decision infrastructure, not a weather map</a:t>
            </a:r>
            <a:endParaRPr lang="en-US" sz="1150" dirty="0"/>
          </a:p>
        </p:txBody>
      </p:sp>
      <p:sp>
        <p:nvSpPr>
          <p:cNvPr id="37" name="fl0"/>
          <p:cNvSpPr/>
          <p:nvPr/>
        </p:nvSpPr>
        <p:spPr>
          <a:xfrm>
            <a:off x="6355080" y="4206240"/>
            <a:ext cx="1518818" cy="621792"/>
          </a:xfrm>
          <a:prstGeom prst="roundRect">
            <a:avLst>
              <a:gd name="adj" fmla="val 11765"/>
            </a:avLst>
          </a:prstGeom>
          <a:solidFill>
            <a:schemeClr val="bg1"/>
          </a:solidFill>
          <a:ln/>
        </p:spPr>
      </p:sp>
      <p:sp>
        <p:nvSpPr>
          <p:cNvPr id="38" name="flT0"/>
          <p:cNvSpPr txBox="1"/>
          <p:nvPr/>
        </p:nvSpPr>
        <p:spPr>
          <a:xfrm>
            <a:off x="6428232" y="4206240"/>
            <a:ext cx="1372514" cy="621792"/>
          </a:xfrm>
          <a:prstGeom prst="rect">
            <a:avLst/>
          </a:prstGeom>
          <a:noFill/>
          <a:ln/>
        </p:spPr>
        <p:txBody>
          <a:bodyPr wrap="square" lIns="0" tIns="0" rIns="0" bIns="0" rtlCol="0" anchor="ctr"/>
          <a:lstStyle/>
          <a:p>
            <a:pPr algn="ctr" indent="0" marL="0">
              <a:buNone/>
            </a:pPr>
            <a:r>
              <a:rPr lang="en-US" sz="1050" b="1" dirty="0">
                <a:solidFill>
                  <a:schemeClr val="tx1"/>
                </a:solidFill>
              </a:rPr>
              <a:t>Link signals + IMD radar + rain gauges</a:t>
            </a:r>
            <a:endParaRPr lang="en-US" sz="1050" dirty="0"/>
          </a:p>
        </p:txBody>
      </p:sp>
      <p:sp>
        <p:nvSpPr>
          <p:cNvPr id="39" name="flA0"/>
          <p:cNvSpPr/>
          <p:nvPr/>
        </p:nvSpPr>
        <p:spPr>
          <a:xfrm>
            <a:off x="7910474" y="4517136"/>
            <a:ext cx="246888" cy="0"/>
          </a:xfrm>
          <a:prstGeom prst="line">
            <a:avLst/>
          </a:prstGeom>
          <a:noFill/>
          <a:ln w="15875">
            <a:solidFill>
              <a:srgbClr val="4A5578"/>
            </a:solidFill>
            <a:prstDash val="solid"/>
            <a:tailEnd type="triangle"/>
          </a:ln>
        </p:spPr>
      </p:sp>
      <p:sp>
        <p:nvSpPr>
          <p:cNvPr id="40" name="fl1"/>
          <p:cNvSpPr/>
          <p:nvPr/>
        </p:nvSpPr>
        <p:spPr>
          <a:xfrm>
            <a:off x="8193938" y="4206240"/>
            <a:ext cx="1518818" cy="621792"/>
          </a:xfrm>
          <a:prstGeom prst="roundRect">
            <a:avLst>
              <a:gd name="adj" fmla="val 11765"/>
            </a:avLst>
          </a:prstGeom>
          <a:solidFill>
            <a:schemeClr val="bg1"/>
          </a:solidFill>
          <a:ln/>
        </p:spPr>
      </p:sp>
      <p:sp>
        <p:nvSpPr>
          <p:cNvPr id="41" name="flT1"/>
          <p:cNvSpPr txBox="1"/>
          <p:nvPr/>
        </p:nvSpPr>
        <p:spPr>
          <a:xfrm>
            <a:off x="8267090" y="4206240"/>
            <a:ext cx="1372514" cy="621792"/>
          </a:xfrm>
          <a:prstGeom prst="rect">
            <a:avLst/>
          </a:prstGeom>
          <a:noFill/>
          <a:ln/>
        </p:spPr>
        <p:txBody>
          <a:bodyPr wrap="square" lIns="0" tIns="0" rIns="0" bIns="0" rtlCol="0" anchor="ctr"/>
          <a:lstStyle/>
          <a:p>
            <a:pPr algn="ctr" indent="0" marL="0">
              <a:buNone/>
            </a:pPr>
            <a:r>
              <a:rPr lang="en-US" sz="1050" b="1" dirty="0">
                <a:solidFill>
                  <a:schemeClr val="tx1"/>
                </a:solidFill>
              </a:rPr>
              <a:t>Spatial weather grid</a:t>
            </a:r>
            <a:endParaRPr lang="en-US" sz="1050" dirty="0"/>
          </a:p>
        </p:txBody>
      </p:sp>
      <p:sp>
        <p:nvSpPr>
          <p:cNvPr id="42" name="flA1"/>
          <p:cNvSpPr/>
          <p:nvPr/>
        </p:nvSpPr>
        <p:spPr>
          <a:xfrm>
            <a:off x="9749333" y="4517136"/>
            <a:ext cx="246888" cy="0"/>
          </a:xfrm>
          <a:prstGeom prst="line">
            <a:avLst/>
          </a:prstGeom>
          <a:noFill/>
          <a:ln w="15875">
            <a:solidFill>
              <a:srgbClr val="4A5578"/>
            </a:solidFill>
            <a:prstDash val="solid"/>
            <a:tailEnd type="triangle"/>
          </a:ln>
        </p:spPr>
      </p:sp>
      <p:sp>
        <p:nvSpPr>
          <p:cNvPr id="43" name="fl2"/>
          <p:cNvSpPr/>
          <p:nvPr/>
        </p:nvSpPr>
        <p:spPr>
          <a:xfrm>
            <a:off x="10032797" y="4206240"/>
            <a:ext cx="1518818" cy="621792"/>
          </a:xfrm>
          <a:prstGeom prst="roundRect">
            <a:avLst>
              <a:gd name="adj" fmla="val 11765"/>
            </a:avLst>
          </a:prstGeom>
          <a:solidFill>
            <a:schemeClr val="bg1"/>
          </a:solidFill>
          <a:ln/>
        </p:spPr>
      </p:sp>
      <p:sp>
        <p:nvSpPr>
          <p:cNvPr id="44" name="flT2"/>
          <p:cNvSpPr txBox="1"/>
          <p:nvPr/>
        </p:nvSpPr>
        <p:spPr>
          <a:xfrm>
            <a:off x="10105949" y="4206240"/>
            <a:ext cx="1372514" cy="621792"/>
          </a:xfrm>
          <a:prstGeom prst="rect">
            <a:avLst/>
          </a:prstGeom>
          <a:noFill/>
          <a:ln/>
        </p:spPr>
        <p:txBody>
          <a:bodyPr wrap="square" lIns="0" tIns="0" rIns="0" bIns="0" rtlCol="0" anchor="ctr"/>
          <a:lstStyle/>
          <a:p>
            <a:pPr algn="ctr" indent="0" marL="0">
              <a:buNone/>
            </a:pPr>
            <a:r>
              <a:rPr lang="en-US" sz="1050" b="1" dirty="0">
                <a:solidFill>
                  <a:schemeClr val="tx1"/>
                </a:solidFill>
              </a:rPr>
              <a:t>Decision-ready alerts and triggers</a:t>
            </a:r>
            <a:endParaRPr lang="en-US" sz="1050" dirty="0"/>
          </a:p>
        </p:txBody>
      </p:sp>
      <p:sp>
        <p:nvSpPr>
          <p:cNvPr id="45" name="isCard"/>
          <p:cNvSpPr/>
          <p:nvPr/>
        </p:nvSpPr>
        <p:spPr>
          <a:xfrm>
            <a:off x="6172200" y="5120640"/>
            <a:ext cx="5562295" cy="1188720"/>
          </a:xfrm>
          <a:prstGeom prst="roundRect">
            <a:avLst>
              <a:gd name="adj" fmla="val 6154"/>
            </a:avLst>
          </a:prstGeom>
          <a:solidFill>
            <a:schemeClr val="bg2"/>
          </a:solidFill>
          <a:ln/>
        </p:spPr>
      </p:sp>
      <p:sp>
        <p:nvSpPr>
          <p:cNvPr id="46" name="isT"/>
          <p:cNvSpPr txBox="1"/>
          <p:nvPr/>
        </p:nvSpPr>
        <p:spPr>
          <a:xfrm>
            <a:off x="6355080" y="5212080"/>
            <a:ext cx="2598268" cy="1051560"/>
          </a:xfrm>
          <a:prstGeom prst="rect">
            <a:avLst/>
          </a:prstGeom>
          <a:noFill/>
          <a:ln/>
        </p:spPr>
        <p:txBody>
          <a:bodyPr wrap="square" lIns="0" tIns="0" rIns="0" bIns="0" rtlCol="0" anchor="t"/>
          <a:lstStyle/>
          <a:p>
            <a:pPr indent="0" marL="0">
              <a:buNone/>
            </a:pPr>
            <a:r>
              <a:rPr lang="en-US" sz="950" b="1" spc="150" kern="0" dirty="0">
                <a:solidFill>
                  <a:schemeClr val="accent3"/>
                </a:solidFill>
              </a:rPr>
              <a:t>IT IS</a:t>
            </a:r>
            <a:endParaRPr lang="en-US" sz="1150" dirty="0"/>
          </a:p>
          <a:p>
            <a:pPr marL="342900" indent="-342900">
              <a:buSzPct val="100000"/>
              <a:buChar char="•"/>
            </a:pPr>
            <a:r>
              <a:rPr lang="en-US" sz="1050" dirty="0">
                <a:solidFill>
                  <a:schemeClr val="tx1"/>
                </a:solidFill>
              </a:rPr>
              <a:t>Weather intelligence from existing infrastructure</a:t>
            </a:r>
            <a:endParaRPr lang="en-US" sz="1150" dirty="0"/>
          </a:p>
          <a:p>
            <a:pPr marL="342900" indent="-342900">
              <a:buSzPct val="100000"/>
              <a:buChar char="•"/>
            </a:pPr>
            <a:r>
              <a:rPr lang="en-US" sz="1050" dirty="0">
                <a:solidFill>
                  <a:schemeClr val="tx1"/>
                </a:solidFill>
              </a:rPr>
              <a:t>Alerts and data for businesses</a:t>
            </a:r>
            <a:endParaRPr lang="en-US" sz="1150" dirty="0"/>
          </a:p>
          <a:p>
            <a:pPr marL="342900" indent="-342900">
              <a:buSzPct val="100000"/>
              <a:buChar char="•"/>
            </a:pPr>
            <a:r>
              <a:rPr lang="en-US" sz="1050" dirty="0">
                <a:solidFill>
                  <a:schemeClr val="tx1"/>
                </a:solidFill>
              </a:rPr>
              <a:t>A trigger for future worker protection</a:t>
            </a:r>
            <a:endParaRPr lang="en-US" sz="1150" dirty="0"/>
          </a:p>
        </p:txBody>
      </p:sp>
      <p:sp>
        <p:nvSpPr>
          <p:cNvPr id="47" name="isntT"/>
          <p:cNvSpPr txBox="1"/>
          <p:nvPr/>
        </p:nvSpPr>
        <p:spPr>
          <a:xfrm>
            <a:off x="9044788" y="5212080"/>
            <a:ext cx="2506828" cy="1051560"/>
          </a:xfrm>
          <a:prstGeom prst="rect">
            <a:avLst/>
          </a:prstGeom>
          <a:noFill/>
          <a:ln/>
        </p:spPr>
        <p:txBody>
          <a:bodyPr wrap="square" lIns="0" tIns="0" rIns="0" bIns="0" rtlCol="0" anchor="t"/>
          <a:lstStyle/>
          <a:p>
            <a:pPr indent="0" marL="0">
              <a:buNone/>
            </a:pPr>
            <a:r>
              <a:rPr lang="en-US" sz="950" b="1" spc="150" kern="0" dirty="0">
                <a:solidFill>
                  <a:schemeClr val="accent4"/>
                </a:solidFill>
              </a:rPr>
              <a:t>IT ISN’T</a:t>
            </a:r>
            <a:endParaRPr lang="en-US" sz="1150" dirty="0"/>
          </a:p>
          <a:p>
            <a:pPr marL="342900" indent="-342900">
              <a:buSzPct val="100000"/>
              <a:buChar char="•"/>
            </a:pPr>
            <a:r>
              <a:rPr lang="en-US" sz="1050" dirty="0">
                <a:solidFill>
                  <a:schemeClr val="tx1"/>
                </a:solidFill>
              </a:rPr>
              <a:t>A new sensor network</a:t>
            </a:r>
            <a:endParaRPr lang="en-US" sz="1150" dirty="0"/>
          </a:p>
          <a:p>
            <a:pPr marL="342900" indent="-342900">
              <a:buSzPct val="100000"/>
              <a:buChar char="•"/>
            </a:pPr>
            <a:r>
              <a:rPr lang="en-US" sz="1050" dirty="0">
                <a:solidFill>
                  <a:schemeClr val="tx1"/>
                </a:solidFill>
              </a:rPr>
              <a:t>A consumer weather app</a:t>
            </a:r>
            <a:endParaRPr lang="en-US" sz="1150" dirty="0"/>
          </a:p>
          <a:p>
            <a:pPr marL="342900" indent="-342900">
              <a:buSzPct val="100000"/>
              <a:buChar char="•"/>
            </a:pPr>
            <a:r>
              <a:rPr lang="en-US" sz="1050" dirty="0">
                <a:solidFill>
                  <a:schemeClr val="tx1"/>
                </a:solidFill>
              </a:rPr>
              <a:t>An insurer, or heat sensing from towers</a:t>
            </a:r>
            <a:endParaRPr lang="en-US" sz="1150" dirty="0"/>
          </a:p>
        </p:txBody>
      </p:sp>
      <p:sp>
        <p:nvSpPr>
          <p:cNvPr id="48" name="source"/>
          <p:cNvSpPr txBox="1"/>
          <p:nvPr/>
        </p:nvSpPr>
        <p:spPr>
          <a:xfrm>
            <a:off x="457200" y="6473952"/>
            <a:ext cx="10545775" cy="237744"/>
          </a:xfrm>
          <a:prstGeom prst="rect">
            <a:avLst/>
          </a:prstGeom>
          <a:noFill/>
          <a:ln/>
        </p:spPr>
        <p:txBody>
          <a:bodyPr wrap="square" lIns="0" tIns="0" rIns="0" bIns="0" rtlCol="0" anchor="t"/>
          <a:lstStyle/>
          <a:p>
            <a:pPr indent="0" marL="0">
              <a:buNone/>
            </a:pPr>
            <a:r>
              <a:rPr lang="en-US" sz="950" dirty="0">
                <a:solidFill>
                  <a:schemeClr val="tx2"/>
                </a:solidFill>
              </a:rPr>
              <a:t>Rainfall: India Meteorological Department records (26 July 2005); Santacruz vs Colaba daily station reports 2020–24 (NOAA GSOD archive of IMD reports).</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292608"/>
            <a:ext cx="82296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2 · WHAT WE CHECKED, AND HOW WE FIX THE LIMIT</a:t>
            </a:r>
            <a:endParaRPr lang="en-US" sz="1100" dirty="0"/>
          </a:p>
        </p:txBody>
      </p:sp>
      <p:sp>
        <p:nvSpPr>
          <p:cNvPr id="3" name="Text 1"/>
          <p:cNvSpPr/>
          <p:nvPr>
            <p:ph idx="102" type="title" hasCustomPrompt="1"/>
          </p:nvPr>
        </p:nvSpPr>
        <p:spPr>
          <a:xfrm>
            <a:off x="457200" y="566928"/>
            <a:ext cx="11277295" cy="530352"/>
          </a:xfrm>
          <a:prstGeom prst="rect">
            <a:avLst/>
          </a:prstGeom>
          <a:noFill/>
          <a:ln/>
        </p:spPr>
        <p:txBody>
          <a:bodyPr wrap="square" lIns="0" tIns="0" rIns="0" bIns="0" rtlCol="0" anchor="ctr"/>
          <a:lstStyle/>
          <a:p>
            <a:pPr algn="l" indent="0" marL="0">
              <a:buNone/>
            </a:pPr>
            <a:r>
              <a:rPr lang="en-US" sz="2400" b="1" dirty="0">
                <a:solidFill>
                  <a:schemeClr val="tx1"/>
                </a:solidFill>
              </a:rPr>
              <a:t>Links alone fall short of our bar, so accuracy decides the mix</a:t>
            </a:r>
            <a:endParaRPr lang="en-US" sz="2400" dirty="0"/>
          </a:p>
        </p:txBody>
      </p:sp>
      <p:sp>
        <p:nvSpPr>
          <p:cNvPr id="4" name="tiers"/>
          <p:cNvSpPr/>
          <p:nvPr/>
        </p:nvSpPr>
        <p:spPr>
          <a:xfrm>
            <a:off x="457200" y="1280160"/>
            <a:ext cx="5486400" cy="1600200"/>
          </a:xfrm>
          <a:prstGeom prst="roundRect">
            <a:avLst>
              <a:gd name="adj" fmla="val 4571"/>
            </a:avLst>
          </a:prstGeom>
          <a:solidFill>
            <a:schemeClr val="bg2"/>
          </a:solidFill>
          <a:ln/>
        </p:spPr>
      </p:sp>
      <p:pic>
        <p:nvPicPr>
          <p:cNvPr id="5" name="tiI0" descr="preencoded.png">    </p:cNvPr>
          <p:cNvPicPr>
            <a:picLocks noChangeAspect="1"/>
          </p:cNvPicPr>
          <p:nvPr/>
        </p:nvPicPr>
        <p:blipFill>
          <a:blip r:embed="rId1"/>
          <a:stretch>
            <a:fillRect/>
          </a:stretch>
        </p:blipFill>
        <p:spPr>
          <a:xfrm>
            <a:off x="640080" y="1426464"/>
            <a:ext cx="237744" cy="237744"/>
          </a:xfrm>
          <a:prstGeom prst="rect">
            <a:avLst/>
          </a:prstGeom>
        </p:spPr>
      </p:pic>
      <p:sp>
        <p:nvSpPr>
          <p:cNvPr id="6" name="tiT0"/>
          <p:cNvSpPr txBox="1"/>
          <p:nvPr/>
        </p:nvSpPr>
        <p:spPr>
          <a:xfrm>
            <a:off x="987552" y="1389888"/>
            <a:ext cx="4800600" cy="438912"/>
          </a:xfrm>
          <a:prstGeom prst="rect">
            <a:avLst/>
          </a:prstGeom>
          <a:noFill/>
          <a:ln/>
        </p:spPr>
        <p:txBody>
          <a:bodyPr wrap="square" lIns="0" tIns="0" rIns="0" bIns="0" rtlCol="0" anchor="t"/>
          <a:lstStyle/>
          <a:p>
            <a:pPr indent="0" marL="0">
              <a:buNone/>
            </a:pPr>
            <a:r>
              <a:rPr lang="en-US" sz="950" b="1" spc="100" kern="0" dirty="0">
                <a:solidFill>
                  <a:schemeClr val="accent3"/>
                </a:solidFill>
              </a:rPr>
              <a:t>PROVEN · PUBLISHED  </a:t>
            </a:r>
            <a:pPr indent="0" marL="0">
              <a:buNone/>
            </a:pPr>
            <a:r>
              <a:rPr lang="en-US" sz="1050" dirty="0">
                <a:solidFill>
                  <a:schemeClr val="tx1"/>
                </a:solidFill>
              </a:rPr>
              <a:t>Physics: rain weakens microwave signals. Method: Science 2006, PNAS 2013 (country-wide maps).</a:t>
            </a:r>
            <a:endParaRPr lang="en-US" sz="1150" dirty="0"/>
          </a:p>
        </p:txBody>
      </p:sp>
      <p:pic>
        <p:nvPicPr>
          <p:cNvPr id="7" name="tiI1" descr="preencoded.png">    </p:cNvPr>
          <p:cNvPicPr>
            <a:picLocks noChangeAspect="1"/>
          </p:cNvPicPr>
          <p:nvPr/>
        </p:nvPicPr>
        <p:blipFill>
          <a:blip r:embed="rId2"/>
          <a:stretch>
            <a:fillRect/>
          </a:stretch>
        </p:blipFill>
        <p:spPr>
          <a:xfrm>
            <a:off x="640080" y="1911096"/>
            <a:ext cx="237744" cy="237744"/>
          </a:xfrm>
          <a:prstGeom prst="rect">
            <a:avLst/>
          </a:prstGeom>
        </p:spPr>
      </p:pic>
      <p:sp>
        <p:nvSpPr>
          <p:cNvPr id="8" name="tiT1"/>
          <p:cNvSpPr txBox="1"/>
          <p:nvPr/>
        </p:nvSpPr>
        <p:spPr>
          <a:xfrm>
            <a:off x="987552" y="1874520"/>
            <a:ext cx="4800600" cy="438912"/>
          </a:xfrm>
          <a:prstGeom prst="rect">
            <a:avLst/>
          </a:prstGeom>
          <a:noFill/>
          <a:ln/>
        </p:spPr>
        <p:txBody>
          <a:bodyPr wrap="square" lIns="0" tIns="0" rIns="0" bIns="0" rtlCol="0" anchor="t"/>
          <a:lstStyle/>
          <a:p>
            <a:pPr indent="0" marL="0">
              <a:buNone/>
            </a:pPr>
            <a:r>
              <a:rPr lang="en-US" sz="950" b="1" spc="100" kern="0" dirty="0">
                <a:solidFill>
                  <a:schemeClr val="accent1"/>
                </a:solidFill>
              </a:rPr>
              <a:t>OUR CHECK · PUBLIC DATA  </a:t>
            </a:r>
            <a:pPr indent="0" marL="0">
              <a:buNone/>
            </a:pPr>
            <a:r>
              <a:rPr lang="en-US" sz="1050" dirty="0">
                <a:solidFill>
                  <a:schemeClr val="tx1"/>
                </a:solidFill>
              </a:rPr>
              <a:t>We ran the open-source method on 500 real links (Germany), radar as reference. Not Jio data.</a:t>
            </a:r>
            <a:endParaRPr lang="en-US" sz="1150" dirty="0"/>
          </a:p>
        </p:txBody>
      </p:sp>
      <p:pic>
        <p:nvPicPr>
          <p:cNvPr id="9" name="tiI2" descr="preencoded.png">    </p:cNvPr>
          <p:cNvPicPr>
            <a:picLocks noChangeAspect="1"/>
          </p:cNvPicPr>
          <p:nvPr/>
        </p:nvPicPr>
        <p:blipFill>
          <a:blip r:embed="rId3"/>
          <a:stretch>
            <a:fillRect/>
          </a:stretch>
        </p:blipFill>
        <p:spPr>
          <a:xfrm>
            <a:off x="640080" y="2395728"/>
            <a:ext cx="237744" cy="237744"/>
          </a:xfrm>
          <a:prstGeom prst="rect">
            <a:avLst/>
          </a:prstGeom>
        </p:spPr>
      </p:pic>
      <p:sp>
        <p:nvSpPr>
          <p:cNvPr id="10" name="tiT2"/>
          <p:cNvSpPr txBox="1"/>
          <p:nvPr/>
        </p:nvSpPr>
        <p:spPr>
          <a:xfrm>
            <a:off x="987552" y="2359152"/>
            <a:ext cx="4800600" cy="438912"/>
          </a:xfrm>
          <a:prstGeom prst="rect">
            <a:avLst/>
          </a:prstGeom>
          <a:noFill/>
          <a:ln/>
        </p:spPr>
        <p:txBody>
          <a:bodyPr wrap="square" lIns="0" tIns="0" rIns="0" bIns="0" rtlCol="0" anchor="t"/>
          <a:lstStyle/>
          <a:p>
            <a:pPr indent="0" marL="0">
              <a:buNone/>
            </a:pPr>
            <a:r>
              <a:rPr lang="en-US" sz="950" b="1" spc="100" kern="0" dirty="0">
                <a:solidFill>
                  <a:schemeClr val="accent4"/>
                </a:solidFill>
              </a:rPr>
              <a:t>NOT YET PROVEN · THE PILOT  </a:t>
            </a:r>
            <a:pPr indent="0" marL="0">
              <a:buNone/>
            </a:pPr>
            <a:r>
              <a:rPr lang="en-US" sz="1050" dirty="0">
                <a:solidFill>
                  <a:schemeClr val="tx1"/>
                </a:solidFill>
              </a:rPr>
              <a:t>Jio’s coverage, Indian accuracy, business value, who pays, insurance-grade triggers.</a:t>
            </a:r>
            <a:endParaRPr lang="en-US" sz="1150" dirty="0"/>
          </a:p>
        </p:txBody>
      </p:sp>
      <p:sp>
        <p:nvSpPr>
          <p:cNvPr id="11" name="res"/>
          <p:cNvSpPr/>
          <p:nvPr/>
        </p:nvSpPr>
        <p:spPr>
          <a:xfrm>
            <a:off x="457200" y="3017520"/>
            <a:ext cx="5486400" cy="1783080"/>
          </a:xfrm>
          <a:prstGeom prst="roundRect">
            <a:avLst>
              <a:gd name="adj" fmla="val 4103"/>
            </a:avLst>
          </a:prstGeom>
          <a:solidFill>
            <a:schemeClr val="accent4">
              <a:alpha val="10000"/>
            </a:schemeClr>
          </a:solidFill>
          <a:ln/>
        </p:spPr>
      </p:sp>
      <p:sp>
        <p:nvSpPr>
          <p:cNvPr id="12" name="resN"/>
          <p:cNvSpPr txBox="1"/>
          <p:nvPr/>
        </p:nvSpPr>
        <p:spPr>
          <a:xfrm>
            <a:off x="640080" y="3108960"/>
            <a:ext cx="1463040" cy="685800"/>
          </a:xfrm>
          <a:prstGeom prst="rect">
            <a:avLst/>
          </a:prstGeom>
          <a:noFill/>
          <a:ln/>
        </p:spPr>
        <p:txBody>
          <a:bodyPr wrap="square" lIns="0" tIns="0" rIns="0" bIns="0" rtlCol="0" anchor="ctr"/>
          <a:lstStyle/>
          <a:p>
            <a:pPr indent="0" marL="0">
              <a:buNone/>
            </a:pPr>
            <a:r>
              <a:rPr lang="en-US" sz="4000" b="1" dirty="0">
                <a:solidFill>
                  <a:schemeClr val="tx1"/>
                </a:solidFill>
                <a:latin typeface="+mj-lt" pitchFamily="34" charset="0"/>
                <a:ea typeface="+mj-lt" pitchFamily="34" charset="-122"/>
                <a:cs typeface="+mj-lt" pitchFamily="34" charset="-120"/>
              </a:rPr>
              <a:t>68%</a:t>
            </a:r>
            <a:endParaRPr lang="en-US" sz="4000" dirty="0"/>
          </a:p>
        </p:txBody>
      </p:sp>
      <p:sp>
        <p:nvSpPr>
          <p:cNvPr id="13" name="resL"/>
          <p:cNvSpPr txBox="1"/>
          <p:nvPr/>
        </p:nvSpPr>
        <p:spPr>
          <a:xfrm>
            <a:off x="2148840" y="3182112"/>
            <a:ext cx="3611880" cy="566928"/>
          </a:xfrm>
          <a:prstGeom prst="rect">
            <a:avLst/>
          </a:prstGeom>
          <a:noFill/>
          <a:ln/>
        </p:spPr>
        <p:txBody>
          <a:bodyPr wrap="square" lIns="0" tIns="0" rIns="0" bIns="0" rtlCol="0" anchor="t"/>
          <a:lstStyle/>
          <a:p>
            <a:pPr indent="0" marL="0">
              <a:buNone/>
            </a:pPr>
            <a:r>
              <a:rPr lang="en-US" sz="1200" b="1" dirty="0">
                <a:solidFill>
                  <a:schemeClr val="tx1"/>
                </a:solidFill>
              </a:rPr>
              <a:t>of rain events caught by links alone</a:t>
            </a:r>
            <a:endParaRPr lang="en-US" sz="1150" dirty="0"/>
          </a:p>
          <a:p>
            <a:pPr indent="0" marL="0">
              <a:buNone/>
            </a:pPr>
            <a:r>
              <a:rPr lang="en-US" sz="1000" dirty="0">
                <a:solidFill>
                  <a:schemeClr val="tx2"/>
                </a:solidFill>
              </a:rPr>
              <a:t>1,120 of 1,639 radar events · 8 unseen test days</a:t>
            </a:r>
            <a:endParaRPr lang="en-US" sz="1150" dirty="0"/>
          </a:p>
        </p:txBody>
      </p:sp>
      <p:sp>
        <p:nvSpPr>
          <p:cNvPr id="14" name="resB"/>
          <p:cNvSpPr/>
          <p:nvPr/>
        </p:nvSpPr>
        <p:spPr>
          <a:xfrm>
            <a:off x="640080" y="4041648"/>
            <a:ext cx="5120640" cy="274320"/>
          </a:xfrm>
          <a:prstGeom prst="roundRect">
            <a:avLst>
              <a:gd name="adj" fmla="val 16667"/>
            </a:avLst>
          </a:prstGeom>
          <a:solidFill>
            <a:schemeClr val="bg1"/>
          </a:solidFill>
          <a:ln w="9525">
            <a:solidFill>
              <a:srgbClr val="E3E6EE"/>
            </a:solidFill>
            <a:prstDash val="solid"/>
          </a:ln>
        </p:spPr>
      </p:sp>
      <p:sp>
        <p:nvSpPr>
          <p:cNvPr id="15" name="resF"/>
          <p:cNvSpPr/>
          <p:nvPr/>
        </p:nvSpPr>
        <p:spPr>
          <a:xfrm>
            <a:off x="640080" y="4041648"/>
            <a:ext cx="3482035" cy="274320"/>
          </a:xfrm>
          <a:prstGeom prst="roundRect">
            <a:avLst>
              <a:gd name="adj" fmla="val 16667"/>
            </a:avLst>
          </a:prstGeom>
          <a:solidFill>
            <a:schemeClr val="accent2"/>
          </a:solidFill>
          <a:ln/>
        </p:spPr>
      </p:sp>
      <p:sp>
        <p:nvSpPr>
          <p:cNvPr id="16" name="resFT"/>
          <p:cNvSpPr txBox="1"/>
          <p:nvPr/>
        </p:nvSpPr>
        <p:spPr>
          <a:xfrm>
            <a:off x="731520" y="4041648"/>
            <a:ext cx="2286000" cy="274320"/>
          </a:xfrm>
          <a:prstGeom prst="rect">
            <a:avLst/>
          </a:prstGeom>
          <a:noFill/>
          <a:ln/>
        </p:spPr>
        <p:txBody>
          <a:bodyPr wrap="square" lIns="0" tIns="0" rIns="0" bIns="0" rtlCol="0" anchor="ctr"/>
          <a:lstStyle/>
          <a:p>
            <a:pPr indent="0" marL="0">
              <a:buNone/>
            </a:pPr>
            <a:r>
              <a:rPr lang="en-US" sz="1000" b="1" dirty="0">
                <a:solidFill>
                  <a:schemeClr val="bg1"/>
                </a:solidFill>
              </a:rPr>
              <a:t>links alone: 68%</a:t>
            </a:r>
            <a:endParaRPr lang="en-US" sz="1000" dirty="0"/>
          </a:p>
        </p:txBody>
      </p:sp>
      <p:sp>
        <p:nvSpPr>
          <p:cNvPr id="17" name="resG"/>
          <p:cNvSpPr/>
          <p:nvPr/>
        </p:nvSpPr>
        <p:spPr>
          <a:xfrm>
            <a:off x="4736592" y="3931920"/>
            <a:ext cx="0" cy="493776"/>
          </a:xfrm>
          <a:prstGeom prst="line">
            <a:avLst/>
          </a:prstGeom>
          <a:noFill/>
          <a:ln w="22225">
            <a:solidFill>
              <a:srgbClr val="14915F"/>
            </a:solidFill>
            <a:prstDash val="dash"/>
          </a:ln>
        </p:spPr>
      </p:sp>
      <p:sp>
        <p:nvSpPr>
          <p:cNvPr id="18" name="resGT"/>
          <p:cNvSpPr txBox="1"/>
          <p:nvPr/>
        </p:nvSpPr>
        <p:spPr>
          <a:xfrm>
            <a:off x="4791456" y="4059936"/>
            <a:ext cx="1097280" cy="237744"/>
          </a:xfrm>
          <a:prstGeom prst="rect">
            <a:avLst/>
          </a:prstGeom>
          <a:noFill/>
          <a:ln/>
        </p:spPr>
        <p:txBody>
          <a:bodyPr wrap="square" lIns="0" tIns="0" rIns="0" bIns="0" rtlCol="0" anchor="ctr"/>
          <a:lstStyle/>
          <a:p>
            <a:pPr indent="0" marL="0">
              <a:buNone/>
            </a:pPr>
            <a:r>
              <a:rPr lang="en-US" sz="1000" b="1" dirty="0">
                <a:solidFill>
                  <a:schemeClr val="accent3"/>
                </a:solidFill>
              </a:rPr>
              <a:t>our bar: 80%</a:t>
            </a:r>
            <a:endParaRPr lang="en-US" sz="1000" dirty="0"/>
          </a:p>
        </p:txBody>
      </p:sp>
      <p:sp>
        <p:nvSpPr>
          <p:cNvPr id="19" name="resS"/>
          <p:cNvSpPr txBox="1"/>
          <p:nvPr/>
        </p:nvSpPr>
        <p:spPr>
          <a:xfrm>
            <a:off x="640080" y="4389120"/>
            <a:ext cx="5120640" cy="365760"/>
          </a:xfrm>
          <a:prstGeom prst="rect">
            <a:avLst/>
          </a:prstGeom>
          <a:noFill/>
          <a:ln/>
        </p:spPr>
        <p:txBody>
          <a:bodyPr wrap="square" lIns="0" tIns="0" rIns="0" bIns="0" rtlCol="0" anchor="t"/>
          <a:lstStyle/>
          <a:p>
            <a:pPr indent="0" marL="0">
              <a:buNone/>
            </a:pPr>
            <a:r>
              <a:rPr lang="en-US" sz="1050" dirty="0">
                <a:solidFill>
                  <a:schemeClr val="tx2"/>
                </a:solidFill>
              </a:rPr>
              <a:t>Event = 10 mm+ of rain in 3 hours in a ~4 km zone. </a:t>
            </a:r>
            <a:pPr indent="0" marL="0">
              <a:buNone/>
            </a:pPr>
            <a:r>
              <a:rPr lang="en-US" sz="1050" b="1" dirty="0">
                <a:solidFill>
                  <a:schemeClr val="accent4"/>
                </a:solidFill>
              </a:rPr>
              <a:t>Below our bar, so we never use links alone.</a:t>
            </a:r>
            <a:endParaRPr lang="en-US" sz="1050" dirty="0"/>
          </a:p>
        </p:txBody>
      </p:sp>
      <p:graphicFrame>
        <p:nvGraphicFramePr>
          <p:cNvPr id="20" name="chart" descr=""/>
          <p:cNvGraphicFramePr/>
          <p:nvPr/>
        </p:nvGraphicFramePr>
        <p:xfrm>
          <a:off x="411480" y="4864608"/>
          <a:ext cx="5577840" cy="1481328"/>
        </p:xfrm>
        <a:graphic xmlns:a="http://schemas.openxmlformats.org/drawingml/2006/main">
          <a:graphicData uri="http://schemas.openxmlformats.org/drawingml/2006/chart">
            <c:chart xmlns:c="http://schemas.openxmlformats.org/drawingml/2006/chart" r:id="rId4"/>
          </a:graphicData>
        </a:graphic>
      </p:graphicFrame>
      <p:sp>
        <p:nvSpPr>
          <p:cNvPr id="21" name="src"/>
          <p:cNvSpPr/>
          <p:nvPr/>
        </p:nvSpPr>
        <p:spPr>
          <a:xfrm>
            <a:off x="6217920" y="1280160"/>
            <a:ext cx="5516575" cy="2697480"/>
          </a:xfrm>
          <a:prstGeom prst="roundRect">
            <a:avLst>
              <a:gd name="adj" fmla="val 2712"/>
            </a:avLst>
          </a:prstGeom>
          <a:solidFill>
            <a:schemeClr val="bg2"/>
          </a:solidFill>
          <a:ln/>
        </p:spPr>
      </p:sp>
      <p:sp>
        <p:nvSpPr>
          <p:cNvPr id="22" name="srcH"/>
          <p:cNvSpPr txBox="1"/>
          <p:nvPr/>
        </p:nvSpPr>
        <p:spPr>
          <a:xfrm>
            <a:off x="6400800" y="1371600"/>
            <a:ext cx="5150815" cy="256032"/>
          </a:xfrm>
          <a:prstGeom prst="rect">
            <a:avLst/>
          </a:prstGeom>
          <a:noFill/>
          <a:ln/>
        </p:spPr>
        <p:txBody>
          <a:bodyPr wrap="square" lIns="0" tIns="0" rIns="0" bIns="0" rtlCol="0" anchor="t"/>
          <a:lstStyle/>
          <a:p>
            <a:pPr indent="0" marL="0">
              <a:buNone/>
            </a:pPr>
            <a:r>
              <a:rPr lang="en-US" sz="950" b="1" spc="150" kern="0" dirty="0">
                <a:solidFill>
                  <a:schemeClr val="accent1"/>
                </a:solidFill>
              </a:rPr>
              <a:t>CANDIDATE SOURCES AND WHO PROVIDES THEM</a:t>
            </a:r>
            <a:endParaRPr lang="en-US" sz="1150" dirty="0"/>
          </a:p>
        </p:txBody>
      </p:sp>
      <p:pic>
        <p:nvPicPr>
          <p:cNvPr id="23" name="srcI0" descr="preencoded.png">    </p:cNvPr>
          <p:cNvPicPr>
            <a:picLocks noChangeAspect="1"/>
          </p:cNvPicPr>
          <p:nvPr/>
        </p:nvPicPr>
        <p:blipFill>
          <a:blip r:embed="rId5"/>
          <a:stretch>
            <a:fillRect/>
          </a:stretch>
        </p:blipFill>
        <p:spPr>
          <a:xfrm>
            <a:off x="6419088" y="1728216"/>
            <a:ext cx="201168" cy="201168"/>
          </a:xfrm>
          <a:prstGeom prst="rect">
            <a:avLst/>
          </a:prstGeom>
        </p:spPr>
      </p:pic>
      <p:sp>
        <p:nvSpPr>
          <p:cNvPr id="24" name="srcT0"/>
          <p:cNvSpPr txBox="1"/>
          <p:nvPr/>
        </p:nvSpPr>
        <p:spPr>
          <a:xfrm>
            <a:off x="6748272" y="1691640"/>
            <a:ext cx="3642055" cy="274320"/>
          </a:xfrm>
          <a:prstGeom prst="rect">
            <a:avLst/>
          </a:prstGeom>
          <a:noFill/>
          <a:ln/>
        </p:spPr>
        <p:txBody>
          <a:bodyPr wrap="square" lIns="0" tIns="0" rIns="0" bIns="0" rtlCol="0" anchor="ctr"/>
          <a:lstStyle/>
          <a:p>
            <a:pPr indent="0" marL="0">
              <a:buNone/>
            </a:pPr>
            <a:r>
              <a:rPr lang="en-US" sz="1100" b="1" dirty="0">
                <a:solidFill>
                  <a:schemeClr val="tx1"/>
                </a:solidFill>
              </a:rPr>
              <a:t>Jio microwave links</a:t>
            </a:r>
            <a:endParaRPr lang="en-US" sz="1100" dirty="0"/>
          </a:p>
        </p:txBody>
      </p:sp>
      <p:sp>
        <p:nvSpPr>
          <p:cNvPr id="25" name="srcP0"/>
          <p:cNvSpPr/>
          <p:nvPr/>
        </p:nvSpPr>
        <p:spPr>
          <a:xfrm>
            <a:off x="10436047" y="1709928"/>
            <a:ext cx="1115568" cy="237744"/>
          </a:xfrm>
          <a:prstGeom prst="roundRect">
            <a:avLst>
              <a:gd name="adj" fmla="val 23077"/>
            </a:avLst>
          </a:prstGeom>
          <a:solidFill>
            <a:schemeClr val="accent2">
              <a:alpha val="14000"/>
            </a:schemeClr>
          </a:solidFill>
          <a:ln/>
        </p:spPr>
      </p:sp>
      <p:sp>
        <p:nvSpPr>
          <p:cNvPr id="26" name="srcP0T"/>
          <p:cNvSpPr txBox="1"/>
          <p:nvPr/>
        </p:nvSpPr>
        <p:spPr>
          <a:xfrm>
            <a:off x="10436047" y="1709928"/>
            <a:ext cx="1115568" cy="237744"/>
          </a:xfrm>
          <a:prstGeom prst="rect">
            <a:avLst/>
          </a:prstGeom>
          <a:noFill/>
          <a:ln/>
        </p:spPr>
        <p:txBody>
          <a:bodyPr wrap="square" lIns="0" tIns="0" rIns="0" bIns="0" rtlCol="0" anchor="ctr"/>
          <a:lstStyle/>
          <a:p>
            <a:pPr algn="ctr" indent="0" marL="0">
              <a:buNone/>
            </a:pPr>
            <a:r>
              <a:rPr lang="en-US" sz="900" b="1" dirty="0">
                <a:solidFill>
                  <a:schemeClr val="accent2"/>
                </a:solidFill>
              </a:rPr>
              <a:t>Jio-owned</a:t>
            </a:r>
            <a:endParaRPr lang="en-US" sz="900" dirty="0"/>
          </a:p>
        </p:txBody>
      </p:sp>
      <p:pic>
        <p:nvPicPr>
          <p:cNvPr id="27" name="srcI1" descr="preencoded.png">    </p:cNvPr>
          <p:cNvPicPr>
            <a:picLocks noChangeAspect="1"/>
          </p:cNvPicPr>
          <p:nvPr/>
        </p:nvPicPr>
        <p:blipFill>
          <a:blip r:embed="rId6"/>
          <a:stretch>
            <a:fillRect/>
          </a:stretch>
        </p:blipFill>
        <p:spPr>
          <a:xfrm>
            <a:off x="6419088" y="2048256"/>
            <a:ext cx="201168" cy="201168"/>
          </a:xfrm>
          <a:prstGeom prst="rect">
            <a:avLst/>
          </a:prstGeom>
        </p:spPr>
      </p:pic>
      <p:sp>
        <p:nvSpPr>
          <p:cNvPr id="28" name="srcT1"/>
          <p:cNvSpPr txBox="1"/>
          <p:nvPr/>
        </p:nvSpPr>
        <p:spPr>
          <a:xfrm>
            <a:off x="6748272" y="2011680"/>
            <a:ext cx="3642055" cy="274320"/>
          </a:xfrm>
          <a:prstGeom prst="rect">
            <a:avLst/>
          </a:prstGeom>
          <a:noFill/>
          <a:ln/>
        </p:spPr>
        <p:txBody>
          <a:bodyPr wrap="square" lIns="0" tIns="0" rIns="0" bIns="0" rtlCol="0" anchor="ctr"/>
          <a:lstStyle/>
          <a:p>
            <a:pPr indent="0" marL="0">
              <a:buNone/>
            </a:pPr>
            <a:r>
              <a:rPr lang="en-US" sz="1100" dirty="0">
                <a:solidFill>
                  <a:schemeClr val="tx1"/>
                </a:solidFill>
              </a:rPr>
              <a:t>Network health: faults, outages, maintenance</a:t>
            </a:r>
            <a:endParaRPr lang="en-US" sz="1100" dirty="0"/>
          </a:p>
        </p:txBody>
      </p:sp>
      <p:sp>
        <p:nvSpPr>
          <p:cNvPr id="29" name="srcP1"/>
          <p:cNvSpPr/>
          <p:nvPr/>
        </p:nvSpPr>
        <p:spPr>
          <a:xfrm>
            <a:off x="10436047" y="2029968"/>
            <a:ext cx="1115568" cy="237744"/>
          </a:xfrm>
          <a:prstGeom prst="roundRect">
            <a:avLst>
              <a:gd name="adj" fmla="val 23077"/>
            </a:avLst>
          </a:prstGeom>
          <a:solidFill>
            <a:schemeClr val="accent2">
              <a:alpha val="14000"/>
            </a:schemeClr>
          </a:solidFill>
          <a:ln/>
        </p:spPr>
      </p:sp>
      <p:sp>
        <p:nvSpPr>
          <p:cNvPr id="30" name="srcP1T"/>
          <p:cNvSpPr txBox="1"/>
          <p:nvPr/>
        </p:nvSpPr>
        <p:spPr>
          <a:xfrm>
            <a:off x="10436047" y="2029968"/>
            <a:ext cx="1115568" cy="237744"/>
          </a:xfrm>
          <a:prstGeom prst="rect">
            <a:avLst/>
          </a:prstGeom>
          <a:noFill/>
          <a:ln/>
        </p:spPr>
        <p:txBody>
          <a:bodyPr wrap="square" lIns="0" tIns="0" rIns="0" bIns="0" rtlCol="0" anchor="ctr"/>
          <a:lstStyle/>
          <a:p>
            <a:pPr algn="ctr" indent="0" marL="0">
              <a:buNone/>
            </a:pPr>
            <a:r>
              <a:rPr lang="en-US" sz="900" b="1" dirty="0">
                <a:solidFill>
                  <a:schemeClr val="accent2"/>
                </a:solidFill>
              </a:rPr>
              <a:t>Jio-owned</a:t>
            </a:r>
            <a:endParaRPr lang="en-US" sz="900" dirty="0"/>
          </a:p>
        </p:txBody>
      </p:sp>
      <p:pic>
        <p:nvPicPr>
          <p:cNvPr id="31" name="srcI2" descr="preencoded.png">    </p:cNvPr>
          <p:cNvPicPr>
            <a:picLocks noChangeAspect="1"/>
          </p:cNvPicPr>
          <p:nvPr/>
        </p:nvPicPr>
        <p:blipFill>
          <a:blip r:embed="rId7"/>
          <a:stretch>
            <a:fillRect/>
          </a:stretch>
        </p:blipFill>
        <p:spPr>
          <a:xfrm>
            <a:off x="6419088" y="2368296"/>
            <a:ext cx="201168" cy="201168"/>
          </a:xfrm>
          <a:prstGeom prst="rect">
            <a:avLst/>
          </a:prstGeom>
        </p:spPr>
      </p:pic>
      <p:sp>
        <p:nvSpPr>
          <p:cNvPr id="32" name="srcT2"/>
          <p:cNvSpPr txBox="1"/>
          <p:nvPr/>
        </p:nvSpPr>
        <p:spPr>
          <a:xfrm>
            <a:off x="6748272" y="2331720"/>
            <a:ext cx="3642055" cy="274320"/>
          </a:xfrm>
          <a:prstGeom prst="rect">
            <a:avLst/>
          </a:prstGeom>
          <a:noFill/>
          <a:ln/>
        </p:spPr>
        <p:txBody>
          <a:bodyPr wrap="square" lIns="0" tIns="0" rIns="0" bIns="0" rtlCol="0" anchor="ctr"/>
          <a:lstStyle/>
          <a:p>
            <a:pPr indent="0" marL="0">
              <a:buNone/>
            </a:pPr>
            <a:r>
              <a:rPr lang="en-US" sz="1100" dirty="0">
                <a:solidFill>
                  <a:schemeClr val="tx1"/>
                </a:solidFill>
              </a:rPr>
              <a:t>Doppler radar: spatial check</a:t>
            </a:r>
            <a:endParaRPr lang="en-US" sz="1100" dirty="0"/>
          </a:p>
        </p:txBody>
      </p:sp>
      <p:sp>
        <p:nvSpPr>
          <p:cNvPr id="33" name="srcP2"/>
          <p:cNvSpPr/>
          <p:nvPr/>
        </p:nvSpPr>
        <p:spPr>
          <a:xfrm>
            <a:off x="10436047" y="2350008"/>
            <a:ext cx="1115568" cy="237744"/>
          </a:xfrm>
          <a:prstGeom prst="roundRect">
            <a:avLst>
              <a:gd name="adj" fmla="val 23077"/>
            </a:avLst>
          </a:prstGeom>
          <a:solidFill>
            <a:schemeClr val="accent2">
              <a:alpha val="14000"/>
            </a:schemeClr>
          </a:solidFill>
          <a:ln/>
        </p:spPr>
      </p:sp>
      <p:sp>
        <p:nvSpPr>
          <p:cNvPr id="34" name="srcP2T"/>
          <p:cNvSpPr txBox="1"/>
          <p:nvPr/>
        </p:nvSpPr>
        <p:spPr>
          <a:xfrm>
            <a:off x="10436047" y="2350008"/>
            <a:ext cx="1115568" cy="237744"/>
          </a:xfrm>
          <a:prstGeom prst="rect">
            <a:avLst/>
          </a:prstGeom>
          <a:noFill/>
          <a:ln/>
        </p:spPr>
        <p:txBody>
          <a:bodyPr wrap="square" lIns="0" tIns="0" rIns="0" bIns="0" rtlCol="0" anchor="ctr"/>
          <a:lstStyle/>
          <a:p>
            <a:pPr algn="ctr" indent="0" marL="0">
              <a:buNone/>
            </a:pPr>
            <a:r>
              <a:rPr lang="en-US" sz="900" b="1" dirty="0">
                <a:solidFill>
                  <a:schemeClr val="accent2"/>
                </a:solidFill>
              </a:rPr>
              <a:t>IMD (govt)</a:t>
            </a:r>
            <a:endParaRPr lang="en-US" sz="900" dirty="0"/>
          </a:p>
        </p:txBody>
      </p:sp>
      <p:pic>
        <p:nvPicPr>
          <p:cNvPr id="35" name="srcI3" descr="preencoded.png">    </p:cNvPr>
          <p:cNvPicPr>
            <a:picLocks noChangeAspect="1"/>
          </p:cNvPicPr>
          <p:nvPr/>
        </p:nvPicPr>
        <p:blipFill>
          <a:blip r:embed="rId8"/>
          <a:stretch>
            <a:fillRect/>
          </a:stretch>
        </p:blipFill>
        <p:spPr>
          <a:xfrm>
            <a:off x="6419088" y="2688336"/>
            <a:ext cx="201168" cy="201168"/>
          </a:xfrm>
          <a:prstGeom prst="rect">
            <a:avLst/>
          </a:prstGeom>
        </p:spPr>
      </p:pic>
      <p:sp>
        <p:nvSpPr>
          <p:cNvPr id="36" name="srcT3"/>
          <p:cNvSpPr txBox="1"/>
          <p:nvPr/>
        </p:nvSpPr>
        <p:spPr>
          <a:xfrm>
            <a:off x="6748272" y="2651760"/>
            <a:ext cx="3642055" cy="274320"/>
          </a:xfrm>
          <a:prstGeom prst="rect">
            <a:avLst/>
          </a:prstGeom>
          <a:noFill/>
          <a:ln/>
        </p:spPr>
        <p:txBody>
          <a:bodyPr wrap="square" lIns="0" tIns="0" rIns="0" bIns="0" rtlCol="0" anchor="ctr"/>
          <a:lstStyle/>
          <a:p>
            <a:pPr indent="0" marL="0">
              <a:buNone/>
            </a:pPr>
            <a:r>
              <a:rPr lang="en-US" sz="1100" dirty="0">
                <a:solidFill>
                  <a:schemeClr val="tx1"/>
                </a:solidFill>
              </a:rPr>
              <a:t>Rain gauges: ground truth</a:t>
            </a:r>
            <a:endParaRPr lang="en-US" sz="1100" dirty="0"/>
          </a:p>
        </p:txBody>
      </p:sp>
      <p:sp>
        <p:nvSpPr>
          <p:cNvPr id="37" name="srcP3"/>
          <p:cNvSpPr/>
          <p:nvPr/>
        </p:nvSpPr>
        <p:spPr>
          <a:xfrm>
            <a:off x="10436047" y="2670048"/>
            <a:ext cx="1115568" cy="237744"/>
          </a:xfrm>
          <a:prstGeom prst="roundRect">
            <a:avLst>
              <a:gd name="adj" fmla="val 23077"/>
            </a:avLst>
          </a:prstGeom>
          <a:solidFill>
            <a:schemeClr val="accent2">
              <a:alpha val="14000"/>
            </a:schemeClr>
          </a:solidFill>
          <a:ln/>
        </p:spPr>
      </p:sp>
      <p:sp>
        <p:nvSpPr>
          <p:cNvPr id="38" name="srcP3T"/>
          <p:cNvSpPr txBox="1"/>
          <p:nvPr/>
        </p:nvSpPr>
        <p:spPr>
          <a:xfrm>
            <a:off x="10436047" y="2670048"/>
            <a:ext cx="1115568" cy="237744"/>
          </a:xfrm>
          <a:prstGeom prst="rect">
            <a:avLst/>
          </a:prstGeom>
          <a:noFill/>
          <a:ln/>
        </p:spPr>
        <p:txBody>
          <a:bodyPr wrap="square" lIns="0" tIns="0" rIns="0" bIns="0" rtlCol="0" anchor="ctr"/>
          <a:lstStyle/>
          <a:p>
            <a:pPr algn="ctr" indent="0" marL="0">
              <a:buNone/>
            </a:pPr>
            <a:r>
              <a:rPr lang="en-US" sz="900" b="1" dirty="0">
                <a:solidFill>
                  <a:schemeClr val="accent2"/>
                </a:solidFill>
              </a:rPr>
              <a:t>IMD · BMC</a:t>
            </a:r>
            <a:endParaRPr lang="en-US" sz="900" dirty="0"/>
          </a:p>
        </p:txBody>
      </p:sp>
      <p:pic>
        <p:nvPicPr>
          <p:cNvPr id="39" name="srcI4" descr="preencoded.png">    </p:cNvPr>
          <p:cNvPicPr>
            <a:picLocks noChangeAspect="1"/>
          </p:cNvPicPr>
          <p:nvPr/>
        </p:nvPicPr>
        <p:blipFill>
          <a:blip r:embed="rId9"/>
          <a:stretch>
            <a:fillRect/>
          </a:stretch>
        </p:blipFill>
        <p:spPr>
          <a:xfrm>
            <a:off x="6419088" y="3008376"/>
            <a:ext cx="201168" cy="201168"/>
          </a:xfrm>
          <a:prstGeom prst="rect">
            <a:avLst/>
          </a:prstGeom>
        </p:spPr>
      </p:pic>
      <p:sp>
        <p:nvSpPr>
          <p:cNvPr id="40" name="srcT4"/>
          <p:cNvSpPr txBox="1"/>
          <p:nvPr/>
        </p:nvSpPr>
        <p:spPr>
          <a:xfrm>
            <a:off x="6748272" y="2971800"/>
            <a:ext cx="3642055" cy="274320"/>
          </a:xfrm>
          <a:prstGeom prst="rect">
            <a:avLst/>
          </a:prstGeom>
          <a:noFill/>
          <a:ln/>
        </p:spPr>
        <p:txBody>
          <a:bodyPr wrap="square" lIns="0" tIns="0" rIns="0" bIns="0" rtlCol="0" anchor="ctr"/>
          <a:lstStyle/>
          <a:p>
            <a:pPr indent="0" marL="0">
              <a:buNone/>
            </a:pPr>
            <a:r>
              <a:rPr lang="en-US" sz="1100" dirty="0">
                <a:solidFill>
                  <a:schemeClr val="tx1"/>
                </a:solidFill>
              </a:rPr>
              <a:t>Satellite: coverage fallback</a:t>
            </a:r>
            <a:endParaRPr lang="en-US" sz="1100" dirty="0"/>
          </a:p>
        </p:txBody>
      </p:sp>
      <p:sp>
        <p:nvSpPr>
          <p:cNvPr id="41" name="srcP4"/>
          <p:cNvSpPr/>
          <p:nvPr/>
        </p:nvSpPr>
        <p:spPr>
          <a:xfrm>
            <a:off x="10436047" y="2990088"/>
            <a:ext cx="1115568" cy="237744"/>
          </a:xfrm>
          <a:prstGeom prst="roundRect">
            <a:avLst>
              <a:gd name="adj" fmla="val 23077"/>
            </a:avLst>
          </a:prstGeom>
          <a:solidFill>
            <a:schemeClr val="accent2">
              <a:alpha val="14000"/>
            </a:schemeClr>
          </a:solidFill>
          <a:ln/>
        </p:spPr>
      </p:sp>
      <p:sp>
        <p:nvSpPr>
          <p:cNvPr id="42" name="srcP4T"/>
          <p:cNvSpPr txBox="1"/>
          <p:nvPr/>
        </p:nvSpPr>
        <p:spPr>
          <a:xfrm>
            <a:off x="10436047" y="2990088"/>
            <a:ext cx="1115568" cy="237744"/>
          </a:xfrm>
          <a:prstGeom prst="rect">
            <a:avLst/>
          </a:prstGeom>
          <a:noFill/>
          <a:ln/>
        </p:spPr>
        <p:txBody>
          <a:bodyPr wrap="square" lIns="0" tIns="0" rIns="0" bIns="0" rtlCol="0" anchor="ctr"/>
          <a:lstStyle/>
          <a:p>
            <a:pPr algn="ctr" indent="0" marL="0">
              <a:buNone/>
            </a:pPr>
            <a:r>
              <a:rPr lang="en-US" sz="900" b="1" dirty="0">
                <a:solidFill>
                  <a:schemeClr val="accent2"/>
                </a:solidFill>
              </a:rPr>
              <a:t>External</a:t>
            </a:r>
            <a:endParaRPr lang="en-US" sz="900" dirty="0"/>
          </a:p>
        </p:txBody>
      </p:sp>
      <p:pic>
        <p:nvPicPr>
          <p:cNvPr id="43" name="srcI5" descr="preencoded.png">    </p:cNvPr>
          <p:cNvPicPr>
            <a:picLocks noChangeAspect="1"/>
          </p:cNvPicPr>
          <p:nvPr/>
        </p:nvPicPr>
        <p:blipFill>
          <a:blip r:embed="rId10"/>
          <a:stretch>
            <a:fillRect/>
          </a:stretch>
        </p:blipFill>
        <p:spPr>
          <a:xfrm>
            <a:off x="6419088" y="3328416"/>
            <a:ext cx="201168" cy="201168"/>
          </a:xfrm>
          <a:prstGeom prst="rect">
            <a:avLst/>
          </a:prstGeom>
        </p:spPr>
      </p:pic>
      <p:sp>
        <p:nvSpPr>
          <p:cNvPr id="44" name="srcT5"/>
          <p:cNvSpPr txBox="1"/>
          <p:nvPr/>
        </p:nvSpPr>
        <p:spPr>
          <a:xfrm>
            <a:off x="6748272" y="3291840"/>
            <a:ext cx="3642055" cy="274320"/>
          </a:xfrm>
          <a:prstGeom prst="rect">
            <a:avLst/>
          </a:prstGeom>
          <a:noFill/>
          <a:ln/>
        </p:spPr>
        <p:txBody>
          <a:bodyPr wrap="square" lIns="0" tIns="0" rIns="0" bIns="0" rtlCol="0" anchor="ctr"/>
          <a:lstStyle/>
          <a:p>
            <a:pPr indent="0" marL="0">
              <a:buNone/>
            </a:pPr>
            <a:r>
              <a:rPr lang="en-US" sz="1100" dirty="0">
                <a:solidFill>
                  <a:schemeClr val="tx1"/>
                </a:solidFill>
              </a:rPr>
              <a:t>New gauges on Jio sites, only where links are thin</a:t>
            </a:r>
            <a:endParaRPr lang="en-US" sz="1100" dirty="0"/>
          </a:p>
        </p:txBody>
      </p:sp>
      <p:sp>
        <p:nvSpPr>
          <p:cNvPr id="45" name="srcP5"/>
          <p:cNvSpPr/>
          <p:nvPr/>
        </p:nvSpPr>
        <p:spPr>
          <a:xfrm>
            <a:off x="10436047" y="3310128"/>
            <a:ext cx="1115568" cy="237744"/>
          </a:xfrm>
          <a:prstGeom prst="roundRect">
            <a:avLst>
              <a:gd name="adj" fmla="val 23077"/>
            </a:avLst>
          </a:prstGeom>
          <a:solidFill>
            <a:schemeClr val="accent1">
              <a:alpha val="14000"/>
            </a:schemeClr>
          </a:solidFill>
          <a:ln/>
        </p:spPr>
      </p:sp>
      <p:sp>
        <p:nvSpPr>
          <p:cNvPr id="46" name="srcP5T"/>
          <p:cNvSpPr txBox="1"/>
          <p:nvPr/>
        </p:nvSpPr>
        <p:spPr>
          <a:xfrm>
            <a:off x="10436047" y="3310128"/>
            <a:ext cx="1115568" cy="237744"/>
          </a:xfrm>
          <a:prstGeom prst="rect">
            <a:avLst/>
          </a:prstGeom>
          <a:noFill/>
          <a:ln/>
        </p:spPr>
        <p:txBody>
          <a:bodyPr wrap="square" lIns="0" tIns="0" rIns="0" bIns="0" rtlCol="0" anchor="ctr"/>
          <a:lstStyle/>
          <a:p>
            <a:pPr algn="ctr" indent="0" marL="0">
              <a:buNone/>
            </a:pPr>
            <a:r>
              <a:rPr lang="en-US" sz="900" b="1" dirty="0">
                <a:solidFill>
                  <a:schemeClr val="accent1"/>
                </a:solidFill>
              </a:rPr>
              <a:t>New install</a:t>
            </a:r>
            <a:endParaRPr lang="en-US" sz="900" dirty="0"/>
          </a:p>
        </p:txBody>
      </p:sp>
      <p:pic>
        <p:nvPicPr>
          <p:cNvPr id="47" name="srcI6" descr="preencoded.png">    </p:cNvPr>
          <p:cNvPicPr>
            <a:picLocks noChangeAspect="1"/>
          </p:cNvPicPr>
          <p:nvPr/>
        </p:nvPicPr>
        <p:blipFill>
          <a:blip r:embed="rId11"/>
          <a:stretch>
            <a:fillRect/>
          </a:stretch>
        </p:blipFill>
        <p:spPr>
          <a:xfrm>
            <a:off x="6419088" y="3648456"/>
            <a:ext cx="201168" cy="201168"/>
          </a:xfrm>
          <a:prstGeom prst="rect">
            <a:avLst/>
          </a:prstGeom>
        </p:spPr>
      </p:pic>
      <p:sp>
        <p:nvSpPr>
          <p:cNvPr id="48" name="srcT6"/>
          <p:cNvSpPr txBox="1"/>
          <p:nvPr/>
        </p:nvSpPr>
        <p:spPr>
          <a:xfrm>
            <a:off x="6748272" y="3611880"/>
            <a:ext cx="3642055" cy="274320"/>
          </a:xfrm>
          <a:prstGeom prst="rect">
            <a:avLst/>
          </a:prstGeom>
          <a:noFill/>
          <a:ln/>
        </p:spPr>
        <p:txBody>
          <a:bodyPr wrap="square" lIns="0" tIns="0" rIns="0" bIns="0" rtlCol="0" anchor="ctr"/>
          <a:lstStyle/>
          <a:p>
            <a:pPr indent="0" marL="0">
              <a:buNone/>
            </a:pPr>
            <a:r>
              <a:rPr lang="en-US" sz="1100" dirty="0">
                <a:solidFill>
                  <a:schemeClr val="tx1"/>
                </a:solidFill>
              </a:rPr>
              <a:t>Commercial data, only if it lifts accuracy</a:t>
            </a:r>
            <a:endParaRPr lang="en-US" sz="1100" dirty="0"/>
          </a:p>
        </p:txBody>
      </p:sp>
      <p:sp>
        <p:nvSpPr>
          <p:cNvPr id="49" name="srcP6"/>
          <p:cNvSpPr/>
          <p:nvPr/>
        </p:nvSpPr>
        <p:spPr>
          <a:xfrm>
            <a:off x="10436047" y="3630168"/>
            <a:ext cx="1115568" cy="237744"/>
          </a:xfrm>
          <a:prstGeom prst="roundRect">
            <a:avLst>
              <a:gd name="adj" fmla="val 23077"/>
            </a:avLst>
          </a:prstGeom>
          <a:solidFill>
            <a:schemeClr val="accent1">
              <a:alpha val="14000"/>
            </a:schemeClr>
          </a:solidFill>
          <a:ln/>
        </p:spPr>
      </p:sp>
      <p:sp>
        <p:nvSpPr>
          <p:cNvPr id="50" name="srcP6T"/>
          <p:cNvSpPr txBox="1"/>
          <p:nvPr/>
        </p:nvSpPr>
        <p:spPr>
          <a:xfrm>
            <a:off x="10436047" y="3630168"/>
            <a:ext cx="1115568" cy="237744"/>
          </a:xfrm>
          <a:prstGeom prst="rect">
            <a:avLst/>
          </a:prstGeom>
          <a:noFill/>
          <a:ln/>
        </p:spPr>
        <p:txBody>
          <a:bodyPr wrap="square" lIns="0" tIns="0" rIns="0" bIns="0" rtlCol="0" anchor="ctr"/>
          <a:lstStyle/>
          <a:p>
            <a:pPr algn="ctr" indent="0" marL="0">
              <a:buNone/>
            </a:pPr>
            <a:r>
              <a:rPr lang="en-US" sz="900" b="1" dirty="0">
                <a:solidFill>
                  <a:schemeClr val="accent1"/>
                </a:solidFill>
              </a:rPr>
              <a:t>Commercial</a:t>
            </a:r>
            <a:endParaRPr lang="en-US" sz="900" dirty="0"/>
          </a:p>
        </p:txBody>
      </p:sp>
      <p:sp>
        <p:nvSpPr>
          <p:cNvPr id="51" name="mix"/>
          <p:cNvSpPr/>
          <p:nvPr/>
        </p:nvSpPr>
        <p:spPr>
          <a:xfrm>
            <a:off x="6217920" y="4114800"/>
            <a:ext cx="5516575" cy="1463040"/>
          </a:xfrm>
          <a:prstGeom prst="roundRect">
            <a:avLst>
              <a:gd name="adj" fmla="val 5000"/>
            </a:avLst>
          </a:prstGeom>
          <a:solidFill>
            <a:schemeClr val="accent2">
              <a:alpha val="10000"/>
            </a:schemeClr>
          </a:solidFill>
          <a:ln/>
        </p:spPr>
      </p:sp>
      <p:sp>
        <p:nvSpPr>
          <p:cNvPr id="52" name="mixH"/>
          <p:cNvSpPr txBox="1"/>
          <p:nvPr/>
        </p:nvSpPr>
        <p:spPr>
          <a:xfrm>
            <a:off x="6400800" y="4206240"/>
            <a:ext cx="5150815" cy="256032"/>
          </a:xfrm>
          <a:prstGeom prst="rect">
            <a:avLst/>
          </a:prstGeom>
          <a:noFill/>
          <a:ln/>
        </p:spPr>
        <p:txBody>
          <a:bodyPr wrap="square" lIns="0" tIns="0" rIns="0" bIns="0" rtlCol="0" anchor="t"/>
          <a:lstStyle/>
          <a:p>
            <a:pPr indent="0" marL="0">
              <a:buNone/>
            </a:pPr>
            <a:r>
              <a:rPr lang="en-US" sz="950" b="1" spc="150" kern="0" dirty="0">
                <a:solidFill>
                  <a:schemeClr val="accent2"/>
                </a:solidFill>
              </a:rPr>
              <a:t>THE PILOT SCORES EVERY MIX AGAINST HELD-OUT RAIN GAUGES</a:t>
            </a:r>
            <a:endParaRPr lang="en-US" sz="1150" dirty="0"/>
          </a:p>
        </p:txBody>
      </p:sp>
      <p:sp>
        <p:nvSpPr>
          <p:cNvPr id="53" name="mixL0"/>
          <p:cNvSpPr txBox="1"/>
          <p:nvPr/>
        </p:nvSpPr>
        <p:spPr>
          <a:xfrm>
            <a:off x="6400800" y="4553712"/>
            <a:ext cx="1874520" cy="256032"/>
          </a:xfrm>
          <a:prstGeom prst="rect">
            <a:avLst/>
          </a:prstGeom>
          <a:noFill/>
          <a:ln/>
        </p:spPr>
        <p:txBody>
          <a:bodyPr wrap="square" lIns="0" tIns="0" rIns="0" bIns="0" rtlCol="0" anchor="ctr"/>
          <a:lstStyle/>
          <a:p>
            <a:pPr indent="0" marL="0">
              <a:buNone/>
            </a:pPr>
            <a:r>
              <a:rPr lang="en-US" sz="1050" dirty="0">
                <a:solidFill>
                  <a:schemeClr val="tx1"/>
                </a:solidFill>
              </a:rPr>
              <a:t>Links only</a:t>
            </a:r>
            <a:endParaRPr lang="en-US" sz="1050" dirty="0"/>
          </a:p>
        </p:txBody>
      </p:sp>
      <p:sp>
        <p:nvSpPr>
          <p:cNvPr id="54" name="mixB0"/>
          <p:cNvSpPr/>
          <p:nvPr/>
        </p:nvSpPr>
        <p:spPr>
          <a:xfrm>
            <a:off x="8321040" y="4572000"/>
            <a:ext cx="3184855" cy="219456"/>
          </a:xfrm>
          <a:prstGeom prst="roundRect">
            <a:avLst>
              <a:gd name="adj" fmla="val 20833"/>
            </a:avLst>
          </a:prstGeom>
          <a:solidFill>
            <a:schemeClr val="bg1"/>
          </a:solidFill>
          <a:ln w="9525">
            <a:solidFill>
              <a:srgbClr val="E3E6EE"/>
            </a:solidFill>
            <a:prstDash val="solid"/>
          </a:ln>
        </p:spPr>
      </p:sp>
      <p:sp>
        <p:nvSpPr>
          <p:cNvPr id="55" name="mixF0"/>
          <p:cNvSpPr/>
          <p:nvPr/>
        </p:nvSpPr>
        <p:spPr>
          <a:xfrm>
            <a:off x="8321040" y="4572000"/>
            <a:ext cx="2165702" cy="219456"/>
          </a:xfrm>
          <a:prstGeom prst="roundRect">
            <a:avLst>
              <a:gd name="adj" fmla="val 20833"/>
            </a:avLst>
          </a:prstGeom>
          <a:solidFill>
            <a:schemeClr val="accent2"/>
          </a:solidFill>
          <a:ln/>
        </p:spPr>
      </p:sp>
      <p:sp>
        <p:nvSpPr>
          <p:cNvPr id="56" name="mixV0"/>
          <p:cNvSpPr txBox="1"/>
          <p:nvPr/>
        </p:nvSpPr>
        <p:spPr>
          <a:xfrm>
            <a:off x="8412480" y="4572000"/>
            <a:ext cx="3001975" cy="219456"/>
          </a:xfrm>
          <a:prstGeom prst="rect">
            <a:avLst/>
          </a:prstGeom>
          <a:noFill/>
          <a:ln/>
        </p:spPr>
        <p:txBody>
          <a:bodyPr wrap="square" lIns="0" tIns="0" rIns="0" bIns="0" rtlCol="0" anchor="ctr"/>
          <a:lstStyle/>
          <a:p>
            <a:pPr indent="0" marL="0">
              <a:buNone/>
            </a:pPr>
            <a:r>
              <a:rPr lang="en-US" sz="950" b="1" dirty="0">
                <a:solidFill>
                  <a:schemeClr val="bg1"/>
                </a:solidFill>
              </a:rPr>
              <a:t>our check: 68%</a:t>
            </a:r>
            <a:endParaRPr lang="en-US" sz="950" dirty="0"/>
          </a:p>
        </p:txBody>
      </p:sp>
      <p:sp>
        <p:nvSpPr>
          <p:cNvPr id="57" name="mixL1"/>
          <p:cNvSpPr txBox="1"/>
          <p:nvPr/>
        </p:nvSpPr>
        <p:spPr>
          <a:xfrm>
            <a:off x="6400800" y="4873752"/>
            <a:ext cx="1874520" cy="256032"/>
          </a:xfrm>
          <a:prstGeom prst="rect">
            <a:avLst/>
          </a:prstGeom>
          <a:noFill/>
          <a:ln/>
        </p:spPr>
        <p:txBody>
          <a:bodyPr wrap="square" lIns="0" tIns="0" rIns="0" bIns="0" rtlCol="0" anchor="ctr"/>
          <a:lstStyle/>
          <a:p>
            <a:pPr indent="0" marL="0">
              <a:buNone/>
            </a:pPr>
            <a:r>
              <a:rPr lang="en-US" sz="1050" dirty="0">
                <a:solidFill>
                  <a:schemeClr val="tx1"/>
                </a:solidFill>
              </a:rPr>
              <a:t>Links + radar + gauges</a:t>
            </a:r>
            <a:endParaRPr lang="en-US" sz="1050" dirty="0"/>
          </a:p>
        </p:txBody>
      </p:sp>
      <p:sp>
        <p:nvSpPr>
          <p:cNvPr id="58" name="mixB1"/>
          <p:cNvSpPr/>
          <p:nvPr/>
        </p:nvSpPr>
        <p:spPr>
          <a:xfrm>
            <a:off x="8321040" y="4892040"/>
            <a:ext cx="3184855" cy="219456"/>
          </a:xfrm>
          <a:prstGeom prst="roundRect">
            <a:avLst>
              <a:gd name="adj" fmla="val 20833"/>
            </a:avLst>
          </a:prstGeom>
          <a:solidFill>
            <a:schemeClr val="bg1"/>
          </a:solidFill>
          <a:ln w="9525">
            <a:solidFill>
              <a:srgbClr val="E3E6EE"/>
            </a:solidFill>
            <a:prstDash val="dash"/>
          </a:ln>
        </p:spPr>
      </p:sp>
      <p:sp>
        <p:nvSpPr>
          <p:cNvPr id="59" name="mixV1"/>
          <p:cNvSpPr txBox="1"/>
          <p:nvPr/>
        </p:nvSpPr>
        <p:spPr>
          <a:xfrm>
            <a:off x="8412480" y="4892040"/>
            <a:ext cx="3001975" cy="219456"/>
          </a:xfrm>
          <a:prstGeom prst="rect">
            <a:avLst/>
          </a:prstGeom>
          <a:noFill/>
          <a:ln/>
        </p:spPr>
        <p:txBody>
          <a:bodyPr wrap="square" lIns="0" tIns="0" rIns="0" bIns="0" rtlCol="0" anchor="ctr"/>
          <a:lstStyle/>
          <a:p>
            <a:pPr indent="0" marL="0">
              <a:buNone/>
            </a:pPr>
            <a:r>
              <a:rPr lang="en-US" sz="950" dirty="0">
                <a:solidFill>
                  <a:schemeClr val="tx2"/>
                </a:solidFill>
              </a:rPr>
              <a:t>measured in the pilot</a:t>
            </a:r>
            <a:endParaRPr lang="en-US" sz="950" dirty="0"/>
          </a:p>
        </p:txBody>
      </p:sp>
      <p:sp>
        <p:nvSpPr>
          <p:cNvPr id="60" name="mixL2"/>
          <p:cNvSpPr txBox="1"/>
          <p:nvPr/>
        </p:nvSpPr>
        <p:spPr>
          <a:xfrm>
            <a:off x="6400800" y="5193792"/>
            <a:ext cx="1874520" cy="256032"/>
          </a:xfrm>
          <a:prstGeom prst="rect">
            <a:avLst/>
          </a:prstGeom>
          <a:noFill/>
          <a:ln/>
        </p:spPr>
        <p:txBody>
          <a:bodyPr wrap="square" lIns="0" tIns="0" rIns="0" bIns="0" rtlCol="0" anchor="ctr"/>
          <a:lstStyle/>
          <a:p>
            <a:pPr indent="0" marL="0">
              <a:buNone/>
            </a:pPr>
            <a:r>
              <a:rPr lang="en-US" sz="1050" b="1" dirty="0">
                <a:solidFill>
                  <a:schemeClr val="accent1"/>
                </a:solidFill>
              </a:rPr>
              <a:t>Radar + gauges, no links</a:t>
            </a:r>
            <a:endParaRPr lang="en-US" sz="1050" dirty="0"/>
          </a:p>
        </p:txBody>
      </p:sp>
      <p:sp>
        <p:nvSpPr>
          <p:cNvPr id="61" name="mixB2"/>
          <p:cNvSpPr/>
          <p:nvPr/>
        </p:nvSpPr>
        <p:spPr>
          <a:xfrm>
            <a:off x="8321040" y="5212080"/>
            <a:ext cx="3184855" cy="219456"/>
          </a:xfrm>
          <a:prstGeom prst="roundRect">
            <a:avLst>
              <a:gd name="adj" fmla="val 20833"/>
            </a:avLst>
          </a:prstGeom>
          <a:solidFill>
            <a:schemeClr val="bg1"/>
          </a:solidFill>
          <a:ln w="9525">
            <a:solidFill>
              <a:srgbClr val="E3E6EE"/>
            </a:solidFill>
            <a:prstDash val="dash"/>
          </a:ln>
        </p:spPr>
      </p:sp>
      <p:sp>
        <p:nvSpPr>
          <p:cNvPr id="62" name="mixV2"/>
          <p:cNvSpPr txBox="1"/>
          <p:nvPr/>
        </p:nvSpPr>
        <p:spPr>
          <a:xfrm>
            <a:off x="8412480" y="5212080"/>
            <a:ext cx="3001975" cy="219456"/>
          </a:xfrm>
          <a:prstGeom prst="rect">
            <a:avLst/>
          </a:prstGeom>
          <a:noFill/>
          <a:ln/>
        </p:spPr>
        <p:txBody>
          <a:bodyPr wrap="square" lIns="0" tIns="0" rIns="0" bIns="0" rtlCol="0" anchor="ctr"/>
          <a:lstStyle/>
          <a:p>
            <a:pPr indent="0" marL="0">
              <a:buNone/>
            </a:pPr>
            <a:r>
              <a:rPr lang="en-US" sz="950" dirty="0">
                <a:solidFill>
                  <a:schemeClr val="tx2"/>
                </a:solidFill>
              </a:rPr>
              <a:t>shows what Jio adds</a:t>
            </a:r>
            <a:endParaRPr lang="en-US" sz="950" dirty="0"/>
          </a:p>
        </p:txBody>
      </p:sp>
      <p:sp>
        <p:nvSpPr>
          <p:cNvPr id="63" name="mixG"/>
          <p:cNvSpPr/>
          <p:nvPr/>
        </p:nvSpPr>
        <p:spPr>
          <a:xfrm>
            <a:off x="10868924" y="4507992"/>
            <a:ext cx="0" cy="1005840"/>
          </a:xfrm>
          <a:prstGeom prst="line">
            <a:avLst/>
          </a:prstGeom>
          <a:noFill/>
          <a:ln w="19050">
            <a:solidFill>
              <a:srgbClr val="14915F"/>
            </a:solidFill>
            <a:prstDash val="dash"/>
          </a:ln>
        </p:spPr>
      </p:sp>
      <p:sp>
        <p:nvSpPr>
          <p:cNvPr id="64" name="rule"/>
          <p:cNvSpPr/>
          <p:nvPr/>
        </p:nvSpPr>
        <p:spPr>
          <a:xfrm>
            <a:off x="6217920" y="5715000"/>
            <a:ext cx="5516575" cy="594360"/>
          </a:xfrm>
          <a:prstGeom prst="roundRect">
            <a:avLst>
              <a:gd name="adj" fmla="val 12308"/>
            </a:avLst>
          </a:prstGeom>
          <a:solidFill>
            <a:schemeClr val="tx1"/>
          </a:solidFill>
          <a:ln/>
        </p:spPr>
      </p:sp>
      <p:sp>
        <p:nvSpPr>
          <p:cNvPr id="65" name="ruleT"/>
          <p:cNvSpPr txBox="1"/>
          <p:nvPr/>
        </p:nvSpPr>
        <p:spPr>
          <a:xfrm>
            <a:off x="6400800" y="5715000"/>
            <a:ext cx="5150815" cy="594360"/>
          </a:xfrm>
          <a:prstGeom prst="rect">
            <a:avLst/>
          </a:prstGeom>
          <a:noFill/>
          <a:ln/>
        </p:spPr>
        <p:txBody>
          <a:bodyPr wrap="square" lIns="0" tIns="0" rIns="0" bIns="0" rtlCol="0" anchor="ctr"/>
          <a:lstStyle/>
          <a:p>
            <a:pPr indent="0" marL="0">
              <a:buNone/>
            </a:pPr>
            <a:r>
              <a:rPr lang="en-US" sz="1150" b="1" dirty="0">
                <a:solidFill>
                  <a:schemeClr val="accent5"/>
                </a:solidFill>
              </a:rPr>
              <a:t>Rule: </a:t>
            </a:r>
            <a:pPr indent="0" marL="0">
              <a:buNone/>
            </a:pPr>
            <a:r>
              <a:rPr lang="en-US" sz="1100" dirty="0">
                <a:solidFill>
                  <a:schemeClr val="bg1"/>
                </a:solidFill>
              </a:rPr>
              <a:t>the lowest-cost mix that clears every gate: ≥80% of trigger events · totals within ±10% · under 15% unconfirmed</a:t>
            </a:r>
            <a:endParaRPr lang="en-US" sz="1150" dirty="0"/>
          </a:p>
        </p:txBody>
      </p:sp>
      <p:sp>
        <p:nvSpPr>
          <p:cNvPr id="66" name="source"/>
          <p:cNvSpPr txBox="1"/>
          <p:nvPr/>
        </p:nvSpPr>
        <p:spPr>
          <a:xfrm>
            <a:off x="457200" y="6473952"/>
            <a:ext cx="10545775" cy="237744"/>
          </a:xfrm>
          <a:prstGeom prst="rect">
            <a:avLst/>
          </a:prstGeom>
          <a:noFill/>
          <a:ln/>
        </p:spPr>
        <p:txBody>
          <a:bodyPr wrap="square" lIns="0" tIns="0" rIns="0" bIns="0" rtlCol="0" anchor="t"/>
          <a:lstStyle/>
          <a:p>
            <a:pPr indent="0" marL="0">
              <a:buNone/>
            </a:pPr>
            <a:r>
              <a:rPr lang="en-US" sz="950" dirty="0">
                <a:solidFill>
                  <a:schemeClr val="tx2"/>
                </a:solidFill>
              </a:rPr>
              <a:t>Messer et al., Science 2006 · Overeem et al., PNAS 2013 · Our check: public pycomlink dataset (KIT), 10–20 May 2018, German Weather Service radar as reference. Not Jio data.</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292608"/>
            <a:ext cx="82296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3 · BUSINESS MODEL</a:t>
            </a:r>
            <a:endParaRPr lang="en-US" sz="1100" dirty="0"/>
          </a:p>
        </p:txBody>
      </p:sp>
      <p:sp>
        <p:nvSpPr>
          <p:cNvPr id="3" name="Text 1"/>
          <p:cNvSpPr/>
          <p:nvPr>
            <p:ph idx="102" type="title" hasCustomPrompt="1"/>
          </p:nvPr>
        </p:nvSpPr>
        <p:spPr>
          <a:xfrm>
            <a:off x="457200" y="566928"/>
            <a:ext cx="11277295" cy="530352"/>
          </a:xfrm>
          <a:prstGeom prst="rect">
            <a:avLst/>
          </a:prstGeom>
          <a:noFill/>
          <a:ln/>
        </p:spPr>
        <p:txBody>
          <a:bodyPr wrap="square" lIns="0" tIns="0" rIns="0" bIns="0" rtlCol="0" anchor="ctr"/>
          <a:lstStyle/>
          <a:p>
            <a:pPr algn="l" indent="0" marL="0">
              <a:buNone/>
            </a:pPr>
            <a:r>
              <a:rPr lang="en-US" sz="2400" b="1" dirty="0">
                <a:solidFill>
                  <a:schemeClr val="tx1"/>
                </a:solidFill>
              </a:rPr>
              <a:t>Prove it inside Reliance, then sell the same intelligence</a:t>
            </a:r>
            <a:endParaRPr lang="en-US" sz="2400" dirty="0"/>
          </a:p>
        </p:txBody>
      </p:sp>
      <p:sp>
        <p:nvSpPr>
          <p:cNvPr id="4" name="c1H"/>
          <p:cNvSpPr txBox="1"/>
          <p:nvPr/>
        </p:nvSpPr>
        <p:spPr>
          <a:xfrm>
            <a:off x="457200" y="1280160"/>
            <a:ext cx="3576218" cy="256032"/>
          </a:xfrm>
          <a:prstGeom prst="rect">
            <a:avLst/>
          </a:prstGeom>
          <a:noFill/>
          <a:ln/>
        </p:spPr>
        <p:txBody>
          <a:bodyPr wrap="square" lIns="0" tIns="0" rIns="0" bIns="0" rtlCol="0" anchor="t"/>
          <a:lstStyle/>
          <a:p>
            <a:pPr indent="0" marL="0">
              <a:buNone/>
            </a:pPr>
            <a:r>
              <a:rPr lang="en-US" sz="950" b="1" spc="150" kern="0" dirty="0">
                <a:solidFill>
                  <a:schemeClr val="accent1"/>
                </a:solidFill>
              </a:rPr>
              <a:t>1 · FIRST PROVING GROUND: RELIANCE</a:t>
            </a:r>
            <a:endParaRPr lang="en-US" sz="1150" dirty="0"/>
          </a:p>
        </p:txBody>
      </p:sp>
      <p:sp>
        <p:nvSpPr>
          <p:cNvPr id="5" name="hero"/>
          <p:cNvSpPr/>
          <p:nvPr/>
        </p:nvSpPr>
        <p:spPr>
          <a:xfrm>
            <a:off x="457200" y="1600200"/>
            <a:ext cx="3576218" cy="1965960"/>
          </a:xfrm>
          <a:prstGeom prst="roundRect">
            <a:avLst>
              <a:gd name="adj" fmla="val 3721"/>
            </a:avLst>
          </a:prstGeom>
          <a:solidFill>
            <a:schemeClr val="accent1">
              <a:alpha val="12000"/>
            </a:schemeClr>
          </a:solidFill>
          <a:ln/>
        </p:spPr>
      </p:sp>
      <p:pic>
        <p:nvPicPr>
          <p:cNvPr id="6" name="heroI" descr="preencoded.png">    </p:cNvPr>
          <p:cNvPicPr>
            <a:picLocks noChangeAspect="1"/>
          </p:cNvPicPr>
          <p:nvPr/>
        </p:nvPicPr>
        <p:blipFill>
          <a:blip r:embed="rId1"/>
          <a:stretch>
            <a:fillRect/>
          </a:stretch>
        </p:blipFill>
        <p:spPr>
          <a:xfrm>
            <a:off x="640080" y="1737360"/>
            <a:ext cx="384048" cy="384048"/>
          </a:xfrm>
          <a:prstGeom prst="rect">
            <a:avLst/>
          </a:prstGeom>
        </p:spPr>
      </p:pic>
      <p:sp>
        <p:nvSpPr>
          <p:cNvPr id="7" name="heroH"/>
          <p:cNvSpPr txBox="1"/>
          <p:nvPr/>
        </p:nvSpPr>
        <p:spPr>
          <a:xfrm>
            <a:off x="1143000" y="1719072"/>
            <a:ext cx="2753258" cy="502920"/>
          </a:xfrm>
          <a:prstGeom prst="rect">
            <a:avLst/>
          </a:prstGeom>
          <a:noFill/>
          <a:ln/>
        </p:spPr>
        <p:txBody>
          <a:bodyPr wrap="square" lIns="0" tIns="0" rIns="0" bIns="0" rtlCol="0" anchor="t"/>
          <a:lstStyle/>
          <a:p>
            <a:pPr indent="0" marL="0">
              <a:buNone/>
            </a:pPr>
            <a:r>
              <a:rPr lang="en-US" sz="900" b="1" spc="150" kern="0" dirty="0">
                <a:solidFill>
                  <a:schemeClr val="accent1"/>
                </a:solidFill>
              </a:rPr>
              <a:t>THE HERO TEST</a:t>
            </a:r>
            <a:endParaRPr lang="en-US" sz="1150" dirty="0"/>
          </a:p>
          <a:p>
            <a:pPr indent="0" marL="0">
              <a:buNone/>
            </a:pPr>
            <a:r>
              <a:rPr lang="en-US" sz="1400" b="1" dirty="0">
                <a:solidFill>
                  <a:schemeClr val="tx1"/>
                </a:solidFill>
                <a:latin typeface="+mj-lt" pitchFamily="34" charset="0"/>
                <a:ea typeface="+mj-lt" pitchFamily="34" charset="-122"/>
                <a:cs typeface="+mj-lt" pitchFamily="34" charset="-120"/>
              </a:rPr>
              <a:t>Jio network operations</a:t>
            </a:r>
            <a:endParaRPr lang="en-US" sz="1150" dirty="0"/>
          </a:p>
        </p:txBody>
      </p:sp>
      <p:sp>
        <p:nvSpPr>
          <p:cNvPr id="8" name="heroT"/>
          <p:cNvSpPr txBox="1"/>
          <p:nvPr/>
        </p:nvSpPr>
        <p:spPr>
          <a:xfrm>
            <a:off x="640080" y="2331720"/>
            <a:ext cx="3256178" cy="11430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1"/>
                </a:solidFill>
              </a:rPr>
              <a:t>Can we tell rain-related signal loss from equipment faults before sending a crew?</a:t>
            </a:r>
            <a:endParaRPr lang="en-US" sz="1050" dirty="0"/>
          </a:p>
          <a:p>
            <a:pPr marL="342900" indent="-342900">
              <a:spcAft>
                <a:spcPts val="300"/>
              </a:spcAft>
              <a:buSzPct val="100000"/>
              <a:buChar char="•"/>
            </a:pPr>
            <a:r>
              <a:rPr lang="en-US" sz="1050" dirty="0">
                <a:solidFill>
                  <a:schemeClr val="tx1"/>
                </a:solidFill>
              </a:rPr>
              <a:t>Potentially fewer wasted visits and earlier flood alerts</a:t>
            </a:r>
            <a:endParaRPr lang="en-US" sz="1050" dirty="0"/>
          </a:p>
          <a:p>
            <a:pPr marL="342900" indent="-342900">
              <a:spcAft>
                <a:spcPts val="300"/>
              </a:spcAft>
              <a:buSzPct val="100000"/>
              <a:buChar char="•"/>
            </a:pPr>
            <a:r>
              <a:rPr lang="en-US" sz="1050" dirty="0">
                <a:solidFill>
                  <a:schemeClr val="tx1"/>
                </a:solidFill>
              </a:rPr>
              <a:t>Jio owns the network data and controls the decision</a:t>
            </a:r>
            <a:endParaRPr lang="en-US" sz="1050" dirty="0"/>
          </a:p>
        </p:txBody>
      </p:sp>
      <p:sp>
        <p:nvSpPr>
          <p:cNvPr id="9" name="heroP"/>
          <p:cNvSpPr/>
          <p:nvPr/>
        </p:nvSpPr>
        <p:spPr>
          <a:xfrm>
            <a:off x="640080" y="3200400"/>
            <a:ext cx="2011680" cy="237744"/>
          </a:xfrm>
          <a:prstGeom prst="roundRect">
            <a:avLst>
              <a:gd name="adj" fmla="val 23077"/>
            </a:avLst>
          </a:prstGeom>
          <a:solidFill>
            <a:schemeClr val="accent1">
              <a:alpha val="14000"/>
            </a:schemeClr>
          </a:solidFill>
          <a:ln/>
        </p:spPr>
      </p:sp>
      <p:sp>
        <p:nvSpPr>
          <p:cNvPr id="10" name="heroPT"/>
          <p:cNvSpPr txBox="1"/>
          <p:nvPr/>
        </p:nvSpPr>
        <p:spPr>
          <a:xfrm>
            <a:off x="640080" y="3200400"/>
            <a:ext cx="2011680" cy="237744"/>
          </a:xfrm>
          <a:prstGeom prst="rect">
            <a:avLst/>
          </a:prstGeom>
          <a:noFill/>
          <a:ln/>
        </p:spPr>
        <p:txBody>
          <a:bodyPr wrap="square" lIns="0" tIns="0" rIns="0" bIns="0" rtlCol="0" anchor="ctr"/>
          <a:lstStyle/>
          <a:p>
            <a:pPr algn="ctr" indent="0" marL="0">
              <a:buNone/>
            </a:pPr>
            <a:r>
              <a:rPr lang="en-US" sz="900" b="1" dirty="0">
                <a:solidFill>
                  <a:schemeClr val="accent1"/>
                </a:solidFill>
              </a:rPr>
              <a:t>Tests accuracy and savings</a:t>
            </a:r>
            <a:endParaRPr lang="en-US" sz="900" dirty="0"/>
          </a:p>
        </p:txBody>
      </p:sp>
      <p:sp>
        <p:nvSpPr>
          <p:cNvPr id="11" name="use0"/>
          <p:cNvSpPr/>
          <p:nvPr/>
        </p:nvSpPr>
        <p:spPr>
          <a:xfrm>
            <a:off x="457200" y="3703320"/>
            <a:ext cx="3576218" cy="822960"/>
          </a:xfrm>
          <a:prstGeom prst="roundRect">
            <a:avLst>
              <a:gd name="adj" fmla="val 8889"/>
            </a:avLst>
          </a:prstGeom>
          <a:solidFill>
            <a:schemeClr val="bg2"/>
          </a:solidFill>
          <a:ln/>
        </p:spPr>
      </p:sp>
      <p:pic>
        <p:nvPicPr>
          <p:cNvPr id="12" name="useI0" descr="preencoded.png">    </p:cNvPr>
          <p:cNvPicPr>
            <a:picLocks noChangeAspect="1"/>
          </p:cNvPicPr>
          <p:nvPr/>
        </p:nvPicPr>
        <p:blipFill>
          <a:blip r:embed="rId2"/>
          <a:stretch>
            <a:fillRect/>
          </a:stretch>
        </p:blipFill>
        <p:spPr>
          <a:xfrm>
            <a:off x="640080" y="3831336"/>
            <a:ext cx="274320" cy="274320"/>
          </a:xfrm>
          <a:prstGeom prst="rect">
            <a:avLst/>
          </a:prstGeom>
        </p:spPr>
      </p:pic>
      <p:sp>
        <p:nvSpPr>
          <p:cNvPr id="13" name="useT0"/>
          <p:cNvSpPr txBox="1"/>
          <p:nvPr/>
        </p:nvSpPr>
        <p:spPr>
          <a:xfrm>
            <a:off x="1024128" y="3776472"/>
            <a:ext cx="2890418" cy="685800"/>
          </a:xfrm>
          <a:prstGeom prst="rect">
            <a:avLst/>
          </a:prstGeom>
          <a:noFill/>
          <a:ln/>
        </p:spPr>
        <p:txBody>
          <a:bodyPr wrap="square" lIns="0" tIns="0" rIns="0" bIns="0" rtlCol="0" anchor="t"/>
          <a:lstStyle/>
          <a:p>
            <a:pPr indent="0" marL="0">
              <a:buNone/>
            </a:pPr>
            <a:r>
              <a:rPr lang="en-US" sz="1150" b="1" dirty="0">
                <a:solidFill>
                  <a:schemeClr val="tx1"/>
                </a:solidFill>
              </a:rPr>
              <a:t>JioMart and Reliance Retail</a:t>
            </a:r>
            <a:endParaRPr lang="en-US" sz="1150" dirty="0"/>
          </a:p>
          <a:p>
            <a:pPr indent="0" marL="0">
              <a:buNone/>
            </a:pPr>
            <a:r>
              <a:rPr lang="en-US" sz="1000" dirty="0">
                <a:solidFill>
                  <a:schemeClr val="tx2"/>
                </a:solidFill>
              </a:rPr>
              <a:t>Rain-aware dispatch, delivery promises, zone pauses</a:t>
            </a:r>
            <a:endParaRPr lang="en-US" sz="1150" dirty="0"/>
          </a:p>
          <a:p>
            <a:pPr indent="0" marL="0">
              <a:buNone/>
            </a:pPr>
            <a:r>
              <a:rPr lang="en-US" sz="950" b="1" dirty="0">
                <a:solidFill>
                  <a:schemeClr val="accent1"/>
                </a:solidFill>
              </a:rPr>
              <a:t>Tests commercial value</a:t>
            </a:r>
            <a:endParaRPr lang="en-US" sz="1150" dirty="0"/>
          </a:p>
        </p:txBody>
      </p:sp>
      <p:sp>
        <p:nvSpPr>
          <p:cNvPr id="14" name="use1"/>
          <p:cNvSpPr/>
          <p:nvPr/>
        </p:nvSpPr>
        <p:spPr>
          <a:xfrm>
            <a:off x="457200" y="4645152"/>
            <a:ext cx="3576218" cy="822960"/>
          </a:xfrm>
          <a:prstGeom prst="roundRect">
            <a:avLst>
              <a:gd name="adj" fmla="val 8889"/>
            </a:avLst>
          </a:prstGeom>
          <a:solidFill>
            <a:schemeClr val="bg2"/>
          </a:solidFill>
          <a:ln/>
        </p:spPr>
      </p:sp>
      <p:pic>
        <p:nvPicPr>
          <p:cNvPr id="15" name="useI1" descr="preencoded.png">    </p:cNvPr>
          <p:cNvPicPr>
            <a:picLocks noChangeAspect="1"/>
          </p:cNvPicPr>
          <p:nvPr/>
        </p:nvPicPr>
        <p:blipFill>
          <a:blip r:embed="rId3"/>
          <a:stretch>
            <a:fillRect/>
          </a:stretch>
        </p:blipFill>
        <p:spPr>
          <a:xfrm>
            <a:off x="640080" y="4773168"/>
            <a:ext cx="274320" cy="274320"/>
          </a:xfrm>
          <a:prstGeom prst="rect">
            <a:avLst/>
          </a:prstGeom>
        </p:spPr>
      </p:pic>
      <p:sp>
        <p:nvSpPr>
          <p:cNvPr id="16" name="useT1"/>
          <p:cNvSpPr txBox="1"/>
          <p:nvPr/>
        </p:nvSpPr>
        <p:spPr>
          <a:xfrm>
            <a:off x="1024128" y="4718304"/>
            <a:ext cx="2890418" cy="685800"/>
          </a:xfrm>
          <a:prstGeom prst="rect">
            <a:avLst/>
          </a:prstGeom>
          <a:noFill/>
          <a:ln/>
        </p:spPr>
        <p:txBody>
          <a:bodyPr wrap="square" lIns="0" tIns="0" rIns="0" bIns="0" rtlCol="0" anchor="t"/>
          <a:lstStyle/>
          <a:p>
            <a:pPr indent="0" marL="0">
              <a:buNone/>
            </a:pPr>
            <a:r>
              <a:rPr lang="en-US" sz="1150" b="1" dirty="0">
                <a:solidFill>
                  <a:schemeClr val="tx1"/>
                </a:solidFill>
              </a:rPr>
              <a:t>MyJio</a:t>
            </a:r>
            <a:endParaRPr lang="en-US" sz="1150" dirty="0"/>
          </a:p>
          <a:p>
            <a:pPr indent="0" marL="0">
              <a:buNone/>
            </a:pPr>
            <a:r>
              <a:rPr lang="en-US" sz="1000" dirty="0">
                <a:solidFill>
                  <a:schemeClr val="tx2"/>
                </a:solidFill>
              </a:rPr>
              <a:t>Street-level rain alerts for users</a:t>
            </a:r>
            <a:endParaRPr lang="en-US" sz="1150" dirty="0"/>
          </a:p>
          <a:p>
            <a:pPr indent="0" marL="0">
              <a:buNone/>
            </a:pPr>
            <a:r>
              <a:rPr lang="en-US" sz="950" b="1" dirty="0">
                <a:solidFill>
                  <a:schemeClr val="accent1"/>
                </a:solidFill>
              </a:rPr>
              <a:t>Tests reach at scale</a:t>
            </a:r>
            <a:endParaRPr lang="en-US" sz="1150" dirty="0"/>
          </a:p>
        </p:txBody>
      </p:sp>
      <p:sp>
        <p:nvSpPr>
          <p:cNvPr id="17" name="c1N"/>
          <p:cNvSpPr txBox="1"/>
          <p:nvPr/>
        </p:nvSpPr>
        <p:spPr>
          <a:xfrm>
            <a:off x="457200" y="5715000"/>
            <a:ext cx="3576218" cy="457200"/>
          </a:xfrm>
          <a:prstGeom prst="rect">
            <a:avLst/>
          </a:prstGeom>
          <a:noFill/>
          <a:ln/>
        </p:spPr>
        <p:txBody>
          <a:bodyPr wrap="square" lIns="0" tIns="0" rIns="0" bIns="0" rtlCol="0" anchor="t"/>
          <a:lstStyle/>
          <a:p>
            <a:pPr indent="0" marL="0">
              <a:buNone/>
            </a:pPr>
            <a:r>
              <a:rPr lang="en-US" sz="1000" i="1" dirty="0">
                <a:solidFill>
                  <a:schemeClr val="tx2"/>
                </a:solidFill>
              </a:rPr>
              <a:t>Every internal use is a hypothesis the pilot tests.</a:t>
            </a:r>
            <a:endParaRPr lang="en-US" sz="1000" dirty="0"/>
          </a:p>
        </p:txBody>
      </p:sp>
      <p:sp>
        <p:nvSpPr>
          <p:cNvPr id="18" name="c2H"/>
          <p:cNvSpPr txBox="1"/>
          <p:nvPr/>
        </p:nvSpPr>
        <p:spPr>
          <a:xfrm>
            <a:off x="4307738" y="1280160"/>
            <a:ext cx="3576218" cy="256032"/>
          </a:xfrm>
          <a:prstGeom prst="rect">
            <a:avLst/>
          </a:prstGeom>
          <a:noFill/>
          <a:ln/>
        </p:spPr>
        <p:txBody>
          <a:bodyPr wrap="square" lIns="0" tIns="0" rIns="0" bIns="0" rtlCol="0" anchor="t"/>
          <a:lstStyle/>
          <a:p>
            <a:pPr indent="0" marL="0">
              <a:buNone/>
            </a:pPr>
            <a:r>
              <a:rPr lang="en-US" sz="950" b="1" spc="150" kern="0" dirty="0">
                <a:solidFill>
                  <a:schemeClr val="accent1"/>
                </a:solidFill>
              </a:rPr>
              <a:t>2 · THEN SELL THE SAME INTELLIGENCE</a:t>
            </a:r>
            <a:endParaRPr lang="en-US" sz="1150" dirty="0"/>
          </a:p>
        </p:txBody>
      </p:sp>
      <p:sp>
        <p:nvSpPr>
          <p:cNvPr id="19" name="dc0"/>
          <p:cNvSpPr/>
          <p:nvPr/>
        </p:nvSpPr>
        <p:spPr>
          <a:xfrm>
            <a:off x="4307738" y="1600200"/>
            <a:ext cx="3576218" cy="420624"/>
          </a:xfrm>
          <a:prstGeom prst="roundRect">
            <a:avLst>
              <a:gd name="adj" fmla="val 17391"/>
            </a:avLst>
          </a:prstGeom>
          <a:solidFill>
            <a:schemeClr val="accent2">
              <a:alpha val="12000"/>
            </a:schemeClr>
          </a:solidFill>
          <a:ln/>
        </p:spPr>
      </p:sp>
      <p:pic>
        <p:nvPicPr>
          <p:cNvPr id="20" name="dcI0" descr="preencoded.png">    </p:cNvPr>
          <p:cNvPicPr>
            <a:picLocks noChangeAspect="1"/>
          </p:cNvPicPr>
          <p:nvPr/>
        </p:nvPicPr>
        <p:blipFill>
          <a:blip r:embed="rId4"/>
          <a:stretch>
            <a:fillRect/>
          </a:stretch>
        </p:blipFill>
        <p:spPr>
          <a:xfrm>
            <a:off x="4444898" y="1691640"/>
            <a:ext cx="237744" cy="237744"/>
          </a:xfrm>
          <a:prstGeom prst="rect">
            <a:avLst/>
          </a:prstGeom>
        </p:spPr>
      </p:pic>
      <p:sp>
        <p:nvSpPr>
          <p:cNvPr id="21" name="dcT0"/>
          <p:cNvSpPr txBox="1"/>
          <p:nvPr/>
        </p:nvSpPr>
        <p:spPr>
          <a:xfrm>
            <a:off x="4783226" y="1600200"/>
            <a:ext cx="3009290" cy="420624"/>
          </a:xfrm>
          <a:prstGeom prst="rect">
            <a:avLst/>
          </a:prstGeom>
          <a:noFill/>
          <a:ln/>
        </p:spPr>
        <p:txBody>
          <a:bodyPr wrap="square" lIns="0" tIns="0" rIns="0" bIns="0" rtlCol="0" anchor="ctr"/>
          <a:lstStyle/>
          <a:p>
            <a:pPr indent="0" marL="0">
              <a:buNone/>
            </a:pPr>
            <a:r>
              <a:rPr lang="en-US" sz="1050" b="1" dirty="0">
                <a:solidFill>
                  <a:schemeClr val="tx1"/>
                </a:solidFill>
              </a:rPr>
              <a:t>Rain hits Zone A</a:t>
            </a:r>
            <a:endParaRPr lang="en-US" sz="1050" dirty="0"/>
          </a:p>
        </p:txBody>
      </p:sp>
      <p:sp>
        <p:nvSpPr>
          <p:cNvPr id="22" name="dcA0"/>
          <p:cNvSpPr/>
          <p:nvPr/>
        </p:nvSpPr>
        <p:spPr>
          <a:xfrm>
            <a:off x="4563770" y="2020824"/>
            <a:ext cx="0" cy="128016"/>
          </a:xfrm>
          <a:prstGeom prst="line">
            <a:avLst/>
          </a:prstGeom>
          <a:noFill/>
          <a:ln w="15875">
            <a:solidFill>
              <a:srgbClr val="4A5578"/>
            </a:solidFill>
            <a:prstDash val="solid"/>
            <a:tailEnd type="triangle"/>
          </a:ln>
        </p:spPr>
      </p:sp>
      <p:sp>
        <p:nvSpPr>
          <p:cNvPr id="23" name="dc1"/>
          <p:cNvSpPr/>
          <p:nvPr/>
        </p:nvSpPr>
        <p:spPr>
          <a:xfrm>
            <a:off x="4307738" y="2148840"/>
            <a:ext cx="3576218" cy="420624"/>
          </a:xfrm>
          <a:prstGeom prst="roundRect">
            <a:avLst>
              <a:gd name="adj" fmla="val 17391"/>
            </a:avLst>
          </a:prstGeom>
          <a:solidFill>
            <a:schemeClr val="accent1">
              <a:alpha val="12000"/>
            </a:schemeClr>
          </a:solidFill>
          <a:ln/>
        </p:spPr>
      </p:sp>
      <p:pic>
        <p:nvPicPr>
          <p:cNvPr id="24" name="dcI1" descr="preencoded.png">    </p:cNvPr>
          <p:cNvPicPr>
            <a:picLocks noChangeAspect="1"/>
          </p:cNvPicPr>
          <p:nvPr/>
        </p:nvPicPr>
        <p:blipFill>
          <a:blip r:embed="rId5"/>
          <a:stretch>
            <a:fillRect/>
          </a:stretch>
        </p:blipFill>
        <p:spPr>
          <a:xfrm>
            <a:off x="4444898" y="2240280"/>
            <a:ext cx="237744" cy="237744"/>
          </a:xfrm>
          <a:prstGeom prst="rect">
            <a:avLst/>
          </a:prstGeom>
        </p:spPr>
      </p:pic>
      <p:sp>
        <p:nvSpPr>
          <p:cNvPr id="25" name="dcT1"/>
          <p:cNvSpPr txBox="1"/>
          <p:nvPr/>
        </p:nvSpPr>
        <p:spPr>
          <a:xfrm>
            <a:off x="4783226" y="2148840"/>
            <a:ext cx="3009290" cy="420624"/>
          </a:xfrm>
          <a:prstGeom prst="rect">
            <a:avLst/>
          </a:prstGeom>
          <a:noFill/>
          <a:ln/>
        </p:spPr>
        <p:txBody>
          <a:bodyPr wrap="square" lIns="0" tIns="0" rIns="0" bIns="0" rtlCol="0" anchor="ctr"/>
          <a:lstStyle/>
          <a:p>
            <a:pPr indent="0" marL="0">
              <a:buNone/>
            </a:pPr>
            <a:r>
              <a:rPr lang="en-US" sz="1050" b="1" dirty="0">
                <a:solidFill>
                  <a:schemeClr val="tx1"/>
                </a:solidFill>
              </a:rPr>
              <a:t>JioMausam sends a zone alert + rain estimate</a:t>
            </a:r>
            <a:endParaRPr lang="en-US" sz="1050" dirty="0"/>
          </a:p>
        </p:txBody>
      </p:sp>
      <p:sp>
        <p:nvSpPr>
          <p:cNvPr id="26" name="dcA1"/>
          <p:cNvSpPr/>
          <p:nvPr/>
        </p:nvSpPr>
        <p:spPr>
          <a:xfrm>
            <a:off x="4563770" y="2569464"/>
            <a:ext cx="0" cy="128016"/>
          </a:xfrm>
          <a:prstGeom prst="line">
            <a:avLst/>
          </a:prstGeom>
          <a:noFill/>
          <a:ln w="15875">
            <a:solidFill>
              <a:srgbClr val="4A5578"/>
            </a:solidFill>
            <a:prstDash val="solid"/>
            <a:tailEnd type="triangle"/>
          </a:ln>
        </p:spPr>
      </p:sp>
      <p:sp>
        <p:nvSpPr>
          <p:cNvPr id="27" name="dc2"/>
          <p:cNvSpPr/>
          <p:nvPr/>
        </p:nvSpPr>
        <p:spPr>
          <a:xfrm>
            <a:off x="4307738" y="2697480"/>
            <a:ext cx="3576218" cy="420624"/>
          </a:xfrm>
          <a:prstGeom prst="roundRect">
            <a:avLst>
              <a:gd name="adj" fmla="val 17391"/>
            </a:avLst>
          </a:prstGeom>
          <a:solidFill>
            <a:schemeClr val="tx2">
              <a:alpha val="12000"/>
            </a:schemeClr>
          </a:solidFill>
          <a:ln/>
        </p:spPr>
      </p:sp>
      <p:pic>
        <p:nvPicPr>
          <p:cNvPr id="28" name="dcI2" descr="preencoded.png">    </p:cNvPr>
          <p:cNvPicPr>
            <a:picLocks noChangeAspect="1"/>
          </p:cNvPicPr>
          <p:nvPr/>
        </p:nvPicPr>
        <p:blipFill>
          <a:blip r:embed="rId6"/>
          <a:stretch>
            <a:fillRect/>
          </a:stretch>
        </p:blipFill>
        <p:spPr>
          <a:xfrm>
            <a:off x="4444898" y="2788920"/>
            <a:ext cx="237744" cy="237744"/>
          </a:xfrm>
          <a:prstGeom prst="rect">
            <a:avLst/>
          </a:prstGeom>
        </p:spPr>
      </p:pic>
      <p:sp>
        <p:nvSpPr>
          <p:cNvPr id="29" name="dcT2"/>
          <p:cNvSpPr txBox="1"/>
          <p:nvPr/>
        </p:nvSpPr>
        <p:spPr>
          <a:xfrm>
            <a:off x="4783226" y="2697480"/>
            <a:ext cx="3009290" cy="420624"/>
          </a:xfrm>
          <a:prstGeom prst="rect">
            <a:avLst/>
          </a:prstGeom>
          <a:noFill/>
          <a:ln/>
        </p:spPr>
        <p:txBody>
          <a:bodyPr wrap="square" lIns="0" tIns="0" rIns="0" bIns="0" rtlCol="0" anchor="ctr"/>
          <a:lstStyle/>
          <a:p>
            <a:pPr indent="0" marL="0">
              <a:buNone/>
            </a:pPr>
            <a:r>
              <a:rPr lang="en-US" sz="1050" b="1" dirty="0">
                <a:solidFill>
                  <a:schemeClr val="tx1"/>
                </a:solidFill>
              </a:rPr>
              <a:t>The customer decides: reroute, update ETAs, adjust incentives</a:t>
            </a:r>
            <a:endParaRPr lang="en-US" sz="1050" dirty="0"/>
          </a:p>
        </p:txBody>
      </p:sp>
      <p:sp>
        <p:nvSpPr>
          <p:cNvPr id="30" name="dcA2"/>
          <p:cNvSpPr/>
          <p:nvPr/>
        </p:nvSpPr>
        <p:spPr>
          <a:xfrm>
            <a:off x="4563770" y="3118104"/>
            <a:ext cx="0" cy="128016"/>
          </a:xfrm>
          <a:prstGeom prst="line">
            <a:avLst/>
          </a:prstGeom>
          <a:noFill/>
          <a:ln w="15875">
            <a:solidFill>
              <a:srgbClr val="4A5578"/>
            </a:solidFill>
            <a:prstDash val="solid"/>
            <a:tailEnd type="triangle"/>
          </a:ln>
        </p:spPr>
      </p:sp>
      <p:sp>
        <p:nvSpPr>
          <p:cNvPr id="31" name="dc3"/>
          <p:cNvSpPr/>
          <p:nvPr/>
        </p:nvSpPr>
        <p:spPr>
          <a:xfrm>
            <a:off x="4307738" y="3246120"/>
            <a:ext cx="3576218" cy="420624"/>
          </a:xfrm>
          <a:prstGeom prst="roundRect">
            <a:avLst>
              <a:gd name="adj" fmla="val 17391"/>
            </a:avLst>
          </a:prstGeom>
          <a:solidFill>
            <a:schemeClr val="accent3">
              <a:alpha val="12000"/>
            </a:schemeClr>
          </a:solidFill>
          <a:ln/>
        </p:spPr>
      </p:sp>
      <p:pic>
        <p:nvPicPr>
          <p:cNvPr id="32" name="dcI3" descr="preencoded.png">    </p:cNvPr>
          <p:cNvPicPr>
            <a:picLocks noChangeAspect="1"/>
          </p:cNvPicPr>
          <p:nvPr/>
        </p:nvPicPr>
        <p:blipFill>
          <a:blip r:embed="rId7"/>
          <a:stretch>
            <a:fillRect/>
          </a:stretch>
        </p:blipFill>
        <p:spPr>
          <a:xfrm>
            <a:off x="4444898" y="3337560"/>
            <a:ext cx="237744" cy="237744"/>
          </a:xfrm>
          <a:prstGeom prst="rect">
            <a:avLst/>
          </a:prstGeom>
        </p:spPr>
      </p:pic>
      <p:sp>
        <p:nvSpPr>
          <p:cNvPr id="33" name="dcT3"/>
          <p:cNvSpPr txBox="1"/>
          <p:nvPr/>
        </p:nvSpPr>
        <p:spPr>
          <a:xfrm>
            <a:off x="4783226" y="3246120"/>
            <a:ext cx="3009290" cy="420624"/>
          </a:xfrm>
          <a:prstGeom prst="rect">
            <a:avLst/>
          </a:prstGeom>
          <a:noFill/>
          <a:ln/>
        </p:spPr>
        <p:txBody>
          <a:bodyPr wrap="square" lIns="0" tIns="0" rIns="0" bIns="0" rtlCol="0" anchor="ctr"/>
          <a:lstStyle/>
          <a:p>
            <a:pPr indent="0" marL="0">
              <a:buNone/>
            </a:pPr>
            <a:r>
              <a:rPr lang="en-US" sz="1050" b="1" dirty="0">
                <a:solidFill>
                  <a:schemeClr val="tx1"/>
                </a:solidFill>
              </a:rPr>
              <a:t>Lower disruption</a:t>
            </a:r>
            <a:endParaRPr lang="en-US" sz="1050" dirty="0"/>
          </a:p>
        </p:txBody>
      </p:sp>
      <p:sp>
        <p:nvSpPr>
          <p:cNvPr id="34" name="tiersM"/>
          <p:cNvSpPr/>
          <p:nvPr/>
        </p:nvSpPr>
        <p:spPr>
          <a:xfrm>
            <a:off x="4307738" y="3886200"/>
            <a:ext cx="3576218" cy="1719072"/>
          </a:xfrm>
          <a:prstGeom prst="roundRect">
            <a:avLst>
              <a:gd name="adj" fmla="val 4255"/>
            </a:avLst>
          </a:prstGeom>
          <a:solidFill>
            <a:schemeClr val="bg2"/>
          </a:solidFill>
          <a:ln/>
        </p:spPr>
      </p:sp>
      <p:sp>
        <p:nvSpPr>
          <p:cNvPr id="35" name="tmH"/>
          <p:cNvSpPr txBox="1"/>
          <p:nvPr/>
        </p:nvSpPr>
        <p:spPr>
          <a:xfrm>
            <a:off x="4490618" y="3959352"/>
            <a:ext cx="3210458" cy="237744"/>
          </a:xfrm>
          <a:prstGeom prst="rect">
            <a:avLst/>
          </a:prstGeom>
          <a:noFill/>
          <a:ln/>
        </p:spPr>
        <p:txBody>
          <a:bodyPr wrap="square" lIns="0" tIns="0" rIns="0" bIns="0" rtlCol="0" anchor="t"/>
          <a:lstStyle/>
          <a:p>
            <a:pPr indent="0" marL="0">
              <a:buNone/>
            </a:pPr>
            <a:r>
              <a:rPr lang="en-US" sz="950" b="1" spc="150" kern="0" dirty="0">
                <a:solidFill>
                  <a:schemeClr val="tx2"/>
                </a:solidFill>
              </a:rPr>
              <a:t>WHO BUYS, AND WHAT</a:t>
            </a:r>
            <a:endParaRPr lang="en-US" sz="1150" dirty="0"/>
          </a:p>
        </p:txBody>
      </p:sp>
      <p:sp>
        <p:nvSpPr>
          <p:cNvPr id="36" name="tmO0"/>
          <p:cNvSpPr/>
          <p:nvPr/>
        </p:nvSpPr>
        <p:spPr>
          <a:xfrm>
            <a:off x="4490618" y="4297680"/>
            <a:ext cx="274320" cy="274320"/>
          </a:xfrm>
          <a:prstGeom prst="ellipse">
            <a:avLst/>
          </a:prstGeom>
          <a:solidFill>
            <a:schemeClr val="accent5"/>
          </a:solidFill>
          <a:ln/>
        </p:spPr>
      </p:sp>
      <p:sp>
        <p:nvSpPr>
          <p:cNvPr id="37" name="tmN0"/>
          <p:cNvSpPr txBox="1"/>
          <p:nvPr/>
        </p:nvSpPr>
        <p:spPr>
          <a:xfrm>
            <a:off x="4490618" y="4297680"/>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38" name="tmT0"/>
          <p:cNvSpPr txBox="1"/>
          <p:nvPr/>
        </p:nvSpPr>
        <p:spPr>
          <a:xfrm>
            <a:off x="4856378" y="4251960"/>
            <a:ext cx="1793138" cy="365760"/>
          </a:xfrm>
          <a:prstGeom prst="rect">
            <a:avLst/>
          </a:prstGeom>
          <a:noFill/>
          <a:ln/>
        </p:spPr>
        <p:txBody>
          <a:bodyPr wrap="square" lIns="0" tIns="0" rIns="0" bIns="0" rtlCol="0" anchor="ctr"/>
          <a:lstStyle/>
          <a:p>
            <a:pPr indent="0" marL="0">
              <a:buNone/>
            </a:pPr>
            <a:r>
              <a:rPr lang="en-US" sz="1050" dirty="0">
                <a:solidFill>
                  <a:schemeClr val="tx1"/>
                </a:solidFill>
              </a:rPr>
              <a:t>Delivery and quick commerce</a:t>
            </a:r>
            <a:endParaRPr lang="en-US" sz="1050" dirty="0"/>
          </a:p>
        </p:txBody>
      </p:sp>
      <p:sp>
        <p:nvSpPr>
          <p:cNvPr id="39" name="tmP0"/>
          <p:cNvSpPr/>
          <p:nvPr/>
        </p:nvSpPr>
        <p:spPr>
          <a:xfrm>
            <a:off x="6695237" y="4315968"/>
            <a:ext cx="1024128" cy="237744"/>
          </a:xfrm>
          <a:prstGeom prst="roundRect">
            <a:avLst>
              <a:gd name="adj" fmla="val 23077"/>
            </a:avLst>
          </a:prstGeom>
          <a:solidFill>
            <a:schemeClr val="accent1">
              <a:alpha val="14000"/>
            </a:schemeClr>
          </a:solidFill>
          <a:ln/>
        </p:spPr>
      </p:sp>
      <p:sp>
        <p:nvSpPr>
          <p:cNvPr id="40" name="tmP0T"/>
          <p:cNvSpPr txBox="1"/>
          <p:nvPr/>
        </p:nvSpPr>
        <p:spPr>
          <a:xfrm>
            <a:off x="6695237" y="4315968"/>
            <a:ext cx="1024128" cy="237744"/>
          </a:xfrm>
          <a:prstGeom prst="rect">
            <a:avLst/>
          </a:prstGeom>
          <a:noFill/>
          <a:ln/>
        </p:spPr>
        <p:txBody>
          <a:bodyPr wrap="square" lIns="0" tIns="0" rIns="0" bIns="0" rtlCol="0" anchor="ctr"/>
          <a:lstStyle/>
          <a:p>
            <a:pPr algn="ctr" indent="0" marL="0">
              <a:buNone/>
            </a:pPr>
            <a:r>
              <a:rPr lang="en-US" sz="900" b="1" dirty="0">
                <a:solidFill>
                  <a:schemeClr val="accent1"/>
                </a:solidFill>
              </a:rPr>
              <a:t>Alerts</a:t>
            </a:r>
            <a:endParaRPr lang="en-US" sz="900" dirty="0"/>
          </a:p>
        </p:txBody>
      </p:sp>
      <p:sp>
        <p:nvSpPr>
          <p:cNvPr id="41" name="tmO1"/>
          <p:cNvSpPr/>
          <p:nvPr/>
        </p:nvSpPr>
        <p:spPr>
          <a:xfrm>
            <a:off x="4490618" y="4727448"/>
            <a:ext cx="274320" cy="274320"/>
          </a:xfrm>
          <a:prstGeom prst="ellipse">
            <a:avLst/>
          </a:prstGeom>
          <a:solidFill>
            <a:schemeClr val="accent6"/>
          </a:solidFill>
          <a:ln/>
        </p:spPr>
      </p:sp>
      <p:sp>
        <p:nvSpPr>
          <p:cNvPr id="42" name="tmN1"/>
          <p:cNvSpPr txBox="1"/>
          <p:nvPr/>
        </p:nvSpPr>
        <p:spPr>
          <a:xfrm>
            <a:off x="4490618" y="4727448"/>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43" name="tmT1"/>
          <p:cNvSpPr txBox="1"/>
          <p:nvPr/>
        </p:nvSpPr>
        <p:spPr>
          <a:xfrm>
            <a:off x="4856378" y="4681728"/>
            <a:ext cx="1793138" cy="365760"/>
          </a:xfrm>
          <a:prstGeom prst="rect">
            <a:avLst/>
          </a:prstGeom>
          <a:noFill/>
          <a:ln/>
        </p:spPr>
        <p:txBody>
          <a:bodyPr wrap="square" lIns="0" tIns="0" rIns="0" bIns="0" rtlCol="0" anchor="ctr"/>
          <a:lstStyle/>
          <a:p>
            <a:pPr indent="0" marL="0">
              <a:buNone/>
            </a:pPr>
            <a:r>
              <a:rPr lang="en-US" sz="1050" dirty="0">
                <a:solidFill>
                  <a:schemeClr val="tx1"/>
                </a:solidFill>
              </a:rPr>
              <a:t>Logistics, cities, insurers</a:t>
            </a:r>
            <a:endParaRPr lang="en-US" sz="1050" dirty="0"/>
          </a:p>
        </p:txBody>
      </p:sp>
      <p:sp>
        <p:nvSpPr>
          <p:cNvPr id="44" name="tmP1"/>
          <p:cNvSpPr/>
          <p:nvPr/>
        </p:nvSpPr>
        <p:spPr>
          <a:xfrm>
            <a:off x="6695237" y="4745736"/>
            <a:ext cx="1024128" cy="237744"/>
          </a:xfrm>
          <a:prstGeom prst="roundRect">
            <a:avLst>
              <a:gd name="adj" fmla="val 23077"/>
            </a:avLst>
          </a:prstGeom>
          <a:solidFill>
            <a:schemeClr val="accent1">
              <a:alpha val="14000"/>
            </a:schemeClr>
          </a:solidFill>
          <a:ln/>
        </p:spPr>
      </p:sp>
      <p:sp>
        <p:nvSpPr>
          <p:cNvPr id="45" name="tmP1T"/>
          <p:cNvSpPr txBox="1"/>
          <p:nvPr/>
        </p:nvSpPr>
        <p:spPr>
          <a:xfrm>
            <a:off x="6695237" y="4745736"/>
            <a:ext cx="1024128" cy="237744"/>
          </a:xfrm>
          <a:prstGeom prst="rect">
            <a:avLst/>
          </a:prstGeom>
          <a:noFill/>
          <a:ln/>
        </p:spPr>
        <p:txBody>
          <a:bodyPr wrap="square" lIns="0" tIns="0" rIns="0" bIns="0" rtlCol="0" anchor="ctr"/>
          <a:lstStyle/>
          <a:p>
            <a:pPr algn="ctr" indent="0" marL="0">
              <a:buNone/>
            </a:pPr>
            <a:r>
              <a:rPr lang="en-US" sz="900" b="1" dirty="0">
                <a:solidFill>
                  <a:schemeClr val="accent1"/>
                </a:solidFill>
              </a:rPr>
              <a:t>Alerts + data</a:t>
            </a:r>
            <a:endParaRPr lang="en-US" sz="900" dirty="0"/>
          </a:p>
        </p:txBody>
      </p:sp>
      <p:sp>
        <p:nvSpPr>
          <p:cNvPr id="46" name="tmO2"/>
          <p:cNvSpPr/>
          <p:nvPr/>
        </p:nvSpPr>
        <p:spPr>
          <a:xfrm>
            <a:off x="4490618" y="5157216"/>
            <a:ext cx="274320" cy="274320"/>
          </a:xfrm>
          <a:prstGeom prst="ellipse">
            <a:avLst/>
          </a:prstGeom>
          <a:solidFill>
            <a:schemeClr val="accent6"/>
          </a:solidFill>
          <a:ln/>
        </p:spPr>
      </p:sp>
      <p:sp>
        <p:nvSpPr>
          <p:cNvPr id="47" name="tmN2"/>
          <p:cNvSpPr txBox="1"/>
          <p:nvPr/>
        </p:nvSpPr>
        <p:spPr>
          <a:xfrm>
            <a:off x="4490618" y="5157216"/>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48" name="tmT2"/>
          <p:cNvSpPr txBox="1"/>
          <p:nvPr/>
        </p:nvSpPr>
        <p:spPr>
          <a:xfrm>
            <a:off x="4856378" y="5111496"/>
            <a:ext cx="1793138" cy="365760"/>
          </a:xfrm>
          <a:prstGeom prst="rect">
            <a:avLst/>
          </a:prstGeom>
          <a:noFill/>
          <a:ln/>
        </p:spPr>
        <p:txBody>
          <a:bodyPr wrap="square" lIns="0" tIns="0" rIns="0" bIns="0" rtlCol="0" anchor="ctr"/>
          <a:lstStyle/>
          <a:p>
            <a:pPr indent="0" marL="0">
              <a:buNone/>
            </a:pPr>
            <a:r>
              <a:rPr lang="en-US" sz="1050" dirty="0">
                <a:solidFill>
                  <a:schemeClr val="tx1"/>
                </a:solidFill>
              </a:rPr>
              <a:t>Agriculture, power, retail</a:t>
            </a:r>
            <a:endParaRPr lang="en-US" sz="1050" dirty="0"/>
          </a:p>
        </p:txBody>
      </p:sp>
      <p:sp>
        <p:nvSpPr>
          <p:cNvPr id="49" name="tmP2"/>
          <p:cNvSpPr/>
          <p:nvPr/>
        </p:nvSpPr>
        <p:spPr>
          <a:xfrm>
            <a:off x="6695237" y="5175504"/>
            <a:ext cx="1024128" cy="237744"/>
          </a:xfrm>
          <a:prstGeom prst="roundRect">
            <a:avLst>
              <a:gd name="adj" fmla="val 23077"/>
            </a:avLst>
          </a:prstGeom>
          <a:solidFill>
            <a:schemeClr val="accent1">
              <a:alpha val="14000"/>
            </a:schemeClr>
          </a:solidFill>
          <a:ln/>
        </p:spPr>
      </p:sp>
      <p:sp>
        <p:nvSpPr>
          <p:cNvPr id="50" name="tmP2T"/>
          <p:cNvSpPr txBox="1"/>
          <p:nvPr/>
        </p:nvSpPr>
        <p:spPr>
          <a:xfrm>
            <a:off x="6695237" y="5175504"/>
            <a:ext cx="1024128" cy="237744"/>
          </a:xfrm>
          <a:prstGeom prst="rect">
            <a:avLst/>
          </a:prstGeom>
          <a:noFill/>
          <a:ln/>
        </p:spPr>
        <p:txBody>
          <a:bodyPr wrap="square" lIns="0" tIns="0" rIns="0" bIns="0" rtlCol="0" anchor="ctr"/>
          <a:lstStyle/>
          <a:p>
            <a:pPr algn="ctr" indent="0" marL="0">
              <a:buNone/>
            </a:pPr>
            <a:r>
              <a:rPr lang="en-US" sz="900" b="1" dirty="0">
                <a:solidFill>
                  <a:schemeClr val="accent1"/>
                </a:solidFill>
              </a:rPr>
              <a:t>Data + alerts</a:t>
            </a:r>
            <a:endParaRPr lang="en-US" sz="900" dirty="0"/>
          </a:p>
        </p:txBody>
      </p:sp>
      <p:sp>
        <p:nvSpPr>
          <p:cNvPr id="51" name="sell"/>
          <p:cNvSpPr txBox="1"/>
          <p:nvPr/>
        </p:nvSpPr>
        <p:spPr>
          <a:xfrm>
            <a:off x="4307738" y="5715000"/>
            <a:ext cx="3576218" cy="548640"/>
          </a:xfrm>
          <a:prstGeom prst="rect">
            <a:avLst/>
          </a:prstGeom>
          <a:noFill/>
          <a:ln/>
        </p:spPr>
        <p:txBody>
          <a:bodyPr wrap="square" lIns="0" tIns="0" rIns="0" bIns="0" rtlCol="0" anchor="t"/>
          <a:lstStyle/>
          <a:p>
            <a:pPr indent="0" marL="0">
              <a:buNone/>
            </a:pPr>
            <a:r>
              <a:rPr lang="en-US" sz="1050" b="1" dirty="0">
                <a:solidFill>
                  <a:schemeClr val="tx1"/>
                </a:solidFill>
              </a:rPr>
              <a:t>We sell: </a:t>
            </a:r>
            <a:pPr indent="0" marL="0">
              <a:buNone/>
            </a:pPr>
            <a:r>
              <a:rPr lang="en-US" sz="1050" dirty="0">
                <a:solidFill>
                  <a:schemeClr val="tx2"/>
                </a:solidFill>
              </a:rPr>
              <a:t>zone alerts · a live rain feed (API) · auditable rain records · trigger data for insurers. Not a weather map.</a:t>
            </a:r>
            <a:endParaRPr lang="en-US" sz="1050" dirty="0"/>
          </a:p>
        </p:txBody>
      </p:sp>
      <p:sp>
        <p:nvSpPr>
          <p:cNvPr id="52" name="c3H"/>
          <p:cNvSpPr txBox="1"/>
          <p:nvPr/>
        </p:nvSpPr>
        <p:spPr>
          <a:xfrm>
            <a:off x="8158277" y="1280160"/>
            <a:ext cx="3576218" cy="256032"/>
          </a:xfrm>
          <a:prstGeom prst="rect">
            <a:avLst/>
          </a:prstGeom>
          <a:noFill/>
          <a:ln/>
        </p:spPr>
        <p:txBody>
          <a:bodyPr wrap="square" lIns="0" tIns="0" rIns="0" bIns="0" rtlCol="0" anchor="t"/>
          <a:lstStyle/>
          <a:p>
            <a:pPr indent="0" marL="0">
              <a:buNone/>
            </a:pPr>
            <a:r>
              <a:rPr lang="en-US" sz="950" b="1" spc="150" kern="0" dirty="0">
                <a:solidFill>
                  <a:schemeClr val="accent1"/>
                </a:solidFill>
              </a:rPr>
              <a:t>3 · WHY JIO: INTEGRATION, NOT THE SENSOR</a:t>
            </a:r>
            <a:endParaRPr lang="en-US" sz="1150" dirty="0"/>
          </a:p>
        </p:txBody>
      </p:sp>
      <p:sp>
        <p:nvSpPr>
          <p:cNvPr id="53" name="mo0"/>
          <p:cNvSpPr/>
          <p:nvPr/>
        </p:nvSpPr>
        <p:spPr>
          <a:xfrm>
            <a:off x="8158277" y="1600200"/>
            <a:ext cx="3576218" cy="420624"/>
          </a:xfrm>
          <a:prstGeom prst="roundRect">
            <a:avLst>
              <a:gd name="adj" fmla="val 17391"/>
            </a:avLst>
          </a:prstGeom>
          <a:solidFill>
            <a:schemeClr val="bg2"/>
          </a:solidFill>
          <a:ln/>
        </p:spPr>
      </p:sp>
      <p:sp>
        <p:nvSpPr>
          <p:cNvPr id="54" name="moK0"/>
          <p:cNvSpPr/>
          <p:nvPr/>
        </p:nvSpPr>
        <p:spPr>
          <a:xfrm>
            <a:off x="8268005" y="1682496"/>
            <a:ext cx="1143000" cy="256032"/>
          </a:xfrm>
          <a:prstGeom prst="roundRect">
            <a:avLst>
              <a:gd name="adj" fmla="val 21429"/>
            </a:avLst>
          </a:prstGeom>
          <a:solidFill>
            <a:schemeClr val="accent1">
              <a:alpha val="14000"/>
            </a:schemeClr>
          </a:solidFill>
          <a:ln/>
        </p:spPr>
      </p:sp>
      <p:sp>
        <p:nvSpPr>
          <p:cNvPr id="55" name="moK0T"/>
          <p:cNvSpPr txBox="1"/>
          <p:nvPr/>
        </p:nvSpPr>
        <p:spPr>
          <a:xfrm>
            <a:off x="8268005" y="1682496"/>
            <a:ext cx="1143000" cy="256032"/>
          </a:xfrm>
          <a:prstGeom prst="rect">
            <a:avLst/>
          </a:prstGeom>
          <a:noFill/>
          <a:ln/>
        </p:spPr>
        <p:txBody>
          <a:bodyPr wrap="square" lIns="0" tIns="0" rIns="0" bIns="0" rtlCol="0" anchor="ctr"/>
          <a:lstStyle/>
          <a:p>
            <a:pPr algn="ctr" indent="0" marL="0">
              <a:buNone/>
            </a:pPr>
            <a:r>
              <a:rPr lang="en-US" sz="900" b="1" dirty="0">
                <a:solidFill>
                  <a:schemeClr val="accent1"/>
                </a:solidFill>
              </a:rPr>
              <a:t>SENSE</a:t>
            </a:r>
            <a:endParaRPr lang="en-US" sz="900" dirty="0"/>
          </a:p>
        </p:txBody>
      </p:sp>
      <p:sp>
        <p:nvSpPr>
          <p:cNvPr id="56" name="moT0"/>
          <p:cNvSpPr txBox="1"/>
          <p:nvPr/>
        </p:nvSpPr>
        <p:spPr>
          <a:xfrm>
            <a:off x="9529877" y="1600200"/>
            <a:ext cx="2113178" cy="420624"/>
          </a:xfrm>
          <a:prstGeom prst="rect">
            <a:avLst/>
          </a:prstGeom>
          <a:noFill/>
          <a:ln/>
        </p:spPr>
        <p:txBody>
          <a:bodyPr wrap="square" lIns="0" tIns="0" rIns="0" bIns="0" rtlCol="0" anchor="ctr"/>
          <a:lstStyle/>
          <a:p>
            <a:pPr indent="0" marL="0">
              <a:buNone/>
            </a:pPr>
            <a:r>
              <a:rPr lang="en-US" sz="1100" b="1" dirty="0">
                <a:solidFill>
                  <a:schemeClr val="tx1"/>
                </a:solidFill>
              </a:rPr>
              <a:t>Jio network</a:t>
            </a:r>
            <a:endParaRPr lang="en-US" sz="1100" dirty="0"/>
          </a:p>
        </p:txBody>
      </p:sp>
      <p:sp>
        <p:nvSpPr>
          <p:cNvPr id="57" name="moA0"/>
          <p:cNvSpPr/>
          <p:nvPr/>
        </p:nvSpPr>
        <p:spPr>
          <a:xfrm>
            <a:off x="8834933" y="2020824"/>
            <a:ext cx="0" cy="128016"/>
          </a:xfrm>
          <a:prstGeom prst="line">
            <a:avLst/>
          </a:prstGeom>
          <a:noFill/>
          <a:ln w="15875">
            <a:solidFill>
              <a:srgbClr val="4A5578"/>
            </a:solidFill>
            <a:prstDash val="solid"/>
            <a:tailEnd type="triangle"/>
          </a:ln>
        </p:spPr>
      </p:sp>
      <p:sp>
        <p:nvSpPr>
          <p:cNvPr id="58" name="mo1"/>
          <p:cNvSpPr/>
          <p:nvPr/>
        </p:nvSpPr>
        <p:spPr>
          <a:xfrm>
            <a:off x="8158277" y="2148840"/>
            <a:ext cx="3576218" cy="420624"/>
          </a:xfrm>
          <a:prstGeom prst="roundRect">
            <a:avLst>
              <a:gd name="adj" fmla="val 17391"/>
            </a:avLst>
          </a:prstGeom>
          <a:solidFill>
            <a:schemeClr val="accent1">
              <a:alpha val="14000"/>
            </a:schemeClr>
          </a:solidFill>
          <a:ln/>
        </p:spPr>
      </p:sp>
      <p:sp>
        <p:nvSpPr>
          <p:cNvPr id="59" name="moK1"/>
          <p:cNvSpPr/>
          <p:nvPr/>
        </p:nvSpPr>
        <p:spPr>
          <a:xfrm>
            <a:off x="8268005" y="2231136"/>
            <a:ext cx="1143000" cy="256032"/>
          </a:xfrm>
          <a:prstGeom prst="roundRect">
            <a:avLst>
              <a:gd name="adj" fmla="val 21429"/>
            </a:avLst>
          </a:prstGeom>
          <a:solidFill>
            <a:schemeClr val="accent1">
              <a:alpha val="14000"/>
            </a:schemeClr>
          </a:solidFill>
          <a:ln/>
        </p:spPr>
      </p:sp>
      <p:sp>
        <p:nvSpPr>
          <p:cNvPr id="60" name="moK1T"/>
          <p:cNvSpPr txBox="1"/>
          <p:nvPr/>
        </p:nvSpPr>
        <p:spPr>
          <a:xfrm>
            <a:off x="8268005" y="2231136"/>
            <a:ext cx="1143000" cy="256032"/>
          </a:xfrm>
          <a:prstGeom prst="rect">
            <a:avLst/>
          </a:prstGeom>
          <a:noFill/>
          <a:ln/>
        </p:spPr>
        <p:txBody>
          <a:bodyPr wrap="square" lIns="0" tIns="0" rIns="0" bIns="0" rtlCol="0" anchor="ctr"/>
          <a:lstStyle/>
          <a:p>
            <a:pPr algn="ctr" indent="0" marL="0">
              <a:buNone/>
            </a:pPr>
            <a:r>
              <a:rPr lang="en-US" sz="900" b="1" dirty="0">
                <a:solidFill>
                  <a:schemeClr val="accent1"/>
                </a:solidFill>
              </a:rPr>
              <a:t>UNDERSTAND</a:t>
            </a:r>
            <a:endParaRPr lang="en-US" sz="900" dirty="0"/>
          </a:p>
        </p:txBody>
      </p:sp>
      <p:sp>
        <p:nvSpPr>
          <p:cNvPr id="61" name="moT1"/>
          <p:cNvSpPr txBox="1"/>
          <p:nvPr/>
        </p:nvSpPr>
        <p:spPr>
          <a:xfrm>
            <a:off x="9529877" y="2148840"/>
            <a:ext cx="2113178" cy="420624"/>
          </a:xfrm>
          <a:prstGeom prst="rect">
            <a:avLst/>
          </a:prstGeom>
          <a:noFill/>
          <a:ln/>
        </p:spPr>
        <p:txBody>
          <a:bodyPr wrap="square" lIns="0" tIns="0" rIns="0" bIns="0" rtlCol="0" anchor="ctr"/>
          <a:lstStyle/>
          <a:p>
            <a:pPr indent="0" marL="0">
              <a:buNone/>
            </a:pPr>
            <a:r>
              <a:rPr lang="en-US" sz="1100" b="1" dirty="0">
                <a:solidFill>
                  <a:schemeClr val="tx1"/>
                </a:solidFill>
              </a:rPr>
              <a:t>JioMausam</a:t>
            </a:r>
            <a:endParaRPr lang="en-US" sz="1100" dirty="0"/>
          </a:p>
        </p:txBody>
      </p:sp>
      <p:sp>
        <p:nvSpPr>
          <p:cNvPr id="62" name="moA1"/>
          <p:cNvSpPr/>
          <p:nvPr/>
        </p:nvSpPr>
        <p:spPr>
          <a:xfrm>
            <a:off x="8834933" y="2569464"/>
            <a:ext cx="0" cy="128016"/>
          </a:xfrm>
          <a:prstGeom prst="line">
            <a:avLst/>
          </a:prstGeom>
          <a:noFill/>
          <a:ln w="15875">
            <a:solidFill>
              <a:srgbClr val="4A5578"/>
            </a:solidFill>
            <a:prstDash val="solid"/>
            <a:tailEnd type="triangle"/>
          </a:ln>
        </p:spPr>
      </p:sp>
      <p:sp>
        <p:nvSpPr>
          <p:cNvPr id="63" name="mo2"/>
          <p:cNvSpPr/>
          <p:nvPr/>
        </p:nvSpPr>
        <p:spPr>
          <a:xfrm>
            <a:off x="8158277" y="2697480"/>
            <a:ext cx="3576218" cy="420624"/>
          </a:xfrm>
          <a:prstGeom prst="roundRect">
            <a:avLst>
              <a:gd name="adj" fmla="val 17391"/>
            </a:avLst>
          </a:prstGeom>
          <a:solidFill>
            <a:schemeClr val="bg2"/>
          </a:solidFill>
          <a:ln/>
        </p:spPr>
      </p:sp>
      <p:sp>
        <p:nvSpPr>
          <p:cNvPr id="64" name="moK2"/>
          <p:cNvSpPr/>
          <p:nvPr/>
        </p:nvSpPr>
        <p:spPr>
          <a:xfrm>
            <a:off x="8268005" y="2779776"/>
            <a:ext cx="1143000" cy="256032"/>
          </a:xfrm>
          <a:prstGeom prst="roundRect">
            <a:avLst>
              <a:gd name="adj" fmla="val 21429"/>
            </a:avLst>
          </a:prstGeom>
          <a:solidFill>
            <a:schemeClr val="accent1">
              <a:alpha val="14000"/>
            </a:schemeClr>
          </a:solidFill>
          <a:ln/>
        </p:spPr>
      </p:sp>
      <p:sp>
        <p:nvSpPr>
          <p:cNvPr id="65" name="moK2T"/>
          <p:cNvSpPr txBox="1"/>
          <p:nvPr/>
        </p:nvSpPr>
        <p:spPr>
          <a:xfrm>
            <a:off x="8268005" y="2779776"/>
            <a:ext cx="1143000" cy="256032"/>
          </a:xfrm>
          <a:prstGeom prst="rect">
            <a:avLst/>
          </a:prstGeom>
          <a:noFill/>
          <a:ln/>
        </p:spPr>
        <p:txBody>
          <a:bodyPr wrap="square" lIns="0" tIns="0" rIns="0" bIns="0" rtlCol="0" anchor="ctr"/>
          <a:lstStyle/>
          <a:p>
            <a:pPr algn="ctr" indent="0" marL="0">
              <a:buNone/>
            </a:pPr>
            <a:r>
              <a:rPr lang="en-US" sz="900" b="1" dirty="0">
                <a:solidFill>
                  <a:schemeClr val="accent1"/>
                </a:solidFill>
              </a:rPr>
              <a:t>REACH</a:t>
            </a:r>
            <a:endParaRPr lang="en-US" sz="900" dirty="0"/>
          </a:p>
        </p:txBody>
      </p:sp>
      <p:sp>
        <p:nvSpPr>
          <p:cNvPr id="66" name="moT2"/>
          <p:cNvSpPr txBox="1"/>
          <p:nvPr/>
        </p:nvSpPr>
        <p:spPr>
          <a:xfrm>
            <a:off x="9529877" y="2697480"/>
            <a:ext cx="2113178" cy="420624"/>
          </a:xfrm>
          <a:prstGeom prst="rect">
            <a:avLst/>
          </a:prstGeom>
          <a:noFill/>
          <a:ln/>
        </p:spPr>
        <p:txBody>
          <a:bodyPr wrap="square" lIns="0" tIns="0" rIns="0" bIns="0" rtlCol="0" anchor="ctr"/>
          <a:lstStyle/>
          <a:p>
            <a:pPr indent="0" marL="0">
              <a:buNone/>
            </a:pPr>
            <a:r>
              <a:rPr lang="en-US" sz="1100" b="1" dirty="0">
                <a:solidFill>
                  <a:schemeClr val="tx1"/>
                </a:solidFill>
              </a:rPr>
              <a:t>Reliance ecosystem</a:t>
            </a:r>
            <a:endParaRPr lang="en-US" sz="1100" dirty="0"/>
          </a:p>
        </p:txBody>
      </p:sp>
      <p:sp>
        <p:nvSpPr>
          <p:cNvPr id="67" name="moA2"/>
          <p:cNvSpPr/>
          <p:nvPr/>
        </p:nvSpPr>
        <p:spPr>
          <a:xfrm>
            <a:off x="8834933" y="3118104"/>
            <a:ext cx="0" cy="128016"/>
          </a:xfrm>
          <a:prstGeom prst="line">
            <a:avLst/>
          </a:prstGeom>
          <a:noFill/>
          <a:ln w="15875">
            <a:solidFill>
              <a:srgbClr val="4A5578"/>
            </a:solidFill>
            <a:prstDash val="solid"/>
            <a:tailEnd type="triangle"/>
          </a:ln>
        </p:spPr>
      </p:sp>
      <p:sp>
        <p:nvSpPr>
          <p:cNvPr id="68" name="mo3"/>
          <p:cNvSpPr/>
          <p:nvPr/>
        </p:nvSpPr>
        <p:spPr>
          <a:xfrm>
            <a:off x="8158277" y="3246120"/>
            <a:ext cx="3576218" cy="420624"/>
          </a:xfrm>
          <a:prstGeom prst="roundRect">
            <a:avLst>
              <a:gd name="adj" fmla="val 17391"/>
            </a:avLst>
          </a:prstGeom>
          <a:solidFill>
            <a:schemeClr val="bg2"/>
          </a:solidFill>
          <a:ln/>
        </p:spPr>
      </p:sp>
      <p:sp>
        <p:nvSpPr>
          <p:cNvPr id="69" name="moK3"/>
          <p:cNvSpPr/>
          <p:nvPr/>
        </p:nvSpPr>
        <p:spPr>
          <a:xfrm>
            <a:off x="8268005" y="3328416"/>
            <a:ext cx="1143000" cy="256032"/>
          </a:xfrm>
          <a:prstGeom prst="roundRect">
            <a:avLst>
              <a:gd name="adj" fmla="val 21429"/>
            </a:avLst>
          </a:prstGeom>
          <a:solidFill>
            <a:schemeClr val="accent1">
              <a:alpha val="14000"/>
            </a:schemeClr>
          </a:solidFill>
          <a:ln/>
        </p:spPr>
      </p:sp>
      <p:sp>
        <p:nvSpPr>
          <p:cNvPr id="70" name="moK3T"/>
          <p:cNvSpPr txBox="1"/>
          <p:nvPr/>
        </p:nvSpPr>
        <p:spPr>
          <a:xfrm>
            <a:off x="8268005" y="3328416"/>
            <a:ext cx="1143000" cy="256032"/>
          </a:xfrm>
          <a:prstGeom prst="rect">
            <a:avLst/>
          </a:prstGeom>
          <a:noFill/>
          <a:ln/>
        </p:spPr>
        <p:txBody>
          <a:bodyPr wrap="square" lIns="0" tIns="0" rIns="0" bIns="0" rtlCol="0" anchor="ctr"/>
          <a:lstStyle/>
          <a:p>
            <a:pPr algn="ctr" indent="0" marL="0">
              <a:buNone/>
            </a:pPr>
            <a:r>
              <a:rPr lang="en-US" sz="900" b="1" dirty="0">
                <a:solidFill>
                  <a:schemeClr val="accent1"/>
                </a:solidFill>
              </a:rPr>
              <a:t>PROTECT</a:t>
            </a:r>
            <a:endParaRPr lang="en-US" sz="900" dirty="0"/>
          </a:p>
        </p:txBody>
      </p:sp>
      <p:sp>
        <p:nvSpPr>
          <p:cNvPr id="71" name="moT3"/>
          <p:cNvSpPr txBox="1"/>
          <p:nvPr/>
        </p:nvSpPr>
        <p:spPr>
          <a:xfrm>
            <a:off x="9529877" y="3246120"/>
            <a:ext cx="2113178" cy="420624"/>
          </a:xfrm>
          <a:prstGeom prst="rect">
            <a:avLst/>
          </a:prstGeom>
          <a:noFill/>
          <a:ln/>
        </p:spPr>
        <p:txBody>
          <a:bodyPr wrap="square" lIns="0" tIns="0" rIns="0" bIns="0" rtlCol="0" anchor="ctr"/>
          <a:lstStyle/>
          <a:p>
            <a:pPr indent="0" marL="0">
              <a:buNone/>
            </a:pPr>
            <a:r>
              <a:rPr lang="en-US" sz="1100" b="1" dirty="0">
                <a:solidFill>
                  <a:schemeClr val="tx1"/>
                </a:solidFill>
              </a:rPr>
              <a:t>JFS + licensed insurers (optional)</a:t>
            </a:r>
            <a:endParaRPr lang="en-US" sz="1100" dirty="0"/>
          </a:p>
        </p:txBody>
      </p:sp>
      <p:sp>
        <p:nvSpPr>
          <p:cNvPr id="72" name="val"/>
          <p:cNvSpPr/>
          <p:nvPr/>
        </p:nvSpPr>
        <p:spPr>
          <a:xfrm>
            <a:off x="8158277" y="3886200"/>
            <a:ext cx="3576218" cy="1719072"/>
          </a:xfrm>
          <a:prstGeom prst="roundRect">
            <a:avLst>
              <a:gd name="adj" fmla="val 4255"/>
            </a:avLst>
          </a:prstGeom>
          <a:solidFill>
            <a:schemeClr val="bg2"/>
          </a:solidFill>
          <a:ln/>
        </p:spPr>
      </p:sp>
      <p:sp>
        <p:nvSpPr>
          <p:cNvPr id="73" name="valH"/>
          <p:cNvSpPr txBox="1"/>
          <p:nvPr/>
        </p:nvSpPr>
        <p:spPr>
          <a:xfrm>
            <a:off x="8341157" y="3959352"/>
            <a:ext cx="3210458" cy="237744"/>
          </a:xfrm>
          <a:prstGeom prst="rect">
            <a:avLst/>
          </a:prstGeom>
          <a:noFill/>
          <a:ln/>
        </p:spPr>
        <p:txBody>
          <a:bodyPr wrap="square" lIns="0" tIns="0" rIns="0" bIns="0" rtlCol="0" anchor="t"/>
          <a:lstStyle/>
          <a:p>
            <a:pPr indent="0" marL="0">
              <a:buNone/>
            </a:pPr>
            <a:r>
              <a:rPr lang="en-US" sz="950" b="1" spc="150" kern="0" dirty="0">
                <a:solidFill>
                  <a:schemeClr val="tx2"/>
                </a:solidFill>
              </a:rPr>
              <a:t>HOW JIO CREATES VALUE</a:t>
            </a:r>
            <a:endParaRPr lang="en-US" sz="1150" dirty="0"/>
          </a:p>
        </p:txBody>
      </p:sp>
      <p:sp>
        <p:nvSpPr>
          <p:cNvPr id="74" name="valN0"/>
          <p:cNvSpPr txBox="1"/>
          <p:nvPr/>
        </p:nvSpPr>
        <p:spPr>
          <a:xfrm>
            <a:off x="8341157" y="4251960"/>
            <a:ext cx="411480" cy="365760"/>
          </a:xfrm>
          <a:prstGeom prst="rect">
            <a:avLst/>
          </a:prstGeom>
          <a:noFill/>
          <a:ln/>
        </p:spPr>
        <p:txBody>
          <a:bodyPr wrap="square" lIns="0" tIns="0" rIns="0" bIns="0" rtlCol="0" anchor="ctr"/>
          <a:lstStyle/>
          <a:p>
            <a:pPr indent="0" marL="0">
              <a:buNone/>
            </a:pPr>
            <a:r>
              <a:rPr lang="en-US" sz="1500" b="1" dirty="0">
                <a:solidFill>
                  <a:schemeClr val="accent1"/>
                </a:solidFill>
                <a:latin typeface="+mj-lt" pitchFamily="34" charset="0"/>
                <a:ea typeface="+mj-lt" pitchFamily="34" charset="-122"/>
                <a:cs typeface="+mj-lt" pitchFamily="34" charset="-120"/>
              </a:rPr>
              <a:t>01</a:t>
            </a:r>
            <a:endParaRPr lang="en-US" sz="1500" dirty="0"/>
          </a:p>
        </p:txBody>
      </p:sp>
      <p:sp>
        <p:nvSpPr>
          <p:cNvPr id="75" name="valT0"/>
          <p:cNvSpPr txBox="1"/>
          <p:nvPr/>
        </p:nvSpPr>
        <p:spPr>
          <a:xfrm>
            <a:off x="8798357" y="4251960"/>
            <a:ext cx="2798978" cy="365760"/>
          </a:xfrm>
          <a:prstGeom prst="rect">
            <a:avLst/>
          </a:prstGeom>
          <a:noFill/>
          <a:ln/>
        </p:spPr>
        <p:txBody>
          <a:bodyPr wrap="square" lIns="0" tIns="0" rIns="0" bIns="0" rtlCol="0" anchor="ctr"/>
          <a:lstStyle/>
          <a:p>
            <a:pPr indent="0" marL="0">
              <a:buNone/>
            </a:pPr>
            <a:r>
              <a:rPr lang="en-US" sz="1100" b="1" dirty="0">
                <a:solidFill>
                  <a:schemeClr val="tx1"/>
                </a:solidFill>
              </a:rPr>
              <a:t>Intelligence fees  </a:t>
            </a:r>
            <a:pPr indent="0" marL="0">
              <a:buNone/>
            </a:pPr>
            <a:r>
              <a:rPr lang="en-US" sz="1000" dirty="0">
                <a:solidFill>
                  <a:schemeClr val="tx2"/>
                </a:solidFill>
              </a:rPr>
              <a:t>External: API, alerts and data</a:t>
            </a:r>
            <a:endParaRPr lang="en-US" sz="1150" dirty="0"/>
          </a:p>
        </p:txBody>
      </p:sp>
      <p:sp>
        <p:nvSpPr>
          <p:cNvPr id="76" name="valN1"/>
          <p:cNvSpPr txBox="1"/>
          <p:nvPr/>
        </p:nvSpPr>
        <p:spPr>
          <a:xfrm>
            <a:off x="8341157" y="4681728"/>
            <a:ext cx="411480" cy="365760"/>
          </a:xfrm>
          <a:prstGeom prst="rect">
            <a:avLst/>
          </a:prstGeom>
          <a:noFill/>
          <a:ln/>
        </p:spPr>
        <p:txBody>
          <a:bodyPr wrap="square" lIns="0" tIns="0" rIns="0" bIns="0" rtlCol="0" anchor="ctr"/>
          <a:lstStyle/>
          <a:p>
            <a:pPr indent="0" marL="0">
              <a:buNone/>
            </a:pPr>
            <a:r>
              <a:rPr lang="en-US" sz="1500" b="1" dirty="0">
                <a:solidFill>
                  <a:schemeClr val="accent3"/>
                </a:solidFill>
                <a:latin typeface="+mj-lt" pitchFamily="34" charset="0"/>
                <a:ea typeface="+mj-lt" pitchFamily="34" charset="-122"/>
                <a:cs typeface="+mj-lt" pitchFamily="34" charset="-120"/>
              </a:rPr>
              <a:t>02</a:t>
            </a:r>
            <a:endParaRPr lang="en-US" sz="1500" dirty="0"/>
          </a:p>
        </p:txBody>
      </p:sp>
      <p:sp>
        <p:nvSpPr>
          <p:cNvPr id="77" name="valT1"/>
          <p:cNvSpPr txBox="1"/>
          <p:nvPr/>
        </p:nvSpPr>
        <p:spPr>
          <a:xfrm>
            <a:off x="8798357" y="4681728"/>
            <a:ext cx="2798978" cy="365760"/>
          </a:xfrm>
          <a:prstGeom prst="rect">
            <a:avLst/>
          </a:prstGeom>
          <a:noFill/>
          <a:ln/>
        </p:spPr>
        <p:txBody>
          <a:bodyPr wrap="square" lIns="0" tIns="0" rIns="0" bIns="0" rtlCol="0" anchor="ctr"/>
          <a:lstStyle/>
          <a:p>
            <a:pPr indent="0" marL="0">
              <a:buNone/>
            </a:pPr>
            <a:r>
              <a:rPr lang="en-US" sz="1100" b="1" dirty="0">
                <a:solidFill>
                  <a:schemeClr val="tx1"/>
                </a:solidFill>
              </a:rPr>
              <a:t>Savings inside Reliance  </a:t>
            </a:r>
            <a:pPr indent="0" marL="0">
              <a:buNone/>
            </a:pPr>
            <a:r>
              <a:rPr lang="en-US" sz="1000" dirty="0">
                <a:solidFill>
                  <a:schemeClr val="tx2"/>
                </a:solidFill>
              </a:rPr>
              <a:t>Internal: network ops, delivery, retail</a:t>
            </a:r>
            <a:endParaRPr lang="en-US" sz="1150" dirty="0"/>
          </a:p>
        </p:txBody>
      </p:sp>
      <p:sp>
        <p:nvSpPr>
          <p:cNvPr id="78" name="valN2"/>
          <p:cNvSpPr txBox="1"/>
          <p:nvPr/>
        </p:nvSpPr>
        <p:spPr>
          <a:xfrm>
            <a:off x="8341157" y="5111496"/>
            <a:ext cx="411480" cy="365760"/>
          </a:xfrm>
          <a:prstGeom prst="rect">
            <a:avLst/>
          </a:prstGeom>
          <a:noFill/>
          <a:ln/>
        </p:spPr>
        <p:txBody>
          <a:bodyPr wrap="square" lIns="0" tIns="0" rIns="0" bIns="0" rtlCol="0" anchor="ctr"/>
          <a:lstStyle/>
          <a:p>
            <a:pPr indent="0" marL="0">
              <a:buNone/>
            </a:pPr>
            <a:r>
              <a:rPr lang="en-US" sz="1500" b="1" dirty="0">
                <a:solidFill>
                  <a:schemeClr val="accent6"/>
                </a:solidFill>
                <a:latin typeface="+mj-lt" pitchFamily="34" charset="0"/>
                <a:ea typeface="+mj-lt" pitchFamily="34" charset="-122"/>
                <a:cs typeface="+mj-lt" pitchFamily="34" charset="-120"/>
              </a:rPr>
              <a:t>03</a:t>
            </a:r>
            <a:endParaRPr lang="en-US" sz="1500" dirty="0"/>
          </a:p>
        </p:txBody>
      </p:sp>
      <p:sp>
        <p:nvSpPr>
          <p:cNvPr id="79" name="valT2"/>
          <p:cNvSpPr txBox="1"/>
          <p:nvPr/>
        </p:nvSpPr>
        <p:spPr>
          <a:xfrm>
            <a:off x="8798357" y="5111496"/>
            <a:ext cx="2798978" cy="365760"/>
          </a:xfrm>
          <a:prstGeom prst="rect">
            <a:avLst/>
          </a:prstGeom>
          <a:noFill/>
          <a:ln/>
        </p:spPr>
        <p:txBody>
          <a:bodyPr wrap="square" lIns="0" tIns="0" rIns="0" bIns="0" rtlCol="0" anchor="ctr"/>
          <a:lstStyle/>
          <a:p>
            <a:pPr indent="0" marL="0">
              <a:buNone/>
            </a:pPr>
            <a:r>
              <a:rPr lang="en-US" sz="1100" b="1" dirty="0">
                <a:solidFill>
                  <a:schemeClr val="tx1"/>
                </a:solidFill>
              </a:rPr>
              <a:t>Distribution fees  </a:t>
            </a:r>
            <a:pPr indent="0" marL="0">
              <a:buNone/>
            </a:pPr>
            <a:r>
              <a:rPr lang="en-US" sz="1000" dirty="0">
                <a:solidFill>
                  <a:schemeClr val="tx2"/>
                </a:solidFill>
              </a:rPr>
              <a:t>Optional: only if Kavach launches</a:t>
            </a:r>
            <a:endParaRPr lang="en-US" sz="1150" dirty="0"/>
          </a:p>
        </p:txBody>
      </p:sp>
      <p:sp>
        <p:nvSpPr>
          <p:cNvPr id="80" name="take3"/>
          <p:cNvSpPr/>
          <p:nvPr/>
        </p:nvSpPr>
        <p:spPr>
          <a:xfrm>
            <a:off x="8158277" y="5715000"/>
            <a:ext cx="3576218" cy="566928"/>
          </a:xfrm>
          <a:prstGeom prst="roundRect">
            <a:avLst>
              <a:gd name="adj" fmla="val 12903"/>
            </a:avLst>
          </a:prstGeom>
          <a:solidFill>
            <a:schemeClr val="tx1"/>
          </a:solidFill>
          <a:ln/>
        </p:spPr>
      </p:sp>
      <p:sp>
        <p:nvSpPr>
          <p:cNvPr id="81" name="take3T"/>
          <p:cNvSpPr txBox="1"/>
          <p:nvPr/>
        </p:nvSpPr>
        <p:spPr>
          <a:xfrm>
            <a:off x="8341157" y="5715000"/>
            <a:ext cx="3210458" cy="566928"/>
          </a:xfrm>
          <a:prstGeom prst="rect">
            <a:avLst/>
          </a:prstGeom>
          <a:noFill/>
          <a:ln/>
        </p:spPr>
        <p:txBody>
          <a:bodyPr wrap="square" lIns="0" tIns="0" rIns="0" bIns="0" rtlCol="0" anchor="ctr"/>
          <a:lstStyle/>
          <a:p>
            <a:pPr indent="0" marL="0">
              <a:buNone/>
            </a:pPr>
            <a:r>
              <a:rPr lang="en-US" sz="1150" b="1" dirty="0">
                <a:solidFill>
                  <a:schemeClr val="accent5"/>
                </a:solidFill>
              </a:rPr>
              <a:t>The business stands even if insurance never launches.</a:t>
            </a:r>
            <a:endParaRPr lang="en-US" sz="1150" dirty="0"/>
          </a:p>
        </p:txBody>
      </p:sp>
      <p:sp>
        <p:nvSpPr>
          <p:cNvPr id="82" name="source"/>
          <p:cNvSpPr txBox="1"/>
          <p:nvPr/>
        </p:nvSpPr>
        <p:spPr>
          <a:xfrm>
            <a:off x="457200" y="6473952"/>
            <a:ext cx="10545775" cy="237744"/>
          </a:xfrm>
          <a:prstGeom prst="rect">
            <a:avLst/>
          </a:prstGeom>
          <a:noFill/>
          <a:ln/>
        </p:spPr>
        <p:txBody>
          <a:bodyPr wrap="square" lIns="0" tIns="0" rIns="0" bIns="0" rtlCol="0" anchor="t"/>
          <a:lstStyle/>
          <a:p>
            <a:pPr indent="0" marL="0">
              <a:buNone/>
            </a:pPr>
            <a:r>
              <a:rPr lang="en-US" sz="950" dirty="0">
                <a:solidFill>
                  <a:schemeClr val="tx2"/>
                </a:solidFill>
              </a:rPr>
              <a:t>Company names are examples of potential buyers, not customers we have spoken to. Jio sells intelligence; each customer owns its decisions.</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457200" y="292608"/>
            <a:ext cx="8229600" cy="237744"/>
          </a:xfrm>
          <a:prstGeom prst="rect">
            <a:avLst/>
          </a:prstGeom>
          <a:noFill/>
          <a:ln/>
        </p:spPr>
        <p:txBody>
          <a:bodyPr wrap="square" lIns="0" tIns="0" rIns="0" bIns="0" rtlCol="0" anchor="t"/>
          <a:lstStyle/>
          <a:p>
            <a:pPr indent="0" marL="0">
              <a:buNone/>
            </a:pPr>
            <a:r>
              <a:rPr lang="en-US" sz="1100" b="1" spc="200" kern="0" dirty="0">
                <a:solidFill>
                  <a:schemeClr val="accent1"/>
                </a:solidFill>
              </a:rPr>
              <a:t>4 · KAVACH, PRICING AND THE ASK</a:t>
            </a:r>
            <a:endParaRPr lang="en-US" sz="1100" dirty="0"/>
          </a:p>
        </p:txBody>
      </p:sp>
      <p:sp>
        <p:nvSpPr>
          <p:cNvPr id="3" name="Text 1"/>
          <p:cNvSpPr/>
          <p:nvPr>
            <p:ph idx="102" type="title" hasCustomPrompt="1"/>
          </p:nvPr>
        </p:nvSpPr>
        <p:spPr>
          <a:xfrm>
            <a:off x="457200" y="566928"/>
            <a:ext cx="11277295" cy="530352"/>
          </a:xfrm>
          <a:prstGeom prst="rect">
            <a:avLst/>
          </a:prstGeom>
          <a:noFill/>
          <a:ln/>
        </p:spPr>
        <p:txBody>
          <a:bodyPr wrap="square" lIns="0" tIns="0" rIns="0" bIns="0" rtlCol="0" anchor="ctr"/>
          <a:lstStyle/>
          <a:p>
            <a:pPr algn="l" indent="0" marL="0">
              <a:buNone/>
            </a:pPr>
            <a:r>
              <a:rPr lang="en-US" sz="2400" b="1" dirty="0">
                <a:solidFill>
                  <a:schemeClr val="tx1"/>
                </a:solidFill>
              </a:rPr>
              <a:t>Insurance comes last. Test the rest in 90 days</a:t>
            </a:r>
            <a:endParaRPr lang="en-US" sz="2400" dirty="0"/>
          </a:p>
        </p:txBody>
      </p:sp>
      <p:sp>
        <p:nvSpPr>
          <p:cNvPr id="4" name="kav"/>
          <p:cNvSpPr/>
          <p:nvPr/>
        </p:nvSpPr>
        <p:spPr>
          <a:xfrm>
            <a:off x="457200" y="1280160"/>
            <a:ext cx="5623560" cy="2194560"/>
          </a:xfrm>
          <a:prstGeom prst="roundRect">
            <a:avLst>
              <a:gd name="adj" fmla="val 3333"/>
            </a:avLst>
          </a:prstGeom>
          <a:solidFill>
            <a:schemeClr val="bg2"/>
          </a:solidFill>
          <a:ln/>
        </p:spPr>
      </p:sp>
      <p:sp>
        <p:nvSpPr>
          <p:cNvPr id="5" name="kavH"/>
          <p:cNvSpPr txBox="1"/>
          <p:nvPr/>
        </p:nvSpPr>
        <p:spPr>
          <a:xfrm>
            <a:off x="640080" y="1371600"/>
            <a:ext cx="5257800" cy="256032"/>
          </a:xfrm>
          <a:prstGeom prst="rect">
            <a:avLst/>
          </a:prstGeom>
          <a:noFill/>
          <a:ln/>
        </p:spPr>
        <p:txBody>
          <a:bodyPr wrap="square" lIns="0" tIns="0" rIns="0" bIns="0" rtlCol="0" anchor="t"/>
          <a:lstStyle/>
          <a:p>
            <a:pPr indent="0" marL="0">
              <a:buNone/>
            </a:pPr>
            <a:r>
              <a:rPr lang="en-US" sz="950" b="1" spc="150" kern="0" dirty="0">
                <a:solidFill>
                  <a:schemeClr val="accent1"/>
                </a:solidFill>
              </a:rPr>
              <a:t>WHERE WE STARTED: MAUSAM KAVACH, ONE APPLICATION, NOT THE ANCHOR</a:t>
            </a:r>
            <a:endParaRPr lang="en-US" sz="1150" dirty="0"/>
          </a:p>
        </p:txBody>
      </p:sp>
      <p:sp>
        <p:nvSpPr>
          <p:cNvPr id="6" name="kf0"/>
          <p:cNvSpPr/>
          <p:nvPr/>
        </p:nvSpPr>
        <p:spPr>
          <a:xfrm>
            <a:off x="640080" y="1719072"/>
            <a:ext cx="1163574" cy="868680"/>
          </a:xfrm>
          <a:prstGeom prst="roundRect">
            <a:avLst>
              <a:gd name="adj" fmla="val 8421"/>
            </a:avLst>
          </a:prstGeom>
          <a:solidFill>
            <a:schemeClr val="bg1"/>
          </a:solidFill>
          <a:ln/>
        </p:spPr>
      </p:sp>
      <p:pic>
        <p:nvPicPr>
          <p:cNvPr id="7" name="kfI0" descr="preencoded.png">    </p:cNvPr>
          <p:cNvPicPr>
            <a:picLocks noChangeAspect="1"/>
          </p:cNvPicPr>
          <p:nvPr/>
        </p:nvPicPr>
        <p:blipFill>
          <a:blip r:embed="rId1"/>
          <a:stretch>
            <a:fillRect/>
          </a:stretch>
        </p:blipFill>
        <p:spPr>
          <a:xfrm>
            <a:off x="1102995" y="1792224"/>
            <a:ext cx="237744" cy="237744"/>
          </a:xfrm>
          <a:prstGeom prst="rect">
            <a:avLst/>
          </a:prstGeom>
        </p:spPr>
      </p:pic>
      <p:sp>
        <p:nvSpPr>
          <p:cNvPr id="8" name="kfT0"/>
          <p:cNvSpPr txBox="1"/>
          <p:nvPr/>
        </p:nvSpPr>
        <p:spPr>
          <a:xfrm>
            <a:off x="694944" y="2057400"/>
            <a:ext cx="1053846" cy="502920"/>
          </a:xfrm>
          <a:prstGeom prst="rect">
            <a:avLst/>
          </a:prstGeom>
          <a:noFill/>
          <a:ln/>
        </p:spPr>
        <p:txBody>
          <a:bodyPr wrap="square" lIns="0" tIns="0" rIns="0" bIns="0" rtlCol="0" anchor="ctr"/>
          <a:lstStyle/>
          <a:p>
            <a:pPr algn="ctr" indent="0" marL="0">
              <a:buNone/>
            </a:pPr>
            <a:r>
              <a:rPr lang="en-US" sz="950" b="1" dirty="0">
                <a:solidFill>
                  <a:schemeClr val="tx1"/>
                </a:solidFill>
              </a:rPr>
              <a:t>Weather event in a zone</a:t>
            </a:r>
            <a:endParaRPr lang="en-US" sz="950" dirty="0"/>
          </a:p>
        </p:txBody>
      </p:sp>
      <p:sp>
        <p:nvSpPr>
          <p:cNvPr id="9" name="kfA0"/>
          <p:cNvSpPr/>
          <p:nvPr/>
        </p:nvSpPr>
        <p:spPr>
          <a:xfrm>
            <a:off x="1821942" y="2148840"/>
            <a:ext cx="164592" cy="0"/>
          </a:xfrm>
          <a:prstGeom prst="line">
            <a:avLst/>
          </a:prstGeom>
          <a:noFill/>
          <a:ln w="15875">
            <a:solidFill>
              <a:srgbClr val="4A5578"/>
            </a:solidFill>
            <a:prstDash val="solid"/>
            <a:tailEnd type="triangle"/>
          </a:ln>
        </p:spPr>
      </p:sp>
      <p:sp>
        <p:nvSpPr>
          <p:cNvPr id="10" name="kf1"/>
          <p:cNvSpPr/>
          <p:nvPr/>
        </p:nvSpPr>
        <p:spPr>
          <a:xfrm>
            <a:off x="2004822" y="1719072"/>
            <a:ext cx="1163574" cy="868680"/>
          </a:xfrm>
          <a:prstGeom prst="roundRect">
            <a:avLst>
              <a:gd name="adj" fmla="val 8421"/>
            </a:avLst>
          </a:prstGeom>
          <a:solidFill>
            <a:schemeClr val="bg1"/>
          </a:solidFill>
          <a:ln/>
        </p:spPr>
      </p:sp>
      <p:pic>
        <p:nvPicPr>
          <p:cNvPr id="11" name="kfI1" descr="preencoded.png">    </p:cNvPr>
          <p:cNvPicPr>
            <a:picLocks noChangeAspect="1"/>
          </p:cNvPicPr>
          <p:nvPr/>
        </p:nvPicPr>
        <p:blipFill>
          <a:blip r:embed="rId2"/>
          <a:stretch>
            <a:fillRect/>
          </a:stretch>
        </p:blipFill>
        <p:spPr>
          <a:xfrm>
            <a:off x="2467737" y="1792224"/>
            <a:ext cx="237744" cy="237744"/>
          </a:xfrm>
          <a:prstGeom prst="rect">
            <a:avLst/>
          </a:prstGeom>
        </p:spPr>
      </p:pic>
      <p:sp>
        <p:nvSpPr>
          <p:cNvPr id="12" name="kfT1"/>
          <p:cNvSpPr txBox="1"/>
          <p:nvPr/>
        </p:nvSpPr>
        <p:spPr>
          <a:xfrm>
            <a:off x="2059686" y="2057400"/>
            <a:ext cx="1053846" cy="502920"/>
          </a:xfrm>
          <a:prstGeom prst="rect">
            <a:avLst/>
          </a:prstGeom>
          <a:noFill/>
          <a:ln/>
        </p:spPr>
        <p:txBody>
          <a:bodyPr wrap="square" lIns="0" tIns="0" rIns="0" bIns="0" rtlCol="0" anchor="ctr"/>
          <a:lstStyle/>
          <a:p>
            <a:pPr algn="ctr" indent="0" marL="0">
              <a:buNone/>
            </a:pPr>
            <a:r>
              <a:rPr lang="en-US" sz="950" b="1" dirty="0">
                <a:solidFill>
                  <a:schemeClr val="tx1"/>
                </a:solidFill>
              </a:rPr>
              <a:t>JioMausam supplies trigger data</a:t>
            </a:r>
            <a:endParaRPr lang="en-US" sz="950" dirty="0"/>
          </a:p>
        </p:txBody>
      </p:sp>
      <p:sp>
        <p:nvSpPr>
          <p:cNvPr id="13" name="kfA1"/>
          <p:cNvSpPr/>
          <p:nvPr/>
        </p:nvSpPr>
        <p:spPr>
          <a:xfrm>
            <a:off x="3186684" y="2148840"/>
            <a:ext cx="164592" cy="0"/>
          </a:xfrm>
          <a:prstGeom prst="line">
            <a:avLst/>
          </a:prstGeom>
          <a:noFill/>
          <a:ln w="15875">
            <a:solidFill>
              <a:srgbClr val="4A5578"/>
            </a:solidFill>
            <a:prstDash val="solid"/>
            <a:tailEnd type="triangle"/>
          </a:ln>
        </p:spPr>
      </p:sp>
      <p:sp>
        <p:nvSpPr>
          <p:cNvPr id="14" name="kf2"/>
          <p:cNvSpPr/>
          <p:nvPr/>
        </p:nvSpPr>
        <p:spPr>
          <a:xfrm>
            <a:off x="3369564" y="1719072"/>
            <a:ext cx="1163574" cy="868680"/>
          </a:xfrm>
          <a:prstGeom prst="roundRect">
            <a:avLst>
              <a:gd name="adj" fmla="val 8421"/>
            </a:avLst>
          </a:prstGeom>
          <a:solidFill>
            <a:schemeClr val="bg1"/>
          </a:solidFill>
          <a:ln/>
        </p:spPr>
      </p:sp>
      <p:pic>
        <p:nvPicPr>
          <p:cNvPr id="15" name="kfI2" descr="preencoded.png">    </p:cNvPr>
          <p:cNvPicPr>
            <a:picLocks noChangeAspect="1"/>
          </p:cNvPicPr>
          <p:nvPr/>
        </p:nvPicPr>
        <p:blipFill>
          <a:blip r:embed="rId3"/>
          <a:stretch>
            <a:fillRect/>
          </a:stretch>
        </p:blipFill>
        <p:spPr>
          <a:xfrm>
            <a:off x="3832479" y="1792224"/>
            <a:ext cx="237744" cy="237744"/>
          </a:xfrm>
          <a:prstGeom prst="rect">
            <a:avLst/>
          </a:prstGeom>
        </p:spPr>
      </p:pic>
      <p:sp>
        <p:nvSpPr>
          <p:cNvPr id="16" name="kfT2"/>
          <p:cNvSpPr txBox="1"/>
          <p:nvPr/>
        </p:nvSpPr>
        <p:spPr>
          <a:xfrm>
            <a:off x="3424428" y="2057400"/>
            <a:ext cx="1053846" cy="502920"/>
          </a:xfrm>
          <a:prstGeom prst="rect">
            <a:avLst/>
          </a:prstGeom>
          <a:noFill/>
          <a:ln/>
        </p:spPr>
        <p:txBody>
          <a:bodyPr wrap="square" lIns="0" tIns="0" rIns="0" bIns="0" rtlCol="0" anchor="ctr"/>
          <a:lstStyle/>
          <a:p>
            <a:pPr algn="ctr" indent="0" marL="0">
              <a:buNone/>
            </a:pPr>
            <a:r>
              <a:rPr lang="en-US" sz="950" b="1" dirty="0">
                <a:solidFill>
                  <a:schemeClr val="tx1"/>
                </a:solidFill>
              </a:rPr>
              <a:t>A licensed insurer would underwrite and pay</a:t>
            </a:r>
            <a:endParaRPr lang="en-US" sz="950" dirty="0"/>
          </a:p>
        </p:txBody>
      </p:sp>
      <p:sp>
        <p:nvSpPr>
          <p:cNvPr id="17" name="kfA2"/>
          <p:cNvSpPr/>
          <p:nvPr/>
        </p:nvSpPr>
        <p:spPr>
          <a:xfrm>
            <a:off x="4551426" y="2148840"/>
            <a:ext cx="164592" cy="0"/>
          </a:xfrm>
          <a:prstGeom prst="line">
            <a:avLst/>
          </a:prstGeom>
          <a:noFill/>
          <a:ln w="15875">
            <a:solidFill>
              <a:srgbClr val="4A5578"/>
            </a:solidFill>
            <a:prstDash val="solid"/>
            <a:tailEnd type="triangle"/>
          </a:ln>
        </p:spPr>
      </p:sp>
      <p:sp>
        <p:nvSpPr>
          <p:cNvPr id="18" name="kf3"/>
          <p:cNvSpPr/>
          <p:nvPr/>
        </p:nvSpPr>
        <p:spPr>
          <a:xfrm>
            <a:off x="4734306" y="1719072"/>
            <a:ext cx="1163574" cy="868680"/>
          </a:xfrm>
          <a:prstGeom prst="roundRect">
            <a:avLst>
              <a:gd name="adj" fmla="val 8421"/>
            </a:avLst>
          </a:prstGeom>
          <a:solidFill>
            <a:schemeClr val="accent1">
              <a:alpha val="14000"/>
            </a:schemeClr>
          </a:solidFill>
          <a:ln/>
        </p:spPr>
      </p:sp>
      <p:pic>
        <p:nvPicPr>
          <p:cNvPr id="19" name="kfI3" descr="preencoded.png">    </p:cNvPr>
          <p:cNvPicPr>
            <a:picLocks noChangeAspect="1"/>
          </p:cNvPicPr>
          <p:nvPr/>
        </p:nvPicPr>
        <p:blipFill>
          <a:blip r:embed="rId4"/>
          <a:stretch>
            <a:fillRect/>
          </a:stretch>
        </p:blipFill>
        <p:spPr>
          <a:xfrm>
            <a:off x="5197221" y="1792224"/>
            <a:ext cx="237744" cy="237744"/>
          </a:xfrm>
          <a:prstGeom prst="rect">
            <a:avLst/>
          </a:prstGeom>
        </p:spPr>
      </p:pic>
      <p:sp>
        <p:nvSpPr>
          <p:cNvPr id="20" name="kfT3"/>
          <p:cNvSpPr txBox="1"/>
          <p:nvPr/>
        </p:nvSpPr>
        <p:spPr>
          <a:xfrm>
            <a:off x="4789170" y="2057400"/>
            <a:ext cx="1053846" cy="502920"/>
          </a:xfrm>
          <a:prstGeom prst="rect">
            <a:avLst/>
          </a:prstGeom>
          <a:noFill/>
          <a:ln/>
        </p:spPr>
        <p:txBody>
          <a:bodyPr wrap="square" lIns="0" tIns="0" rIns="0" bIns="0" rtlCol="0" anchor="ctr"/>
          <a:lstStyle/>
          <a:p>
            <a:pPr algn="ctr" indent="0" marL="0">
              <a:buNone/>
            </a:pPr>
            <a:r>
              <a:rPr lang="en-US" sz="950" b="1" dirty="0">
                <a:solidFill>
                  <a:schemeClr val="tx1"/>
                </a:solidFill>
              </a:rPr>
              <a:t>Fixed benefit, e.g. ₹300 (prototype)</a:t>
            </a:r>
            <a:endParaRPr lang="en-US" sz="950" dirty="0"/>
          </a:p>
        </p:txBody>
      </p:sp>
      <p:sp>
        <p:nvSpPr>
          <p:cNvPr id="21" name="kavWhy"/>
          <p:cNvSpPr txBox="1"/>
          <p:nvPr/>
        </p:nvSpPr>
        <p:spPr>
          <a:xfrm>
            <a:off x="640080" y="2697480"/>
            <a:ext cx="5257800" cy="731520"/>
          </a:xfrm>
          <a:prstGeom prst="rect">
            <a:avLst/>
          </a:prstGeom>
          <a:noFill/>
          <a:ln/>
        </p:spPr>
        <p:txBody>
          <a:bodyPr wrap="square" lIns="0" tIns="0" rIns="0" bIns="0" rtlCol="0" anchor="t"/>
          <a:lstStyle/>
          <a:p>
            <a:pPr indent="0" marL="0">
              <a:buNone/>
            </a:pPr>
            <a:r>
              <a:rPr lang="en-US" sz="1050" b="1" dirty="0">
                <a:solidFill>
                  <a:schemeClr val="accent4"/>
                </a:solidFill>
              </a:rPr>
              <a:t>Why optional: </a:t>
            </a:r>
            <a:pPr indent="0" marL="0">
              <a:buNone/>
            </a:pPr>
            <a:r>
              <a:rPr lang="en-US" sz="1050" dirty="0">
                <a:solidFill>
                  <a:schemeClr val="tx1"/>
                </a:solidFill>
              </a:rPr>
              <a:t>only after the accuracy and actuarial gates (shadow payouts until then) · who pays is still unproven · the insurer carries the risk, never Jio · if it fails, nothing breaks. Eligible = already active in the zone before the event began.</a:t>
            </a:r>
            <a:endParaRPr lang="en-US" sz="1050" dirty="0"/>
          </a:p>
        </p:txBody>
      </p:sp>
      <p:sp>
        <p:nvSpPr>
          <p:cNvPr id="22" name="price"/>
          <p:cNvSpPr/>
          <p:nvPr/>
        </p:nvSpPr>
        <p:spPr>
          <a:xfrm>
            <a:off x="457200" y="3611880"/>
            <a:ext cx="5623560" cy="2697480"/>
          </a:xfrm>
          <a:prstGeom prst="roundRect">
            <a:avLst>
              <a:gd name="adj" fmla="val 2712"/>
            </a:avLst>
          </a:prstGeom>
          <a:solidFill>
            <a:schemeClr val="bg2"/>
          </a:solidFill>
          <a:ln/>
        </p:spPr>
      </p:sp>
      <p:sp>
        <p:nvSpPr>
          <p:cNvPr id="23" name="priceH"/>
          <p:cNvSpPr txBox="1"/>
          <p:nvPr/>
        </p:nvSpPr>
        <p:spPr>
          <a:xfrm>
            <a:off x="640080" y="3703320"/>
            <a:ext cx="5257800" cy="256032"/>
          </a:xfrm>
          <a:prstGeom prst="rect">
            <a:avLst/>
          </a:prstGeom>
          <a:noFill/>
          <a:ln/>
        </p:spPr>
        <p:txBody>
          <a:bodyPr wrap="square" lIns="0" tIns="0" rIns="0" bIns="0" rtlCol="0" anchor="t"/>
          <a:lstStyle/>
          <a:p>
            <a:pPr indent="0" marL="0">
              <a:buNone/>
            </a:pPr>
            <a:r>
              <a:rPr lang="en-US" sz="950" b="1" spc="150" kern="0" dirty="0">
                <a:solidFill>
                  <a:schemeClr val="accent1"/>
                </a:solidFill>
              </a:rPr>
              <a:t>IF WE OFFER IT, WEATHER RISK SETS THE STARTING PRICE</a:t>
            </a:r>
            <a:endParaRPr lang="en-US" sz="1150" dirty="0"/>
          </a:p>
        </p:txBody>
      </p:sp>
      <p:graphicFrame>
        <p:nvGraphicFramePr>
          <p:cNvPr id="5" name="ptable"/>
          <p:cNvGraphicFramePr>
            <a:graphicFrameLocks noGrp="1"/>
          </p:cNvGraphicFramePr>
          <p:nvPr>
            <p:extLst>
              <p:ext uri="{D42A27DB-BD31-4B8C-83A1-F6EECF244321}">
                <p14:modId xmlns:p14="http://schemas.microsoft.com/office/powerpoint/2010/main" val="1579011935"/>
              </p:ext>
            </p:extLst>
          </p:nvPr>
        </p:nvGraphicFramePr>
        <p:xfrm>
          <a:off x="640080" y="4023360"/>
          <a:ext cx="5257800" cy="914400"/>
        </p:xfrm>
        <a:graphic>
          <a:graphicData uri="http://schemas.openxmlformats.org/drawingml/2006/table">
            <a:tbl>
              <a:tblPr/>
              <a:tblGrid>
                <a:gridCol w="1417320"/>
                <a:gridCol w="1508760"/>
                <a:gridCol w="777240"/>
                <a:gridCol w="731520"/>
                <a:gridCol w="822960"/>
              </a:tblGrid>
              <a:tr h="274320">
                <a:tc>
                  <a:txBody>
                    <a:bodyPr/>
                    <a:lstStyle/>
                    <a:p>
                      <a:pPr indent="0" marL="0">
                        <a:buNone/>
                      </a:pPr>
                      <a:r>
                        <a:rPr lang="en-US" sz="950" b="1" dirty="0">
                          <a:solidFill>
                            <a:schemeClr val="accent1"/>
                          </a:solidFill>
                        </a:rPr>
                        <a:t>City · product</a:t>
                      </a:r>
                      <a:endParaRPr lang="en-US" sz="9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b="1" dirty="0">
                          <a:solidFill>
                            <a:schemeClr val="accent1"/>
                          </a:solidFill>
                        </a:rPr>
                        <a:t>Trigger</a:t>
                      </a:r>
                      <a:endParaRPr lang="en-US" sz="9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b="1" dirty="0">
                          <a:solidFill>
                            <a:schemeClr val="accent1"/>
                          </a:solidFill>
                        </a:rPr>
                        <a:t>Days a year</a:t>
                      </a:r>
                      <a:endParaRPr lang="en-US" sz="9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b="1" dirty="0">
                          <a:solidFill>
                            <a:schemeClr val="accent1"/>
                          </a:solidFill>
                        </a:rPr>
                        <a:t>Paid days</a:t>
                      </a:r>
                      <a:endParaRPr lang="en-US" sz="9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b="1" dirty="0">
                          <a:solidFill>
                            <a:schemeClr val="accent1"/>
                          </a:solidFill>
                        </a:rPr>
                        <a:t>₹ a month</a:t>
                      </a:r>
                      <a:endParaRPr lang="en-US" sz="9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274320">
                <a:tc>
                  <a:txBody>
                    <a:bodyPr/>
                    <a:lstStyle/>
                    <a:p>
                      <a:pPr indent="0" marL="0">
                        <a:buNone/>
                      </a:pPr>
                      <a:r>
                        <a:rPr lang="en-US" sz="1050" b="1" dirty="0">
                          <a:solidFill>
                            <a:schemeClr val="tx1"/>
                          </a:solidFill>
                        </a:rPr>
                        <a:t>Mumbai · Basic</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≥204.5 mm rain a day</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1.1</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1.1</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₹45</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274320">
                <a:tc>
                  <a:txBody>
                    <a:bodyPr/>
                    <a:lstStyle/>
                    <a:p>
                      <a:pPr indent="0" marL="0">
                        <a:buNone/>
                      </a:pPr>
                      <a:r>
                        <a:rPr lang="en-US" sz="1050" b="1" dirty="0">
                          <a:solidFill>
                            <a:schemeClr val="tx1"/>
                          </a:solidFill>
                        </a:rPr>
                        <a:t>Nagpur · Basic</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≥47°C</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2.2</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~1.2</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₹52</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274320">
                <a:tc>
                  <a:txBody>
                    <a:bodyPr/>
                    <a:lstStyle/>
                    <a:p>
                      <a:pPr indent="0" marL="0">
                        <a:buNone/>
                      </a:pPr>
                      <a:r>
                        <a:rPr lang="en-US" sz="1050" b="1" dirty="0">
                          <a:solidFill>
                            <a:schemeClr val="tx1"/>
                          </a:solidFill>
                        </a:rPr>
                        <a:t>Ahmedabad · Basic</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≥47°C</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0.7</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~0.6</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b="1" dirty="0">
                          <a:solidFill>
                            <a:schemeClr val="tx1"/>
                          </a:solidFill>
                        </a:rPr>
                        <a:t>₹29 (min)</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274320">
                <a:tc>
                  <a:txBody>
                    <a:bodyPr/>
                    <a:lstStyle/>
                    <a:p>
                      <a:pPr indent="0" marL="0">
                        <a:buNone/>
                      </a:pPr>
                      <a:r>
                        <a:rPr lang="en-US" sz="1050" b="1" dirty="0">
                          <a:solidFill>
                            <a:schemeClr val="tx1"/>
                          </a:solidFill>
                        </a:rPr>
                        <a:t>Mumbai · Plus</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≥64.5 mm rain a day</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11.9</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dirty="0">
                          <a:solidFill>
                            <a:schemeClr val="tx1"/>
                          </a:solidFill>
                        </a:rPr>
                        <a:t>5 (cap)</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1050" b="1" dirty="0">
                          <a:solidFill>
                            <a:schemeClr val="accent1"/>
                          </a:solidFill>
                        </a:rPr>
                        <a:t>₹208</a:t>
                      </a:r>
                      <a:endParaRPr lang="en-US" sz="1050" dirty="0"/>
                    </a:p>
                  </a:txBody>
                  <a:tcPr marL="54864" marR="54864"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bl>
          </a:graphicData>
        </a:graphic>
      </p:graphicFrame>
      <p:sp>
        <p:nvSpPr>
          <p:cNvPr id="25" name="formula"/>
          <p:cNvSpPr txBox="1"/>
          <p:nvPr/>
        </p:nvSpPr>
        <p:spPr>
          <a:xfrm>
            <a:off x="640080" y="5486400"/>
            <a:ext cx="5257800" cy="749808"/>
          </a:xfrm>
          <a:prstGeom prst="rect">
            <a:avLst/>
          </a:prstGeom>
          <a:noFill/>
          <a:ln/>
        </p:spPr>
        <p:txBody>
          <a:bodyPr wrap="square" lIns="0" tIns="0" rIns="0" bIns="0" rtlCol="0" anchor="t"/>
          <a:lstStyle/>
          <a:p>
            <a:pPr indent="0" marL="0">
              <a:buNone/>
            </a:pPr>
            <a:r>
              <a:rPr lang="en-US" sz="1150" b="1" dirty="0">
                <a:solidFill>
                  <a:schemeClr val="accent1"/>
                </a:solidFill>
              </a:rPr>
              <a:t>Price = expected paid days × ₹300 ÷ 60% ÷ 12</a:t>
            </a:r>
            <a:endParaRPr lang="en-US" sz="1150" dirty="0"/>
          </a:p>
          <a:p>
            <a:pPr indent="0" marL="0">
              <a:buNone/>
            </a:pPr>
            <a:r>
              <a:rPr lang="en-US" sz="1000" dirty="0">
                <a:solidFill>
                  <a:schemeClr val="tx2"/>
                </a:solidFill>
              </a:rPr>
              <a:t>25 years of IMD records (2000–24). ₹300 and 60% are prototype assumptions; final pricing after actuarial validation. One flat price can’t fit India’s risks.</a:t>
            </a:r>
            <a:endParaRPr lang="en-US" sz="1150" dirty="0"/>
          </a:p>
        </p:txBody>
      </p:sp>
      <p:sp>
        <p:nvSpPr>
          <p:cNvPr id="26" name="ask"/>
          <p:cNvSpPr/>
          <p:nvPr/>
        </p:nvSpPr>
        <p:spPr>
          <a:xfrm>
            <a:off x="6355080" y="1280160"/>
            <a:ext cx="5379415" cy="3108960"/>
          </a:xfrm>
          <a:prstGeom prst="roundRect">
            <a:avLst>
              <a:gd name="adj" fmla="val 2353"/>
            </a:avLst>
          </a:prstGeom>
          <a:solidFill>
            <a:schemeClr val="accent3">
              <a:alpha val="10000"/>
            </a:schemeClr>
          </a:solidFill>
          <a:ln/>
        </p:spPr>
      </p:sp>
      <p:sp>
        <p:nvSpPr>
          <p:cNvPr id="27" name="askH"/>
          <p:cNvSpPr txBox="1"/>
          <p:nvPr/>
        </p:nvSpPr>
        <p:spPr>
          <a:xfrm>
            <a:off x="6537960" y="1371600"/>
            <a:ext cx="5013655" cy="256032"/>
          </a:xfrm>
          <a:prstGeom prst="rect">
            <a:avLst/>
          </a:prstGeom>
          <a:noFill/>
          <a:ln/>
        </p:spPr>
        <p:txBody>
          <a:bodyPr wrap="square" lIns="0" tIns="0" rIns="0" bIns="0" rtlCol="0" anchor="t"/>
          <a:lstStyle/>
          <a:p>
            <a:pPr indent="0" marL="0">
              <a:buNone/>
            </a:pPr>
            <a:r>
              <a:rPr lang="en-US" sz="950" b="1" spc="150" kern="0" dirty="0">
                <a:solidFill>
                  <a:schemeClr val="accent3"/>
                </a:solidFill>
              </a:rPr>
              <a:t>THE ASK: THREE GATES IN 90 DAYS</a:t>
            </a:r>
            <a:endParaRPr lang="en-US" sz="1150" dirty="0"/>
          </a:p>
        </p:txBody>
      </p:sp>
      <p:sp>
        <p:nvSpPr>
          <p:cNvPr id="28" name="g0"/>
          <p:cNvSpPr/>
          <p:nvPr/>
        </p:nvSpPr>
        <p:spPr>
          <a:xfrm>
            <a:off x="6537960" y="1700784"/>
            <a:ext cx="5013655" cy="658368"/>
          </a:xfrm>
          <a:prstGeom prst="roundRect">
            <a:avLst>
              <a:gd name="adj" fmla="val 11111"/>
            </a:avLst>
          </a:prstGeom>
          <a:solidFill>
            <a:schemeClr val="bg1"/>
          </a:solidFill>
          <a:ln/>
        </p:spPr>
      </p:sp>
      <p:sp>
        <p:nvSpPr>
          <p:cNvPr id="29" name="gH0"/>
          <p:cNvSpPr txBox="1"/>
          <p:nvPr/>
        </p:nvSpPr>
        <p:spPr>
          <a:xfrm>
            <a:off x="6647688" y="1764792"/>
            <a:ext cx="1051560" cy="548640"/>
          </a:xfrm>
          <a:prstGeom prst="rect">
            <a:avLst/>
          </a:prstGeom>
          <a:noFill/>
          <a:ln/>
        </p:spPr>
        <p:txBody>
          <a:bodyPr wrap="square" lIns="0" tIns="0" rIns="0" bIns="0" rtlCol="0" anchor="t"/>
          <a:lstStyle/>
          <a:p>
            <a:pPr indent="0" marL="0">
              <a:buNone/>
            </a:pPr>
            <a:r>
              <a:rPr lang="en-US" sz="850" b="1" spc="100" kern="0" dirty="0">
                <a:solidFill>
                  <a:schemeClr val="tx2"/>
                </a:solidFill>
              </a:rPr>
              <a:t>DAYS 1–30</a:t>
            </a:r>
            <a:endParaRPr lang="en-US" sz="1150" dirty="0"/>
          </a:p>
          <a:p>
            <a:pPr indent="0" marL="0">
              <a:buNone/>
            </a:pPr>
            <a:r>
              <a:rPr lang="en-US" sz="1300" b="1" dirty="0">
                <a:solidFill>
                  <a:schemeClr val="tx1"/>
                </a:solidFill>
                <a:latin typeface="+mj-lt" pitchFamily="34" charset="0"/>
                <a:ea typeface="+mj-lt" pitchFamily="34" charset="-122"/>
                <a:cs typeface="+mj-lt" pitchFamily="34" charset="-120"/>
              </a:rPr>
              <a:t>Coverage</a:t>
            </a:r>
            <a:endParaRPr lang="en-US" sz="1150" dirty="0"/>
          </a:p>
        </p:txBody>
      </p:sp>
      <p:sp>
        <p:nvSpPr>
          <p:cNvPr id="30" name="gT0"/>
          <p:cNvSpPr txBox="1"/>
          <p:nvPr/>
        </p:nvSpPr>
        <p:spPr>
          <a:xfrm>
            <a:off x="7726680" y="1737360"/>
            <a:ext cx="3687775" cy="585216"/>
          </a:xfrm>
          <a:prstGeom prst="rect">
            <a:avLst/>
          </a:prstGeom>
          <a:noFill/>
          <a:ln/>
        </p:spPr>
        <p:txBody>
          <a:bodyPr wrap="square" lIns="0" tIns="0" rIns="0" bIns="0" rtlCol="0" anchor="ctr"/>
          <a:lstStyle/>
          <a:p>
            <a:pPr indent="0" marL="0">
              <a:buNone/>
            </a:pPr>
            <a:r>
              <a:rPr lang="en-US" sz="1000" dirty="0">
                <a:solidFill>
                  <a:schemeClr val="tx2"/>
                </a:solidFill>
              </a:rPr>
              <a:t>Audit Jio’s microwave links and data readiness; the audit picks the live city</a:t>
            </a:r>
            <a:endParaRPr lang="en-US" sz="1150" dirty="0"/>
          </a:p>
          <a:p>
            <a:pPr indent="0" marL="0">
              <a:buNone/>
            </a:pPr>
            <a:r>
              <a:rPr lang="en-US" sz="1000" b="1" dirty="0">
                <a:solidFill>
                  <a:schemeClr val="accent3"/>
                </a:solidFill>
              </a:rPr>
              <a:t>Gate 1: enough usable coverage?</a:t>
            </a:r>
            <a:endParaRPr lang="en-US" sz="1150" dirty="0"/>
          </a:p>
        </p:txBody>
      </p:sp>
      <p:sp>
        <p:nvSpPr>
          <p:cNvPr id="31" name="g1"/>
          <p:cNvSpPr/>
          <p:nvPr/>
        </p:nvSpPr>
        <p:spPr>
          <a:xfrm>
            <a:off x="6537960" y="2441448"/>
            <a:ext cx="5013655" cy="658368"/>
          </a:xfrm>
          <a:prstGeom prst="roundRect">
            <a:avLst>
              <a:gd name="adj" fmla="val 11111"/>
            </a:avLst>
          </a:prstGeom>
          <a:solidFill>
            <a:schemeClr val="bg1"/>
          </a:solidFill>
          <a:ln/>
        </p:spPr>
      </p:sp>
      <p:sp>
        <p:nvSpPr>
          <p:cNvPr id="32" name="gH1"/>
          <p:cNvSpPr txBox="1"/>
          <p:nvPr/>
        </p:nvSpPr>
        <p:spPr>
          <a:xfrm>
            <a:off x="6647688" y="2505456"/>
            <a:ext cx="1051560" cy="548640"/>
          </a:xfrm>
          <a:prstGeom prst="rect">
            <a:avLst/>
          </a:prstGeom>
          <a:noFill/>
          <a:ln/>
        </p:spPr>
        <p:txBody>
          <a:bodyPr wrap="square" lIns="0" tIns="0" rIns="0" bIns="0" rtlCol="0" anchor="t"/>
          <a:lstStyle/>
          <a:p>
            <a:pPr indent="0" marL="0">
              <a:buNone/>
            </a:pPr>
            <a:r>
              <a:rPr lang="en-US" sz="850" b="1" spc="100" kern="0" dirty="0">
                <a:solidFill>
                  <a:schemeClr val="tx2"/>
                </a:solidFill>
              </a:rPr>
              <a:t>DAYS 15–60</a:t>
            </a:r>
            <a:endParaRPr lang="en-US" sz="1150" dirty="0"/>
          </a:p>
          <a:p>
            <a:pPr indent="0" marL="0">
              <a:buNone/>
            </a:pPr>
            <a:r>
              <a:rPr lang="en-US" sz="1300" b="1" dirty="0">
                <a:solidFill>
                  <a:schemeClr val="tx1"/>
                </a:solidFill>
                <a:latin typeface="+mj-lt" pitchFamily="34" charset="0"/>
                <a:ea typeface="+mj-lt" pitchFamily="34" charset="-122"/>
                <a:cs typeface="+mj-lt" pitchFamily="34" charset="-120"/>
              </a:rPr>
              <a:t>Accuracy</a:t>
            </a:r>
            <a:endParaRPr lang="en-US" sz="1150" dirty="0"/>
          </a:p>
        </p:txBody>
      </p:sp>
      <p:sp>
        <p:nvSpPr>
          <p:cNvPr id="33" name="gT1"/>
          <p:cNvSpPr txBox="1"/>
          <p:nvPr/>
        </p:nvSpPr>
        <p:spPr>
          <a:xfrm>
            <a:off x="7726680" y="2478024"/>
            <a:ext cx="3687775" cy="585216"/>
          </a:xfrm>
          <a:prstGeom prst="rect">
            <a:avLst/>
          </a:prstGeom>
          <a:noFill/>
          <a:ln/>
        </p:spPr>
        <p:txBody>
          <a:bodyPr wrap="square" lIns="0" tIns="0" rIns="0" bIns="0" rtlCol="0" anchor="ctr"/>
          <a:lstStyle/>
          <a:p>
            <a:pPr indent="0" marL="0">
              <a:buNone/>
            </a:pPr>
            <a:r>
              <a:rPr lang="en-US" sz="1000" dirty="0">
                <a:solidFill>
                  <a:schemeClr val="tx2"/>
                </a:solidFill>
              </a:rPr>
              <a:t>Back-test archived Mumbai monsoon data against held-out IMD and BMC gauges</a:t>
            </a:r>
            <a:endParaRPr lang="en-US" sz="1150" dirty="0"/>
          </a:p>
          <a:p>
            <a:pPr indent="0" marL="0">
              <a:buNone/>
            </a:pPr>
            <a:r>
              <a:rPr lang="en-US" sz="1000" b="1" dirty="0">
                <a:solidFill>
                  <a:schemeClr val="accent3"/>
                </a:solidFill>
              </a:rPr>
              <a:t>Gate 2: does the fused system clear every gate?</a:t>
            </a:r>
            <a:endParaRPr lang="en-US" sz="1150" dirty="0"/>
          </a:p>
        </p:txBody>
      </p:sp>
      <p:sp>
        <p:nvSpPr>
          <p:cNvPr id="34" name="g2"/>
          <p:cNvSpPr/>
          <p:nvPr/>
        </p:nvSpPr>
        <p:spPr>
          <a:xfrm>
            <a:off x="6537960" y="3182112"/>
            <a:ext cx="5013655" cy="658368"/>
          </a:xfrm>
          <a:prstGeom prst="roundRect">
            <a:avLst>
              <a:gd name="adj" fmla="val 11111"/>
            </a:avLst>
          </a:prstGeom>
          <a:solidFill>
            <a:schemeClr val="bg1"/>
          </a:solidFill>
          <a:ln/>
        </p:spPr>
      </p:sp>
      <p:sp>
        <p:nvSpPr>
          <p:cNvPr id="35" name="gH2"/>
          <p:cNvSpPr txBox="1"/>
          <p:nvPr/>
        </p:nvSpPr>
        <p:spPr>
          <a:xfrm>
            <a:off x="6647688" y="3246120"/>
            <a:ext cx="1051560" cy="548640"/>
          </a:xfrm>
          <a:prstGeom prst="rect">
            <a:avLst/>
          </a:prstGeom>
          <a:noFill/>
          <a:ln/>
        </p:spPr>
        <p:txBody>
          <a:bodyPr wrap="square" lIns="0" tIns="0" rIns="0" bIns="0" rtlCol="0" anchor="t"/>
          <a:lstStyle/>
          <a:p>
            <a:pPr indent="0" marL="0">
              <a:buNone/>
            </a:pPr>
            <a:r>
              <a:rPr lang="en-US" sz="850" b="1" spc="100" kern="0" dirty="0">
                <a:solidFill>
                  <a:schemeClr val="tx2"/>
                </a:solidFill>
              </a:rPr>
              <a:t>DAYS 61–90</a:t>
            </a:r>
            <a:endParaRPr lang="en-US" sz="1150" dirty="0"/>
          </a:p>
          <a:p>
            <a:pPr indent="0" marL="0">
              <a:buNone/>
            </a:pPr>
            <a:r>
              <a:rPr lang="en-US" sz="1300" b="1" dirty="0">
                <a:solidFill>
                  <a:schemeClr val="tx1"/>
                </a:solidFill>
                <a:latin typeface="+mj-lt" pitchFamily="34" charset="0"/>
                <a:ea typeface="+mj-lt" pitchFamily="34" charset="-122"/>
                <a:cs typeface="+mj-lt" pitchFamily="34" charset="-120"/>
              </a:rPr>
              <a:t>Value</a:t>
            </a:r>
            <a:endParaRPr lang="en-US" sz="1150" dirty="0"/>
          </a:p>
        </p:txBody>
      </p:sp>
      <p:sp>
        <p:nvSpPr>
          <p:cNvPr id="36" name="gT2"/>
          <p:cNvSpPr txBox="1"/>
          <p:nvPr/>
        </p:nvSpPr>
        <p:spPr>
          <a:xfrm>
            <a:off x="7726680" y="3218688"/>
            <a:ext cx="3687775" cy="585216"/>
          </a:xfrm>
          <a:prstGeom prst="rect">
            <a:avLst/>
          </a:prstGeom>
          <a:noFill/>
          <a:ln/>
        </p:spPr>
        <p:txBody>
          <a:bodyPr wrap="square" lIns="0" tIns="0" rIns="0" bIns="0" rtlCol="0" anchor="ctr"/>
          <a:lstStyle/>
          <a:p>
            <a:pPr indent="0" marL="0">
              <a:buNone/>
            </a:pPr>
            <a:r>
              <a:rPr lang="en-US" sz="1000" dirty="0">
                <a:solidFill>
                  <a:schemeClr val="tx2"/>
                </a:solidFill>
              </a:rPr>
              <a:t>Live shadow test in one Reliance operation, matched zones with vs without</a:t>
            </a:r>
            <a:endParaRPr lang="en-US" sz="1150" dirty="0"/>
          </a:p>
          <a:p>
            <a:pPr indent="0" marL="0">
              <a:buNone/>
            </a:pPr>
            <a:r>
              <a:rPr lang="en-US" sz="1000" b="1" dirty="0">
                <a:solidFill>
                  <a:schemeClr val="accent3"/>
                </a:solidFill>
              </a:rPr>
              <a:t>Gate 3: does it improve a real operation?</a:t>
            </a:r>
            <a:endParaRPr lang="en-US" sz="1150" dirty="0"/>
          </a:p>
        </p:txBody>
      </p:sp>
      <p:sp>
        <p:nvSpPr>
          <p:cNvPr id="37" name="askStop"/>
          <p:cNvSpPr txBox="1"/>
          <p:nvPr/>
        </p:nvSpPr>
        <p:spPr>
          <a:xfrm>
            <a:off x="6537960" y="3959352"/>
            <a:ext cx="5013655" cy="365760"/>
          </a:xfrm>
          <a:prstGeom prst="rect">
            <a:avLst/>
          </a:prstGeom>
          <a:noFill/>
          <a:ln/>
        </p:spPr>
        <p:txBody>
          <a:bodyPr wrap="square" lIns="0" tIns="0" rIns="0" bIns="0" rtlCol="0" anchor="ctr"/>
          <a:lstStyle/>
          <a:p>
            <a:pPr indent="0" marL="0">
              <a:buNone/>
            </a:pPr>
            <a:r>
              <a:rPr lang="en-US" sz="1100" b="1" dirty="0">
                <a:solidFill>
                  <a:schemeClr val="accent3"/>
                </a:solidFill>
              </a:rPr>
              <a:t>Only after all three gates pass do we scale externally. If not, we stop.</a:t>
            </a:r>
            <a:endParaRPr lang="en-US" sz="1100" dirty="0"/>
          </a:p>
        </p:txBody>
      </p:sp>
      <p:graphicFrame>
        <p:nvGraphicFramePr>
          <p:cNvPr id="9" name="road"/>
          <p:cNvGraphicFramePr>
            <a:graphicFrameLocks noGrp="1"/>
          </p:cNvGraphicFramePr>
          <p:nvPr>
            <p:extLst>
              <p:ext uri="{D42A27DB-BD31-4B8C-83A1-F6EECF244321}">
                <p14:modId xmlns:p14="http://schemas.microsoft.com/office/powerpoint/2010/main" val="1579011935"/>
              </p:ext>
            </p:extLst>
          </p:nvPr>
        </p:nvGraphicFramePr>
        <p:xfrm>
          <a:off x="6355080" y="4507992"/>
          <a:ext cx="5379415" cy="914400"/>
        </p:xfrm>
        <a:graphic>
          <a:graphicData uri="http://schemas.openxmlformats.org/drawingml/2006/table">
            <a:tbl>
              <a:tblPr/>
              <a:tblGrid>
                <a:gridCol w="1143000"/>
                <a:gridCol w="914400"/>
                <a:gridCol w="1325880"/>
                <a:gridCol w="1097280"/>
                <a:gridCol w="898855"/>
              </a:tblGrid>
              <a:tr h="246888">
                <a:tc>
                  <a:txBody>
                    <a:bodyPr/>
                    <a:lstStyle/>
                    <a:p>
                      <a:pPr indent="0" marL="0">
                        <a:buNone/>
                      </a:pP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950" b="1" dirty="0">
                          <a:solidFill>
                            <a:schemeClr val="accent1"/>
                          </a:solidFill>
                        </a:rPr>
                        <a:t>0–3 months</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950" b="1" dirty="0">
                          <a:solidFill>
                            <a:schemeClr val="accent1"/>
                          </a:solidFill>
                        </a:rPr>
                        <a:t>4–12 months</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950" b="1" dirty="0">
                          <a:solidFill>
                            <a:schemeClr val="accent1"/>
                          </a:solidFill>
                        </a:rPr>
                        <a:t>Year 2</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c>
                  <a:txBody>
                    <a:bodyPr/>
                    <a:lstStyle/>
                    <a:p>
                      <a:pPr indent="0" marL="0">
                        <a:buNone/>
                      </a:pPr>
                      <a:r>
                        <a:rPr lang="en-US" sz="950" b="1" dirty="0">
                          <a:solidFill>
                            <a:schemeClr val="accent1"/>
                          </a:solidFill>
                        </a:rPr>
                        <a:t>Year 3</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2"/>
                    </a:solidFill>
                  </a:tcPr>
                </a:tc>
              </a:tr>
              <a:tr h="246888">
                <a:tc>
                  <a:txBody>
                    <a:bodyPr/>
                    <a:lstStyle/>
                    <a:p>
                      <a:pPr indent="0" marL="0">
                        <a:buNone/>
                      </a:pPr>
                      <a:r>
                        <a:rPr lang="en-US" sz="950" b="1" dirty="0">
                          <a:solidFill>
                            <a:schemeClr val="tx2"/>
                          </a:solidFill>
                        </a:rPr>
                        <a:t>Intelligence</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Three gates</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Reliance live + first clients</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Cities + enterprises</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National weather API</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r h="246888">
                <a:tc>
                  <a:txBody>
                    <a:bodyPr/>
                    <a:lstStyle/>
                    <a:p>
                      <a:pPr indent="0" marL="0">
                        <a:buNone/>
                      </a:pPr>
                      <a:r>
                        <a:rPr lang="en-US" sz="950" b="1" dirty="0">
                          <a:solidFill>
                            <a:schemeClr val="tx2"/>
                          </a:solidFill>
                        </a:rPr>
                        <a:t>Kavach (optional)</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Shadow payouts</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Sandbox + heat</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Basic at recharge</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c>
                  <a:txBody>
                    <a:bodyPr/>
                    <a:lstStyle/>
                    <a:p>
                      <a:pPr indent="0" marL="0">
                        <a:buNone/>
                      </a:pPr>
                      <a:r>
                        <a:rPr lang="en-US" sz="950" dirty="0">
                          <a:solidFill>
                            <a:schemeClr val="tx1"/>
                          </a:solidFill>
                        </a:rPr>
                        <a:t>National scale</a:t>
                      </a:r>
                      <a:endParaRPr lang="en-US" sz="950" dirty="0"/>
                    </a:p>
                  </a:txBody>
                  <a:tcPr marL="45720" marR="45720" marT="18288" marB="18288" anchor="ctr">
                    <a:lnL w="9525" cap="flat" cmpd="sng" algn="ctr">
                      <a:solidFill>
                        <a:srgbClr val="E3E6EE"/>
                      </a:solidFill>
                      <a:prstDash val="solid"/>
                      <a:round/>
                      <a:headEnd type="none" w="med" len="med"/>
                      <a:tailEnd type="none" w="med" len="med"/>
                    </a:lnL>
                    <a:lnR w="9525" cap="flat" cmpd="sng" algn="ctr">
                      <a:solidFill>
                        <a:srgbClr val="E3E6EE"/>
                      </a:solidFill>
                      <a:prstDash val="solid"/>
                      <a:round/>
                      <a:headEnd type="none" w="med" len="med"/>
                      <a:tailEnd type="none" w="med" len="med"/>
                    </a:lnR>
                    <a:lnT w="9525" cap="flat" cmpd="sng" algn="ctr">
                      <a:solidFill>
                        <a:srgbClr val="E3E6EE"/>
                      </a:solidFill>
                      <a:prstDash val="solid"/>
                      <a:round/>
                      <a:headEnd type="none" w="med" len="med"/>
                      <a:tailEnd type="none" w="med" len="med"/>
                    </a:lnT>
                    <a:lnB w="9525" cap="flat" cmpd="sng" algn="ctr">
                      <a:solidFill>
                        <a:srgbClr val="E3E6EE"/>
                      </a:solidFill>
                      <a:prstDash val="solid"/>
                      <a:round/>
                      <a:headEnd type="none" w="med" len="med"/>
                      <a:tailEnd type="none" w="med" len="med"/>
                    </a:lnB>
                    <a:solidFill>
                      <a:schemeClr val="bg1"/>
                    </a:solidFill>
                  </a:tcPr>
                </a:tc>
              </a:tr>
            </a:tbl>
          </a:graphicData>
        </a:graphic>
      </p:graphicFrame>
      <p:sp>
        <p:nvSpPr>
          <p:cNvPr id="39" name="close"/>
          <p:cNvSpPr/>
          <p:nvPr/>
        </p:nvSpPr>
        <p:spPr>
          <a:xfrm>
            <a:off x="6355080" y="5349240"/>
            <a:ext cx="5379415" cy="960120"/>
          </a:xfrm>
          <a:prstGeom prst="roundRect">
            <a:avLst>
              <a:gd name="adj" fmla="val 7619"/>
            </a:avLst>
          </a:prstGeom>
          <a:solidFill>
            <a:schemeClr val="tx1"/>
          </a:solidFill>
          <a:ln/>
        </p:spPr>
      </p:sp>
      <p:sp>
        <p:nvSpPr>
          <p:cNvPr id="40" name="closeT"/>
          <p:cNvSpPr txBox="1"/>
          <p:nvPr/>
        </p:nvSpPr>
        <p:spPr>
          <a:xfrm>
            <a:off x="6537960" y="5349240"/>
            <a:ext cx="5013655" cy="960120"/>
          </a:xfrm>
          <a:prstGeom prst="rect">
            <a:avLst/>
          </a:prstGeom>
          <a:noFill/>
          <a:ln/>
        </p:spPr>
        <p:txBody>
          <a:bodyPr wrap="square" lIns="0" tIns="0" rIns="0" bIns="0" rtlCol="0" anchor="ctr"/>
          <a:lstStyle/>
          <a:p>
            <a:pPr indent="0" marL="0">
              <a:buNone/>
            </a:pPr>
            <a:r>
              <a:rPr lang="en-US" sz="1050" dirty="0">
                <a:solidFill>
                  <a:schemeClr val="bg1"/>
                </a:solidFill>
              </a:rPr>
              <a:t>We aren’t asking Jio to build another weather network, just to discover what its existing one can tell us.</a:t>
            </a:r>
            <a:endParaRPr lang="en-US" sz="1150" dirty="0"/>
          </a:p>
          <a:p>
            <a:pPr indent="0" marL="0">
              <a:buNone/>
            </a:pPr>
            <a:r>
              <a:rPr lang="en-US" sz="1300" b="1" dirty="0">
                <a:solidFill>
                  <a:schemeClr val="accent5"/>
                </a:solidFill>
                <a:latin typeface="+mj-lt" pitchFamily="34" charset="0"/>
                <a:ea typeface="+mj-lt" pitchFamily="34" charset="-122"/>
                <a:cs typeface="+mj-lt" pitchFamily="34" charset="-120"/>
              </a:rPr>
              <a:t>First prove the signal. Then sell the intelligence. Protection comes last.</a:t>
            </a:r>
            <a:endParaRPr lang="en-US" sz="1150" dirty="0"/>
          </a:p>
        </p:txBody>
      </p:sp>
      <p:sp>
        <p:nvSpPr>
          <p:cNvPr id="41" name="source"/>
          <p:cNvSpPr txBox="1"/>
          <p:nvPr/>
        </p:nvSpPr>
        <p:spPr>
          <a:xfrm>
            <a:off x="457200" y="6473952"/>
            <a:ext cx="10545775" cy="237744"/>
          </a:xfrm>
          <a:prstGeom prst="rect">
            <a:avLst/>
          </a:prstGeom>
          <a:noFill/>
          <a:ln/>
        </p:spPr>
        <p:txBody>
          <a:bodyPr wrap="square" lIns="0" tIns="0" rIns="0" bIns="0" rtlCol="0" anchor="t"/>
          <a:lstStyle/>
          <a:p>
            <a:pPr indent="0" marL="0">
              <a:buNone/>
            </a:pPr>
            <a:r>
              <a:rPr lang="en-US" sz="950" dirty="0">
                <a:solidFill>
                  <a:schemeClr val="tx2"/>
                </a:solidFill>
              </a:rPr>
              <a:t>IMD station data 2000–2024 (NOAA GSOD) · 5-day annual cap · Gate 3 KPIs: site visits, fault-resolution time, delivery delays, rider availability, incentive spend.</a:t>
            </a:r>
            <a:endParaRPr lang="en-US" sz="950" dirty="0"/>
          </a:p>
        </p:txBody>
      </p:sp>
      <p:sp>
        <p:nvSpPr>
          <p:cNvPr id="25" name="Slide Number Placeholder 0"/>
          <p:cNvSpPr>
            <a:spLocks noGrp="1"/>
          </p:cNvSpPr>
          <p:nvPr>
            <p:ph type="sldNum" sz="quarter" idx="4294967295"/>
          </p:nvPr>
        </p:nvSpPr>
        <p:spPr>
          <a:xfrm>
            <a:off x="11185855" y="6473952"/>
            <a:ext cx="54864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tx2"/>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JioMausam Daylight">
  <a:themeElements>
    <a:clrScheme name="JioMausam Daylight">
      <a:dk1>
        <a:srgbClr val="0B1530"/>
      </a:dk1>
      <a:lt1>
        <a:srgbClr val="FFFFFF"/>
      </a:lt1>
      <a:dk2>
        <a:srgbClr val="4A5578"/>
      </a:dk2>
      <a:lt2>
        <a:srgbClr val="F2F4F8"/>
      </a:lt2>
      <a:accent1>
        <a:srgbClr val="C77700"/>
      </a:accent1>
      <a:accent2>
        <a:srgbClr val="2A78D6"/>
      </a:accent2>
      <a:accent3>
        <a:srgbClr val="14915F"/>
      </a:accent3>
      <a:accent4>
        <a:srgbClr val="C8463D"/>
      </a:accent4>
      <a:accent5>
        <a:srgbClr val="F5A623"/>
      </a:accent5>
      <a:accent6>
        <a:srgbClr val="8A94B0"/>
      </a:accent6>
      <a:hlink>
        <a:srgbClr val="2A78D6"/>
      </a:hlink>
      <a:folHlink>
        <a:srgbClr val="6B4FBB"/>
      </a:folHlink>
    </a:clrScheme>
    <a:fontScheme name="JioMausam Day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JioMausam · 4-slide pitch</dc:title>
  <dc:subject>PptxGenJS Presentation</dc:subject>
  <dc:creator>JioMausam team</dc:creator>
  <cp:lastModifiedBy>JioMausam team</cp:lastModifiedBy>
  <cp:revision>1</cp:revision>
  <dcterms:created xsi:type="dcterms:W3CDTF">2026-10-05T09:19:46Z</dcterms:created>
  <dcterms:modified xsi:type="dcterms:W3CDTF">2026-10-05T09:19:46Z</dcterms:modified>
</cp:coreProperties>
</file>