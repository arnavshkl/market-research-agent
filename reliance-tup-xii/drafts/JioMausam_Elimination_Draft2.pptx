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imination round" id="{2bf64db5-fa64-30cb-a2f5-e87183652745}">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Rainfall (mm)</c:v>
                </c:pt>
              </c:strCache>
            </c:strRef>
          </c:tx>
          <c:spPr>
            <a:solidFill>
              <a:srgbClr val="3987E5"/>
            </a:solidFill>
            <a:effectLst/>
          </c:spPr>
          <c:invertIfNegative val="0"/>
          <c:dLbls>
            <c:numFmt formatCode="0" sourceLinked="0"/>
            <c:txPr>
              <a:bodyPr/>
              <a:lstStyle/>
              <a:p>
                <a:pPr>
                  <a:defRPr b="1" i="0" strike="noStrike" sz="16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3987E5"/>
              </a:solidFill>
              <a:effectLst/>
            </c:spPr>
          </c:dPt>
          <c:dPt>
            <c:idx val="1"/>
            <c:invertIfNegative val="0"/>
            <c:bubble3D val="0"/>
            <c:spPr>
              <a:solidFill>
                <a:srgbClr val="3987E5"/>
              </a:solidFill>
              <a:effectLst/>
            </c:spPr>
          </c:dPt>
          <c:cat>
            <c:multiLvlStrRef>
              <c:f>Sheet1!$A$2:$A$3</c:f>
              <c:multiLvlStrCache>
                <c:ptCount val="2"/>
                <c:lvl>
                  <c:pt idx="0">
                    <c:v>Santacruz</c:v>
                  </c:pt>
                  <c:pt idx="1">
                    <c:v>Colaba</c:v>
                  </c:pt>
                </c:lvl>
              </c:multiLvlStrCache>
            </c:multiLvlStrRef>
          </c:cat>
          <c:val>
            <c:numRef>
              <c:f>Sheet1!$B$2:$B$3</c:f>
              <c:numCache>
                <c:formatCode>General</c:formatCode>
                <c:ptCount val="2"/>
                <c:pt idx="0">
                  <c:v>944</c:v>
                </c:pt>
                <c:pt idx="1">
                  <c:v>73</c:v>
                </c:pt>
              </c:numCache>
            </c:numRef>
          </c:val>
        </c:ser>
        <c:dLbls>
          <c:numFmt formatCode="0" sourceLinked="0"/>
          <c:txPr>
            <a:bodyPr/>
            <a:lstStyle/>
            <a:p>
              <a:pPr>
                <a:defRPr b="1" i="0" strike="noStrike" sz="16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B9C2D8"/>
                </a:solidFill>
                <a:latin typeface="+mn-lt"/>
              </a:defRPr>
            </a:pPr>
            <a:endParaRPr lang="en-US"/>
          </a:p>
        </c:txPr>
        <c:crossAx val="2094734552"/>
        <c:crosses val="autoZero"/>
        <c:auto val="1"/>
        <c:lblAlgn val="ctr"/>
        <c:noMultiLvlLbl val="1"/>
      </c:catAx>
      <c:valAx>
        <c:axId val="2094734552"/>
        <c:scaling>
          <c:orientation val="minMax"/>
          <c:max val="1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Weather radar</c:v>
                </c:pt>
              </c:strCache>
            </c:strRef>
          </c:tx>
          <c:spPr>
            <a:solidFill>
              <a:srgbClr val="D95926"/>
            </a:solidFill>
            <a:ln w="25400"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11 May</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13 May</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15 May</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17 May</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19 May</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Sheet1!$B$2:$B$265</c:f>
              <c:numCache>
                <c:formatCode>General</c:formatCode>
                <c:ptCount val="264"/>
                <c:pt idx="0">
                  <c:v>0.01</c:v>
                </c:pt>
                <c:pt idx="1">
                  <c:v>0.03</c:v>
                </c:pt>
                <c:pt idx="2">
                  <c:v>0.07</c:v>
                </c:pt>
                <c:pt idx="3">
                  <c:v>0.07</c:v>
                </c:pt>
                <c:pt idx="4">
                  <c:v>0.13</c:v>
                </c:pt>
                <c:pt idx="5">
                  <c:v>0.13</c:v>
                </c:pt>
                <c:pt idx="6">
                  <c:v>0.1</c:v>
                </c:pt>
                <c:pt idx="7">
                  <c:v>0.03</c:v>
                </c:pt>
                <c:pt idx="8">
                  <c:v>0.06</c:v>
                </c:pt>
                <c:pt idx="9">
                  <c:v>0.14</c:v>
                </c:pt>
                <c:pt idx="10">
                  <c:v>0.36</c:v>
                </c:pt>
                <c:pt idx="11">
                  <c:v>0.8</c:v>
                </c:pt>
                <c:pt idx="12">
                  <c:v>1.04</c:v>
                </c:pt>
                <c:pt idx="13">
                  <c:v>0.51</c:v>
                </c:pt>
                <c:pt idx="14">
                  <c:v>0.44</c:v>
                </c:pt>
                <c:pt idx="15">
                  <c:v>0.25</c:v>
                </c:pt>
                <c:pt idx="16">
                  <c:v>0.22</c:v>
                </c:pt>
                <c:pt idx="17">
                  <c:v>0.27</c:v>
                </c:pt>
                <c:pt idx="18">
                  <c:v>0.41</c:v>
                </c:pt>
                <c:pt idx="19">
                  <c:v>0.2</c:v>
                </c:pt>
                <c:pt idx="20">
                  <c:v>0.03</c:v>
                </c:pt>
                <c:pt idx="21">
                  <c:v>0.02</c:v>
                </c:pt>
                <c:pt idx="22">
                  <c:v>0.01</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0.01</c:v>
                </c:pt>
                <c:pt idx="65">
                  <c:v>0.03</c:v>
                </c:pt>
                <c:pt idx="66">
                  <c:v>0.03</c:v>
                </c:pt>
                <c:pt idx="67">
                  <c:v>0</c:v>
                </c:pt>
                <c:pt idx="68">
                  <c:v>0.01</c:v>
                </c:pt>
                <c:pt idx="69">
                  <c:v>0.04</c:v>
                </c:pt>
                <c:pt idx="70">
                  <c:v>0.02</c:v>
                </c:pt>
                <c:pt idx="71">
                  <c:v>0.02</c:v>
                </c:pt>
                <c:pt idx="72">
                  <c:v>0</c:v>
                </c:pt>
                <c:pt idx="73">
                  <c:v>0</c:v>
                </c:pt>
                <c:pt idx="74">
                  <c:v>0</c:v>
                </c:pt>
                <c:pt idx="75">
                  <c:v>0</c:v>
                </c:pt>
                <c:pt idx="76">
                  <c:v>0</c:v>
                </c:pt>
                <c:pt idx="77">
                  <c:v>0</c:v>
                </c:pt>
                <c:pt idx="78">
                  <c:v>0.02</c:v>
                </c:pt>
                <c:pt idx="79">
                  <c:v>0.02</c:v>
                </c:pt>
                <c:pt idx="80">
                  <c:v>0.02</c:v>
                </c:pt>
                <c:pt idx="81">
                  <c:v>0</c:v>
                </c:pt>
                <c:pt idx="82">
                  <c:v>0</c:v>
                </c:pt>
                <c:pt idx="83">
                  <c:v>0</c:v>
                </c:pt>
                <c:pt idx="84">
                  <c:v>0.13</c:v>
                </c:pt>
                <c:pt idx="85">
                  <c:v>0.4</c:v>
                </c:pt>
                <c:pt idx="86">
                  <c:v>0.54</c:v>
                </c:pt>
                <c:pt idx="87">
                  <c:v>1.22</c:v>
                </c:pt>
                <c:pt idx="88">
                  <c:v>1.35</c:v>
                </c:pt>
                <c:pt idx="89">
                  <c:v>1.18</c:v>
                </c:pt>
                <c:pt idx="90">
                  <c:v>1.54</c:v>
                </c:pt>
                <c:pt idx="91">
                  <c:v>1.75</c:v>
                </c:pt>
                <c:pt idx="92">
                  <c:v>1.51</c:v>
                </c:pt>
                <c:pt idx="93">
                  <c:v>1.86</c:v>
                </c:pt>
                <c:pt idx="94">
                  <c:v>1.75</c:v>
                </c:pt>
                <c:pt idx="95">
                  <c:v>1.55</c:v>
                </c:pt>
                <c:pt idx="96">
                  <c:v>0.87</c:v>
                </c:pt>
                <c:pt idx="97">
                  <c:v>0.25</c:v>
                </c:pt>
                <c:pt idx="98">
                  <c:v>0.25</c:v>
                </c:pt>
                <c:pt idx="99">
                  <c:v>0.3</c:v>
                </c:pt>
                <c:pt idx="100">
                  <c:v>0.16</c:v>
                </c:pt>
                <c:pt idx="101">
                  <c:v>0.09</c:v>
                </c:pt>
                <c:pt idx="102">
                  <c:v>0.05</c:v>
                </c:pt>
                <c:pt idx="103">
                  <c:v>0.04</c:v>
                </c:pt>
                <c:pt idx="104">
                  <c:v>0.01</c:v>
                </c:pt>
                <c:pt idx="105">
                  <c:v>0.02</c:v>
                </c:pt>
                <c:pt idx="106">
                  <c:v>0.02</c:v>
                </c:pt>
                <c:pt idx="107">
                  <c:v>0.04</c:v>
                </c:pt>
                <c:pt idx="108">
                  <c:v>0.25</c:v>
                </c:pt>
                <c:pt idx="109">
                  <c:v>0.38</c:v>
                </c:pt>
                <c:pt idx="110">
                  <c:v>0.7</c:v>
                </c:pt>
                <c:pt idx="111">
                  <c:v>0.63</c:v>
                </c:pt>
                <c:pt idx="112">
                  <c:v>0.41</c:v>
                </c:pt>
                <c:pt idx="113">
                  <c:v>0.17</c:v>
                </c:pt>
                <c:pt idx="114">
                  <c:v>0.29</c:v>
                </c:pt>
                <c:pt idx="115">
                  <c:v>0.45</c:v>
                </c:pt>
                <c:pt idx="116">
                  <c:v>0.42</c:v>
                </c:pt>
                <c:pt idx="117">
                  <c:v>0.49</c:v>
                </c:pt>
                <c:pt idx="118">
                  <c:v>0.11</c:v>
                </c:pt>
                <c:pt idx="119">
                  <c:v>0</c:v>
                </c:pt>
                <c:pt idx="120">
                  <c:v>0</c:v>
                </c:pt>
                <c:pt idx="121">
                  <c:v>0</c:v>
                </c:pt>
                <c:pt idx="122">
                  <c:v>0</c:v>
                </c:pt>
                <c:pt idx="123">
                  <c:v>0</c:v>
                </c:pt>
                <c:pt idx="124">
                  <c:v>0.01</c:v>
                </c:pt>
                <c:pt idx="125">
                  <c:v>0.03</c:v>
                </c:pt>
                <c:pt idx="126">
                  <c:v>0.03</c:v>
                </c:pt>
                <c:pt idx="127">
                  <c:v>0.05</c:v>
                </c:pt>
                <c:pt idx="128">
                  <c:v>0</c:v>
                </c:pt>
                <c:pt idx="129">
                  <c:v>0</c:v>
                </c:pt>
                <c:pt idx="130">
                  <c:v>0</c:v>
                </c:pt>
                <c:pt idx="131">
                  <c:v>0.03</c:v>
                </c:pt>
                <c:pt idx="132">
                  <c:v>0.15</c:v>
                </c:pt>
                <c:pt idx="133">
                  <c:v>0.12</c:v>
                </c:pt>
                <c:pt idx="134">
                  <c:v>0.18</c:v>
                </c:pt>
                <c:pt idx="135">
                  <c:v>0.25</c:v>
                </c:pt>
                <c:pt idx="136">
                  <c:v>0.38</c:v>
                </c:pt>
                <c:pt idx="137">
                  <c:v>0.36</c:v>
                </c:pt>
                <c:pt idx="138">
                  <c:v>0.13</c:v>
                </c:pt>
                <c:pt idx="139">
                  <c:v>0.03</c:v>
                </c:pt>
                <c:pt idx="140">
                  <c:v>0.02</c:v>
                </c:pt>
                <c:pt idx="141">
                  <c:v>0.05</c:v>
                </c:pt>
                <c:pt idx="142">
                  <c:v>0.1</c:v>
                </c:pt>
                <c:pt idx="143">
                  <c:v>0.27</c:v>
                </c:pt>
                <c:pt idx="144">
                  <c:v>0.53</c:v>
                </c:pt>
                <c:pt idx="145">
                  <c:v>0.8</c:v>
                </c:pt>
                <c:pt idx="146">
                  <c:v>0.97</c:v>
                </c:pt>
                <c:pt idx="147">
                  <c:v>0.88</c:v>
                </c:pt>
                <c:pt idx="148">
                  <c:v>0.73</c:v>
                </c:pt>
                <c:pt idx="149">
                  <c:v>0.35</c:v>
                </c:pt>
                <c:pt idx="150">
                  <c:v>0.13</c:v>
                </c:pt>
                <c:pt idx="151">
                  <c:v>0.05</c:v>
                </c:pt>
                <c:pt idx="152">
                  <c:v>0.12</c:v>
                </c:pt>
                <c:pt idx="153">
                  <c:v>0.11</c:v>
                </c:pt>
                <c:pt idx="154">
                  <c:v>0.06</c:v>
                </c:pt>
                <c:pt idx="155">
                  <c:v>0.24</c:v>
                </c:pt>
                <c:pt idx="156">
                  <c:v>0.32</c:v>
                </c:pt>
                <c:pt idx="157">
                  <c:v>0.54</c:v>
                </c:pt>
                <c:pt idx="158">
                  <c:v>0.74</c:v>
                </c:pt>
                <c:pt idx="159">
                  <c:v>0.63</c:v>
                </c:pt>
                <c:pt idx="160">
                  <c:v>0.44</c:v>
                </c:pt>
                <c:pt idx="161">
                  <c:v>0.26</c:v>
                </c:pt>
                <c:pt idx="162">
                  <c:v>0.17</c:v>
                </c:pt>
                <c:pt idx="163">
                  <c:v>0.15</c:v>
                </c:pt>
                <c:pt idx="164">
                  <c:v>0.23</c:v>
                </c:pt>
                <c:pt idx="165">
                  <c:v>0.33</c:v>
                </c:pt>
                <c:pt idx="166">
                  <c:v>0.63</c:v>
                </c:pt>
                <c:pt idx="167">
                  <c:v>0.46</c:v>
                </c:pt>
                <c:pt idx="168">
                  <c:v>0.61</c:v>
                </c:pt>
                <c:pt idx="169">
                  <c:v>0.47</c:v>
                </c:pt>
                <c:pt idx="170">
                  <c:v>0.49</c:v>
                </c:pt>
                <c:pt idx="171">
                  <c:v>0.24</c:v>
                </c:pt>
                <c:pt idx="172">
                  <c:v>0.29</c:v>
                </c:pt>
                <c:pt idx="173">
                  <c:v>0.36</c:v>
                </c:pt>
                <c:pt idx="174">
                  <c:v>0.19</c:v>
                </c:pt>
                <c:pt idx="175">
                  <c:v>0.07</c:v>
                </c:pt>
                <c:pt idx="176">
                  <c:v>0.04</c:v>
                </c:pt>
                <c:pt idx="177">
                  <c:v>0.04</c:v>
                </c:pt>
                <c:pt idx="178">
                  <c:v>0.04</c:v>
                </c:pt>
                <c:pt idx="179">
                  <c:v>0.04</c:v>
                </c:pt>
                <c:pt idx="180">
                  <c:v>0.01</c:v>
                </c:pt>
                <c:pt idx="181">
                  <c:v>0</c:v>
                </c:pt>
                <c:pt idx="182">
                  <c:v>0</c:v>
                </c:pt>
                <c:pt idx="183">
                  <c:v>0</c:v>
                </c:pt>
                <c:pt idx="184">
                  <c:v>0</c:v>
                </c:pt>
                <c:pt idx="185">
                  <c:v>0</c:v>
                </c:pt>
                <c:pt idx="186">
                  <c:v>0</c:v>
                </c:pt>
                <c:pt idx="187">
                  <c:v>0</c:v>
                </c:pt>
                <c:pt idx="188">
                  <c:v>0</c:v>
                </c:pt>
                <c:pt idx="189">
                  <c:v>0</c:v>
                </c:pt>
                <c:pt idx="190">
                  <c:v>0.01</c:v>
                </c:pt>
                <c:pt idx="191">
                  <c:v>0.01</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0.01</c:v>
                </c:pt>
                <c:pt idx="229">
                  <c:v>0.01</c:v>
                </c:pt>
                <c:pt idx="230">
                  <c:v>0.07</c:v>
                </c:pt>
                <c:pt idx="231">
                  <c:v>0.11</c:v>
                </c:pt>
                <c:pt idx="232">
                  <c:v>0.12</c:v>
                </c:pt>
                <c:pt idx="233">
                  <c:v>0.13</c:v>
                </c:pt>
                <c:pt idx="234">
                  <c:v>0.16</c:v>
                </c:pt>
                <c:pt idx="235">
                  <c:v>0.13</c:v>
                </c:pt>
                <c:pt idx="236">
                  <c:v>0.05</c:v>
                </c:pt>
                <c:pt idx="237">
                  <c:v>0.04</c:v>
                </c:pt>
                <c:pt idx="238">
                  <c:v>0.11</c:v>
                </c:pt>
                <c:pt idx="239">
                  <c:v>0.24</c:v>
                </c:pt>
                <c:pt idx="240">
                  <c:v>0.49</c:v>
                </c:pt>
                <c:pt idx="241">
                  <c:v>0.77</c:v>
                </c:pt>
                <c:pt idx="242">
                  <c:v>0.72</c:v>
                </c:pt>
                <c:pt idx="243">
                  <c:v>0.51</c:v>
                </c:pt>
                <c:pt idx="244">
                  <c:v>0.33</c:v>
                </c:pt>
                <c:pt idx="245">
                  <c:v>0.55</c:v>
                </c:pt>
                <c:pt idx="246">
                  <c:v>0.49</c:v>
                </c:pt>
                <c:pt idx="247">
                  <c:v>0.32</c:v>
                </c:pt>
                <c:pt idx="248">
                  <c:v>0.21</c:v>
                </c:pt>
                <c:pt idx="249">
                  <c:v>0.14</c:v>
                </c:pt>
                <c:pt idx="250">
                  <c:v>0.17</c:v>
                </c:pt>
                <c:pt idx="251">
                  <c:v>0.14</c:v>
                </c:pt>
                <c:pt idx="252">
                  <c:v>0.1</c:v>
                </c:pt>
                <c:pt idx="253">
                  <c:v>0.05</c:v>
                </c:pt>
                <c:pt idx="254">
                  <c:v>0.04</c:v>
                </c:pt>
                <c:pt idx="255">
                  <c:v>0.04</c:v>
                </c:pt>
                <c:pt idx="256">
                  <c:v>0.02</c:v>
                </c:pt>
                <c:pt idx="257">
                  <c:v>0.02</c:v>
                </c:pt>
                <c:pt idx="258">
                  <c:v>0.03</c:v>
                </c:pt>
                <c:pt idx="259">
                  <c:v>0.01</c:v>
                </c:pt>
                <c:pt idx="260">
                  <c:v>0</c:v>
                </c:pt>
                <c:pt idx="261">
                  <c:v>0</c:v>
                </c:pt>
                <c:pt idx="262">
                  <c:v>0</c:v>
                </c:pt>
                <c:pt idx="263">
                  <c:v>0</c:v>
                </c:pt>
              </c:numCache>
            </c:numRef>
          </c:val>
          <c:smooth val="0"/>
        </c:ser>
        <c:ser>
          <c:idx val="1"/>
          <c:order val="1"/>
          <c:tx>
            <c:strRef>
              <c:f>Sheet1!$C$1</c:f>
              <c:strCache>
                <c:ptCount val="1"/>
                <c:pt idx="0">
                  <c:v>Rain from the 500 links</c:v>
                </c:pt>
              </c:strCache>
            </c:strRef>
          </c:tx>
          <c:spPr>
            <a:solidFill>
              <a:srgbClr val="3987E5"/>
            </a:solidFill>
            <a:ln w="25400"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11 May</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13 May</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15 May</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17 May</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19 May</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Sheet1!$C$2:$C$265</c:f>
              <c:numCache>
                <c:formatCode>General</c:formatCode>
                <c:ptCount val="264"/>
                <c:pt idx="0">
                  <c:v>0.01</c:v>
                </c:pt>
                <c:pt idx="1">
                  <c:v>0.05</c:v>
                </c:pt>
                <c:pt idx="2">
                  <c:v>0.07</c:v>
                </c:pt>
                <c:pt idx="3">
                  <c:v>0.09</c:v>
                </c:pt>
                <c:pt idx="4">
                  <c:v>0.1</c:v>
                </c:pt>
                <c:pt idx="5">
                  <c:v>0.08</c:v>
                </c:pt>
                <c:pt idx="6">
                  <c:v>0.05</c:v>
                </c:pt>
                <c:pt idx="7">
                  <c:v>0.02</c:v>
                </c:pt>
                <c:pt idx="8">
                  <c:v>0.05</c:v>
                </c:pt>
                <c:pt idx="9">
                  <c:v>0.09</c:v>
                </c:pt>
                <c:pt idx="10">
                  <c:v>0.37</c:v>
                </c:pt>
                <c:pt idx="11">
                  <c:v>0.63</c:v>
                </c:pt>
                <c:pt idx="12">
                  <c:v>0.75</c:v>
                </c:pt>
                <c:pt idx="13">
                  <c:v>0.55</c:v>
                </c:pt>
                <c:pt idx="14">
                  <c:v>0.54</c:v>
                </c:pt>
                <c:pt idx="15">
                  <c:v>0.33</c:v>
                </c:pt>
                <c:pt idx="16">
                  <c:v>0.29</c:v>
                </c:pt>
                <c:pt idx="17">
                  <c:v>0.38</c:v>
                </c:pt>
                <c:pt idx="18">
                  <c:v>0.41</c:v>
                </c:pt>
                <c:pt idx="19">
                  <c:v>0.17</c:v>
                </c:pt>
                <c:pt idx="20">
                  <c:v>0.03</c:v>
                </c:pt>
                <c:pt idx="21">
                  <c:v>0.01</c:v>
                </c:pt>
                <c:pt idx="22">
                  <c:v>0.01</c:v>
                </c:pt>
                <c:pt idx="23">
                  <c:v>0</c:v>
                </c:pt>
                <c:pt idx="24">
                  <c:v>0</c:v>
                </c:pt>
                <c:pt idx="25">
                  <c:v>0</c:v>
                </c:pt>
                <c:pt idx="26">
                  <c:v>0.01</c:v>
                </c:pt>
                <c:pt idx="27">
                  <c:v>0</c:v>
                </c:pt>
                <c:pt idx="28">
                  <c:v>0</c:v>
                </c:pt>
                <c:pt idx="29">
                  <c:v>0</c:v>
                </c:pt>
                <c:pt idx="30">
                  <c:v>0</c:v>
                </c:pt>
                <c:pt idx="31">
                  <c:v>0</c:v>
                </c:pt>
                <c:pt idx="32">
                  <c:v>0</c:v>
                </c:pt>
                <c:pt idx="33">
                  <c:v>0</c:v>
                </c:pt>
                <c:pt idx="34">
                  <c:v>0.01</c:v>
                </c:pt>
                <c:pt idx="35">
                  <c:v>0.01</c:v>
                </c:pt>
                <c:pt idx="36">
                  <c:v>0.01</c:v>
                </c:pt>
                <c:pt idx="37">
                  <c:v>0</c:v>
                </c:pt>
                <c:pt idx="38">
                  <c:v>0</c:v>
                </c:pt>
                <c:pt idx="39">
                  <c:v>0</c:v>
                </c:pt>
                <c:pt idx="40">
                  <c:v>0</c:v>
                </c:pt>
                <c:pt idx="41">
                  <c:v>0</c:v>
                </c:pt>
                <c:pt idx="42">
                  <c:v>0</c:v>
                </c:pt>
                <c:pt idx="43">
                  <c:v>0</c:v>
                </c:pt>
                <c:pt idx="44">
                  <c:v>0.01</c:v>
                </c:pt>
                <c:pt idx="45">
                  <c:v>0.01</c:v>
                </c:pt>
                <c:pt idx="46">
                  <c:v>0</c:v>
                </c:pt>
                <c:pt idx="47">
                  <c:v>0.01</c:v>
                </c:pt>
                <c:pt idx="48">
                  <c:v>0.01</c:v>
                </c:pt>
                <c:pt idx="49">
                  <c:v>0.02</c:v>
                </c:pt>
                <c:pt idx="50">
                  <c:v>0.02</c:v>
                </c:pt>
                <c:pt idx="51">
                  <c:v>0.02</c:v>
                </c:pt>
                <c:pt idx="52">
                  <c:v>0.03</c:v>
                </c:pt>
                <c:pt idx="53">
                  <c:v>0.04</c:v>
                </c:pt>
                <c:pt idx="54">
                  <c:v>0.01</c:v>
                </c:pt>
                <c:pt idx="55">
                  <c:v>0.01</c:v>
                </c:pt>
                <c:pt idx="56">
                  <c:v>0</c:v>
                </c:pt>
                <c:pt idx="57">
                  <c:v>0</c:v>
                </c:pt>
                <c:pt idx="58">
                  <c:v>0.01</c:v>
                </c:pt>
                <c:pt idx="59">
                  <c:v>0.01</c:v>
                </c:pt>
                <c:pt idx="60">
                  <c:v>0.01</c:v>
                </c:pt>
                <c:pt idx="61">
                  <c:v>0.01</c:v>
                </c:pt>
                <c:pt idx="62">
                  <c:v>0.01</c:v>
                </c:pt>
                <c:pt idx="63">
                  <c:v>0</c:v>
                </c:pt>
                <c:pt idx="64">
                  <c:v>0</c:v>
                </c:pt>
                <c:pt idx="65">
                  <c:v>0.01</c:v>
                </c:pt>
                <c:pt idx="66">
                  <c:v>0.01</c:v>
                </c:pt>
                <c:pt idx="67">
                  <c:v>0</c:v>
                </c:pt>
                <c:pt idx="68">
                  <c:v>0.01</c:v>
                </c:pt>
                <c:pt idx="69">
                  <c:v>0.04</c:v>
                </c:pt>
                <c:pt idx="70">
                  <c:v>0.02</c:v>
                </c:pt>
                <c:pt idx="71">
                  <c:v>0.02</c:v>
                </c:pt>
                <c:pt idx="72">
                  <c:v>0.01</c:v>
                </c:pt>
                <c:pt idx="73">
                  <c:v>0.01</c:v>
                </c:pt>
                <c:pt idx="74">
                  <c:v>0</c:v>
                </c:pt>
                <c:pt idx="75">
                  <c:v>0</c:v>
                </c:pt>
                <c:pt idx="76">
                  <c:v>0</c:v>
                </c:pt>
                <c:pt idx="77">
                  <c:v>0.01</c:v>
                </c:pt>
                <c:pt idx="78">
                  <c:v>0.02</c:v>
                </c:pt>
                <c:pt idx="79">
                  <c:v>0.02</c:v>
                </c:pt>
                <c:pt idx="80">
                  <c:v>0.03</c:v>
                </c:pt>
                <c:pt idx="81">
                  <c:v>0.01</c:v>
                </c:pt>
                <c:pt idx="82">
                  <c:v>0.01</c:v>
                </c:pt>
                <c:pt idx="83">
                  <c:v>0.02</c:v>
                </c:pt>
                <c:pt idx="84">
                  <c:v>0.1</c:v>
                </c:pt>
                <c:pt idx="85">
                  <c:v>0.22</c:v>
                </c:pt>
                <c:pt idx="86">
                  <c:v>0.43</c:v>
                </c:pt>
                <c:pt idx="87">
                  <c:v>0.82</c:v>
                </c:pt>
                <c:pt idx="88">
                  <c:v>0.99</c:v>
                </c:pt>
                <c:pt idx="89">
                  <c:v>1.11</c:v>
                </c:pt>
                <c:pt idx="90">
                  <c:v>1.43</c:v>
                </c:pt>
                <c:pt idx="91">
                  <c:v>1.51</c:v>
                </c:pt>
                <c:pt idx="92">
                  <c:v>1.55</c:v>
                </c:pt>
                <c:pt idx="93">
                  <c:v>1.92</c:v>
                </c:pt>
                <c:pt idx="94">
                  <c:v>1.86</c:v>
                </c:pt>
                <c:pt idx="95">
                  <c:v>1.16</c:v>
                </c:pt>
                <c:pt idx="96">
                  <c:v>0.64</c:v>
                </c:pt>
                <c:pt idx="97">
                  <c:v>0.16</c:v>
                </c:pt>
                <c:pt idx="98">
                  <c:v>0.13</c:v>
                </c:pt>
                <c:pt idx="99">
                  <c:v>0.23</c:v>
                </c:pt>
                <c:pt idx="100">
                  <c:v>0.08</c:v>
                </c:pt>
                <c:pt idx="101">
                  <c:v>0.05</c:v>
                </c:pt>
                <c:pt idx="102">
                  <c:v>0.05</c:v>
                </c:pt>
                <c:pt idx="103">
                  <c:v>0.02</c:v>
                </c:pt>
                <c:pt idx="104">
                  <c:v>0.01</c:v>
                </c:pt>
                <c:pt idx="105">
                  <c:v>0.01</c:v>
                </c:pt>
                <c:pt idx="106">
                  <c:v>0.02</c:v>
                </c:pt>
                <c:pt idx="107">
                  <c:v>0.03</c:v>
                </c:pt>
                <c:pt idx="108">
                  <c:v>0.22</c:v>
                </c:pt>
                <c:pt idx="109">
                  <c:v>0.48</c:v>
                </c:pt>
                <c:pt idx="110">
                  <c:v>0.56</c:v>
                </c:pt>
                <c:pt idx="111">
                  <c:v>0.43</c:v>
                </c:pt>
                <c:pt idx="112">
                  <c:v>0.3</c:v>
                </c:pt>
                <c:pt idx="113">
                  <c:v>0.19</c:v>
                </c:pt>
                <c:pt idx="114">
                  <c:v>0.25</c:v>
                </c:pt>
                <c:pt idx="115">
                  <c:v>0.5</c:v>
                </c:pt>
                <c:pt idx="116">
                  <c:v>0.44</c:v>
                </c:pt>
                <c:pt idx="117">
                  <c:v>0.44</c:v>
                </c:pt>
                <c:pt idx="118">
                  <c:v>0.07</c:v>
                </c:pt>
                <c:pt idx="119">
                  <c:v>0.02</c:v>
                </c:pt>
                <c:pt idx="120">
                  <c:v>0.01</c:v>
                </c:pt>
                <c:pt idx="121">
                  <c:v>0.01</c:v>
                </c:pt>
                <c:pt idx="122">
                  <c:v>0.01</c:v>
                </c:pt>
                <c:pt idx="123">
                  <c:v>0.01</c:v>
                </c:pt>
                <c:pt idx="124">
                  <c:v>0.01</c:v>
                </c:pt>
                <c:pt idx="125">
                  <c:v>0.02</c:v>
                </c:pt>
                <c:pt idx="126">
                  <c:v>0.04</c:v>
                </c:pt>
                <c:pt idx="127">
                  <c:v>0.05</c:v>
                </c:pt>
                <c:pt idx="128">
                  <c:v>0.01</c:v>
                </c:pt>
                <c:pt idx="129">
                  <c:v>0.02</c:v>
                </c:pt>
                <c:pt idx="130">
                  <c:v>0.02</c:v>
                </c:pt>
                <c:pt idx="131">
                  <c:v>0.07</c:v>
                </c:pt>
                <c:pt idx="132">
                  <c:v>0.17</c:v>
                </c:pt>
                <c:pt idx="133">
                  <c:v>0.12</c:v>
                </c:pt>
                <c:pt idx="134">
                  <c:v>0.19</c:v>
                </c:pt>
                <c:pt idx="135">
                  <c:v>0.31</c:v>
                </c:pt>
                <c:pt idx="136">
                  <c:v>0.32</c:v>
                </c:pt>
                <c:pt idx="137">
                  <c:v>0.3</c:v>
                </c:pt>
                <c:pt idx="138">
                  <c:v>0.09</c:v>
                </c:pt>
                <c:pt idx="139">
                  <c:v>0.01</c:v>
                </c:pt>
                <c:pt idx="140">
                  <c:v>0.01</c:v>
                </c:pt>
                <c:pt idx="141">
                  <c:v>0.02</c:v>
                </c:pt>
                <c:pt idx="142">
                  <c:v>0.03</c:v>
                </c:pt>
                <c:pt idx="143">
                  <c:v>0.13</c:v>
                </c:pt>
                <c:pt idx="144">
                  <c:v>0.25</c:v>
                </c:pt>
                <c:pt idx="145">
                  <c:v>0.39</c:v>
                </c:pt>
                <c:pt idx="146">
                  <c:v>0.48</c:v>
                </c:pt>
                <c:pt idx="147">
                  <c:v>0.45</c:v>
                </c:pt>
                <c:pt idx="148">
                  <c:v>0.33</c:v>
                </c:pt>
                <c:pt idx="149">
                  <c:v>0.16</c:v>
                </c:pt>
                <c:pt idx="150">
                  <c:v>0.1</c:v>
                </c:pt>
                <c:pt idx="151">
                  <c:v>0.1</c:v>
                </c:pt>
                <c:pt idx="152">
                  <c:v>0.14</c:v>
                </c:pt>
                <c:pt idx="153">
                  <c:v>0.09</c:v>
                </c:pt>
                <c:pt idx="154">
                  <c:v>0.12</c:v>
                </c:pt>
                <c:pt idx="155">
                  <c:v>0.31</c:v>
                </c:pt>
                <c:pt idx="156">
                  <c:v>0.42</c:v>
                </c:pt>
                <c:pt idx="157">
                  <c:v>0.61</c:v>
                </c:pt>
                <c:pt idx="158">
                  <c:v>0.85</c:v>
                </c:pt>
                <c:pt idx="159">
                  <c:v>0.71</c:v>
                </c:pt>
                <c:pt idx="160">
                  <c:v>0.37</c:v>
                </c:pt>
                <c:pt idx="161">
                  <c:v>0.22</c:v>
                </c:pt>
                <c:pt idx="162">
                  <c:v>0.16</c:v>
                </c:pt>
                <c:pt idx="163">
                  <c:v>0.13</c:v>
                </c:pt>
                <c:pt idx="164">
                  <c:v>0.19</c:v>
                </c:pt>
                <c:pt idx="165">
                  <c:v>0.34</c:v>
                </c:pt>
                <c:pt idx="166">
                  <c:v>0.66</c:v>
                </c:pt>
                <c:pt idx="167">
                  <c:v>0.41</c:v>
                </c:pt>
                <c:pt idx="168">
                  <c:v>0.65</c:v>
                </c:pt>
                <c:pt idx="169">
                  <c:v>0.59</c:v>
                </c:pt>
                <c:pt idx="170">
                  <c:v>0.61</c:v>
                </c:pt>
                <c:pt idx="171">
                  <c:v>0.29</c:v>
                </c:pt>
                <c:pt idx="172">
                  <c:v>0.34</c:v>
                </c:pt>
                <c:pt idx="173">
                  <c:v>0.29</c:v>
                </c:pt>
                <c:pt idx="174">
                  <c:v>0.17</c:v>
                </c:pt>
                <c:pt idx="175">
                  <c:v>0.05</c:v>
                </c:pt>
                <c:pt idx="176">
                  <c:v>0.06</c:v>
                </c:pt>
                <c:pt idx="177">
                  <c:v>0.05</c:v>
                </c:pt>
                <c:pt idx="178">
                  <c:v>0.06</c:v>
                </c:pt>
                <c:pt idx="179">
                  <c:v>0.05</c:v>
                </c:pt>
                <c:pt idx="180">
                  <c:v>0.03</c:v>
                </c:pt>
                <c:pt idx="181">
                  <c:v>0.01</c:v>
                </c:pt>
                <c:pt idx="182">
                  <c:v>0</c:v>
                </c:pt>
                <c:pt idx="183">
                  <c:v>0.01</c:v>
                </c:pt>
                <c:pt idx="184">
                  <c:v>0</c:v>
                </c:pt>
                <c:pt idx="185">
                  <c:v>0</c:v>
                </c:pt>
                <c:pt idx="186">
                  <c:v>0</c:v>
                </c:pt>
                <c:pt idx="187">
                  <c:v>0</c:v>
                </c:pt>
                <c:pt idx="188">
                  <c:v>0.01</c:v>
                </c:pt>
                <c:pt idx="189">
                  <c:v>0.01</c:v>
                </c:pt>
                <c:pt idx="190">
                  <c:v>0.01</c:v>
                </c:pt>
                <c:pt idx="191">
                  <c:v>0.01</c:v>
                </c:pt>
                <c:pt idx="192">
                  <c:v>0.01</c:v>
                </c:pt>
                <c:pt idx="193">
                  <c:v>0</c:v>
                </c:pt>
                <c:pt idx="194">
                  <c:v>0.01</c:v>
                </c:pt>
                <c:pt idx="195">
                  <c:v>0</c:v>
                </c:pt>
                <c:pt idx="196">
                  <c:v>0</c:v>
                </c:pt>
                <c:pt idx="197">
                  <c:v>0</c:v>
                </c:pt>
                <c:pt idx="198">
                  <c:v>0.01</c:v>
                </c:pt>
                <c:pt idx="199">
                  <c:v>0</c:v>
                </c:pt>
                <c:pt idx="200">
                  <c:v>0</c:v>
                </c:pt>
                <c:pt idx="201">
                  <c:v>0</c:v>
                </c:pt>
                <c:pt idx="202">
                  <c:v>0</c:v>
                </c:pt>
                <c:pt idx="203">
                  <c:v>0</c:v>
                </c:pt>
                <c:pt idx="204">
                  <c:v>0</c:v>
                </c:pt>
                <c:pt idx="205">
                  <c:v>0.01</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0.01</c:v>
                </c:pt>
                <c:pt idx="221">
                  <c:v>0.01</c:v>
                </c:pt>
                <c:pt idx="222">
                  <c:v>0</c:v>
                </c:pt>
                <c:pt idx="223">
                  <c:v>0</c:v>
                </c:pt>
                <c:pt idx="224">
                  <c:v>0</c:v>
                </c:pt>
                <c:pt idx="225">
                  <c:v>0</c:v>
                </c:pt>
                <c:pt idx="226">
                  <c:v>0</c:v>
                </c:pt>
                <c:pt idx="227">
                  <c:v>0.01</c:v>
                </c:pt>
                <c:pt idx="228">
                  <c:v>0.01</c:v>
                </c:pt>
                <c:pt idx="229">
                  <c:v>0.01</c:v>
                </c:pt>
                <c:pt idx="230">
                  <c:v>0.09</c:v>
                </c:pt>
                <c:pt idx="231">
                  <c:v>0.1</c:v>
                </c:pt>
                <c:pt idx="232">
                  <c:v>0.08</c:v>
                </c:pt>
                <c:pt idx="233">
                  <c:v>0.12</c:v>
                </c:pt>
                <c:pt idx="234">
                  <c:v>0.09</c:v>
                </c:pt>
                <c:pt idx="235">
                  <c:v>0.08</c:v>
                </c:pt>
                <c:pt idx="236">
                  <c:v>0.04</c:v>
                </c:pt>
                <c:pt idx="237">
                  <c:v>0.05</c:v>
                </c:pt>
                <c:pt idx="238">
                  <c:v>0.07</c:v>
                </c:pt>
                <c:pt idx="239">
                  <c:v>0.1</c:v>
                </c:pt>
                <c:pt idx="240">
                  <c:v>0.2</c:v>
                </c:pt>
                <c:pt idx="241">
                  <c:v>0.23</c:v>
                </c:pt>
                <c:pt idx="242">
                  <c:v>0.33</c:v>
                </c:pt>
                <c:pt idx="243">
                  <c:v>0.26</c:v>
                </c:pt>
                <c:pt idx="244">
                  <c:v>0.1</c:v>
                </c:pt>
                <c:pt idx="245">
                  <c:v>0.22</c:v>
                </c:pt>
                <c:pt idx="246">
                  <c:v>0.17</c:v>
                </c:pt>
                <c:pt idx="247">
                  <c:v>0.12</c:v>
                </c:pt>
                <c:pt idx="248">
                  <c:v>0.08</c:v>
                </c:pt>
                <c:pt idx="249">
                  <c:v>0.04</c:v>
                </c:pt>
                <c:pt idx="250">
                  <c:v>0.07</c:v>
                </c:pt>
                <c:pt idx="251">
                  <c:v>0.06</c:v>
                </c:pt>
                <c:pt idx="252">
                  <c:v>0.06</c:v>
                </c:pt>
                <c:pt idx="253">
                  <c:v>0.03</c:v>
                </c:pt>
                <c:pt idx="254">
                  <c:v>0.01</c:v>
                </c:pt>
                <c:pt idx="255">
                  <c:v>0.02</c:v>
                </c:pt>
                <c:pt idx="256">
                  <c:v>0.02</c:v>
                </c:pt>
                <c:pt idx="257">
                  <c:v>0.01</c:v>
                </c:pt>
                <c:pt idx="258">
                  <c:v>0.01</c:v>
                </c:pt>
                <c:pt idx="259">
                  <c:v>0.02</c:v>
                </c:pt>
                <c:pt idx="260">
                  <c:v>0.02</c:v>
                </c:pt>
                <c:pt idx="261">
                  <c:v>0.01</c:v>
                </c:pt>
                <c:pt idx="262">
                  <c:v>0.01</c:v>
                </c:pt>
                <c:pt idx="263">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8A2C0"/>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2A3357"/>
              </a:solidFill>
              <a:prstDash val="solid"/>
              <a:round/>
            </a:ln>
          </c:spPr>
        </c:majorGridlines>
        <c:title>
          <c:tx>
            <c:rich>
              <a:bodyPr/>
              <a:lstStyle/>
              <a:p>
                <a:pPr>
                  <a:defRPr sz="1200" b="0" i="0" u="none" strike="noStrike">
                    <a:solidFill>
                      <a:srgbClr val="98A2C0"/>
                    </a:solidFill>
                    <a:latin typeface="+mn-lt"/>
                  </a:defRPr>
                </a:pPr>
                <a:r>
                  <a:rPr sz="1200" b="0" i="0" u="none" strike="noStrike">
                    <a:solidFill>
                      <a:srgbClr val="98A2C0"/>
                    </a:solidFill>
                    <a:latin typeface="+mn-lt"/>
                  </a:rPr>
                  <a:t>mm per hour, network average</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98A2C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D7DDE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Meet Ravi, a delivery rider in Andheri. A cloudburst floods the roads, he goes offline, and that day’s income is gone. Nothing pays him for it. And rain is fiercely local: on 26 July 2005, Santacruz got 944 millimetres, Colaba just 73. A city-wide alert can’t decide Ravi’s payout.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[0:20–0:40] Our insight: Jio’s microwave links, the radio beams between sites, lose signal when rain falls between them. Measure that loss, apply the standard ITU formula, and you get rain, street by street. No new sensors. One caveat: fibre doesn’t sense rain, so usable coverage is what we test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[0:40–1:02] We tested the physics first, on 500 real microwave links from a public research dataset in Germany, not Jio’s network. On unseen days the network matched radar at 0.95, a single link at 0.88. But for insurance, links alone caught 68% of payout events, with 18% false triggers. The sensing works; it isn’t insurance-grade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[1:02–1:22] So no single sensor decides a payout. Jio’s links are the dense primary signal; IMD radar validates, gauges calibrate, satellite covers outages. The engine fuses them into a one-kilometre grid with a confidence score. Our pilot targets: 80% of events caught, under 15% false triggers, payouts within six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[1:22–1:45] The product. A delivery platform buys Kavach Plus, so Ravi is covered automatically. When very heavy rain, 115 millimetres in a day, hits his zone, a licensed insurer sends 300 rupees to his bank within six hours. No claim form, and he needn’t ride into the storm to qualify. It costs 165 rupees a rider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[1:45–2:05] Why would a platform pay? Today a storm means riders offline, failed orders, and rain surge pay that rewards riding into danger. Kavach turns that into a fixed, budgeted benefit that keeps riders safe and loyal. We don’t claim the return yet; the pilot measures it in their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[2:05–2:25] The money: the platform pays premiums to a licensed insurer, which carries the risk. Fifty thousand riders is a 9.9 crore premium pool; Jio earns fifteen to twenty-five percent in fees, with no insurance risk, plus its own data revenue. Reliance can connect the whole chain, from sensing to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[2:25–2:47] Our ask: a 90-day Mumbai pilot in shadow mode, so no money moves. First, a coverage audit: how much of Mumbai Jio’s links can see. Then accuracy, triggers and simulated payouts, and a go or no-go at day ninety. We need link data, JioMart’s riders, one insurance partner and five people: under a crore.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[2:47–3:00] Rain first, then more cities and risks, then everyone, then a national weather layer. We aren’t asking Jio to build another weather network. We’re asking it to discover what its network can already tell us.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IGHT-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CK">
    <p:bg>
      <p:bgPr>
        <a:solidFill>
          <a:srgbClr val="05070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PROBLEM</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When the rain stops work, the income stops too</a:t>
            </a:r>
            <a:endParaRPr lang="en-US" sz="3200" dirty="0"/>
          </a:p>
        </p:txBody>
      </p:sp>
      <p:sp>
        <p:nvSpPr>
          <p:cNvPr id="6" name="j0c"/>
          <p:cNvSpPr/>
          <p:nvPr/>
        </p:nvSpPr>
        <p:spPr>
          <a:xfrm>
            <a:off x="548640" y="2148840"/>
            <a:ext cx="603504" cy="603504"/>
          </a:xfrm>
          <a:prstGeom prst="ellipse">
            <a:avLst/>
          </a:prstGeom>
          <a:solidFill>
            <a:srgbClr val="1C2447"/>
          </a:solidFill>
          <a:ln w="9525">
            <a:solidFill>
              <a:srgbClr val="2A3357"/>
            </a:solidFill>
            <a:prstDash val="solid"/>
          </a:ln>
        </p:spPr>
      </p:sp>
      <p:pic>
        <p:nvPicPr>
          <p:cNvPr id="7" name="j0i" descr="preencoded.png">    </p:cNvPr>
          <p:cNvPicPr>
            <a:picLocks noChangeAspect="1"/>
          </p:cNvPicPr>
          <p:nvPr/>
        </p:nvPicPr>
        <p:blipFill>
          <a:blip r:embed="rId2"/>
          <a:stretch>
            <a:fillRect/>
          </a:stretch>
        </p:blipFill>
        <p:spPr>
          <a:xfrm>
            <a:off x="693481" y="2293681"/>
            <a:ext cx="313822" cy="313822"/>
          </a:xfrm>
          <a:prstGeom prst="rect">
            <a:avLst/>
          </a:prstGeom>
        </p:spPr>
      </p:pic>
      <p:sp>
        <p:nvSpPr>
          <p:cNvPr id="8" name="jt0"/>
          <p:cNvSpPr txBox="1"/>
          <p:nvPr/>
        </p:nvSpPr>
        <p:spPr>
          <a:xfrm>
            <a:off x="1371600" y="2167128"/>
            <a:ext cx="5394960"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 cloudburst hits Andheri</a:t>
            </a:r>
            <a:endParaRPr lang="en-US" sz="1800" dirty="0"/>
          </a:p>
          <a:p>
            <a:pPr indent="0" marL="0">
              <a:buNone/>
            </a:pPr>
            <a:r>
              <a:rPr lang="en-US" sz="1400" dirty="0">
                <a:solidFill>
                  <a:srgbClr val="B9C2D8"/>
                </a:solidFill>
                <a:latin typeface="Calibri" pitchFamily="34" charset="0"/>
                <a:ea typeface="Calibri" pitchFamily="34" charset="-122"/>
                <a:cs typeface="Calibri" pitchFamily="34" charset="-120"/>
              </a:rPr>
              <a:t>The sky opens mid-shift</a:t>
            </a:r>
            <a:endParaRPr lang="en-US" sz="1800" dirty="0"/>
          </a:p>
        </p:txBody>
      </p:sp>
      <p:sp>
        <p:nvSpPr>
          <p:cNvPr id="9" name="j1c"/>
          <p:cNvSpPr/>
          <p:nvPr/>
        </p:nvSpPr>
        <p:spPr>
          <a:xfrm>
            <a:off x="548640" y="2971800"/>
            <a:ext cx="603504" cy="603504"/>
          </a:xfrm>
          <a:prstGeom prst="ellipse">
            <a:avLst/>
          </a:prstGeom>
          <a:solidFill>
            <a:srgbClr val="1C2447"/>
          </a:solidFill>
          <a:ln w="9525">
            <a:solidFill>
              <a:srgbClr val="2A3357"/>
            </a:solidFill>
            <a:prstDash val="solid"/>
          </a:ln>
        </p:spPr>
      </p:sp>
      <p:pic>
        <p:nvPicPr>
          <p:cNvPr id="10" name="j1i" descr="preencoded.png">    </p:cNvPr>
          <p:cNvPicPr>
            <a:picLocks noChangeAspect="1"/>
          </p:cNvPicPr>
          <p:nvPr/>
        </p:nvPicPr>
        <p:blipFill>
          <a:blip r:embed="rId3"/>
          <a:stretch>
            <a:fillRect/>
          </a:stretch>
        </p:blipFill>
        <p:spPr>
          <a:xfrm>
            <a:off x="693481" y="3116641"/>
            <a:ext cx="313822" cy="313822"/>
          </a:xfrm>
          <a:prstGeom prst="rect">
            <a:avLst/>
          </a:prstGeom>
        </p:spPr>
      </p:pic>
      <p:sp>
        <p:nvSpPr>
          <p:cNvPr id="11" name="jt1"/>
          <p:cNvSpPr txBox="1"/>
          <p:nvPr/>
        </p:nvSpPr>
        <p:spPr>
          <a:xfrm>
            <a:off x="1371600" y="2990088"/>
            <a:ext cx="5394960"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Roads flood, orders stall</a:t>
            </a:r>
            <a:endParaRPr lang="en-US" sz="1800" dirty="0"/>
          </a:p>
          <a:p>
            <a:pPr indent="0" marL="0">
              <a:buNone/>
            </a:pPr>
            <a:r>
              <a:rPr lang="en-US" sz="1400" dirty="0">
                <a:solidFill>
                  <a:srgbClr val="B9C2D8"/>
                </a:solidFill>
                <a:latin typeface="Calibri" pitchFamily="34" charset="0"/>
                <a:ea typeface="Calibri" pitchFamily="34" charset="-122"/>
                <a:cs typeface="Calibri" pitchFamily="34" charset="-120"/>
              </a:rPr>
              <a:t>Riding on becomes unsafe</a:t>
            </a:r>
            <a:endParaRPr lang="en-US" sz="1800" dirty="0"/>
          </a:p>
        </p:txBody>
      </p:sp>
      <p:sp>
        <p:nvSpPr>
          <p:cNvPr id="12" name="j2c"/>
          <p:cNvSpPr/>
          <p:nvPr/>
        </p:nvSpPr>
        <p:spPr>
          <a:xfrm>
            <a:off x="548640" y="3794760"/>
            <a:ext cx="603504" cy="603504"/>
          </a:xfrm>
          <a:prstGeom prst="ellipse">
            <a:avLst/>
          </a:prstGeom>
          <a:solidFill>
            <a:srgbClr val="1C2447"/>
          </a:solidFill>
          <a:ln w="9525">
            <a:solidFill>
              <a:srgbClr val="2A3357"/>
            </a:solidFill>
            <a:prstDash val="solid"/>
          </a:ln>
        </p:spPr>
      </p:sp>
      <p:pic>
        <p:nvPicPr>
          <p:cNvPr id="13" name="j2i" descr="preencoded.png">    </p:cNvPr>
          <p:cNvPicPr>
            <a:picLocks noChangeAspect="1"/>
          </p:cNvPicPr>
          <p:nvPr/>
        </p:nvPicPr>
        <p:blipFill>
          <a:blip r:embed="rId4"/>
          <a:stretch>
            <a:fillRect/>
          </a:stretch>
        </p:blipFill>
        <p:spPr>
          <a:xfrm>
            <a:off x="693481" y="3939601"/>
            <a:ext cx="313822" cy="313822"/>
          </a:xfrm>
          <a:prstGeom prst="rect">
            <a:avLst/>
          </a:prstGeom>
        </p:spPr>
      </p:pic>
      <p:sp>
        <p:nvSpPr>
          <p:cNvPr id="14" name="jt2"/>
          <p:cNvSpPr txBox="1"/>
          <p:nvPr/>
        </p:nvSpPr>
        <p:spPr>
          <a:xfrm>
            <a:off x="1371600" y="3813048"/>
            <a:ext cx="5394960"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Ravi goes offline</a:t>
            </a:r>
            <a:endParaRPr lang="en-US" sz="1800" dirty="0"/>
          </a:p>
          <a:p>
            <a:pPr indent="0" marL="0">
              <a:buNone/>
            </a:pPr>
            <a:r>
              <a:rPr lang="en-US" sz="1400" dirty="0">
                <a:solidFill>
                  <a:srgbClr val="B9C2D8"/>
                </a:solidFill>
                <a:latin typeface="Calibri" pitchFamily="34" charset="0"/>
                <a:ea typeface="Calibri" pitchFamily="34" charset="-122"/>
                <a:cs typeface="Calibri" pitchFamily="34" charset="-120"/>
              </a:rPr>
              <a:t>He is a delivery rider in Mumbai</a:t>
            </a:r>
            <a:endParaRPr lang="en-US" sz="1800" dirty="0"/>
          </a:p>
        </p:txBody>
      </p:sp>
      <p:sp>
        <p:nvSpPr>
          <p:cNvPr id="15" name="j3c"/>
          <p:cNvSpPr/>
          <p:nvPr/>
        </p:nvSpPr>
        <p:spPr>
          <a:xfrm>
            <a:off x="548640" y="4617720"/>
            <a:ext cx="603504" cy="603504"/>
          </a:xfrm>
          <a:prstGeom prst="ellipse">
            <a:avLst/>
          </a:prstGeom>
          <a:solidFill>
            <a:srgbClr val="1C2447"/>
          </a:solidFill>
          <a:ln w="9525">
            <a:solidFill>
              <a:srgbClr val="2A3357"/>
            </a:solidFill>
            <a:prstDash val="solid"/>
          </a:ln>
        </p:spPr>
      </p:sp>
      <p:pic>
        <p:nvPicPr>
          <p:cNvPr id="16" name="j3i" descr="preencoded.png">    </p:cNvPr>
          <p:cNvPicPr>
            <a:picLocks noChangeAspect="1"/>
          </p:cNvPicPr>
          <p:nvPr/>
        </p:nvPicPr>
        <p:blipFill>
          <a:blip r:embed="rId5"/>
          <a:stretch>
            <a:fillRect/>
          </a:stretch>
        </p:blipFill>
        <p:spPr>
          <a:xfrm>
            <a:off x="693481" y="4762561"/>
            <a:ext cx="313822" cy="313822"/>
          </a:xfrm>
          <a:prstGeom prst="rect">
            <a:avLst/>
          </a:prstGeom>
        </p:spPr>
      </p:pic>
      <p:sp>
        <p:nvSpPr>
          <p:cNvPr id="17" name="jt3"/>
          <p:cNvSpPr txBox="1"/>
          <p:nvPr/>
        </p:nvSpPr>
        <p:spPr>
          <a:xfrm>
            <a:off x="1371600" y="4636008"/>
            <a:ext cx="5394960"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The day’s income is gone</a:t>
            </a:r>
            <a:endParaRPr lang="en-US" sz="1800" dirty="0"/>
          </a:p>
          <a:p>
            <a:pPr indent="0" marL="0">
              <a:buNone/>
            </a:pPr>
            <a:r>
              <a:rPr lang="en-US" sz="1400" dirty="0">
                <a:solidFill>
                  <a:srgbClr val="B9C2D8"/>
                </a:solidFill>
                <a:latin typeface="Calibri" pitchFamily="34" charset="0"/>
                <a:ea typeface="Calibri" pitchFamily="34" charset="-122"/>
                <a:cs typeface="Calibri" pitchFamily="34" charset="-120"/>
              </a:rPr>
              <a:t>Accident cover exists. Nothing covers a lost day.</a:t>
            </a:r>
            <a:endParaRPr lang="en-US" sz="1800" dirty="0"/>
          </a:p>
        </p:txBody>
      </p:sp>
      <p:sp>
        <p:nvSpPr>
          <p:cNvPr id="18" name="hlCard"/>
          <p:cNvSpPr/>
          <p:nvPr/>
        </p:nvSpPr>
        <p:spPr>
          <a:xfrm>
            <a:off x="6903720" y="2103120"/>
            <a:ext cx="4736592" cy="3611880"/>
          </a:xfrm>
          <a:prstGeom prst="roundRect">
            <a:avLst>
              <a:gd name="adj" fmla="val 3038"/>
            </a:avLst>
          </a:prstGeom>
          <a:solidFill>
            <a:srgbClr val="141B36"/>
          </a:solidFill>
          <a:ln w="9525">
            <a:solidFill>
              <a:srgbClr val="2A3357"/>
            </a:solidFill>
            <a:prstDash val="solid"/>
          </a:ln>
        </p:spPr>
      </p:sp>
      <p:sp>
        <p:nvSpPr>
          <p:cNvPr id="19" name="hlHead"/>
          <p:cNvSpPr txBox="1"/>
          <p:nvPr/>
        </p:nvSpPr>
        <p:spPr>
          <a:xfrm>
            <a:off x="7178040" y="2286000"/>
            <a:ext cx="4206240" cy="77724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Weather is local (rain, mm)</a:t>
            </a:r>
            <a:endParaRPr lang="en-US" sz="2000" dirty="0"/>
          </a:p>
          <a:p>
            <a:pPr indent="0" marL="0">
              <a:buNone/>
            </a:pPr>
            <a:r>
              <a:rPr lang="en-US" sz="1300" dirty="0">
                <a:solidFill>
                  <a:srgbClr val="B9C2D8"/>
                </a:solidFill>
                <a:latin typeface="Calibri" pitchFamily="34" charset="0"/>
                <a:ea typeface="Calibri" pitchFamily="34" charset="-122"/>
                <a:cs typeface="Calibri" pitchFamily="34" charset="-120"/>
              </a:rPr>
              <a:t>26 July 2005 · two IMD stations, 20 km apart</a:t>
            </a:r>
            <a:endParaRPr lang="en-US" sz="2000" dirty="0"/>
          </a:p>
        </p:txBody>
      </p:sp>
      <p:graphicFrame>
        <p:nvGraphicFramePr>
          <p:cNvPr id="20" name="hlChart" descr=""/>
          <p:cNvGraphicFramePr/>
          <p:nvPr/>
        </p:nvGraphicFramePr>
        <p:xfrm>
          <a:off x="7086600" y="3063240"/>
          <a:ext cx="4389120" cy="2514600"/>
        </p:xfrm>
        <a:graphic xmlns:a="http://schemas.openxmlformats.org/drawingml/2006/main">
          <a:graphicData uri="http://schemas.openxmlformats.org/drawingml/2006/chart">
            <c:chart xmlns:c="http://schemas.openxmlformats.org/drawingml/2006/chart" r:id="rId6"/>
          </a:graphicData>
        </a:graphic>
      </p:graphicFrame>
      <p:sp>
        <p:nvSpPr>
          <p:cNvPr id="21" name="insight"/>
          <p:cNvSpPr txBox="1"/>
          <p:nvPr/>
        </p:nvSpPr>
        <p:spPr>
          <a:xfrm>
            <a:off x="548640" y="5870448"/>
            <a:ext cx="11064240" cy="411480"/>
          </a:xfrm>
          <a:prstGeom prst="rect">
            <a:avLst/>
          </a:prstGeom>
          <a:noFill/>
          <a:ln/>
        </p:spPr>
        <p:txBody>
          <a:bodyPr wrap="square" lIns="0" tIns="0" rIns="0" bIns="0" rtlCol="0" anchor="t"/>
          <a:lstStyle/>
          <a:p>
            <a:pPr indent="0" marL="0">
              <a:buNone/>
            </a:pPr>
            <a:r>
              <a:rPr lang="en-US" sz="2000" b="1" i="1" dirty="0">
                <a:solidFill>
                  <a:srgbClr val="F5A623"/>
                </a:solidFill>
                <a:latin typeface="Cambria" pitchFamily="34" charset="0"/>
                <a:ea typeface="Cambria" pitchFamily="34" charset="-122"/>
                <a:cs typeface="Cambria" pitchFamily="34" charset="-120"/>
              </a:rPr>
              <a:t>A city-wide alert can’t decide a rider-level payout.</a:t>
            </a:r>
            <a:endParaRPr lang="en-US" sz="2000" dirty="0"/>
          </a:p>
        </p:txBody>
      </p:sp>
      <p:sp>
        <p:nvSpPr>
          <p:cNvPr id="22"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6F7AA0"/>
                </a:solidFill>
                <a:latin typeface="Calibri" pitchFamily="34" charset="0"/>
                <a:ea typeface="Calibri" pitchFamily="34" charset="-122"/>
                <a:cs typeface="Calibri" pitchFamily="34" charset="-120"/>
              </a:rPr>
              <a:t>Rainfall: India Meteorological Department, 26 July 2005.</a:t>
            </a:r>
            <a:endParaRPr lang="en-US" sz="1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94"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anim calcmode="lin" valueType="num">
                                      <p:cBhvr>
                                        <p:cTn id="16" dur="500" fill="hold"/>
                                        <p:tgtEl>
                                          <p:spTgt spid="6"/>
                                        </p:tgtEl>
                                        <p:attrNameLst>
                                          <p:attrName>ppt_x</p:attrName>
                                        </p:attrNameLst>
                                      </p:cBhvr>
                                      <p:tavLst>
                                        <p:tav tm="0">
                                          <p:val>
                                            <p:strVal val="#ppt_x"/>
                                          </p:val>
                                        </p:tav>
                                        <p:tav tm="100000">
                                          <p:val>
                                            <p:strVal val="#ppt_x"/>
                                          </p:val>
                                        </p:tav>
                                      </p:tavLst>
                                    </p:anim>
                                    <p:anim calcmode="lin" valueType="num">
                                      <p:cBhvr>
                                        <p:cTn id="17" dur="5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06"/>
                                          </p:val>
                                        </p:tav>
                                        <p:tav tm="100000">
                                          <p:val>
                                            <p:strVal val="#ppt_y"/>
                                          </p:val>
                                        </p:tav>
                                      </p:tavLst>
                                    </p:anim>
                                  </p:childTnLst>
                                </p:cTn>
                              </p:par>
                            </p:childTnLst>
                          </p:cTn>
                        </p:par>
                        <p:par>
                          <p:cTn id="28" fill="hold">
                            <p:stCondLst>
                              <p:cond delay="1310"/>
                            </p:stCondLst>
                            <p:childTnLst>
                              <p:par>
                                <p:cTn id="29" presetID="42" presetClass="entr" presetSubtype="0" fill="hold" grpId="0" nodeType="afterEffect">
                                  <p:stCondLst>
                                    <p:cond delay="6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p:cTn id="32" dur="500" fill="hold"/>
                                        <p:tgtEl>
                                          <p:spTgt spid="9"/>
                                        </p:tgtEl>
                                        <p:attrNameLst>
                                          <p:attrName>ppt_x</p:attrName>
                                        </p:attrNameLst>
                                      </p:cBhvr>
                                      <p:tavLst>
                                        <p:tav tm="0">
                                          <p:val>
                                            <p:strVal val="#ppt_x"/>
                                          </p:val>
                                        </p:tav>
                                        <p:tav tm="100000">
                                          <p:val>
                                            <p:strVal val="#ppt_x"/>
                                          </p:val>
                                        </p:tav>
                                      </p:tavLst>
                                    </p:anim>
                                    <p:anim calcmode="lin" valueType="num">
                                      <p:cBhvr>
                                        <p:cTn id="33" dur="50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anim calcmode="lin" valueType="num">
                                      <p:cBhvr>
                                        <p:cTn id="37" dur="500" fill="hold"/>
                                        <p:tgtEl>
                                          <p:spTgt spid="10"/>
                                        </p:tgtEl>
                                        <p:attrNameLst>
                                          <p:attrName>ppt_x</p:attrName>
                                        </p:attrNameLst>
                                      </p:cBhvr>
                                      <p:tavLst>
                                        <p:tav tm="0">
                                          <p:val>
                                            <p:strVal val="#ppt_x"/>
                                          </p:val>
                                        </p:tav>
                                        <p:tav tm="100000">
                                          <p:val>
                                            <p:strVal val="#ppt_x"/>
                                          </p:val>
                                        </p:tav>
                                      </p:tavLst>
                                    </p:anim>
                                    <p:anim calcmode="lin" valueType="num">
                                      <p:cBhvr>
                                        <p:cTn id="38" dur="5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anim calcmode="lin" valueType="num">
                                      <p:cBhvr>
                                        <p:cTn id="42" dur="500" fill="hold"/>
                                        <p:tgtEl>
                                          <p:spTgt spid="11"/>
                                        </p:tgtEl>
                                        <p:attrNameLst>
                                          <p:attrName>ppt_x</p:attrName>
                                        </p:attrNameLst>
                                      </p:cBhvr>
                                      <p:tavLst>
                                        <p:tav tm="0">
                                          <p:val>
                                            <p:strVal val="#ppt_x"/>
                                          </p:val>
                                        </p:tav>
                                        <p:tav tm="100000">
                                          <p:val>
                                            <p:strVal val="#ppt_x"/>
                                          </p:val>
                                        </p:tav>
                                      </p:tavLst>
                                    </p:anim>
                                    <p:anim calcmode="lin" valueType="num">
                                      <p:cBhvr>
                                        <p:cTn id="43" dur="500" fill="hold"/>
                                        <p:tgtEl>
                                          <p:spTgt spid="11"/>
                                        </p:tgtEl>
                                        <p:attrNameLst>
                                          <p:attrName>ppt_y</p:attrName>
                                        </p:attrNameLst>
                                      </p:cBhvr>
                                      <p:tavLst>
                                        <p:tav tm="0">
                                          <p:val>
                                            <p:strVal val="#ppt_y+.06"/>
                                          </p:val>
                                        </p:tav>
                                        <p:tav tm="100000">
                                          <p:val>
                                            <p:strVal val="#ppt_y"/>
                                          </p:val>
                                        </p:tav>
                                      </p:tavLst>
                                    </p:anim>
                                  </p:childTnLst>
                                </p:cTn>
                              </p:par>
                            </p:childTnLst>
                          </p:cTn>
                        </p:par>
                        <p:par>
                          <p:cTn id="44" fill="hold">
                            <p:stCondLst>
                              <p:cond delay="1870"/>
                            </p:stCondLst>
                            <p:childTnLst>
                              <p:par>
                                <p:cTn id="45" presetID="42" presetClass="entr" presetSubtype="0" fill="hold" grpId="0" nodeType="afterEffect">
                                  <p:stCondLst>
                                    <p:cond delay="6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06"/>
                                          </p:val>
                                        </p:tav>
                                        <p:tav tm="100000">
                                          <p:val>
                                            <p:strVal val="#ppt_y"/>
                                          </p:val>
                                        </p:tav>
                                      </p:tavLst>
                                    </p:anim>
                                  </p:childTnLst>
                                </p:cTn>
                              </p:par>
                            </p:childTnLst>
                          </p:cTn>
                        </p:par>
                        <p:par>
                          <p:cTn id="60" fill="hold">
                            <p:stCondLst>
                              <p:cond delay="2430"/>
                            </p:stCondLst>
                            <p:childTnLst>
                              <p:par>
                                <p:cTn id="61" presetID="42" presetClass="entr" presetSubtype="0" fill="hold" grpId="0" nodeType="afterEffect">
                                  <p:stCondLst>
                                    <p:cond delay="6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anim calcmode="lin" valueType="num">
                                      <p:cBhvr>
                                        <p:cTn id="64" dur="500" fill="hold"/>
                                        <p:tgtEl>
                                          <p:spTgt spid="15"/>
                                        </p:tgtEl>
                                        <p:attrNameLst>
                                          <p:attrName>ppt_x</p:attrName>
                                        </p:attrNameLst>
                                      </p:cBhvr>
                                      <p:tavLst>
                                        <p:tav tm="0">
                                          <p:val>
                                            <p:strVal val="#ppt_x"/>
                                          </p:val>
                                        </p:tav>
                                        <p:tav tm="100000">
                                          <p:val>
                                            <p:strVal val="#ppt_x"/>
                                          </p:val>
                                        </p:tav>
                                      </p:tavLst>
                                    </p:anim>
                                    <p:anim calcmode="lin" valueType="num">
                                      <p:cBhvr>
                                        <p:cTn id="65" dur="500" fill="hold"/>
                                        <p:tgtEl>
                                          <p:spTgt spid="15"/>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anim calcmode="lin" valueType="num">
                                      <p:cBhvr>
                                        <p:cTn id="69" dur="500" fill="hold"/>
                                        <p:tgtEl>
                                          <p:spTgt spid="16"/>
                                        </p:tgtEl>
                                        <p:attrNameLst>
                                          <p:attrName>ppt_x</p:attrName>
                                        </p:attrNameLst>
                                      </p:cBhvr>
                                      <p:tavLst>
                                        <p:tav tm="0">
                                          <p:val>
                                            <p:strVal val="#ppt_x"/>
                                          </p:val>
                                        </p:tav>
                                        <p:tav tm="100000">
                                          <p:val>
                                            <p:strVal val="#ppt_x"/>
                                          </p:val>
                                        </p:tav>
                                      </p:tavLst>
                                    </p:anim>
                                    <p:anim calcmode="lin" valueType="num">
                                      <p:cBhvr>
                                        <p:cTn id="70" dur="500" fill="hold"/>
                                        <p:tgtEl>
                                          <p:spTgt spid="16"/>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00"/>
                                        <p:tgtEl>
                                          <p:spTgt spid="17"/>
                                        </p:tgtEl>
                                      </p:cBhvr>
                                    </p:animEffect>
                                    <p:anim calcmode="lin" valueType="num">
                                      <p:cBhvr>
                                        <p:cTn id="74" dur="500" fill="hold"/>
                                        <p:tgtEl>
                                          <p:spTgt spid="17"/>
                                        </p:tgtEl>
                                        <p:attrNameLst>
                                          <p:attrName>ppt_x</p:attrName>
                                        </p:attrNameLst>
                                      </p:cBhvr>
                                      <p:tavLst>
                                        <p:tav tm="0">
                                          <p:val>
                                            <p:strVal val="#ppt_x"/>
                                          </p:val>
                                        </p:tav>
                                        <p:tav tm="100000">
                                          <p:val>
                                            <p:strVal val="#ppt_x"/>
                                          </p:val>
                                        </p:tav>
                                      </p:tavLst>
                                    </p:anim>
                                    <p:anim calcmode="lin" valueType="num">
                                      <p:cBhvr>
                                        <p:cTn id="75" dur="500" fill="hold"/>
                                        <p:tgtEl>
                                          <p:spTgt spid="17"/>
                                        </p:tgtEl>
                                        <p:attrNameLst>
                                          <p:attrName>ppt_y</p:attrName>
                                        </p:attrNameLst>
                                      </p:cBhvr>
                                      <p:tavLst>
                                        <p:tav tm="0">
                                          <p:val>
                                            <p:strVal val="#ppt_y+.06"/>
                                          </p:val>
                                        </p:tav>
                                        <p:tav tm="100000">
                                          <p:val>
                                            <p:strVal val="#ppt_y"/>
                                          </p:val>
                                        </p:tav>
                                      </p:tavLst>
                                    </p:anim>
                                  </p:childTnLst>
                                </p:cTn>
                              </p:par>
                            </p:childTnLst>
                          </p:cTn>
                        </p:par>
                        <p:par>
                          <p:cTn id="76" fill="hold">
                            <p:stCondLst>
                              <p:cond delay="2990"/>
                            </p:stCondLst>
                            <p:childTnLst>
                              <p:par>
                                <p:cTn id="77" presetID="10" presetClass="entr" presetSubtype="0" fill="hold" grpId="0" nodeType="afterEffect">
                                  <p:stCondLst>
                                    <p:cond delay="8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00"/>
                                        <p:tgtEl>
                                          <p:spTgt spid="1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childTnLst>
                          </p:cTn>
                        </p:par>
                        <p:par>
                          <p:cTn id="83" fill="hold">
                            <p:stCondLst>
                              <p:cond delay="3570"/>
                            </p:stCondLst>
                            <p:childTnLst>
                              <p:par>
                                <p:cTn id="84" presetID="22" presetClass="entr" presetSubtype="4"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wipe(down)">
                                      <p:cBhvr>
                                        <p:cTn id="86" dur="900"/>
                                        <p:tgtEl>
                                          <p:spTgt spid="20"/>
                                        </p:tgtEl>
                                      </p:cBhvr>
                                    </p:animEffect>
                                  </p:childTnLst>
                                </p:cTn>
                              </p:par>
                            </p:childTnLst>
                          </p:cTn>
                        </p:par>
                        <p:par>
                          <p:cTn id="87" fill="hold">
                            <p:stCondLst>
                              <p:cond delay="4470"/>
                            </p:stCondLst>
                            <p:childTnLst>
                              <p:par>
                                <p:cTn id="88" presetID="10" presetClass="entr" presetSubtype="0" fill="hold" grpId="0" nodeType="afterEffect">
                                  <p:stCondLst>
                                    <p:cond delay="15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600"/>
                                        <p:tgtEl>
                                          <p:spTgt spid="2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animBg="1"/>
      <p:bldP spid="11" grpId="0"/>
      <p:bldP spid="12" grpId="0" animBg="1"/>
      <p:bldP spid="14" grpId="0"/>
      <p:bldP spid="15" grpId="0" animBg="1"/>
      <p:bldP spid="17" grpId="0"/>
      <p:bldP spid="18" grpId="0" animBg="1"/>
      <p:bldP spid="19" grpId="0"/>
      <p:bldGraphic spid="20" grpId="0">
        <p:bldAsOne/>
      </p:bldGraphic>
      <p:bldP spid="21" grpId="0"/>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INSIGHT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if the network itself could sense the rain?</a:t>
            </a:r>
            <a:endParaRPr lang="en-US" sz="3200" dirty="0"/>
          </a:p>
        </p:txBody>
      </p:sp>
      <p:pic>
        <p:nvPicPr>
          <p:cNvPr id="6" name="towerA" descr="/tmp/claude-0/-home-user-market-research-agent/e8d4caac-b1a5-588e-8461-832ca62ca567/scratchpad/deck2/assets/tower_big.png">    </p:cNvPr>
          <p:cNvPicPr>
            <a:picLocks noChangeAspect="1"/>
          </p:cNvPicPr>
          <p:nvPr/>
        </p:nvPicPr>
        <p:blipFill>
          <a:blip r:embed="rId2"/>
          <a:stretch>
            <a:fillRect/>
          </a:stretch>
        </p:blipFill>
        <p:spPr>
          <a:xfrm>
            <a:off x="685800" y="2240280"/>
            <a:ext cx="841248" cy="1272808"/>
          </a:xfrm>
          <a:prstGeom prst="rect">
            <a:avLst/>
          </a:prstGeom>
        </p:spPr>
      </p:pic>
      <p:pic>
        <p:nvPicPr>
          <p:cNvPr id="7" name="towerB" descr="/tmp/claude-0/-home-user-market-research-agent/e8d4caac-b1a5-588e-8461-832ca62ca567/scratchpad/deck2/assets/tower_big.png">    </p:cNvPr>
          <p:cNvPicPr>
            <a:picLocks noChangeAspect="1"/>
          </p:cNvPicPr>
          <p:nvPr/>
        </p:nvPicPr>
        <p:blipFill>
          <a:blip r:embed="rId3"/>
          <a:stretch>
            <a:fillRect/>
          </a:stretch>
        </p:blipFill>
        <p:spPr>
          <a:xfrm>
            <a:off x="5074920" y="2240280"/>
            <a:ext cx="841248" cy="1272808"/>
          </a:xfrm>
          <a:prstGeom prst="rect">
            <a:avLst/>
          </a:prstGeom>
        </p:spPr>
      </p:pic>
      <p:sp>
        <p:nvSpPr>
          <p:cNvPr id="8" name="beam"/>
          <p:cNvSpPr/>
          <p:nvPr/>
        </p:nvSpPr>
        <p:spPr>
          <a:xfrm>
            <a:off x="1106424" y="2395728"/>
            <a:ext cx="4389120" cy="0"/>
          </a:xfrm>
          <a:prstGeom prst="line">
            <a:avLst/>
          </a:prstGeom>
          <a:noFill/>
          <a:ln w="31750">
            <a:solidFill>
              <a:srgbClr val="F5A623"/>
            </a:solidFill>
            <a:prstDash val="dash"/>
          </a:ln>
        </p:spPr>
      </p:sp>
      <p:sp>
        <p:nvSpPr>
          <p:cNvPr id="9" name="beamLab"/>
          <p:cNvSpPr txBox="1"/>
          <p:nvPr/>
        </p:nvSpPr>
        <p:spPr>
          <a:xfrm>
            <a:off x="1463040" y="2011680"/>
            <a:ext cx="3749040" cy="274320"/>
          </a:xfrm>
          <a:prstGeom prst="rect">
            <a:avLst/>
          </a:prstGeom>
          <a:noFill/>
          <a:ln/>
        </p:spPr>
        <p:txBody>
          <a:bodyPr wrap="square" lIns="0" tIns="0" rIns="0" bIns="0" rtlCol="0" anchor="t"/>
          <a:lstStyle/>
          <a:p>
            <a:pPr algn="ctr" indent="0" marL="0">
              <a:buNone/>
            </a:pPr>
            <a:r>
              <a:rPr lang="en-US" sz="1300" b="1" dirty="0">
                <a:solidFill>
                  <a:srgbClr val="F5A623"/>
                </a:solidFill>
                <a:latin typeface="Calibri" pitchFamily="34" charset="0"/>
                <a:ea typeface="Calibri" pitchFamily="34" charset="-122"/>
                <a:cs typeface="Calibri" pitchFamily="34" charset="-120"/>
              </a:rPr>
              <a:t>Microwave link between two sites</a:t>
            </a:r>
            <a:endParaRPr lang="en-US" sz="1300" dirty="0"/>
          </a:p>
        </p:txBody>
      </p:sp>
      <p:pic>
        <p:nvPicPr>
          <p:cNvPr id="10" name="drop0" descr="preencoded.png">    </p:cNvPr>
          <p:cNvPicPr>
            <a:picLocks noChangeAspect="1"/>
          </p:cNvPicPr>
          <p:nvPr/>
        </p:nvPicPr>
        <p:blipFill>
          <a:blip r:embed="rId4"/>
          <a:stretch>
            <a:fillRect/>
          </a:stretch>
        </p:blipFill>
        <p:spPr>
          <a:xfrm>
            <a:off x="1920240" y="2697480"/>
            <a:ext cx="182880" cy="182880"/>
          </a:xfrm>
          <a:prstGeom prst="rect">
            <a:avLst/>
          </a:prstGeom>
        </p:spPr>
      </p:pic>
      <p:pic>
        <p:nvPicPr>
          <p:cNvPr id="11" name="drop1" descr="preencoded.png">    </p:cNvPr>
          <p:cNvPicPr>
            <a:picLocks noChangeAspect="1"/>
          </p:cNvPicPr>
          <p:nvPr/>
        </p:nvPicPr>
        <p:blipFill>
          <a:blip r:embed="rId5"/>
          <a:stretch>
            <a:fillRect/>
          </a:stretch>
        </p:blipFill>
        <p:spPr>
          <a:xfrm>
            <a:off x="2514600" y="2971800"/>
            <a:ext cx="182880" cy="182880"/>
          </a:xfrm>
          <a:prstGeom prst="rect">
            <a:avLst/>
          </a:prstGeom>
        </p:spPr>
      </p:pic>
      <p:pic>
        <p:nvPicPr>
          <p:cNvPr id="12" name="drop2" descr="preencoded.png">    </p:cNvPr>
          <p:cNvPicPr>
            <a:picLocks noChangeAspect="1"/>
          </p:cNvPicPr>
          <p:nvPr/>
        </p:nvPicPr>
        <p:blipFill>
          <a:blip r:embed="rId6"/>
          <a:stretch>
            <a:fillRect/>
          </a:stretch>
        </p:blipFill>
        <p:spPr>
          <a:xfrm>
            <a:off x="3108960" y="2651760"/>
            <a:ext cx="182880" cy="182880"/>
          </a:xfrm>
          <a:prstGeom prst="rect">
            <a:avLst/>
          </a:prstGeom>
        </p:spPr>
      </p:pic>
      <p:pic>
        <p:nvPicPr>
          <p:cNvPr id="13" name="drop3" descr="preencoded.png">    </p:cNvPr>
          <p:cNvPicPr>
            <a:picLocks noChangeAspect="1"/>
          </p:cNvPicPr>
          <p:nvPr/>
        </p:nvPicPr>
        <p:blipFill>
          <a:blip r:embed="rId7"/>
          <a:stretch>
            <a:fillRect/>
          </a:stretch>
        </p:blipFill>
        <p:spPr>
          <a:xfrm>
            <a:off x="3703320" y="3017520"/>
            <a:ext cx="182880" cy="182880"/>
          </a:xfrm>
          <a:prstGeom prst="rect">
            <a:avLst/>
          </a:prstGeom>
        </p:spPr>
      </p:pic>
      <p:pic>
        <p:nvPicPr>
          <p:cNvPr id="14" name="drop4" descr="preencoded.png">    </p:cNvPr>
          <p:cNvPicPr>
            <a:picLocks noChangeAspect="1"/>
          </p:cNvPicPr>
          <p:nvPr/>
        </p:nvPicPr>
        <p:blipFill>
          <a:blip r:embed="rId8"/>
          <a:stretch>
            <a:fillRect/>
          </a:stretch>
        </p:blipFill>
        <p:spPr>
          <a:xfrm>
            <a:off x="4297680" y="2697480"/>
            <a:ext cx="182880" cy="182880"/>
          </a:xfrm>
          <a:prstGeom prst="rect">
            <a:avLst/>
          </a:prstGeom>
        </p:spPr>
      </p:pic>
      <p:pic>
        <p:nvPicPr>
          <p:cNvPr id="15" name="drop5" descr="preencoded.png">    </p:cNvPr>
          <p:cNvPicPr>
            <a:picLocks noChangeAspect="1"/>
          </p:cNvPicPr>
          <p:nvPr/>
        </p:nvPicPr>
        <p:blipFill>
          <a:blip r:embed="rId9"/>
          <a:stretch>
            <a:fillRect/>
          </a:stretch>
        </p:blipFill>
        <p:spPr>
          <a:xfrm>
            <a:off x="2240280" y="3291840"/>
            <a:ext cx="182880" cy="182880"/>
          </a:xfrm>
          <a:prstGeom prst="rect">
            <a:avLst/>
          </a:prstGeom>
        </p:spPr>
      </p:pic>
      <p:pic>
        <p:nvPicPr>
          <p:cNvPr id="16" name="drop6" descr="preencoded.png">    </p:cNvPr>
          <p:cNvPicPr>
            <a:picLocks noChangeAspect="1"/>
          </p:cNvPicPr>
          <p:nvPr/>
        </p:nvPicPr>
        <p:blipFill>
          <a:blip r:embed="rId10"/>
          <a:stretch>
            <a:fillRect/>
          </a:stretch>
        </p:blipFill>
        <p:spPr>
          <a:xfrm>
            <a:off x="3429000" y="3337560"/>
            <a:ext cx="182880" cy="182880"/>
          </a:xfrm>
          <a:prstGeom prst="rect">
            <a:avLst/>
          </a:prstGeom>
        </p:spPr>
      </p:pic>
      <p:pic>
        <p:nvPicPr>
          <p:cNvPr id="17" name="drop7" descr="preencoded.png">    </p:cNvPr>
          <p:cNvPicPr>
            <a:picLocks noChangeAspect="1"/>
          </p:cNvPicPr>
          <p:nvPr/>
        </p:nvPicPr>
        <p:blipFill>
          <a:blip r:embed="rId11"/>
          <a:stretch>
            <a:fillRect/>
          </a:stretch>
        </p:blipFill>
        <p:spPr>
          <a:xfrm>
            <a:off x="4617720" y="3246120"/>
            <a:ext cx="182880" cy="182880"/>
          </a:xfrm>
          <a:prstGeom prst="rect">
            <a:avLst/>
          </a:prstGeom>
        </p:spPr>
      </p:pic>
      <p:sp>
        <p:nvSpPr>
          <p:cNvPr id="18" name="absorb"/>
          <p:cNvSpPr txBox="1"/>
          <p:nvPr/>
        </p:nvSpPr>
        <p:spPr>
          <a:xfrm>
            <a:off x="1371600" y="3703320"/>
            <a:ext cx="3931920" cy="457200"/>
          </a:xfrm>
          <a:prstGeom prst="rect">
            <a:avLst/>
          </a:prstGeom>
          <a:noFill/>
          <a:ln/>
        </p:spPr>
        <p:txBody>
          <a:bodyPr wrap="square" lIns="0" tIns="0" rIns="0" bIns="0" rtlCol="0" anchor="t"/>
          <a:lstStyle/>
          <a:p>
            <a:pPr algn="ctr" indent="0" marL="0">
              <a:buNone/>
            </a:pPr>
            <a:r>
              <a:rPr lang="en-US" sz="1300" dirty="0">
                <a:solidFill>
                  <a:srgbClr val="B9C2D8"/>
                </a:solidFill>
                <a:latin typeface="Calibri" pitchFamily="34" charset="0"/>
                <a:ea typeface="Calibri" pitchFamily="34" charset="-122"/>
                <a:cs typeface="Calibri" pitchFamily="34" charset="-120"/>
              </a:rPr>
              <a:t>Rain absorbs the beam: about 25 dB weaker in a downpour</a:t>
            </a:r>
            <a:endParaRPr lang="en-US" sz="1300" dirty="0"/>
          </a:p>
        </p:txBody>
      </p:sp>
      <p:sp>
        <p:nvSpPr>
          <p:cNvPr id="19" name="pb0"/>
          <p:cNvSpPr/>
          <p:nvPr/>
        </p:nvSpPr>
        <p:spPr>
          <a:xfrm>
            <a:off x="6720840" y="2103120"/>
            <a:ext cx="4919472" cy="603504"/>
          </a:xfrm>
          <a:prstGeom prst="roundRect">
            <a:avLst>
              <a:gd name="adj" fmla="val 18182"/>
            </a:avLst>
          </a:prstGeom>
          <a:solidFill>
            <a:srgbClr val="141B36"/>
          </a:solidFill>
          <a:ln w="9525">
            <a:solidFill>
              <a:srgbClr val="2A3357"/>
            </a:solidFill>
            <a:prstDash val="solid"/>
          </a:ln>
        </p:spPr>
      </p:sp>
      <p:sp>
        <p:nvSpPr>
          <p:cNvPr id="20" name="pt0"/>
          <p:cNvSpPr txBox="1"/>
          <p:nvPr/>
        </p:nvSpPr>
        <p:spPr>
          <a:xfrm>
            <a:off x="6949440" y="2103120"/>
            <a:ext cx="457200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  Signal loss, every minute</a:t>
            </a:r>
            <a:pPr indent="0" marL="0">
              <a:buNone/>
            </a:pPr>
            <a:r>
              <a:rPr lang="en-US" sz="1300" dirty="0">
                <a:solidFill>
                  <a:srgbClr val="B9C2D8"/>
                </a:solidFill>
                <a:latin typeface="Calibri" pitchFamily="34" charset="0"/>
                <a:ea typeface="Calibri" pitchFamily="34" charset="-122"/>
                <a:cs typeface="Calibri" pitchFamily="34" charset="-120"/>
              </a:rPr>
              <a:t>   from network logs</a:t>
            </a:r>
            <a:endParaRPr lang="en-US" sz="1600" dirty="0"/>
          </a:p>
        </p:txBody>
      </p:sp>
      <p:sp>
        <p:nvSpPr>
          <p:cNvPr id="21" name="pa0"/>
          <p:cNvSpPr/>
          <p:nvPr/>
        </p:nvSpPr>
        <p:spPr>
          <a:xfrm>
            <a:off x="9180576" y="2706624"/>
            <a:ext cx="914" cy="146304"/>
          </a:xfrm>
          <a:prstGeom prst="line">
            <a:avLst/>
          </a:prstGeom>
          <a:noFill/>
          <a:ln w="19050">
            <a:solidFill>
              <a:srgbClr val="5A6690"/>
            </a:solidFill>
            <a:prstDash val="solid"/>
            <a:tailEnd type="triangle"/>
          </a:ln>
        </p:spPr>
      </p:sp>
      <p:sp>
        <p:nvSpPr>
          <p:cNvPr id="22" name="pb1"/>
          <p:cNvSpPr/>
          <p:nvPr/>
        </p:nvSpPr>
        <p:spPr>
          <a:xfrm>
            <a:off x="6720840" y="2852928"/>
            <a:ext cx="4919472" cy="603504"/>
          </a:xfrm>
          <a:prstGeom prst="roundRect">
            <a:avLst>
              <a:gd name="adj" fmla="val 18182"/>
            </a:avLst>
          </a:prstGeom>
          <a:solidFill>
            <a:srgbClr val="141B36"/>
          </a:solidFill>
          <a:ln w="9525">
            <a:solidFill>
              <a:srgbClr val="2A3357"/>
            </a:solidFill>
            <a:prstDash val="solid"/>
          </a:ln>
        </p:spPr>
      </p:sp>
      <p:sp>
        <p:nvSpPr>
          <p:cNvPr id="23" name="pt1"/>
          <p:cNvSpPr txBox="1"/>
          <p:nvPr/>
        </p:nvSpPr>
        <p:spPr>
          <a:xfrm>
            <a:off x="6949440" y="2852928"/>
            <a:ext cx="457200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  Rain rate</a:t>
            </a:r>
            <a:pPr indent="0" marL="0">
              <a:buNone/>
            </a:pPr>
            <a:r>
              <a:rPr lang="en-US" sz="1300" dirty="0">
                <a:solidFill>
                  <a:srgbClr val="B9C2D8"/>
                </a:solidFill>
                <a:latin typeface="Calibri" pitchFamily="34" charset="0"/>
                <a:ea typeface="Calibri" pitchFamily="34" charset="-122"/>
                <a:cs typeface="Calibri" pitchFamily="34" charset="-120"/>
              </a:rPr>
              <a:t>   ITU-R standard formula</a:t>
            </a:r>
            <a:endParaRPr lang="en-US" sz="1600" dirty="0"/>
          </a:p>
        </p:txBody>
      </p:sp>
      <p:sp>
        <p:nvSpPr>
          <p:cNvPr id="24" name="pa1"/>
          <p:cNvSpPr/>
          <p:nvPr/>
        </p:nvSpPr>
        <p:spPr>
          <a:xfrm>
            <a:off x="9180576" y="3456432"/>
            <a:ext cx="914" cy="146304"/>
          </a:xfrm>
          <a:prstGeom prst="line">
            <a:avLst/>
          </a:prstGeom>
          <a:noFill/>
          <a:ln w="19050">
            <a:solidFill>
              <a:srgbClr val="5A6690"/>
            </a:solidFill>
            <a:prstDash val="solid"/>
            <a:tailEnd type="triangle"/>
          </a:ln>
        </p:spPr>
      </p:sp>
      <p:sp>
        <p:nvSpPr>
          <p:cNvPr id="25" name="pb2"/>
          <p:cNvSpPr/>
          <p:nvPr/>
        </p:nvSpPr>
        <p:spPr>
          <a:xfrm>
            <a:off x="6720840" y="3602736"/>
            <a:ext cx="4919472" cy="603504"/>
          </a:xfrm>
          <a:prstGeom prst="roundRect">
            <a:avLst>
              <a:gd name="adj" fmla="val 18182"/>
            </a:avLst>
          </a:prstGeom>
          <a:solidFill>
            <a:srgbClr val="1C2447"/>
          </a:solidFill>
          <a:ln w="9525">
            <a:solidFill>
              <a:srgbClr val="F5A623"/>
            </a:solidFill>
            <a:prstDash val="solid"/>
          </a:ln>
        </p:spPr>
      </p:sp>
      <p:sp>
        <p:nvSpPr>
          <p:cNvPr id="26" name="pt2"/>
          <p:cNvSpPr txBox="1"/>
          <p:nvPr/>
        </p:nvSpPr>
        <p:spPr>
          <a:xfrm>
            <a:off x="6949440" y="3602736"/>
            <a:ext cx="457200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3  1 km rain map</a:t>
            </a:r>
            <a:pPr indent="0" marL="0">
              <a:buNone/>
            </a:pPr>
            <a:r>
              <a:rPr lang="en-US" sz="1300" dirty="0">
                <a:solidFill>
                  <a:srgbClr val="B9C2D8"/>
                </a:solidFill>
                <a:latin typeface="Calibri" pitchFamily="34" charset="0"/>
                <a:ea typeface="Calibri" pitchFamily="34" charset="-122"/>
                <a:cs typeface="Calibri" pitchFamily="34" charset="-120"/>
              </a:rPr>
              <a:t>   with a confidence score</a:t>
            </a:r>
            <a:endParaRPr lang="en-US" sz="1600" dirty="0"/>
          </a:p>
        </p:txBody>
      </p:sp>
      <p:sp>
        <p:nvSpPr>
          <p:cNvPr id="27" name="core"/>
          <p:cNvSpPr txBox="1"/>
          <p:nvPr/>
        </p:nvSpPr>
        <p:spPr>
          <a:xfrm>
            <a:off x="548640" y="4343400"/>
            <a:ext cx="11064240" cy="9144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We don’t build a new sensor network.</a:t>
            </a:r>
            <a:endParaRPr lang="en-US" sz="2400" dirty="0"/>
          </a:p>
          <a:p>
            <a:pPr indent="0" marL="0">
              <a:buNone/>
            </a:pPr>
            <a:r>
              <a:rPr lang="en-US" sz="2400" b="1" dirty="0">
                <a:solidFill>
                  <a:srgbClr val="FFFFFF"/>
                </a:solidFill>
                <a:latin typeface="Cambria" pitchFamily="34" charset="0"/>
                <a:ea typeface="Cambria" pitchFamily="34" charset="-122"/>
                <a:cs typeface="Cambria" pitchFamily="34" charset="-120"/>
              </a:rPr>
              <a:t>We turn existing network signals into one.</a:t>
            </a:r>
            <a:endParaRPr lang="en-US" sz="2400" dirty="0"/>
          </a:p>
        </p:txBody>
      </p:sp>
      <p:sp>
        <p:nvSpPr>
          <p:cNvPr id="28" name="cautionCard"/>
          <p:cNvSpPr/>
          <p:nvPr/>
        </p:nvSpPr>
        <p:spPr>
          <a:xfrm>
            <a:off x="548640" y="5440680"/>
            <a:ext cx="11091672" cy="658368"/>
          </a:xfrm>
          <a:prstGeom prst="roundRect">
            <a:avLst>
              <a:gd name="adj" fmla="val 16667"/>
            </a:avLst>
          </a:prstGeom>
          <a:solidFill>
            <a:srgbClr val="141B36"/>
          </a:solidFill>
          <a:ln w="9525">
            <a:solidFill>
              <a:srgbClr val="2A3357"/>
            </a:solidFill>
            <a:prstDash val="solid"/>
          </a:ln>
        </p:spPr>
      </p:sp>
      <p:pic>
        <p:nvPicPr>
          <p:cNvPr id="29" name="cautionIcon" descr="preencoded.png">    </p:cNvPr>
          <p:cNvPicPr>
            <a:picLocks noChangeAspect="1"/>
          </p:cNvPicPr>
          <p:nvPr/>
        </p:nvPicPr>
        <p:blipFill>
          <a:blip r:embed="rId12"/>
          <a:stretch>
            <a:fillRect/>
          </a:stretch>
        </p:blipFill>
        <p:spPr>
          <a:xfrm>
            <a:off x="749808" y="5605272"/>
            <a:ext cx="329184" cy="329184"/>
          </a:xfrm>
          <a:prstGeom prst="rect">
            <a:avLst/>
          </a:prstGeom>
        </p:spPr>
      </p:pic>
      <p:sp>
        <p:nvSpPr>
          <p:cNvPr id="30" name="caution"/>
          <p:cNvSpPr txBox="1"/>
          <p:nvPr/>
        </p:nvSpPr>
        <p:spPr>
          <a:xfrm>
            <a:off x="1234440" y="5440680"/>
            <a:ext cx="10241280" cy="658368"/>
          </a:xfrm>
          <a:prstGeom prst="rect">
            <a:avLst/>
          </a:prstGeom>
          <a:noFill/>
          <a:ln/>
        </p:spPr>
        <p:txBody>
          <a:bodyPr wrap="square" lIns="0" tIns="0" rIns="0" bIns="0" rtlCol="0" anchor="ctr"/>
          <a:lstStyle/>
          <a:p>
            <a:pPr indent="0" marL="0">
              <a:buNone/>
            </a:pPr>
            <a:r>
              <a:rPr lang="en-US" sz="1500" dirty="0">
                <a:solidFill>
                  <a:srgbClr val="B9C2D8"/>
                </a:solidFill>
                <a:latin typeface="Calibri" pitchFamily="34" charset="0"/>
                <a:ea typeface="Calibri" pitchFamily="34" charset="-122"/>
                <a:cs typeface="Calibri" pitchFamily="34" charset="-120"/>
              </a:rPr>
              <a:t>Microwave links sense rain; fibre doesn’t. How many usable links Jio has in Mumbai is the first thing our pilot measures.</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1"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19" fill="hold">
                            <p:stCondLst>
                              <p:cond delay="1300"/>
                            </p:stCondLst>
                            <p:childTnLst>
                              <p:par>
                                <p:cTn id="20" presetID="22" presetClass="entr" presetSubtype="8"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700"/>
                                        <p:tgtEl>
                                          <p:spTgt spid="8"/>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par>
                          <p:cTn id="54" fill="hold">
                            <p:stCondLst>
                              <p:cond delay="2500"/>
                            </p:stCondLst>
                            <p:childTnLst>
                              <p:par>
                                <p:cTn id="55" presetID="42" presetClass="entr" presetSubtype="0" fill="hold" grpId="0" nodeType="afterEffect">
                                  <p:stCondLst>
                                    <p:cond delay="4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50"/>
                                        <p:tgtEl>
                                          <p:spTgt spid="19"/>
                                        </p:tgtEl>
                                      </p:cBhvr>
                                    </p:animEffect>
                                    <p:anim calcmode="lin" valueType="num">
                                      <p:cBhvr>
                                        <p:cTn id="58" dur="450" fill="hold"/>
                                        <p:tgtEl>
                                          <p:spTgt spid="19"/>
                                        </p:tgtEl>
                                        <p:attrNameLst>
                                          <p:attrName>ppt_x</p:attrName>
                                        </p:attrNameLst>
                                      </p:cBhvr>
                                      <p:tavLst>
                                        <p:tav tm="0">
                                          <p:val>
                                            <p:strVal val="#ppt_x"/>
                                          </p:val>
                                        </p:tav>
                                        <p:tav tm="100000">
                                          <p:val>
                                            <p:strVal val="#ppt_x"/>
                                          </p:val>
                                        </p:tav>
                                      </p:tavLst>
                                    </p:anim>
                                    <p:anim calcmode="lin" valueType="num">
                                      <p:cBhvr>
                                        <p:cTn id="59" dur="450" fill="hold"/>
                                        <p:tgtEl>
                                          <p:spTgt spid="19"/>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450"/>
                                        <p:tgtEl>
                                          <p:spTgt spid="20"/>
                                        </p:tgtEl>
                                      </p:cBhvr>
                                    </p:animEffect>
                                    <p:anim calcmode="lin" valueType="num">
                                      <p:cBhvr>
                                        <p:cTn id="63" dur="450" fill="hold"/>
                                        <p:tgtEl>
                                          <p:spTgt spid="20"/>
                                        </p:tgtEl>
                                        <p:attrNameLst>
                                          <p:attrName>ppt_x</p:attrName>
                                        </p:attrNameLst>
                                      </p:cBhvr>
                                      <p:tavLst>
                                        <p:tav tm="0">
                                          <p:val>
                                            <p:strVal val="#ppt_x"/>
                                          </p:val>
                                        </p:tav>
                                        <p:tav tm="100000">
                                          <p:val>
                                            <p:strVal val="#ppt_x"/>
                                          </p:val>
                                        </p:tav>
                                      </p:tavLst>
                                    </p:anim>
                                    <p:anim calcmode="lin" valueType="num">
                                      <p:cBhvr>
                                        <p:cTn id="64" dur="450" fill="hold"/>
                                        <p:tgtEl>
                                          <p:spTgt spid="20"/>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450"/>
                                        <p:tgtEl>
                                          <p:spTgt spid="21"/>
                                        </p:tgtEl>
                                      </p:cBhvr>
                                    </p:animEffect>
                                    <p:anim calcmode="lin" valueType="num">
                                      <p:cBhvr>
                                        <p:cTn id="68" dur="450" fill="hold"/>
                                        <p:tgtEl>
                                          <p:spTgt spid="21"/>
                                        </p:tgtEl>
                                        <p:attrNameLst>
                                          <p:attrName>ppt_x</p:attrName>
                                        </p:attrNameLst>
                                      </p:cBhvr>
                                      <p:tavLst>
                                        <p:tav tm="0">
                                          <p:val>
                                            <p:strVal val="#ppt_x"/>
                                          </p:val>
                                        </p:tav>
                                        <p:tav tm="100000">
                                          <p:val>
                                            <p:strVal val="#ppt_x"/>
                                          </p:val>
                                        </p:tav>
                                      </p:tavLst>
                                    </p:anim>
                                    <p:anim calcmode="lin" valueType="num">
                                      <p:cBhvr>
                                        <p:cTn id="69" dur="450" fill="hold"/>
                                        <p:tgtEl>
                                          <p:spTgt spid="21"/>
                                        </p:tgtEl>
                                        <p:attrNameLst>
                                          <p:attrName>ppt_y</p:attrName>
                                        </p:attrNameLst>
                                      </p:cBhvr>
                                      <p:tavLst>
                                        <p:tav tm="0">
                                          <p:val>
                                            <p:strVal val="#ppt_y+.06"/>
                                          </p:val>
                                        </p:tav>
                                        <p:tav tm="100000">
                                          <p:val>
                                            <p:strVal val="#ppt_y"/>
                                          </p:val>
                                        </p:tav>
                                      </p:tavLst>
                                    </p:anim>
                                  </p:childTnLst>
                                </p:cTn>
                              </p:par>
                            </p:childTnLst>
                          </p:cTn>
                        </p:par>
                        <p:par>
                          <p:cTn id="70" fill="hold">
                            <p:stCondLst>
                              <p:cond delay="2990"/>
                            </p:stCondLst>
                            <p:childTnLst>
                              <p:par>
                                <p:cTn id="71" presetID="42" presetClass="entr" presetSubtype="0" fill="hold" grpId="0" nodeType="afterEffect">
                                  <p:stCondLst>
                                    <p:cond delay="4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50"/>
                                        <p:tgtEl>
                                          <p:spTgt spid="22"/>
                                        </p:tgtEl>
                                      </p:cBhvr>
                                    </p:animEffect>
                                    <p:anim calcmode="lin" valueType="num">
                                      <p:cBhvr>
                                        <p:cTn id="74" dur="450" fill="hold"/>
                                        <p:tgtEl>
                                          <p:spTgt spid="22"/>
                                        </p:tgtEl>
                                        <p:attrNameLst>
                                          <p:attrName>ppt_x</p:attrName>
                                        </p:attrNameLst>
                                      </p:cBhvr>
                                      <p:tavLst>
                                        <p:tav tm="0">
                                          <p:val>
                                            <p:strVal val="#ppt_x"/>
                                          </p:val>
                                        </p:tav>
                                        <p:tav tm="100000">
                                          <p:val>
                                            <p:strVal val="#ppt_x"/>
                                          </p:val>
                                        </p:tav>
                                      </p:tavLst>
                                    </p:anim>
                                    <p:anim calcmode="lin" valueType="num">
                                      <p:cBhvr>
                                        <p:cTn id="75" dur="450" fill="hold"/>
                                        <p:tgtEl>
                                          <p:spTgt spid="22"/>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450"/>
                                        <p:tgtEl>
                                          <p:spTgt spid="23"/>
                                        </p:tgtEl>
                                      </p:cBhvr>
                                    </p:animEffect>
                                    <p:anim calcmode="lin" valueType="num">
                                      <p:cBhvr>
                                        <p:cTn id="79" dur="450" fill="hold"/>
                                        <p:tgtEl>
                                          <p:spTgt spid="23"/>
                                        </p:tgtEl>
                                        <p:attrNameLst>
                                          <p:attrName>ppt_x</p:attrName>
                                        </p:attrNameLst>
                                      </p:cBhvr>
                                      <p:tavLst>
                                        <p:tav tm="0">
                                          <p:val>
                                            <p:strVal val="#ppt_x"/>
                                          </p:val>
                                        </p:tav>
                                        <p:tav tm="100000">
                                          <p:val>
                                            <p:strVal val="#ppt_x"/>
                                          </p:val>
                                        </p:tav>
                                      </p:tavLst>
                                    </p:anim>
                                    <p:anim calcmode="lin" valueType="num">
                                      <p:cBhvr>
                                        <p:cTn id="80" dur="450" fill="hold"/>
                                        <p:tgtEl>
                                          <p:spTgt spid="23"/>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450"/>
                                        <p:tgtEl>
                                          <p:spTgt spid="24"/>
                                        </p:tgtEl>
                                      </p:cBhvr>
                                    </p:animEffect>
                                    <p:anim calcmode="lin" valueType="num">
                                      <p:cBhvr>
                                        <p:cTn id="84" dur="450" fill="hold"/>
                                        <p:tgtEl>
                                          <p:spTgt spid="24"/>
                                        </p:tgtEl>
                                        <p:attrNameLst>
                                          <p:attrName>ppt_x</p:attrName>
                                        </p:attrNameLst>
                                      </p:cBhvr>
                                      <p:tavLst>
                                        <p:tav tm="0">
                                          <p:val>
                                            <p:strVal val="#ppt_x"/>
                                          </p:val>
                                        </p:tav>
                                        <p:tav tm="100000">
                                          <p:val>
                                            <p:strVal val="#ppt_x"/>
                                          </p:val>
                                        </p:tav>
                                      </p:tavLst>
                                    </p:anim>
                                    <p:anim calcmode="lin" valueType="num">
                                      <p:cBhvr>
                                        <p:cTn id="85" dur="450" fill="hold"/>
                                        <p:tgtEl>
                                          <p:spTgt spid="24"/>
                                        </p:tgtEl>
                                        <p:attrNameLst>
                                          <p:attrName>ppt_y</p:attrName>
                                        </p:attrNameLst>
                                      </p:cBhvr>
                                      <p:tavLst>
                                        <p:tav tm="0">
                                          <p:val>
                                            <p:strVal val="#ppt_y+.06"/>
                                          </p:val>
                                        </p:tav>
                                        <p:tav tm="100000">
                                          <p:val>
                                            <p:strVal val="#ppt_y"/>
                                          </p:val>
                                        </p:tav>
                                      </p:tavLst>
                                    </p:anim>
                                  </p:childTnLst>
                                </p:cTn>
                              </p:par>
                            </p:childTnLst>
                          </p:cTn>
                        </p:par>
                        <p:par>
                          <p:cTn id="86" fill="hold">
                            <p:stCondLst>
                              <p:cond delay="3480"/>
                            </p:stCondLst>
                            <p:childTnLst>
                              <p:par>
                                <p:cTn id="87" presetID="42" presetClass="entr" presetSubtype="0" fill="hold" grpId="0" nodeType="afterEffect">
                                  <p:stCondLst>
                                    <p:cond delay="4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450"/>
                                        <p:tgtEl>
                                          <p:spTgt spid="25"/>
                                        </p:tgtEl>
                                      </p:cBhvr>
                                    </p:animEffect>
                                    <p:anim calcmode="lin" valueType="num">
                                      <p:cBhvr>
                                        <p:cTn id="90" dur="450" fill="hold"/>
                                        <p:tgtEl>
                                          <p:spTgt spid="25"/>
                                        </p:tgtEl>
                                        <p:attrNameLst>
                                          <p:attrName>ppt_x</p:attrName>
                                        </p:attrNameLst>
                                      </p:cBhvr>
                                      <p:tavLst>
                                        <p:tav tm="0">
                                          <p:val>
                                            <p:strVal val="#ppt_x"/>
                                          </p:val>
                                        </p:tav>
                                        <p:tav tm="100000">
                                          <p:val>
                                            <p:strVal val="#ppt_x"/>
                                          </p:val>
                                        </p:tav>
                                      </p:tavLst>
                                    </p:anim>
                                    <p:anim calcmode="lin" valueType="num">
                                      <p:cBhvr>
                                        <p:cTn id="91" dur="450" fill="hold"/>
                                        <p:tgtEl>
                                          <p:spTgt spid="25"/>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450"/>
                                        <p:tgtEl>
                                          <p:spTgt spid="26"/>
                                        </p:tgtEl>
                                      </p:cBhvr>
                                    </p:animEffect>
                                    <p:anim calcmode="lin" valueType="num">
                                      <p:cBhvr>
                                        <p:cTn id="95" dur="450" fill="hold"/>
                                        <p:tgtEl>
                                          <p:spTgt spid="26"/>
                                        </p:tgtEl>
                                        <p:attrNameLst>
                                          <p:attrName>ppt_x</p:attrName>
                                        </p:attrNameLst>
                                      </p:cBhvr>
                                      <p:tavLst>
                                        <p:tav tm="0">
                                          <p:val>
                                            <p:strVal val="#ppt_x"/>
                                          </p:val>
                                        </p:tav>
                                        <p:tav tm="100000">
                                          <p:val>
                                            <p:strVal val="#ppt_x"/>
                                          </p:val>
                                        </p:tav>
                                      </p:tavLst>
                                    </p:anim>
                                    <p:anim calcmode="lin" valueType="num">
                                      <p:cBhvr>
                                        <p:cTn id="96" dur="450" fill="hold"/>
                                        <p:tgtEl>
                                          <p:spTgt spid="26"/>
                                        </p:tgtEl>
                                        <p:attrNameLst>
                                          <p:attrName>ppt_y</p:attrName>
                                        </p:attrNameLst>
                                      </p:cBhvr>
                                      <p:tavLst>
                                        <p:tav tm="0">
                                          <p:val>
                                            <p:strVal val="#ppt_y+.06"/>
                                          </p:val>
                                        </p:tav>
                                        <p:tav tm="100000">
                                          <p:val>
                                            <p:strVal val="#ppt_y"/>
                                          </p:val>
                                        </p:tav>
                                      </p:tavLst>
                                    </p:anim>
                                  </p:childTnLst>
                                </p:cTn>
                              </p:par>
                            </p:childTnLst>
                          </p:cTn>
                        </p:par>
                        <p:par>
                          <p:cTn id="97" fill="hold">
                            <p:stCondLst>
                              <p:cond delay="3970"/>
                            </p:stCondLst>
                            <p:childTnLst>
                              <p:par>
                                <p:cTn id="98" presetID="10" presetClass="entr" presetSubtype="0" fill="hold" grpId="0" nodeType="afterEffect">
                                  <p:stCondLst>
                                    <p:cond delay="10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600"/>
                                        <p:tgtEl>
                                          <p:spTgt spid="27"/>
                                        </p:tgtEl>
                                      </p:cBhvr>
                                    </p:animEffect>
                                  </p:childTnLst>
                                </p:cTn>
                              </p:par>
                            </p:childTnLst>
                          </p:cTn>
                        </p:par>
                        <p:par>
                          <p:cTn id="101" fill="hold">
                            <p:stCondLst>
                              <p:cond delay="4670"/>
                            </p:stCondLst>
                            <p:childTnLst>
                              <p:par>
                                <p:cTn id="102" presetID="10" presetClass="entr" presetSubtype="0" fill="hold" grpId="0" nodeType="afterEffect">
                                  <p:stCondLst>
                                    <p:cond delay="8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500"/>
                                        <p:tgtEl>
                                          <p:spTgt spid="2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500"/>
                                        <p:tgtEl>
                                          <p:spTgt spid="2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animBg="1"/>
      <p:bldP spid="9" grpId="0"/>
      <p:bldP spid="18" grpId="0"/>
      <p:bldP spid="19" grpId="0" animBg="1"/>
      <p:bldP spid="20" grpId="0"/>
      <p:bldP spid="21" grpId="0" animBg="1"/>
      <p:bldP spid="22" grpId="0" animBg="1"/>
      <p:bldP spid="23" grpId="0"/>
      <p:bldP spid="24" grpId="0" animBg="1"/>
      <p:bldP spid="25" grpId="0" animBg="1"/>
      <p:bldP spid="26" grpId="0"/>
      <p:bldP spid="27" grpId="0"/>
      <p:bldP spid="28" grpId="0" animBg="1"/>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PROOF</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We tested the physics before the business</a:t>
            </a:r>
            <a:endParaRPr lang="en-US" sz="3200" dirty="0"/>
          </a:p>
        </p:txBody>
      </p:sp>
      <p:sp>
        <p:nvSpPr>
          <p:cNvPr id="6" name="dataLab"/>
          <p:cNvSpPr txBox="1"/>
          <p:nvPr/>
        </p:nvSpPr>
        <p:spPr>
          <a:xfrm>
            <a:off x="548640" y="1938528"/>
            <a:ext cx="7498080" cy="274320"/>
          </a:xfrm>
          <a:prstGeom prst="rect">
            <a:avLst/>
          </a:prstGeom>
          <a:noFill/>
          <a:ln/>
        </p:spPr>
        <p:txBody>
          <a:bodyPr wrap="square" lIns="0" tIns="0" rIns="0" bIns="0" rtlCol="0" anchor="t"/>
          <a:lstStyle/>
          <a:p>
            <a:pPr indent="0" marL="0">
              <a:buNone/>
            </a:pPr>
            <a:r>
              <a:rPr lang="en-US" sz="1250" b="1" dirty="0">
                <a:solidFill>
                  <a:srgbClr val="F5A623"/>
                </a:solidFill>
                <a:latin typeface="Calibri" pitchFamily="34" charset="0"/>
                <a:ea typeface="Calibri" pitchFamily="34" charset="-122"/>
                <a:cs typeface="Calibri" pitchFamily="34" charset="-120"/>
              </a:rPr>
              <a:t>Public research dataset  ·  500 real microwave links in Germany  ·  11 days  ·  not Jio data</a:t>
            </a:r>
            <a:endParaRPr lang="en-US" sz="1250" dirty="0"/>
          </a:p>
        </p:txBody>
      </p:sp>
      <p:graphicFrame>
        <p:nvGraphicFramePr>
          <p:cNvPr id="7" name="chart" descr=""/>
          <p:cNvGraphicFramePr/>
          <p:nvPr/>
        </p:nvGraphicFramePr>
        <p:xfrm>
          <a:off x="411480" y="2240280"/>
          <a:ext cx="7315200" cy="3520440"/>
        </p:xfrm>
        <a:graphic xmlns:a="http://schemas.openxmlformats.org/drawingml/2006/main">
          <a:graphicData uri="http://schemas.openxmlformats.org/drawingml/2006/chart">
            <c:chart xmlns:c="http://schemas.openxmlformats.org/drawingml/2006/chart" r:id="rId2"/>
          </a:graphicData>
        </a:graphic>
      </p:graphicFrame>
      <p:sp>
        <p:nvSpPr>
          <p:cNvPr id="8" name="st1"/>
          <p:cNvSpPr txBox="1"/>
          <p:nvPr/>
        </p:nvSpPr>
        <p:spPr>
          <a:xfrm>
            <a:off x="8092440" y="1965960"/>
            <a:ext cx="35661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0.95</a:t>
            </a:r>
            <a:endParaRPr lang="en-US" sz="4000" dirty="0"/>
          </a:p>
          <a:p>
            <a:pPr indent="0" marL="0">
              <a:buNone/>
            </a:pPr>
            <a:r>
              <a:rPr lang="en-US" sz="1400" dirty="0">
                <a:solidFill>
                  <a:srgbClr val="B9C2D8"/>
                </a:solidFill>
                <a:latin typeface="Calibri" pitchFamily="34" charset="0"/>
                <a:ea typeface="Calibri" pitchFamily="34" charset="-122"/>
                <a:cs typeface="Calibri" pitchFamily="34" charset="-120"/>
              </a:rPr>
              <a:t>network-wide match with radar, hour by hour, on unseen days</a:t>
            </a:r>
            <a:endParaRPr lang="en-US" sz="4000" dirty="0"/>
          </a:p>
        </p:txBody>
      </p:sp>
      <p:sp>
        <p:nvSpPr>
          <p:cNvPr id="9" name="st2"/>
          <p:cNvSpPr txBox="1"/>
          <p:nvPr/>
        </p:nvSpPr>
        <p:spPr>
          <a:xfrm>
            <a:off x="8092440" y="3017520"/>
            <a:ext cx="35661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0.88</a:t>
            </a:r>
            <a:endParaRPr lang="en-US" sz="4000" dirty="0"/>
          </a:p>
          <a:p>
            <a:pPr indent="0" marL="0">
              <a:buNone/>
            </a:pPr>
            <a:r>
              <a:rPr lang="en-US" sz="1400" dirty="0">
                <a:solidFill>
                  <a:srgbClr val="B9C2D8"/>
                </a:solidFill>
                <a:latin typeface="Calibri" pitchFamily="34" charset="0"/>
                <a:ea typeface="Calibri" pitchFamily="34" charset="-122"/>
                <a:cs typeface="Calibri" pitchFamily="34" charset="-120"/>
              </a:rPr>
              <a:t>typical single link on its own</a:t>
            </a:r>
            <a:endParaRPr lang="en-US" sz="4000" dirty="0"/>
          </a:p>
        </p:txBody>
      </p:sp>
      <p:sp>
        <p:nvSpPr>
          <p:cNvPr id="10" name="gapCard"/>
          <p:cNvSpPr/>
          <p:nvPr/>
        </p:nvSpPr>
        <p:spPr>
          <a:xfrm>
            <a:off x="8001000" y="4114800"/>
            <a:ext cx="3639312" cy="1691640"/>
          </a:xfrm>
          <a:prstGeom prst="roundRect">
            <a:avLst>
              <a:gd name="adj" fmla="val 6486"/>
            </a:avLst>
          </a:prstGeom>
          <a:solidFill>
            <a:srgbClr val="2A1622"/>
          </a:solidFill>
          <a:ln w="12700">
            <a:solidFill>
              <a:srgbClr val="E5484D"/>
            </a:solidFill>
            <a:prstDash val="solid"/>
          </a:ln>
        </p:spPr>
      </p:sp>
      <p:sp>
        <p:nvSpPr>
          <p:cNvPr id="11" name="gapK"/>
          <p:cNvSpPr txBox="1"/>
          <p:nvPr/>
        </p:nvSpPr>
        <p:spPr>
          <a:xfrm>
            <a:off x="8229600" y="4224528"/>
            <a:ext cx="3200400" cy="256032"/>
          </a:xfrm>
          <a:prstGeom prst="rect">
            <a:avLst/>
          </a:prstGeom>
          <a:noFill/>
          <a:ln/>
        </p:spPr>
        <p:txBody>
          <a:bodyPr wrap="square" lIns="0" tIns="0" rIns="0" bIns="0" rtlCol="0" anchor="t"/>
          <a:lstStyle/>
          <a:p>
            <a:pPr indent="0" marL="0">
              <a:buNone/>
            </a:pPr>
            <a:r>
              <a:rPr lang="en-US" sz="1100" b="1" spc="200" kern="0" dirty="0">
                <a:solidFill>
                  <a:srgbClr val="FF8A8D"/>
                </a:solidFill>
                <a:latin typeface="Calibri" pitchFamily="34" charset="0"/>
                <a:ea typeface="Calibri" pitchFamily="34" charset="-122"/>
                <a:cs typeface="Calibri" pitchFamily="34" charset="-120"/>
              </a:rPr>
              <a:t>BUT TO PAY CLAIMS</a:t>
            </a:r>
            <a:endParaRPr lang="en-US" sz="1100" dirty="0"/>
          </a:p>
        </p:txBody>
      </p:sp>
      <p:sp>
        <p:nvSpPr>
          <p:cNvPr id="12" name="gapT"/>
          <p:cNvSpPr txBox="1"/>
          <p:nvPr/>
        </p:nvSpPr>
        <p:spPr>
          <a:xfrm>
            <a:off x="8229600" y="4480560"/>
            <a:ext cx="3291840" cy="12801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68%</a:t>
            </a:r>
            <a:pPr indent="0" marL="0">
              <a:buNone/>
            </a:pPr>
            <a:r>
              <a:rPr lang="en-US" sz="1400" dirty="0">
                <a:solidFill>
                  <a:srgbClr val="B9C2D8"/>
                </a:solidFill>
                <a:latin typeface="Calibri" pitchFamily="34" charset="0"/>
                <a:ea typeface="Calibri" pitchFamily="34" charset="-122"/>
                <a:cs typeface="Calibri" pitchFamily="34" charset="-120"/>
              </a:rPr>
              <a:t>  payout events caught</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18%</a:t>
            </a:r>
            <a:pPr indent="0" marL="0">
              <a:buNone/>
            </a:pPr>
            <a:r>
              <a:rPr lang="en-US" sz="1400" dirty="0">
                <a:solidFill>
                  <a:srgbClr val="B9C2D8"/>
                </a:solidFill>
                <a:latin typeface="Calibri" pitchFamily="34" charset="0"/>
                <a:ea typeface="Calibri" pitchFamily="34" charset="-122"/>
                <a:cs typeface="Calibri" pitchFamily="34" charset="-120"/>
              </a:rPr>
              <a:t>  false triggers</a:t>
            </a:r>
            <a:endParaRPr lang="en-US" sz="3200" dirty="0"/>
          </a:p>
        </p:txBody>
      </p:sp>
      <p:sp>
        <p:nvSpPr>
          <p:cNvPr id="13" name="bridge"/>
          <p:cNvSpPr txBox="1"/>
          <p:nvPr/>
        </p:nvSpPr>
        <p:spPr>
          <a:xfrm>
            <a:off x="548640" y="5925312"/>
            <a:ext cx="11064240" cy="384048"/>
          </a:xfrm>
          <a:prstGeom prst="rect">
            <a:avLst/>
          </a:prstGeom>
          <a:noFill/>
          <a:ln/>
        </p:spPr>
        <p:txBody>
          <a:bodyPr wrap="square" lIns="0" tIns="0" rIns="0" bIns="0" rtlCol="0" anchor="t"/>
          <a:lstStyle/>
          <a:p>
            <a:pPr indent="0" marL="0">
              <a:buNone/>
            </a:pPr>
            <a:r>
              <a:rPr lang="en-US" sz="1900" b="1" i="1" dirty="0">
                <a:solidFill>
                  <a:srgbClr val="F5A623"/>
                </a:solidFill>
                <a:latin typeface="Cambria" pitchFamily="34" charset="0"/>
                <a:ea typeface="Cambria" pitchFamily="34" charset="-122"/>
                <a:cs typeface="Cambria" pitchFamily="34" charset="-120"/>
              </a:rPr>
              <a:t>The sensing works. It isn’t insurance-grade yet. That’s what we fix next.</a:t>
            </a:r>
            <a:endParaRPr lang="en-US" sz="1900" dirty="0"/>
          </a:p>
        </p:txBody>
      </p:sp>
      <p:sp>
        <p:nvSpPr>
          <p:cNvPr id="14"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6F7AA0"/>
                </a:solidFill>
                <a:latin typeface="Calibri" pitchFamily="34" charset="0"/>
                <a:ea typeface="Calibri" pitchFamily="34" charset="-122"/>
                <a:cs typeface="Calibri" pitchFamily="34" charset="-120"/>
              </a:rPr>
              <a:t>Tuned once (×1.17) on 10–12 May 2018, scored on 13–20 May. Payout events: 10 mm in 3 hours per 4 km square. Reference: German Weather Service radar.</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childTnLst>
                          </p:cTn>
                        </p:par>
                        <p:par>
                          <p:cTn id="16" fill="hold">
                            <p:stCondLst>
                              <p:cond delay="1150"/>
                            </p:stCondLst>
                            <p:childTnLst>
                              <p:par>
                                <p:cTn id="17" presetID="22" presetClass="entr" presetSubtype="8" fill="hold" grpId="0" nodeType="afterEffect">
                                  <p:stCondLst>
                                    <p:cond delay="5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1500"/>
                                        <p:tgtEl>
                                          <p:spTgt spid="7"/>
                                        </p:tgtEl>
                                      </p:cBhvr>
                                    </p:animEffect>
                                  </p:childTnLst>
                                </p:cTn>
                              </p:par>
                            </p:childTnLst>
                          </p:cTn>
                        </p:par>
                        <p:par>
                          <p:cTn id="20" fill="hold">
                            <p:stCondLst>
                              <p:cond delay="2700"/>
                            </p:stCondLst>
                            <p:childTnLst>
                              <p:par>
                                <p:cTn id="21" presetID="42"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ppt_x</p:attrName>
                                        </p:attrNameLst>
                                      </p:cBhvr>
                                      <p:tavLst>
                                        <p:tav tm="0">
                                          <p:val>
                                            <p:strVal val="#ppt_x"/>
                                          </p:val>
                                        </p:tav>
                                        <p:tav tm="100000">
                                          <p:val>
                                            <p:strVal val="#ppt_x"/>
                                          </p:val>
                                        </p:tav>
                                      </p:tavLst>
                                    </p:anim>
                                    <p:anim calcmode="lin" valueType="num">
                                      <p:cBhvr>
                                        <p:cTn id="25" dur="500" fill="hold"/>
                                        <p:tgtEl>
                                          <p:spTgt spid="8"/>
                                        </p:tgtEl>
                                        <p:attrNameLst>
                                          <p:attrName>ppt_y</p:attrName>
                                        </p:attrNameLst>
                                      </p:cBhvr>
                                      <p:tavLst>
                                        <p:tav tm="0">
                                          <p:val>
                                            <p:strVal val="#ppt_y+.06"/>
                                          </p:val>
                                        </p:tav>
                                        <p:tav tm="100000">
                                          <p:val>
                                            <p:strVal val="#ppt_y"/>
                                          </p:val>
                                        </p:tav>
                                      </p:tavLst>
                                    </p:anim>
                                  </p:childTnLst>
                                </p:cTn>
                              </p:par>
                            </p:childTnLst>
                          </p:cTn>
                        </p:par>
                        <p:par>
                          <p:cTn id="26" fill="hold">
                            <p:stCondLst>
                              <p:cond delay="3200"/>
                            </p:stCondLst>
                            <p:childTnLst>
                              <p:par>
                                <p:cTn id="27" presetID="42" presetClass="entr" presetSubtype="0" fill="hold" grpId="0" nodeType="afterEffect">
                                  <p:stCondLst>
                                    <p:cond delay="5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anim calcmode="lin" valueType="num">
                                      <p:cBhvr>
                                        <p:cTn id="30" dur="500" fill="hold"/>
                                        <p:tgtEl>
                                          <p:spTgt spid="9"/>
                                        </p:tgtEl>
                                        <p:attrNameLst>
                                          <p:attrName>ppt_x</p:attrName>
                                        </p:attrNameLst>
                                      </p:cBhvr>
                                      <p:tavLst>
                                        <p:tav tm="0">
                                          <p:val>
                                            <p:strVal val="#ppt_x"/>
                                          </p:val>
                                        </p:tav>
                                        <p:tav tm="100000">
                                          <p:val>
                                            <p:strVal val="#ppt_x"/>
                                          </p:val>
                                        </p:tav>
                                      </p:tavLst>
                                    </p:anim>
                                    <p:anim calcmode="lin" valueType="num">
                                      <p:cBhvr>
                                        <p:cTn id="31" dur="500" fill="hold"/>
                                        <p:tgtEl>
                                          <p:spTgt spid="9"/>
                                        </p:tgtEl>
                                        <p:attrNameLst>
                                          <p:attrName>ppt_y</p:attrName>
                                        </p:attrNameLst>
                                      </p:cBhvr>
                                      <p:tavLst>
                                        <p:tav tm="0">
                                          <p:val>
                                            <p:strVal val="#ppt_y+.06"/>
                                          </p:val>
                                        </p:tav>
                                        <p:tav tm="100000">
                                          <p:val>
                                            <p:strVal val="#ppt_y"/>
                                          </p:val>
                                        </p:tav>
                                      </p:tavLst>
                                    </p:anim>
                                  </p:childTnLst>
                                </p:cTn>
                              </p:par>
                            </p:childTnLst>
                          </p:cTn>
                        </p:par>
                        <p:par>
                          <p:cTn id="32" fill="hold">
                            <p:stCondLst>
                              <p:cond delay="3750"/>
                            </p:stCondLst>
                            <p:childTnLst>
                              <p:par>
                                <p:cTn id="33" presetID="53" presetClass="entr" presetSubtype="16" fill="hold" grpId="0" nodeType="afterEffect">
                                  <p:stCondLst>
                                    <p:cond delay="150"/>
                                  </p:stCondLst>
                                  <p:childTnLst>
                                    <p:set>
                                      <p:cBhvr>
                                        <p:cTn id="34" dur="1" fill="hold">
                                          <p:stCondLst>
                                            <p:cond delay="0"/>
                                          </p:stCondLst>
                                        </p:cTn>
                                        <p:tgtEl>
                                          <p:spTgt spid="10"/>
                                        </p:tgtEl>
                                        <p:attrNameLst>
                                          <p:attrName>style.visibility</p:attrName>
                                        </p:attrNameLst>
                                      </p:cBhvr>
                                      <p:to>
                                        <p:strVal val="visible"/>
                                      </p:to>
                                    </p:set>
                                    <p:anim calcmode="lin" valueType="num">
                                      <p:cBhvr>
                                        <p:cTn id="35" dur="600" fill="hold"/>
                                        <p:tgtEl>
                                          <p:spTgt spid="10"/>
                                        </p:tgtEl>
                                        <p:attrNameLst>
                                          <p:attrName>ppt_w</p:attrName>
                                        </p:attrNameLst>
                                      </p:cBhvr>
                                      <p:tavLst>
                                        <p:tav tm="0">
                                          <p:val>
                                            <p:strVal val="#ppt_w*.82"/>
                                          </p:val>
                                        </p:tav>
                                        <p:tav tm="100000">
                                          <p:val>
                                            <p:strVal val="#ppt_w"/>
                                          </p:val>
                                        </p:tav>
                                      </p:tavLst>
                                    </p:anim>
                                    <p:anim calcmode="lin" valueType="num">
                                      <p:cBhvr>
                                        <p:cTn id="36" dur="600" fill="hold"/>
                                        <p:tgtEl>
                                          <p:spTgt spid="10"/>
                                        </p:tgtEl>
                                        <p:attrNameLst>
                                          <p:attrName>ppt_h</p:attrName>
                                        </p:attrNameLst>
                                      </p:cBhvr>
                                      <p:tavLst>
                                        <p:tav tm="0">
                                          <p:val>
                                            <p:strVal val="#ppt_h*.82"/>
                                          </p:val>
                                        </p:tav>
                                        <p:tav tm="100000">
                                          <p:val>
                                            <p:strVal val="#ppt_h"/>
                                          </p:val>
                                        </p:tav>
                                      </p:tavLst>
                                    </p:anim>
                                    <p:animEffect transition="in" filter="fade">
                                      <p:cBhvr>
                                        <p:cTn id="37" dur="600"/>
                                        <p:tgtEl>
                                          <p:spTgt spid="10"/>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600" fill="hold"/>
                                        <p:tgtEl>
                                          <p:spTgt spid="11"/>
                                        </p:tgtEl>
                                        <p:attrNameLst>
                                          <p:attrName>ppt_w</p:attrName>
                                        </p:attrNameLst>
                                      </p:cBhvr>
                                      <p:tavLst>
                                        <p:tav tm="0">
                                          <p:val>
                                            <p:strVal val="#ppt_w*.82"/>
                                          </p:val>
                                        </p:tav>
                                        <p:tav tm="100000">
                                          <p:val>
                                            <p:strVal val="#ppt_w"/>
                                          </p:val>
                                        </p:tav>
                                      </p:tavLst>
                                    </p:anim>
                                    <p:anim calcmode="lin" valueType="num">
                                      <p:cBhvr>
                                        <p:cTn id="41" dur="600" fill="hold"/>
                                        <p:tgtEl>
                                          <p:spTgt spid="11"/>
                                        </p:tgtEl>
                                        <p:attrNameLst>
                                          <p:attrName>ppt_h</p:attrName>
                                        </p:attrNameLst>
                                      </p:cBhvr>
                                      <p:tavLst>
                                        <p:tav tm="0">
                                          <p:val>
                                            <p:strVal val="#ppt_h*.82"/>
                                          </p:val>
                                        </p:tav>
                                        <p:tav tm="100000">
                                          <p:val>
                                            <p:strVal val="#ppt_h"/>
                                          </p:val>
                                        </p:tav>
                                      </p:tavLst>
                                    </p:anim>
                                    <p:animEffect transition="in" filter="fade">
                                      <p:cBhvr>
                                        <p:cTn id="42" dur="600"/>
                                        <p:tgtEl>
                                          <p:spTgt spid="11"/>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600" fill="hold"/>
                                        <p:tgtEl>
                                          <p:spTgt spid="12"/>
                                        </p:tgtEl>
                                        <p:attrNameLst>
                                          <p:attrName>ppt_w</p:attrName>
                                        </p:attrNameLst>
                                      </p:cBhvr>
                                      <p:tavLst>
                                        <p:tav tm="0">
                                          <p:val>
                                            <p:strVal val="#ppt_w*.82"/>
                                          </p:val>
                                        </p:tav>
                                        <p:tav tm="100000">
                                          <p:val>
                                            <p:strVal val="#ppt_w"/>
                                          </p:val>
                                        </p:tav>
                                      </p:tavLst>
                                    </p:anim>
                                    <p:anim calcmode="lin" valueType="num">
                                      <p:cBhvr>
                                        <p:cTn id="46" dur="600" fill="hold"/>
                                        <p:tgtEl>
                                          <p:spTgt spid="12"/>
                                        </p:tgtEl>
                                        <p:attrNameLst>
                                          <p:attrName>ppt_h</p:attrName>
                                        </p:attrNameLst>
                                      </p:cBhvr>
                                      <p:tavLst>
                                        <p:tav tm="0">
                                          <p:val>
                                            <p:strVal val="#ppt_h*.82"/>
                                          </p:val>
                                        </p:tav>
                                        <p:tav tm="100000">
                                          <p:val>
                                            <p:strVal val="#ppt_h"/>
                                          </p:val>
                                        </p:tav>
                                      </p:tavLst>
                                    </p:anim>
                                    <p:animEffect transition="in" filter="fade">
                                      <p:cBhvr>
                                        <p:cTn id="47" dur="600"/>
                                        <p:tgtEl>
                                          <p:spTgt spid="12"/>
                                        </p:tgtEl>
                                      </p:cBhvr>
                                    </p:animEffect>
                                  </p:childTnLst>
                                </p:cTn>
                              </p:par>
                            </p:childTnLst>
                          </p:cTn>
                        </p:par>
                        <p:par>
                          <p:cTn id="48" fill="hold">
                            <p:stCondLst>
                              <p:cond delay="4500"/>
                            </p:stCondLst>
                            <p:childTnLst>
                              <p:par>
                                <p:cTn id="49" presetID="10" presetClass="entr" presetSubtype="0" fill="hold" grpId="0" nodeType="afterEffect">
                                  <p:stCondLst>
                                    <p:cond delay="15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60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Graphic spid="7" grpId="0">
        <p:bldAsOne/>
      </p:bldGraphic>
      <p:bldP spid="8" grpId="0"/>
      <p:bldP spid="9" grpId="0"/>
      <p:bldP spid="10" grpId="0" animBg="1"/>
      <p:bldP spid="11" grpId="0"/>
      <p:bldP spid="12"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INSURANCE-GRADE BY DESIGN</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No single sensor decides a payout</a:t>
            </a:r>
            <a:endParaRPr lang="en-US" sz="3200" dirty="0"/>
          </a:p>
        </p:txBody>
      </p:sp>
      <p:sp>
        <p:nvSpPr>
          <p:cNvPr id="6" name="src0"/>
          <p:cNvSpPr/>
          <p:nvPr/>
        </p:nvSpPr>
        <p:spPr>
          <a:xfrm>
            <a:off x="548640" y="2103120"/>
            <a:ext cx="4069080" cy="731520"/>
          </a:xfrm>
          <a:prstGeom prst="roundRect">
            <a:avLst>
              <a:gd name="adj" fmla="val 15000"/>
            </a:avLst>
          </a:prstGeom>
          <a:solidFill>
            <a:srgbClr val="1C2447"/>
          </a:solidFill>
          <a:ln w="9525">
            <a:solidFill>
              <a:srgbClr val="F5A623"/>
            </a:solidFill>
            <a:prstDash val="solid"/>
          </a:ln>
        </p:spPr>
      </p:sp>
      <p:pic>
        <p:nvPicPr>
          <p:cNvPr id="7" name="srcI0" descr="preencoded.png">    </p:cNvPr>
          <p:cNvPicPr>
            <a:picLocks noChangeAspect="1"/>
          </p:cNvPicPr>
          <p:nvPr/>
        </p:nvPicPr>
        <p:blipFill>
          <a:blip r:embed="rId2"/>
          <a:stretch>
            <a:fillRect/>
          </a:stretch>
        </p:blipFill>
        <p:spPr>
          <a:xfrm>
            <a:off x="731520" y="2286000"/>
            <a:ext cx="365760" cy="365760"/>
          </a:xfrm>
          <a:prstGeom prst="rect">
            <a:avLst/>
          </a:prstGeom>
        </p:spPr>
      </p:pic>
      <p:sp>
        <p:nvSpPr>
          <p:cNvPr id="8" name="srcT0"/>
          <p:cNvSpPr txBox="1"/>
          <p:nvPr/>
        </p:nvSpPr>
        <p:spPr>
          <a:xfrm>
            <a:off x="1280160" y="2176272"/>
            <a:ext cx="3246120" cy="60350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Jio microwave links</a:t>
            </a:r>
            <a:endParaRPr lang="en-US" sz="1500" dirty="0"/>
          </a:p>
          <a:p>
            <a:pPr indent="0" marL="0">
              <a:buNone/>
            </a:pPr>
            <a:r>
              <a:rPr lang="en-US" sz="1300" dirty="0">
                <a:solidFill>
                  <a:srgbClr val="B9C2D8"/>
                </a:solidFill>
                <a:latin typeface="Calibri" pitchFamily="34" charset="0"/>
                <a:ea typeface="Calibri" pitchFamily="34" charset="-122"/>
                <a:cs typeface="Calibri" pitchFamily="34" charset="-120"/>
              </a:rPr>
              <a:t>Primary: dense, every minute</a:t>
            </a:r>
            <a:endParaRPr lang="en-US" sz="1500" dirty="0"/>
          </a:p>
        </p:txBody>
      </p:sp>
      <p:sp>
        <p:nvSpPr>
          <p:cNvPr id="9" name="srcA0"/>
          <p:cNvSpPr/>
          <p:nvPr/>
        </p:nvSpPr>
        <p:spPr>
          <a:xfrm>
            <a:off x="4617720" y="2468880"/>
            <a:ext cx="640080" cy="1143000"/>
          </a:xfrm>
          <a:prstGeom prst="line">
            <a:avLst/>
          </a:prstGeom>
          <a:noFill/>
          <a:ln w="19050">
            <a:solidFill>
              <a:srgbClr val="5A6690"/>
            </a:solidFill>
            <a:prstDash val="solid"/>
            <a:tailEnd type="triangle"/>
          </a:ln>
        </p:spPr>
      </p:sp>
      <p:sp>
        <p:nvSpPr>
          <p:cNvPr id="10" name="src1"/>
          <p:cNvSpPr/>
          <p:nvPr/>
        </p:nvSpPr>
        <p:spPr>
          <a:xfrm>
            <a:off x="548640" y="2971800"/>
            <a:ext cx="4069080" cy="731520"/>
          </a:xfrm>
          <a:prstGeom prst="roundRect">
            <a:avLst>
              <a:gd name="adj" fmla="val 15000"/>
            </a:avLst>
          </a:prstGeom>
          <a:solidFill>
            <a:srgbClr val="141B36"/>
          </a:solidFill>
          <a:ln w="9525">
            <a:solidFill>
              <a:srgbClr val="2A3357"/>
            </a:solidFill>
            <a:prstDash val="solid"/>
          </a:ln>
        </p:spPr>
      </p:sp>
      <p:pic>
        <p:nvPicPr>
          <p:cNvPr id="11" name="srcI1" descr="preencoded.png">    </p:cNvPr>
          <p:cNvPicPr>
            <a:picLocks noChangeAspect="1"/>
          </p:cNvPicPr>
          <p:nvPr/>
        </p:nvPicPr>
        <p:blipFill>
          <a:blip r:embed="rId3"/>
          <a:stretch>
            <a:fillRect/>
          </a:stretch>
        </p:blipFill>
        <p:spPr>
          <a:xfrm>
            <a:off x="731520" y="3154680"/>
            <a:ext cx="365760" cy="365760"/>
          </a:xfrm>
          <a:prstGeom prst="rect">
            <a:avLst/>
          </a:prstGeom>
        </p:spPr>
      </p:pic>
      <p:sp>
        <p:nvSpPr>
          <p:cNvPr id="12" name="srcT1"/>
          <p:cNvSpPr txBox="1"/>
          <p:nvPr/>
        </p:nvSpPr>
        <p:spPr>
          <a:xfrm>
            <a:off x="1280160" y="3044952"/>
            <a:ext cx="3246120" cy="60350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IMD Doppler radar</a:t>
            </a:r>
            <a:endParaRPr lang="en-US" sz="1500" dirty="0"/>
          </a:p>
          <a:p>
            <a:pPr indent="0" marL="0">
              <a:buNone/>
            </a:pPr>
            <a:r>
              <a:rPr lang="en-US" sz="1300" dirty="0">
                <a:solidFill>
                  <a:srgbClr val="B9C2D8"/>
                </a:solidFill>
                <a:latin typeface="Calibri" pitchFamily="34" charset="0"/>
                <a:ea typeface="Calibri" pitchFamily="34" charset="-122"/>
                <a:cs typeface="Calibri" pitchFamily="34" charset="-120"/>
              </a:rPr>
              <a:t>Validation over the whole city</a:t>
            </a:r>
            <a:endParaRPr lang="en-US" sz="1500" dirty="0"/>
          </a:p>
        </p:txBody>
      </p:sp>
      <p:sp>
        <p:nvSpPr>
          <p:cNvPr id="13" name="srcA1"/>
          <p:cNvSpPr/>
          <p:nvPr/>
        </p:nvSpPr>
        <p:spPr>
          <a:xfrm>
            <a:off x="4617720" y="3337560"/>
            <a:ext cx="640080" cy="274320"/>
          </a:xfrm>
          <a:prstGeom prst="line">
            <a:avLst/>
          </a:prstGeom>
          <a:noFill/>
          <a:ln w="19050">
            <a:solidFill>
              <a:srgbClr val="5A6690"/>
            </a:solidFill>
            <a:prstDash val="solid"/>
            <a:tailEnd type="triangle"/>
          </a:ln>
        </p:spPr>
      </p:sp>
      <p:sp>
        <p:nvSpPr>
          <p:cNvPr id="14" name="src2"/>
          <p:cNvSpPr/>
          <p:nvPr/>
        </p:nvSpPr>
        <p:spPr>
          <a:xfrm>
            <a:off x="548640" y="3840480"/>
            <a:ext cx="4069080" cy="731520"/>
          </a:xfrm>
          <a:prstGeom prst="roundRect">
            <a:avLst>
              <a:gd name="adj" fmla="val 15000"/>
            </a:avLst>
          </a:prstGeom>
          <a:solidFill>
            <a:srgbClr val="141B36"/>
          </a:solidFill>
          <a:ln w="9525">
            <a:solidFill>
              <a:srgbClr val="2A3357"/>
            </a:solidFill>
            <a:prstDash val="solid"/>
          </a:ln>
        </p:spPr>
      </p:sp>
      <p:pic>
        <p:nvPicPr>
          <p:cNvPr id="15" name="srcI2" descr="preencoded.png">    </p:cNvPr>
          <p:cNvPicPr>
            <a:picLocks noChangeAspect="1"/>
          </p:cNvPicPr>
          <p:nvPr/>
        </p:nvPicPr>
        <p:blipFill>
          <a:blip r:embed="rId4"/>
          <a:stretch>
            <a:fillRect/>
          </a:stretch>
        </p:blipFill>
        <p:spPr>
          <a:xfrm>
            <a:off x="731520" y="4023360"/>
            <a:ext cx="365760" cy="365760"/>
          </a:xfrm>
          <a:prstGeom prst="rect">
            <a:avLst/>
          </a:prstGeom>
        </p:spPr>
      </p:pic>
      <p:sp>
        <p:nvSpPr>
          <p:cNvPr id="16" name="srcT2"/>
          <p:cNvSpPr txBox="1"/>
          <p:nvPr/>
        </p:nvSpPr>
        <p:spPr>
          <a:xfrm>
            <a:off x="1280160" y="3913632"/>
            <a:ext cx="3246120" cy="60350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IMD and BMC rain gauges</a:t>
            </a:r>
            <a:endParaRPr lang="en-US" sz="1500" dirty="0"/>
          </a:p>
          <a:p>
            <a:pPr indent="0" marL="0">
              <a:buNone/>
            </a:pPr>
            <a:r>
              <a:rPr lang="en-US" sz="1300" dirty="0">
                <a:solidFill>
                  <a:srgbClr val="B9C2D8"/>
                </a:solidFill>
                <a:latin typeface="Calibri" pitchFamily="34" charset="0"/>
                <a:ea typeface="Calibri" pitchFamily="34" charset="-122"/>
                <a:cs typeface="Calibri" pitchFamily="34" charset="-120"/>
              </a:rPr>
              <a:t>Calibration: ground truth</a:t>
            </a:r>
            <a:endParaRPr lang="en-US" sz="1500" dirty="0"/>
          </a:p>
        </p:txBody>
      </p:sp>
      <p:sp>
        <p:nvSpPr>
          <p:cNvPr id="17" name="srcA2"/>
          <p:cNvSpPr/>
          <p:nvPr/>
        </p:nvSpPr>
        <p:spPr>
          <a:xfrm flipV="1">
            <a:off x="4617720" y="3611880"/>
            <a:ext cx="640080" cy="594360"/>
          </a:xfrm>
          <a:prstGeom prst="line">
            <a:avLst/>
          </a:prstGeom>
          <a:noFill/>
          <a:ln w="19050">
            <a:solidFill>
              <a:srgbClr val="5A6690"/>
            </a:solidFill>
            <a:prstDash val="solid"/>
            <a:tailEnd type="triangle"/>
          </a:ln>
        </p:spPr>
      </p:sp>
      <p:sp>
        <p:nvSpPr>
          <p:cNvPr id="18" name="src3"/>
          <p:cNvSpPr/>
          <p:nvPr/>
        </p:nvSpPr>
        <p:spPr>
          <a:xfrm>
            <a:off x="548640" y="4709160"/>
            <a:ext cx="4069080" cy="731520"/>
          </a:xfrm>
          <a:prstGeom prst="roundRect">
            <a:avLst>
              <a:gd name="adj" fmla="val 15000"/>
            </a:avLst>
          </a:prstGeom>
          <a:solidFill>
            <a:srgbClr val="141B36"/>
          </a:solidFill>
          <a:ln w="9525">
            <a:solidFill>
              <a:srgbClr val="2A3357"/>
            </a:solidFill>
            <a:prstDash val="solid"/>
          </a:ln>
        </p:spPr>
      </p:sp>
      <p:pic>
        <p:nvPicPr>
          <p:cNvPr id="19" name="srcI3" descr="preencoded.png">    </p:cNvPr>
          <p:cNvPicPr>
            <a:picLocks noChangeAspect="1"/>
          </p:cNvPicPr>
          <p:nvPr/>
        </p:nvPicPr>
        <p:blipFill>
          <a:blip r:embed="rId5"/>
          <a:stretch>
            <a:fillRect/>
          </a:stretch>
        </p:blipFill>
        <p:spPr>
          <a:xfrm>
            <a:off x="731520" y="4892040"/>
            <a:ext cx="365760" cy="365760"/>
          </a:xfrm>
          <a:prstGeom prst="rect">
            <a:avLst/>
          </a:prstGeom>
        </p:spPr>
      </p:pic>
      <p:sp>
        <p:nvSpPr>
          <p:cNvPr id="20" name="srcT3"/>
          <p:cNvSpPr txBox="1"/>
          <p:nvPr/>
        </p:nvSpPr>
        <p:spPr>
          <a:xfrm>
            <a:off x="1280160" y="4782312"/>
            <a:ext cx="3246120" cy="603504"/>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Satellite</a:t>
            </a:r>
            <a:endParaRPr lang="en-US" sz="1500" dirty="0"/>
          </a:p>
          <a:p>
            <a:pPr indent="0" marL="0">
              <a:buNone/>
            </a:pPr>
            <a:r>
              <a:rPr lang="en-US" sz="1300" dirty="0">
                <a:solidFill>
                  <a:srgbClr val="B9C2D8"/>
                </a:solidFill>
                <a:latin typeface="Calibri" pitchFamily="34" charset="0"/>
                <a:ea typeface="Calibri" pitchFamily="34" charset="-122"/>
                <a:cs typeface="Calibri" pitchFamily="34" charset="-120"/>
              </a:rPr>
              <a:t>Fallback if the network is down</a:t>
            </a:r>
            <a:endParaRPr lang="en-US" sz="1500" dirty="0"/>
          </a:p>
        </p:txBody>
      </p:sp>
      <p:sp>
        <p:nvSpPr>
          <p:cNvPr id="21" name="srcA3"/>
          <p:cNvSpPr/>
          <p:nvPr/>
        </p:nvSpPr>
        <p:spPr>
          <a:xfrm flipV="1">
            <a:off x="4617720" y="3611880"/>
            <a:ext cx="640080" cy="1463040"/>
          </a:xfrm>
          <a:prstGeom prst="line">
            <a:avLst/>
          </a:prstGeom>
          <a:noFill/>
          <a:ln w="19050">
            <a:solidFill>
              <a:srgbClr val="5A6690"/>
            </a:solidFill>
            <a:prstDash val="solid"/>
            <a:tailEnd type="triangle"/>
          </a:ln>
        </p:spPr>
      </p:sp>
      <p:sp>
        <p:nvSpPr>
          <p:cNvPr id="22" name="engine"/>
          <p:cNvSpPr/>
          <p:nvPr/>
        </p:nvSpPr>
        <p:spPr>
          <a:xfrm>
            <a:off x="5257800" y="2331720"/>
            <a:ext cx="2743200" cy="2606040"/>
          </a:xfrm>
          <a:prstGeom prst="roundRect">
            <a:avLst>
              <a:gd name="adj" fmla="val 4211"/>
            </a:avLst>
          </a:prstGeom>
          <a:solidFill>
            <a:srgbClr val="1C2447"/>
          </a:solidFill>
          <a:ln w="15875">
            <a:solidFill>
              <a:srgbClr val="F5A623"/>
            </a:solidFill>
            <a:prstDash val="solid"/>
          </a:ln>
        </p:spPr>
      </p:sp>
      <p:pic>
        <p:nvPicPr>
          <p:cNvPr id="23" name="engIcon" descr="preencoded.png">    </p:cNvPr>
          <p:cNvPicPr>
            <a:picLocks noChangeAspect="1"/>
          </p:cNvPicPr>
          <p:nvPr/>
        </p:nvPicPr>
        <p:blipFill>
          <a:blip r:embed="rId6"/>
          <a:stretch>
            <a:fillRect/>
          </a:stretch>
        </p:blipFill>
        <p:spPr>
          <a:xfrm>
            <a:off x="5532120" y="2542032"/>
            <a:ext cx="411480" cy="411480"/>
          </a:xfrm>
          <a:prstGeom prst="rect">
            <a:avLst/>
          </a:prstGeom>
        </p:spPr>
      </p:pic>
      <p:sp>
        <p:nvSpPr>
          <p:cNvPr id="24" name="engT"/>
          <p:cNvSpPr txBox="1"/>
          <p:nvPr/>
        </p:nvSpPr>
        <p:spPr>
          <a:xfrm>
            <a:off x="5532120" y="3063240"/>
            <a:ext cx="2331720" cy="173736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latin typeface="Cambria" pitchFamily="34" charset="0"/>
                <a:ea typeface="Cambria" pitchFamily="34" charset="-122"/>
                <a:cs typeface="Cambria" pitchFamily="34" charset="-120"/>
              </a:rPr>
              <a:t>JioMausam engine</a:t>
            </a:r>
            <a:endParaRPr lang="en-US" sz="1800" dirty="0"/>
          </a:p>
          <a:p>
            <a:pPr marL="342900" indent="-342900">
              <a:spcAft>
                <a:spcPts val="400"/>
              </a:spcAft>
              <a:buSzPct val="100000"/>
              <a:buChar char="•"/>
            </a:pPr>
            <a:r>
              <a:rPr lang="en-US" sz="1500" dirty="0">
                <a:solidFill>
                  <a:srgbClr val="EEF1F7"/>
                </a:solidFill>
                <a:latin typeface="Calibri" pitchFamily="34" charset="0"/>
                <a:ea typeface="Calibri" pitchFamily="34" charset="-122"/>
                <a:cs typeface="Calibri" pitchFamily="34" charset="-120"/>
              </a:rPr>
              <a:t>1 km rain grid</a:t>
            </a:r>
            <a:endParaRPr lang="en-US" sz="1800" dirty="0"/>
          </a:p>
          <a:p>
            <a:pPr marL="342900" indent="-342900">
              <a:spcAft>
                <a:spcPts val="400"/>
              </a:spcAft>
              <a:buSzPct val="100000"/>
              <a:buChar char="•"/>
            </a:pPr>
            <a:r>
              <a:rPr lang="en-US" sz="1500" dirty="0">
                <a:solidFill>
                  <a:srgbClr val="EEF1F7"/>
                </a:solidFill>
                <a:latin typeface="Calibri" pitchFamily="34" charset="0"/>
                <a:ea typeface="Calibri" pitchFamily="34" charset="-122"/>
                <a:cs typeface="Calibri" pitchFamily="34" charset="-120"/>
              </a:rPr>
              <a:t>Confidence score</a:t>
            </a:r>
            <a:endParaRPr lang="en-US" sz="1800" dirty="0"/>
          </a:p>
          <a:p>
            <a:pPr marL="342900" indent="-342900">
              <a:spcAft>
                <a:spcPts val="400"/>
              </a:spcAft>
              <a:buSzPct val="100000"/>
              <a:buChar char="•"/>
            </a:pPr>
            <a:r>
              <a:rPr lang="en-US" sz="1500" dirty="0">
                <a:solidFill>
                  <a:srgbClr val="EEF1F7"/>
                </a:solidFill>
                <a:latin typeface="Calibri" pitchFamily="34" charset="0"/>
                <a:ea typeface="Calibri" pitchFamily="34" charset="-122"/>
                <a:cs typeface="Calibri" pitchFamily="34" charset="-120"/>
              </a:rPr>
              <a:t>Trigger decision</a:t>
            </a:r>
            <a:endParaRPr lang="en-US" sz="1800" dirty="0"/>
          </a:p>
        </p:txBody>
      </p:sp>
      <p:sp>
        <p:nvSpPr>
          <p:cNvPr id="25" name="tgtK"/>
          <p:cNvSpPr txBox="1"/>
          <p:nvPr/>
        </p:nvSpPr>
        <p:spPr>
          <a:xfrm>
            <a:off x="8366760" y="2103120"/>
            <a:ext cx="3200400" cy="27432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PILOT TARGETS</a:t>
            </a:r>
            <a:endParaRPr lang="en-US" sz="1100" dirty="0"/>
          </a:p>
        </p:txBody>
      </p:sp>
      <p:sp>
        <p:nvSpPr>
          <p:cNvPr id="26" name="tg0"/>
          <p:cNvSpPr/>
          <p:nvPr/>
        </p:nvSpPr>
        <p:spPr>
          <a:xfrm>
            <a:off x="8366760" y="2450592"/>
            <a:ext cx="1581912" cy="1133856"/>
          </a:xfrm>
          <a:prstGeom prst="roundRect">
            <a:avLst>
              <a:gd name="adj" fmla="val 9677"/>
            </a:avLst>
          </a:prstGeom>
          <a:solidFill>
            <a:srgbClr val="141B36"/>
          </a:solidFill>
          <a:ln w="9525">
            <a:solidFill>
              <a:srgbClr val="2A3357"/>
            </a:solidFill>
            <a:prstDash val="solid"/>
          </a:ln>
        </p:spPr>
      </p:sp>
      <p:sp>
        <p:nvSpPr>
          <p:cNvPr id="27" name="tgT0"/>
          <p:cNvSpPr txBox="1"/>
          <p:nvPr/>
        </p:nvSpPr>
        <p:spPr>
          <a:xfrm>
            <a:off x="8503920" y="2560320"/>
            <a:ext cx="1353312" cy="9601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≥80%</a:t>
            </a:r>
            <a:endParaRPr lang="en-US" sz="2600" dirty="0"/>
          </a:p>
          <a:p>
            <a:pPr indent="0" marL="0">
              <a:buNone/>
            </a:pPr>
            <a:r>
              <a:rPr lang="en-US" sz="1250" dirty="0">
                <a:solidFill>
                  <a:srgbClr val="B9C2D8"/>
                </a:solidFill>
                <a:latin typeface="Calibri" pitchFamily="34" charset="0"/>
                <a:ea typeface="Calibri" pitchFamily="34" charset="-122"/>
                <a:cs typeface="Calibri" pitchFamily="34" charset="-120"/>
              </a:rPr>
              <a:t>heavy-rain events caught</a:t>
            </a:r>
            <a:endParaRPr lang="en-US" sz="2600" dirty="0"/>
          </a:p>
        </p:txBody>
      </p:sp>
      <p:sp>
        <p:nvSpPr>
          <p:cNvPr id="28" name="tg1"/>
          <p:cNvSpPr/>
          <p:nvPr/>
        </p:nvSpPr>
        <p:spPr>
          <a:xfrm>
            <a:off x="10040112" y="2450592"/>
            <a:ext cx="1581912" cy="1133856"/>
          </a:xfrm>
          <a:prstGeom prst="roundRect">
            <a:avLst>
              <a:gd name="adj" fmla="val 9677"/>
            </a:avLst>
          </a:prstGeom>
          <a:solidFill>
            <a:srgbClr val="141B36"/>
          </a:solidFill>
          <a:ln w="9525">
            <a:solidFill>
              <a:srgbClr val="2A3357"/>
            </a:solidFill>
            <a:prstDash val="solid"/>
          </a:ln>
        </p:spPr>
      </p:sp>
      <p:sp>
        <p:nvSpPr>
          <p:cNvPr id="29" name="tgT1"/>
          <p:cNvSpPr txBox="1"/>
          <p:nvPr/>
        </p:nvSpPr>
        <p:spPr>
          <a:xfrm>
            <a:off x="10177272" y="2560320"/>
            <a:ext cx="1353312" cy="9601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±10%</a:t>
            </a:r>
            <a:endParaRPr lang="en-US" sz="2600" dirty="0"/>
          </a:p>
          <a:p>
            <a:pPr indent="0" marL="0">
              <a:buNone/>
            </a:pPr>
            <a:r>
              <a:rPr lang="en-US" sz="1250" dirty="0">
                <a:solidFill>
                  <a:srgbClr val="B9C2D8"/>
                </a:solidFill>
                <a:latin typeface="Calibri" pitchFamily="34" charset="0"/>
                <a:ea typeface="Calibri" pitchFamily="34" charset="-122"/>
                <a:cs typeface="Calibri" pitchFamily="34" charset="-120"/>
              </a:rPr>
              <a:t>rain totals vs gauges</a:t>
            </a:r>
            <a:endParaRPr lang="en-US" sz="2600" dirty="0"/>
          </a:p>
        </p:txBody>
      </p:sp>
      <p:sp>
        <p:nvSpPr>
          <p:cNvPr id="30" name="tg2"/>
          <p:cNvSpPr/>
          <p:nvPr/>
        </p:nvSpPr>
        <p:spPr>
          <a:xfrm>
            <a:off x="8366760" y="3712464"/>
            <a:ext cx="1581912" cy="1133856"/>
          </a:xfrm>
          <a:prstGeom prst="roundRect">
            <a:avLst>
              <a:gd name="adj" fmla="val 9677"/>
            </a:avLst>
          </a:prstGeom>
          <a:solidFill>
            <a:srgbClr val="141B36"/>
          </a:solidFill>
          <a:ln w="9525">
            <a:solidFill>
              <a:srgbClr val="2A3357"/>
            </a:solidFill>
            <a:prstDash val="solid"/>
          </a:ln>
        </p:spPr>
      </p:sp>
      <p:sp>
        <p:nvSpPr>
          <p:cNvPr id="31" name="tgT2"/>
          <p:cNvSpPr txBox="1"/>
          <p:nvPr/>
        </p:nvSpPr>
        <p:spPr>
          <a:xfrm>
            <a:off x="8503920" y="3822192"/>
            <a:ext cx="1353312" cy="9601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&lt;15%</a:t>
            </a:r>
            <a:endParaRPr lang="en-US" sz="2600" dirty="0"/>
          </a:p>
          <a:p>
            <a:pPr indent="0" marL="0">
              <a:buNone/>
            </a:pPr>
            <a:r>
              <a:rPr lang="en-US" sz="1250" dirty="0">
                <a:solidFill>
                  <a:srgbClr val="B9C2D8"/>
                </a:solidFill>
                <a:latin typeface="Calibri" pitchFamily="34" charset="0"/>
                <a:ea typeface="Calibri" pitchFamily="34" charset="-122"/>
                <a:cs typeface="Calibri" pitchFamily="34" charset="-120"/>
              </a:rPr>
              <a:t>false triggers</a:t>
            </a:r>
            <a:endParaRPr lang="en-US" sz="2600" dirty="0"/>
          </a:p>
        </p:txBody>
      </p:sp>
      <p:sp>
        <p:nvSpPr>
          <p:cNvPr id="32" name="tg3"/>
          <p:cNvSpPr/>
          <p:nvPr/>
        </p:nvSpPr>
        <p:spPr>
          <a:xfrm>
            <a:off x="10040112" y="3712464"/>
            <a:ext cx="1581912" cy="1133856"/>
          </a:xfrm>
          <a:prstGeom prst="roundRect">
            <a:avLst>
              <a:gd name="adj" fmla="val 9677"/>
            </a:avLst>
          </a:prstGeom>
          <a:solidFill>
            <a:srgbClr val="141B36"/>
          </a:solidFill>
          <a:ln w="9525">
            <a:solidFill>
              <a:srgbClr val="2A3357"/>
            </a:solidFill>
            <a:prstDash val="solid"/>
          </a:ln>
        </p:spPr>
      </p:sp>
      <p:sp>
        <p:nvSpPr>
          <p:cNvPr id="33" name="tgT3"/>
          <p:cNvSpPr txBox="1"/>
          <p:nvPr/>
        </p:nvSpPr>
        <p:spPr>
          <a:xfrm>
            <a:off x="10177272" y="3822192"/>
            <a:ext cx="1353312" cy="9601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&lt;6 h</a:t>
            </a:r>
            <a:endParaRPr lang="en-US" sz="2600" dirty="0"/>
          </a:p>
          <a:p>
            <a:pPr indent="0" marL="0">
              <a:buNone/>
            </a:pPr>
            <a:r>
              <a:rPr lang="en-US" sz="1250" dirty="0">
                <a:solidFill>
                  <a:srgbClr val="B9C2D8"/>
                </a:solidFill>
                <a:latin typeface="Calibri" pitchFamily="34" charset="0"/>
                <a:ea typeface="Calibri" pitchFamily="34" charset="-122"/>
                <a:cs typeface="Calibri" pitchFamily="34" charset="-120"/>
              </a:rPr>
              <a:t>storm to payout (simulated)</a:t>
            </a:r>
            <a:endParaRPr lang="en-US" sz="2600" dirty="0"/>
          </a:p>
        </p:txBody>
      </p:sp>
      <p:sp>
        <p:nvSpPr>
          <p:cNvPr id="34" name="rule"/>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500" dirty="0">
                <a:solidFill>
                  <a:srgbClr val="B9C2D8"/>
                </a:solidFill>
                <a:latin typeface="Calibri" pitchFamily="34" charset="0"/>
                <a:ea typeface="Calibri" pitchFamily="34" charset="-122"/>
                <a:cs typeface="Calibri" pitchFamily="34" charset="-120"/>
              </a:rPr>
              <a:t>Low confidence never auto-denies: the day is checked against gauges and radar. Sources are weighed by their measured accuracy, not by a vote.</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5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3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anim calcmode="lin" valueType="num">
                                      <p:cBhvr>
                                        <p:cTn id="21" dur="400" fill="hold"/>
                                        <p:tgtEl>
                                          <p:spTgt spid="7"/>
                                        </p:tgtEl>
                                        <p:attrNameLst>
                                          <p:attrName>ppt_x</p:attrName>
                                        </p:attrNameLst>
                                      </p:cBhvr>
                                      <p:tavLst>
                                        <p:tav tm="0">
                                          <p:val>
                                            <p:strVal val="#ppt_x"/>
                                          </p:val>
                                        </p:tav>
                                        <p:tav tm="100000">
                                          <p:val>
                                            <p:strVal val="#ppt_x"/>
                                          </p:val>
                                        </p:tav>
                                      </p:tavLst>
                                    </p:anim>
                                    <p:anim calcmode="lin" valueType="num">
                                      <p:cBhvr>
                                        <p:cTn id="22" dur="4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6"/>
                                          </p:val>
                                        </p:tav>
                                        <p:tav tm="100000">
                                          <p:val>
                                            <p:strVal val="#ppt_y"/>
                                          </p:val>
                                        </p:tav>
                                      </p:tavLst>
                                    </p:anim>
                                  </p:childTnLst>
                                </p:cTn>
                              </p:par>
                            </p:childTnLst>
                          </p:cTn>
                        </p:par>
                        <p:par>
                          <p:cTn id="28" fill="hold">
                            <p:stCondLst>
                              <p:cond delay="1180"/>
                            </p:stCondLst>
                            <p:childTnLst>
                              <p:par>
                                <p:cTn id="29" presetID="42" presetClass="entr" presetSubtype="0" fill="hold" grpId="0" nodeType="afterEffect">
                                  <p:stCondLst>
                                    <p:cond delay="3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anim calcmode="lin" valueType="num">
                                      <p:cBhvr>
                                        <p:cTn id="32" dur="400" fill="hold"/>
                                        <p:tgtEl>
                                          <p:spTgt spid="10"/>
                                        </p:tgtEl>
                                        <p:attrNameLst>
                                          <p:attrName>ppt_x</p:attrName>
                                        </p:attrNameLst>
                                      </p:cBhvr>
                                      <p:tavLst>
                                        <p:tav tm="0">
                                          <p:val>
                                            <p:strVal val="#ppt_x"/>
                                          </p:val>
                                        </p:tav>
                                        <p:tav tm="100000">
                                          <p:val>
                                            <p:strVal val="#ppt_x"/>
                                          </p:val>
                                        </p:tav>
                                      </p:tavLst>
                                    </p:anim>
                                    <p:anim calcmode="lin" valueType="num">
                                      <p:cBhvr>
                                        <p:cTn id="33" dur="400" fill="hold"/>
                                        <p:tgtEl>
                                          <p:spTgt spid="10"/>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400"/>
                                        <p:tgtEl>
                                          <p:spTgt spid="11"/>
                                        </p:tgtEl>
                                      </p:cBhvr>
                                    </p:animEffect>
                                    <p:anim calcmode="lin" valueType="num">
                                      <p:cBhvr>
                                        <p:cTn id="37" dur="400" fill="hold"/>
                                        <p:tgtEl>
                                          <p:spTgt spid="11"/>
                                        </p:tgtEl>
                                        <p:attrNameLst>
                                          <p:attrName>ppt_x</p:attrName>
                                        </p:attrNameLst>
                                      </p:cBhvr>
                                      <p:tavLst>
                                        <p:tav tm="0">
                                          <p:val>
                                            <p:strVal val="#ppt_x"/>
                                          </p:val>
                                        </p:tav>
                                        <p:tav tm="100000">
                                          <p:val>
                                            <p:strVal val="#ppt_x"/>
                                          </p:val>
                                        </p:tav>
                                      </p:tavLst>
                                    </p:anim>
                                    <p:anim calcmode="lin" valueType="num">
                                      <p:cBhvr>
                                        <p:cTn id="38" dur="400" fill="hold"/>
                                        <p:tgtEl>
                                          <p:spTgt spid="11"/>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00"/>
                                        <p:tgtEl>
                                          <p:spTgt spid="12"/>
                                        </p:tgtEl>
                                      </p:cBhvr>
                                    </p:animEffect>
                                    <p:anim calcmode="lin" valueType="num">
                                      <p:cBhvr>
                                        <p:cTn id="42" dur="400" fill="hold"/>
                                        <p:tgtEl>
                                          <p:spTgt spid="12"/>
                                        </p:tgtEl>
                                        <p:attrNameLst>
                                          <p:attrName>ppt_x</p:attrName>
                                        </p:attrNameLst>
                                      </p:cBhvr>
                                      <p:tavLst>
                                        <p:tav tm="0">
                                          <p:val>
                                            <p:strVal val="#ppt_x"/>
                                          </p:val>
                                        </p:tav>
                                        <p:tav tm="100000">
                                          <p:val>
                                            <p:strVal val="#ppt_x"/>
                                          </p:val>
                                        </p:tav>
                                      </p:tavLst>
                                    </p:anim>
                                    <p:anim calcmode="lin" valueType="num">
                                      <p:cBhvr>
                                        <p:cTn id="43" dur="400" fill="hold"/>
                                        <p:tgtEl>
                                          <p:spTgt spid="12"/>
                                        </p:tgtEl>
                                        <p:attrNameLst>
                                          <p:attrName>ppt_y</p:attrName>
                                        </p:attrNameLst>
                                      </p:cBhvr>
                                      <p:tavLst>
                                        <p:tav tm="0">
                                          <p:val>
                                            <p:strVal val="#ppt_y+.06"/>
                                          </p:val>
                                        </p:tav>
                                        <p:tav tm="100000">
                                          <p:val>
                                            <p:strVal val="#ppt_y"/>
                                          </p:val>
                                        </p:tav>
                                      </p:tavLst>
                                    </p:anim>
                                  </p:childTnLst>
                                </p:cTn>
                              </p:par>
                            </p:childTnLst>
                          </p:cTn>
                        </p:par>
                        <p:par>
                          <p:cTn id="44" fill="hold">
                            <p:stCondLst>
                              <p:cond delay="1610"/>
                            </p:stCondLst>
                            <p:childTnLst>
                              <p:par>
                                <p:cTn id="45" presetID="42" presetClass="entr" presetSubtype="0" fill="hold" grpId="0" nodeType="afterEffect">
                                  <p:stCondLst>
                                    <p:cond delay="3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00"/>
                                        <p:tgtEl>
                                          <p:spTgt spid="14"/>
                                        </p:tgtEl>
                                      </p:cBhvr>
                                    </p:animEffect>
                                    <p:anim calcmode="lin" valueType="num">
                                      <p:cBhvr>
                                        <p:cTn id="48" dur="400" fill="hold"/>
                                        <p:tgtEl>
                                          <p:spTgt spid="14"/>
                                        </p:tgtEl>
                                        <p:attrNameLst>
                                          <p:attrName>ppt_x</p:attrName>
                                        </p:attrNameLst>
                                      </p:cBhvr>
                                      <p:tavLst>
                                        <p:tav tm="0">
                                          <p:val>
                                            <p:strVal val="#ppt_x"/>
                                          </p:val>
                                        </p:tav>
                                        <p:tav tm="100000">
                                          <p:val>
                                            <p:strVal val="#ppt_x"/>
                                          </p:val>
                                        </p:tav>
                                      </p:tavLst>
                                    </p:anim>
                                    <p:anim calcmode="lin" valueType="num">
                                      <p:cBhvr>
                                        <p:cTn id="49" dur="400" fill="hold"/>
                                        <p:tgtEl>
                                          <p:spTgt spid="14"/>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400"/>
                                        <p:tgtEl>
                                          <p:spTgt spid="15"/>
                                        </p:tgtEl>
                                      </p:cBhvr>
                                    </p:animEffect>
                                    <p:anim calcmode="lin" valueType="num">
                                      <p:cBhvr>
                                        <p:cTn id="53" dur="400" fill="hold"/>
                                        <p:tgtEl>
                                          <p:spTgt spid="15"/>
                                        </p:tgtEl>
                                        <p:attrNameLst>
                                          <p:attrName>ppt_x</p:attrName>
                                        </p:attrNameLst>
                                      </p:cBhvr>
                                      <p:tavLst>
                                        <p:tav tm="0">
                                          <p:val>
                                            <p:strVal val="#ppt_x"/>
                                          </p:val>
                                        </p:tav>
                                        <p:tav tm="100000">
                                          <p:val>
                                            <p:strVal val="#ppt_x"/>
                                          </p:val>
                                        </p:tav>
                                      </p:tavLst>
                                    </p:anim>
                                    <p:anim calcmode="lin" valueType="num">
                                      <p:cBhvr>
                                        <p:cTn id="54" dur="400" fill="hold"/>
                                        <p:tgtEl>
                                          <p:spTgt spid="15"/>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400"/>
                                        <p:tgtEl>
                                          <p:spTgt spid="16"/>
                                        </p:tgtEl>
                                      </p:cBhvr>
                                    </p:animEffect>
                                    <p:anim calcmode="lin" valueType="num">
                                      <p:cBhvr>
                                        <p:cTn id="58" dur="400" fill="hold"/>
                                        <p:tgtEl>
                                          <p:spTgt spid="16"/>
                                        </p:tgtEl>
                                        <p:attrNameLst>
                                          <p:attrName>ppt_x</p:attrName>
                                        </p:attrNameLst>
                                      </p:cBhvr>
                                      <p:tavLst>
                                        <p:tav tm="0">
                                          <p:val>
                                            <p:strVal val="#ppt_x"/>
                                          </p:val>
                                        </p:tav>
                                        <p:tav tm="100000">
                                          <p:val>
                                            <p:strVal val="#ppt_x"/>
                                          </p:val>
                                        </p:tav>
                                      </p:tavLst>
                                    </p:anim>
                                    <p:anim calcmode="lin" valueType="num">
                                      <p:cBhvr>
                                        <p:cTn id="59" dur="400" fill="hold"/>
                                        <p:tgtEl>
                                          <p:spTgt spid="16"/>
                                        </p:tgtEl>
                                        <p:attrNameLst>
                                          <p:attrName>ppt_y</p:attrName>
                                        </p:attrNameLst>
                                      </p:cBhvr>
                                      <p:tavLst>
                                        <p:tav tm="0">
                                          <p:val>
                                            <p:strVal val="#ppt_y+.06"/>
                                          </p:val>
                                        </p:tav>
                                        <p:tav tm="100000">
                                          <p:val>
                                            <p:strVal val="#ppt_y"/>
                                          </p:val>
                                        </p:tav>
                                      </p:tavLst>
                                    </p:anim>
                                  </p:childTnLst>
                                </p:cTn>
                              </p:par>
                            </p:childTnLst>
                          </p:cTn>
                        </p:par>
                        <p:par>
                          <p:cTn id="60" fill="hold">
                            <p:stCondLst>
                              <p:cond delay="2040"/>
                            </p:stCondLst>
                            <p:childTnLst>
                              <p:par>
                                <p:cTn id="61" presetID="42" presetClass="entr" presetSubtype="0" fill="hold" grpId="0" nodeType="afterEffect">
                                  <p:stCondLst>
                                    <p:cond delay="3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400"/>
                                        <p:tgtEl>
                                          <p:spTgt spid="18"/>
                                        </p:tgtEl>
                                      </p:cBhvr>
                                    </p:animEffect>
                                    <p:anim calcmode="lin" valueType="num">
                                      <p:cBhvr>
                                        <p:cTn id="64" dur="400" fill="hold"/>
                                        <p:tgtEl>
                                          <p:spTgt spid="18"/>
                                        </p:tgtEl>
                                        <p:attrNameLst>
                                          <p:attrName>ppt_x</p:attrName>
                                        </p:attrNameLst>
                                      </p:cBhvr>
                                      <p:tavLst>
                                        <p:tav tm="0">
                                          <p:val>
                                            <p:strVal val="#ppt_x"/>
                                          </p:val>
                                        </p:tav>
                                        <p:tav tm="100000">
                                          <p:val>
                                            <p:strVal val="#ppt_x"/>
                                          </p:val>
                                        </p:tav>
                                      </p:tavLst>
                                    </p:anim>
                                    <p:anim calcmode="lin" valueType="num">
                                      <p:cBhvr>
                                        <p:cTn id="65" dur="400" fill="hold"/>
                                        <p:tgtEl>
                                          <p:spTgt spid="18"/>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400"/>
                                        <p:tgtEl>
                                          <p:spTgt spid="19"/>
                                        </p:tgtEl>
                                      </p:cBhvr>
                                    </p:animEffect>
                                    <p:anim calcmode="lin" valueType="num">
                                      <p:cBhvr>
                                        <p:cTn id="69" dur="400" fill="hold"/>
                                        <p:tgtEl>
                                          <p:spTgt spid="19"/>
                                        </p:tgtEl>
                                        <p:attrNameLst>
                                          <p:attrName>ppt_x</p:attrName>
                                        </p:attrNameLst>
                                      </p:cBhvr>
                                      <p:tavLst>
                                        <p:tav tm="0">
                                          <p:val>
                                            <p:strVal val="#ppt_x"/>
                                          </p:val>
                                        </p:tav>
                                        <p:tav tm="100000">
                                          <p:val>
                                            <p:strVal val="#ppt_x"/>
                                          </p:val>
                                        </p:tav>
                                      </p:tavLst>
                                    </p:anim>
                                    <p:anim calcmode="lin" valueType="num">
                                      <p:cBhvr>
                                        <p:cTn id="70" dur="400" fill="hold"/>
                                        <p:tgtEl>
                                          <p:spTgt spid="19"/>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400"/>
                                        <p:tgtEl>
                                          <p:spTgt spid="20"/>
                                        </p:tgtEl>
                                      </p:cBhvr>
                                    </p:animEffect>
                                    <p:anim calcmode="lin" valueType="num">
                                      <p:cBhvr>
                                        <p:cTn id="74" dur="400" fill="hold"/>
                                        <p:tgtEl>
                                          <p:spTgt spid="20"/>
                                        </p:tgtEl>
                                        <p:attrNameLst>
                                          <p:attrName>ppt_x</p:attrName>
                                        </p:attrNameLst>
                                      </p:cBhvr>
                                      <p:tavLst>
                                        <p:tav tm="0">
                                          <p:val>
                                            <p:strVal val="#ppt_x"/>
                                          </p:val>
                                        </p:tav>
                                        <p:tav tm="100000">
                                          <p:val>
                                            <p:strVal val="#ppt_x"/>
                                          </p:val>
                                        </p:tav>
                                      </p:tavLst>
                                    </p:anim>
                                    <p:anim calcmode="lin" valueType="num">
                                      <p:cBhvr>
                                        <p:cTn id="75" dur="400" fill="hold"/>
                                        <p:tgtEl>
                                          <p:spTgt spid="20"/>
                                        </p:tgtEl>
                                        <p:attrNameLst>
                                          <p:attrName>ppt_y</p:attrName>
                                        </p:attrNameLst>
                                      </p:cBhvr>
                                      <p:tavLst>
                                        <p:tav tm="0">
                                          <p:val>
                                            <p:strVal val="#ppt_y+.06"/>
                                          </p:val>
                                        </p:tav>
                                        <p:tav tm="100000">
                                          <p:val>
                                            <p:strVal val="#ppt_y"/>
                                          </p:val>
                                        </p:tav>
                                      </p:tavLst>
                                    </p:anim>
                                  </p:childTnLst>
                                </p:cTn>
                              </p:par>
                            </p:childTnLst>
                          </p:cTn>
                        </p:par>
                        <p:par>
                          <p:cTn id="76" fill="hold">
                            <p:stCondLst>
                              <p:cond delay="2470"/>
                            </p:stCondLst>
                            <p:childTnLst>
                              <p:par>
                                <p:cTn id="77" presetID="10" presetClass="entr" presetSubtype="0" fill="hold" grpId="0" nodeType="after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fade">
                                      <p:cBhvr>
                                        <p:cTn id="79" dur="400"/>
                                        <p:tgtEl>
                                          <p:spTgt spid="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400"/>
                                        <p:tgtEl>
                                          <p:spTgt spid="1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400"/>
                                        <p:tgtEl>
                                          <p:spTgt spid="1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400"/>
                                        <p:tgtEl>
                                          <p:spTgt spid="21"/>
                                        </p:tgtEl>
                                      </p:cBhvr>
                                    </p:animEffect>
                                  </p:childTnLst>
                                </p:cTn>
                              </p:par>
                            </p:childTnLst>
                          </p:cTn>
                        </p:par>
                        <p:par>
                          <p:cTn id="89" fill="hold">
                            <p:stCondLst>
                              <p:cond delay="2870"/>
                            </p:stCondLst>
                            <p:childTnLst>
                              <p:par>
                                <p:cTn id="90" presetID="53" presetClass="entr" presetSubtype="16" fill="hold" grpId="0" nodeType="after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p:cTn id="92" dur="600" fill="hold"/>
                                        <p:tgtEl>
                                          <p:spTgt spid="22"/>
                                        </p:tgtEl>
                                        <p:attrNameLst>
                                          <p:attrName>ppt_w</p:attrName>
                                        </p:attrNameLst>
                                      </p:cBhvr>
                                      <p:tavLst>
                                        <p:tav tm="0">
                                          <p:val>
                                            <p:strVal val="#ppt_w*.82"/>
                                          </p:val>
                                        </p:tav>
                                        <p:tav tm="100000">
                                          <p:val>
                                            <p:strVal val="#ppt_w"/>
                                          </p:val>
                                        </p:tav>
                                      </p:tavLst>
                                    </p:anim>
                                    <p:anim calcmode="lin" valueType="num">
                                      <p:cBhvr>
                                        <p:cTn id="93" dur="600" fill="hold"/>
                                        <p:tgtEl>
                                          <p:spTgt spid="22"/>
                                        </p:tgtEl>
                                        <p:attrNameLst>
                                          <p:attrName>ppt_h</p:attrName>
                                        </p:attrNameLst>
                                      </p:cBhvr>
                                      <p:tavLst>
                                        <p:tav tm="0">
                                          <p:val>
                                            <p:strVal val="#ppt_h*.82"/>
                                          </p:val>
                                        </p:tav>
                                        <p:tav tm="100000">
                                          <p:val>
                                            <p:strVal val="#ppt_h"/>
                                          </p:val>
                                        </p:tav>
                                      </p:tavLst>
                                    </p:anim>
                                    <p:animEffect transition="in" filter="fade">
                                      <p:cBhvr>
                                        <p:cTn id="94" dur="600"/>
                                        <p:tgtEl>
                                          <p:spTgt spid="22"/>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p:cTn id="97" dur="600" fill="hold"/>
                                        <p:tgtEl>
                                          <p:spTgt spid="23"/>
                                        </p:tgtEl>
                                        <p:attrNameLst>
                                          <p:attrName>ppt_w</p:attrName>
                                        </p:attrNameLst>
                                      </p:cBhvr>
                                      <p:tavLst>
                                        <p:tav tm="0">
                                          <p:val>
                                            <p:strVal val="#ppt_w*.82"/>
                                          </p:val>
                                        </p:tav>
                                        <p:tav tm="100000">
                                          <p:val>
                                            <p:strVal val="#ppt_w"/>
                                          </p:val>
                                        </p:tav>
                                      </p:tavLst>
                                    </p:anim>
                                    <p:anim calcmode="lin" valueType="num">
                                      <p:cBhvr>
                                        <p:cTn id="98" dur="600" fill="hold"/>
                                        <p:tgtEl>
                                          <p:spTgt spid="23"/>
                                        </p:tgtEl>
                                        <p:attrNameLst>
                                          <p:attrName>ppt_h</p:attrName>
                                        </p:attrNameLst>
                                      </p:cBhvr>
                                      <p:tavLst>
                                        <p:tav tm="0">
                                          <p:val>
                                            <p:strVal val="#ppt_h*.82"/>
                                          </p:val>
                                        </p:tav>
                                        <p:tav tm="100000">
                                          <p:val>
                                            <p:strVal val="#ppt_h"/>
                                          </p:val>
                                        </p:tav>
                                      </p:tavLst>
                                    </p:anim>
                                    <p:animEffect transition="in" filter="fade">
                                      <p:cBhvr>
                                        <p:cTn id="99" dur="600"/>
                                        <p:tgtEl>
                                          <p:spTgt spid="23"/>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4"/>
                                        </p:tgtEl>
                                        <p:attrNameLst>
                                          <p:attrName>style.visibility</p:attrName>
                                        </p:attrNameLst>
                                      </p:cBhvr>
                                      <p:to>
                                        <p:strVal val="visible"/>
                                      </p:to>
                                    </p:set>
                                    <p:anim calcmode="lin" valueType="num">
                                      <p:cBhvr>
                                        <p:cTn id="102" dur="600" fill="hold"/>
                                        <p:tgtEl>
                                          <p:spTgt spid="24"/>
                                        </p:tgtEl>
                                        <p:attrNameLst>
                                          <p:attrName>ppt_w</p:attrName>
                                        </p:attrNameLst>
                                      </p:cBhvr>
                                      <p:tavLst>
                                        <p:tav tm="0">
                                          <p:val>
                                            <p:strVal val="#ppt_w*.82"/>
                                          </p:val>
                                        </p:tav>
                                        <p:tav tm="100000">
                                          <p:val>
                                            <p:strVal val="#ppt_w"/>
                                          </p:val>
                                        </p:tav>
                                      </p:tavLst>
                                    </p:anim>
                                    <p:anim calcmode="lin" valueType="num">
                                      <p:cBhvr>
                                        <p:cTn id="103" dur="600" fill="hold"/>
                                        <p:tgtEl>
                                          <p:spTgt spid="24"/>
                                        </p:tgtEl>
                                        <p:attrNameLst>
                                          <p:attrName>ppt_h</p:attrName>
                                        </p:attrNameLst>
                                      </p:cBhvr>
                                      <p:tavLst>
                                        <p:tav tm="0">
                                          <p:val>
                                            <p:strVal val="#ppt_h*.82"/>
                                          </p:val>
                                        </p:tav>
                                        <p:tav tm="100000">
                                          <p:val>
                                            <p:strVal val="#ppt_h"/>
                                          </p:val>
                                        </p:tav>
                                      </p:tavLst>
                                    </p:anim>
                                    <p:animEffect transition="in" filter="fade">
                                      <p:cBhvr>
                                        <p:cTn id="104" dur="600"/>
                                        <p:tgtEl>
                                          <p:spTgt spid="24"/>
                                        </p:tgtEl>
                                      </p:cBhvr>
                                    </p:animEffect>
                                  </p:childTnLst>
                                </p:cTn>
                              </p:par>
                            </p:childTnLst>
                          </p:cTn>
                        </p:par>
                        <p:par>
                          <p:cTn id="105" fill="hold">
                            <p:stCondLst>
                              <p:cond delay="3470"/>
                            </p:stCondLst>
                            <p:childTnLst>
                              <p:par>
                                <p:cTn id="106" presetID="10" presetClass="entr" presetSubtype="0" fill="hold" grpId="0" nodeType="afterEffect">
                                  <p:stCondLst>
                                    <p:cond delay="10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300"/>
                                        <p:tgtEl>
                                          <p:spTgt spid="25"/>
                                        </p:tgtEl>
                                      </p:cBhvr>
                                    </p:animEffect>
                                  </p:childTnLst>
                                </p:cTn>
                              </p:par>
                            </p:childTnLst>
                          </p:cTn>
                        </p:par>
                        <p:par>
                          <p:cTn id="109" fill="hold">
                            <p:stCondLst>
                              <p:cond delay="3870"/>
                            </p:stCondLst>
                            <p:childTnLst>
                              <p:par>
                                <p:cTn id="110" presetID="42" presetClass="entr" presetSubtype="0" fill="hold" grpId="0" nodeType="afterEffect">
                                  <p:stCondLst>
                                    <p:cond delay="2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350"/>
                                        <p:tgtEl>
                                          <p:spTgt spid="26"/>
                                        </p:tgtEl>
                                      </p:cBhvr>
                                    </p:animEffect>
                                    <p:anim calcmode="lin" valueType="num">
                                      <p:cBhvr>
                                        <p:cTn id="113" dur="350" fill="hold"/>
                                        <p:tgtEl>
                                          <p:spTgt spid="26"/>
                                        </p:tgtEl>
                                        <p:attrNameLst>
                                          <p:attrName>ppt_x</p:attrName>
                                        </p:attrNameLst>
                                      </p:cBhvr>
                                      <p:tavLst>
                                        <p:tav tm="0">
                                          <p:val>
                                            <p:strVal val="#ppt_x"/>
                                          </p:val>
                                        </p:tav>
                                        <p:tav tm="100000">
                                          <p:val>
                                            <p:strVal val="#ppt_x"/>
                                          </p:val>
                                        </p:tav>
                                      </p:tavLst>
                                    </p:anim>
                                    <p:anim calcmode="lin" valueType="num">
                                      <p:cBhvr>
                                        <p:cTn id="114" dur="350" fill="hold"/>
                                        <p:tgtEl>
                                          <p:spTgt spid="26"/>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7"/>
                                        </p:tgtEl>
                                        <p:attrNameLst>
                                          <p:attrName>style.visibility</p:attrName>
                                        </p:attrNameLst>
                                      </p:cBhvr>
                                      <p:to>
                                        <p:strVal val="visible"/>
                                      </p:to>
                                    </p:set>
                                    <p:animEffect transition="in" filter="fade">
                                      <p:cBhvr>
                                        <p:cTn id="117" dur="350"/>
                                        <p:tgtEl>
                                          <p:spTgt spid="27"/>
                                        </p:tgtEl>
                                      </p:cBhvr>
                                    </p:animEffect>
                                    <p:anim calcmode="lin" valueType="num">
                                      <p:cBhvr>
                                        <p:cTn id="118" dur="350" fill="hold"/>
                                        <p:tgtEl>
                                          <p:spTgt spid="27"/>
                                        </p:tgtEl>
                                        <p:attrNameLst>
                                          <p:attrName>ppt_x</p:attrName>
                                        </p:attrNameLst>
                                      </p:cBhvr>
                                      <p:tavLst>
                                        <p:tav tm="0">
                                          <p:val>
                                            <p:strVal val="#ppt_x"/>
                                          </p:val>
                                        </p:tav>
                                        <p:tav tm="100000">
                                          <p:val>
                                            <p:strVal val="#ppt_x"/>
                                          </p:val>
                                        </p:tav>
                                      </p:tavLst>
                                    </p:anim>
                                    <p:anim calcmode="lin" valueType="num">
                                      <p:cBhvr>
                                        <p:cTn id="119" dur="350" fill="hold"/>
                                        <p:tgtEl>
                                          <p:spTgt spid="27"/>
                                        </p:tgtEl>
                                        <p:attrNameLst>
                                          <p:attrName>ppt_y</p:attrName>
                                        </p:attrNameLst>
                                      </p:cBhvr>
                                      <p:tavLst>
                                        <p:tav tm="0">
                                          <p:val>
                                            <p:strVal val="#ppt_y+.06"/>
                                          </p:val>
                                        </p:tav>
                                        <p:tav tm="100000">
                                          <p:val>
                                            <p:strVal val="#ppt_y"/>
                                          </p:val>
                                        </p:tav>
                                      </p:tavLst>
                                    </p:anim>
                                  </p:childTnLst>
                                </p:cTn>
                              </p:par>
                            </p:childTnLst>
                          </p:cTn>
                        </p:par>
                        <p:par>
                          <p:cTn id="120" fill="hold">
                            <p:stCondLst>
                              <p:cond delay="4240"/>
                            </p:stCondLst>
                            <p:childTnLst>
                              <p:par>
                                <p:cTn id="121" presetID="42" presetClass="entr" presetSubtype="0" fill="hold" grpId="0" nodeType="afterEffect">
                                  <p:stCondLst>
                                    <p:cond delay="2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350"/>
                                        <p:tgtEl>
                                          <p:spTgt spid="28"/>
                                        </p:tgtEl>
                                      </p:cBhvr>
                                    </p:animEffect>
                                    <p:anim calcmode="lin" valueType="num">
                                      <p:cBhvr>
                                        <p:cTn id="124" dur="350" fill="hold"/>
                                        <p:tgtEl>
                                          <p:spTgt spid="28"/>
                                        </p:tgtEl>
                                        <p:attrNameLst>
                                          <p:attrName>ppt_x</p:attrName>
                                        </p:attrNameLst>
                                      </p:cBhvr>
                                      <p:tavLst>
                                        <p:tav tm="0">
                                          <p:val>
                                            <p:strVal val="#ppt_x"/>
                                          </p:val>
                                        </p:tav>
                                        <p:tav tm="100000">
                                          <p:val>
                                            <p:strVal val="#ppt_x"/>
                                          </p:val>
                                        </p:tav>
                                      </p:tavLst>
                                    </p:anim>
                                    <p:anim calcmode="lin" valueType="num">
                                      <p:cBhvr>
                                        <p:cTn id="125" dur="350" fill="hold"/>
                                        <p:tgtEl>
                                          <p:spTgt spid="28"/>
                                        </p:tgtEl>
                                        <p:attrNameLst>
                                          <p:attrName>ppt_y</p:attrName>
                                        </p:attrNameLst>
                                      </p:cBhvr>
                                      <p:tavLst>
                                        <p:tav tm="0">
                                          <p:val>
                                            <p:strVal val="#ppt_y+.06"/>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29"/>
                                        </p:tgtEl>
                                        <p:attrNameLst>
                                          <p:attrName>style.visibility</p:attrName>
                                        </p:attrNameLst>
                                      </p:cBhvr>
                                      <p:to>
                                        <p:strVal val="visible"/>
                                      </p:to>
                                    </p:set>
                                    <p:animEffect transition="in" filter="fade">
                                      <p:cBhvr>
                                        <p:cTn id="128" dur="350"/>
                                        <p:tgtEl>
                                          <p:spTgt spid="29"/>
                                        </p:tgtEl>
                                      </p:cBhvr>
                                    </p:animEffect>
                                    <p:anim calcmode="lin" valueType="num">
                                      <p:cBhvr>
                                        <p:cTn id="129" dur="350" fill="hold"/>
                                        <p:tgtEl>
                                          <p:spTgt spid="29"/>
                                        </p:tgtEl>
                                        <p:attrNameLst>
                                          <p:attrName>ppt_x</p:attrName>
                                        </p:attrNameLst>
                                      </p:cBhvr>
                                      <p:tavLst>
                                        <p:tav tm="0">
                                          <p:val>
                                            <p:strVal val="#ppt_x"/>
                                          </p:val>
                                        </p:tav>
                                        <p:tav tm="100000">
                                          <p:val>
                                            <p:strVal val="#ppt_x"/>
                                          </p:val>
                                        </p:tav>
                                      </p:tavLst>
                                    </p:anim>
                                    <p:anim calcmode="lin" valueType="num">
                                      <p:cBhvr>
                                        <p:cTn id="130" dur="350" fill="hold"/>
                                        <p:tgtEl>
                                          <p:spTgt spid="29"/>
                                        </p:tgtEl>
                                        <p:attrNameLst>
                                          <p:attrName>ppt_y</p:attrName>
                                        </p:attrNameLst>
                                      </p:cBhvr>
                                      <p:tavLst>
                                        <p:tav tm="0">
                                          <p:val>
                                            <p:strVal val="#ppt_y+.06"/>
                                          </p:val>
                                        </p:tav>
                                        <p:tav tm="100000">
                                          <p:val>
                                            <p:strVal val="#ppt_y"/>
                                          </p:val>
                                        </p:tav>
                                      </p:tavLst>
                                    </p:anim>
                                  </p:childTnLst>
                                </p:cTn>
                              </p:par>
                            </p:childTnLst>
                          </p:cTn>
                        </p:par>
                        <p:par>
                          <p:cTn id="131" fill="hold">
                            <p:stCondLst>
                              <p:cond delay="4610"/>
                            </p:stCondLst>
                            <p:childTnLst>
                              <p:par>
                                <p:cTn id="132" presetID="42" presetClass="entr" presetSubtype="0" fill="hold" grpId="0" nodeType="afterEffect">
                                  <p:stCondLst>
                                    <p:cond delay="20"/>
                                  </p:stCondLst>
                                  <p:childTnLst>
                                    <p:set>
                                      <p:cBhvr>
                                        <p:cTn id="133" dur="1" fill="hold">
                                          <p:stCondLst>
                                            <p:cond delay="0"/>
                                          </p:stCondLst>
                                        </p:cTn>
                                        <p:tgtEl>
                                          <p:spTgt spid="30"/>
                                        </p:tgtEl>
                                        <p:attrNameLst>
                                          <p:attrName>style.visibility</p:attrName>
                                        </p:attrNameLst>
                                      </p:cBhvr>
                                      <p:to>
                                        <p:strVal val="visible"/>
                                      </p:to>
                                    </p:set>
                                    <p:animEffect transition="in" filter="fade">
                                      <p:cBhvr>
                                        <p:cTn id="134" dur="350"/>
                                        <p:tgtEl>
                                          <p:spTgt spid="30"/>
                                        </p:tgtEl>
                                      </p:cBhvr>
                                    </p:animEffect>
                                    <p:anim calcmode="lin" valueType="num">
                                      <p:cBhvr>
                                        <p:cTn id="135" dur="350" fill="hold"/>
                                        <p:tgtEl>
                                          <p:spTgt spid="30"/>
                                        </p:tgtEl>
                                        <p:attrNameLst>
                                          <p:attrName>ppt_x</p:attrName>
                                        </p:attrNameLst>
                                      </p:cBhvr>
                                      <p:tavLst>
                                        <p:tav tm="0">
                                          <p:val>
                                            <p:strVal val="#ppt_x"/>
                                          </p:val>
                                        </p:tav>
                                        <p:tav tm="100000">
                                          <p:val>
                                            <p:strVal val="#ppt_x"/>
                                          </p:val>
                                        </p:tav>
                                      </p:tavLst>
                                    </p:anim>
                                    <p:anim calcmode="lin" valueType="num">
                                      <p:cBhvr>
                                        <p:cTn id="136" dur="350" fill="hold"/>
                                        <p:tgtEl>
                                          <p:spTgt spid="30"/>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1"/>
                                        </p:tgtEl>
                                        <p:attrNameLst>
                                          <p:attrName>style.visibility</p:attrName>
                                        </p:attrNameLst>
                                      </p:cBhvr>
                                      <p:to>
                                        <p:strVal val="visible"/>
                                      </p:to>
                                    </p:set>
                                    <p:animEffect transition="in" filter="fade">
                                      <p:cBhvr>
                                        <p:cTn id="139" dur="350"/>
                                        <p:tgtEl>
                                          <p:spTgt spid="31"/>
                                        </p:tgtEl>
                                      </p:cBhvr>
                                    </p:animEffect>
                                    <p:anim calcmode="lin" valueType="num">
                                      <p:cBhvr>
                                        <p:cTn id="140" dur="350" fill="hold"/>
                                        <p:tgtEl>
                                          <p:spTgt spid="31"/>
                                        </p:tgtEl>
                                        <p:attrNameLst>
                                          <p:attrName>ppt_x</p:attrName>
                                        </p:attrNameLst>
                                      </p:cBhvr>
                                      <p:tavLst>
                                        <p:tav tm="0">
                                          <p:val>
                                            <p:strVal val="#ppt_x"/>
                                          </p:val>
                                        </p:tav>
                                        <p:tav tm="100000">
                                          <p:val>
                                            <p:strVal val="#ppt_x"/>
                                          </p:val>
                                        </p:tav>
                                      </p:tavLst>
                                    </p:anim>
                                    <p:anim calcmode="lin" valueType="num">
                                      <p:cBhvr>
                                        <p:cTn id="141" dur="350" fill="hold"/>
                                        <p:tgtEl>
                                          <p:spTgt spid="31"/>
                                        </p:tgtEl>
                                        <p:attrNameLst>
                                          <p:attrName>ppt_y</p:attrName>
                                        </p:attrNameLst>
                                      </p:cBhvr>
                                      <p:tavLst>
                                        <p:tav tm="0">
                                          <p:val>
                                            <p:strVal val="#ppt_y+.06"/>
                                          </p:val>
                                        </p:tav>
                                        <p:tav tm="100000">
                                          <p:val>
                                            <p:strVal val="#ppt_y"/>
                                          </p:val>
                                        </p:tav>
                                      </p:tavLst>
                                    </p:anim>
                                  </p:childTnLst>
                                </p:cTn>
                              </p:par>
                            </p:childTnLst>
                          </p:cTn>
                        </p:par>
                        <p:par>
                          <p:cTn id="142" fill="hold">
                            <p:stCondLst>
                              <p:cond delay="4980"/>
                            </p:stCondLst>
                            <p:childTnLst>
                              <p:par>
                                <p:cTn id="143" presetID="42" presetClass="entr" presetSubtype="0" fill="hold" grpId="0" nodeType="afterEffect">
                                  <p:stCondLst>
                                    <p:cond delay="20"/>
                                  </p:stCondLst>
                                  <p:childTnLst>
                                    <p:set>
                                      <p:cBhvr>
                                        <p:cTn id="144" dur="1" fill="hold">
                                          <p:stCondLst>
                                            <p:cond delay="0"/>
                                          </p:stCondLst>
                                        </p:cTn>
                                        <p:tgtEl>
                                          <p:spTgt spid="32"/>
                                        </p:tgtEl>
                                        <p:attrNameLst>
                                          <p:attrName>style.visibility</p:attrName>
                                        </p:attrNameLst>
                                      </p:cBhvr>
                                      <p:to>
                                        <p:strVal val="visible"/>
                                      </p:to>
                                    </p:set>
                                    <p:animEffect transition="in" filter="fade">
                                      <p:cBhvr>
                                        <p:cTn id="145" dur="350"/>
                                        <p:tgtEl>
                                          <p:spTgt spid="32"/>
                                        </p:tgtEl>
                                      </p:cBhvr>
                                    </p:animEffect>
                                    <p:anim calcmode="lin" valueType="num">
                                      <p:cBhvr>
                                        <p:cTn id="146" dur="350" fill="hold"/>
                                        <p:tgtEl>
                                          <p:spTgt spid="32"/>
                                        </p:tgtEl>
                                        <p:attrNameLst>
                                          <p:attrName>ppt_x</p:attrName>
                                        </p:attrNameLst>
                                      </p:cBhvr>
                                      <p:tavLst>
                                        <p:tav tm="0">
                                          <p:val>
                                            <p:strVal val="#ppt_x"/>
                                          </p:val>
                                        </p:tav>
                                        <p:tav tm="100000">
                                          <p:val>
                                            <p:strVal val="#ppt_x"/>
                                          </p:val>
                                        </p:tav>
                                      </p:tavLst>
                                    </p:anim>
                                    <p:anim calcmode="lin" valueType="num">
                                      <p:cBhvr>
                                        <p:cTn id="147" dur="350" fill="hold"/>
                                        <p:tgtEl>
                                          <p:spTgt spid="32"/>
                                        </p:tgtEl>
                                        <p:attrNameLst>
                                          <p:attrName>ppt_y</p:attrName>
                                        </p:attrNameLst>
                                      </p:cBhvr>
                                      <p:tavLst>
                                        <p:tav tm="0">
                                          <p:val>
                                            <p:strVal val="#ppt_y+.06"/>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33"/>
                                        </p:tgtEl>
                                        <p:attrNameLst>
                                          <p:attrName>style.visibility</p:attrName>
                                        </p:attrNameLst>
                                      </p:cBhvr>
                                      <p:to>
                                        <p:strVal val="visible"/>
                                      </p:to>
                                    </p:set>
                                    <p:animEffect transition="in" filter="fade">
                                      <p:cBhvr>
                                        <p:cTn id="150" dur="350"/>
                                        <p:tgtEl>
                                          <p:spTgt spid="33"/>
                                        </p:tgtEl>
                                      </p:cBhvr>
                                    </p:animEffect>
                                    <p:anim calcmode="lin" valueType="num">
                                      <p:cBhvr>
                                        <p:cTn id="151" dur="350" fill="hold"/>
                                        <p:tgtEl>
                                          <p:spTgt spid="33"/>
                                        </p:tgtEl>
                                        <p:attrNameLst>
                                          <p:attrName>ppt_x</p:attrName>
                                        </p:attrNameLst>
                                      </p:cBhvr>
                                      <p:tavLst>
                                        <p:tav tm="0">
                                          <p:val>
                                            <p:strVal val="#ppt_x"/>
                                          </p:val>
                                        </p:tav>
                                        <p:tav tm="100000">
                                          <p:val>
                                            <p:strVal val="#ppt_x"/>
                                          </p:val>
                                        </p:tav>
                                      </p:tavLst>
                                    </p:anim>
                                    <p:anim calcmode="lin" valueType="num">
                                      <p:cBhvr>
                                        <p:cTn id="152" dur="350" fill="hold"/>
                                        <p:tgtEl>
                                          <p:spTgt spid="33"/>
                                        </p:tgtEl>
                                        <p:attrNameLst>
                                          <p:attrName>ppt_y</p:attrName>
                                        </p:attrNameLst>
                                      </p:cBhvr>
                                      <p:tavLst>
                                        <p:tav tm="0">
                                          <p:val>
                                            <p:strVal val="#ppt_y+.06"/>
                                          </p:val>
                                        </p:tav>
                                        <p:tav tm="100000">
                                          <p:val>
                                            <p:strVal val="#ppt_y"/>
                                          </p:val>
                                        </p:tav>
                                      </p:tavLst>
                                    </p:anim>
                                  </p:childTnLst>
                                </p:cTn>
                              </p:par>
                            </p:childTnLst>
                          </p:cTn>
                        </p:par>
                        <p:par>
                          <p:cTn id="153" fill="hold">
                            <p:stCondLst>
                              <p:cond delay="5350"/>
                            </p:stCondLst>
                            <p:childTnLst>
                              <p:par>
                                <p:cTn id="154" presetID="10" presetClass="entr" presetSubtype="0" fill="hold" grpId="0" nodeType="afterEffect">
                                  <p:stCondLst>
                                    <p:cond delay="100"/>
                                  </p:stCondLst>
                                  <p:childTnLst>
                                    <p:set>
                                      <p:cBhvr>
                                        <p:cTn id="155" dur="1" fill="hold">
                                          <p:stCondLst>
                                            <p:cond delay="0"/>
                                          </p:stCondLst>
                                        </p:cTn>
                                        <p:tgtEl>
                                          <p:spTgt spid="34"/>
                                        </p:tgtEl>
                                        <p:attrNameLst>
                                          <p:attrName>style.visibility</p:attrName>
                                        </p:attrNameLst>
                                      </p:cBhvr>
                                      <p:to>
                                        <p:strVal val="visible"/>
                                      </p:to>
                                    </p:set>
                                    <p:animEffect transition="in" filter="fade">
                                      <p:cBhvr>
                                        <p:cTn id="15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10" grpId="0" animBg="1"/>
      <p:bldP spid="12" grpId="0"/>
      <p:bldP spid="14" grpId="0" animBg="1"/>
      <p:bldP spid="16" grpId="0"/>
      <p:bldP spid="18" grpId="0" animBg="1"/>
      <p:bldP spid="20" grpId="0"/>
      <p:bldP spid="9" grpId="0" animBg="1"/>
      <p:bldP spid="13" grpId="0" animBg="1"/>
      <p:bldP spid="17" grpId="0" animBg="1"/>
      <p:bldP spid="21" grpId="0" animBg="1"/>
      <p:bldP spid="22" grpId="0" animBg="1"/>
      <p:bldP spid="24" grpId="0"/>
      <p:bldP spid="25" grpId="0"/>
      <p:bldP spid="26" grpId="0" animBg="1"/>
      <p:bldP spid="27" grpId="0"/>
      <p:bldP spid="28" grpId="0" animBg="1"/>
      <p:bldP spid="29" grpId="0"/>
      <p:bldP spid="30" grpId="0" animBg="1"/>
      <p:bldP spid="31" grpId="0"/>
      <p:bldP spid="32" grpId="0" animBg="1"/>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PRODUCT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From weather intelligence to income protection</a:t>
            </a:r>
            <a:endParaRPr lang="en-US" sz="3200" dirty="0"/>
          </a:p>
        </p:txBody>
      </p:sp>
      <p:sp>
        <p:nvSpPr>
          <p:cNvPr id="6" name="f0c"/>
          <p:cNvSpPr/>
          <p:nvPr/>
        </p:nvSpPr>
        <p:spPr>
          <a:xfrm>
            <a:off x="548640" y="2057400"/>
            <a:ext cx="566928" cy="566928"/>
          </a:xfrm>
          <a:prstGeom prst="ellipse">
            <a:avLst/>
          </a:prstGeom>
          <a:solidFill>
            <a:srgbClr val="1C2447"/>
          </a:solidFill>
          <a:ln w="9525">
            <a:solidFill>
              <a:srgbClr val="2A3357"/>
            </a:solidFill>
            <a:prstDash val="solid"/>
          </a:ln>
        </p:spPr>
      </p:sp>
      <p:pic>
        <p:nvPicPr>
          <p:cNvPr id="7" name="f0i" descr="preencoded.png">    </p:cNvPr>
          <p:cNvPicPr>
            <a:picLocks noChangeAspect="1"/>
          </p:cNvPicPr>
          <p:nvPr/>
        </p:nvPicPr>
        <p:blipFill>
          <a:blip r:embed="rId2"/>
          <a:stretch>
            <a:fillRect/>
          </a:stretch>
        </p:blipFill>
        <p:spPr>
          <a:xfrm>
            <a:off x="684703" y="2193463"/>
            <a:ext cx="294803" cy="294803"/>
          </a:xfrm>
          <a:prstGeom prst="rect">
            <a:avLst/>
          </a:prstGeom>
        </p:spPr>
      </p:pic>
      <p:sp>
        <p:nvSpPr>
          <p:cNvPr id="8" name="ft0"/>
          <p:cNvSpPr txBox="1"/>
          <p:nvPr/>
        </p:nvSpPr>
        <p:spPr>
          <a:xfrm>
            <a:off x="1325880" y="2057400"/>
            <a:ext cx="6309360" cy="65836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 delivery platform buys Kavach Plus</a:t>
            </a:r>
            <a:endParaRPr lang="en-US" sz="1700" dirty="0"/>
          </a:p>
          <a:p>
            <a:pPr indent="0" marL="0">
              <a:buNone/>
            </a:pPr>
            <a:r>
              <a:rPr lang="en-US" sz="1350" dirty="0">
                <a:solidFill>
                  <a:srgbClr val="B9C2D8"/>
                </a:solidFill>
                <a:latin typeface="Calibri" pitchFamily="34" charset="0"/>
                <a:ea typeface="Calibri" pitchFamily="34" charset="-122"/>
                <a:cs typeface="Calibri" pitchFamily="34" charset="-120"/>
              </a:rPr>
              <a:t>for every active rider in its Mumbai fleet</a:t>
            </a:r>
            <a:endParaRPr lang="en-US" sz="1700" dirty="0"/>
          </a:p>
        </p:txBody>
      </p:sp>
      <p:sp>
        <p:nvSpPr>
          <p:cNvPr id="9" name="fa0"/>
          <p:cNvSpPr/>
          <p:nvPr/>
        </p:nvSpPr>
        <p:spPr>
          <a:xfrm>
            <a:off x="832104" y="2624328"/>
            <a:ext cx="914" cy="164592"/>
          </a:xfrm>
          <a:prstGeom prst="line">
            <a:avLst/>
          </a:prstGeom>
          <a:noFill/>
          <a:ln w="19050">
            <a:solidFill>
              <a:srgbClr val="5A6690"/>
            </a:solidFill>
            <a:prstDash val="solid"/>
            <a:tailEnd type="triangle"/>
          </a:ln>
        </p:spPr>
      </p:sp>
      <p:sp>
        <p:nvSpPr>
          <p:cNvPr id="10" name="f1c"/>
          <p:cNvSpPr/>
          <p:nvPr/>
        </p:nvSpPr>
        <p:spPr>
          <a:xfrm>
            <a:off x="548640" y="2788920"/>
            <a:ext cx="566928" cy="566928"/>
          </a:xfrm>
          <a:prstGeom prst="ellipse">
            <a:avLst/>
          </a:prstGeom>
          <a:solidFill>
            <a:srgbClr val="1C2447"/>
          </a:solidFill>
          <a:ln w="9525">
            <a:solidFill>
              <a:srgbClr val="2A3357"/>
            </a:solidFill>
            <a:prstDash val="solid"/>
          </a:ln>
        </p:spPr>
      </p:sp>
      <p:pic>
        <p:nvPicPr>
          <p:cNvPr id="11" name="f1i" descr="preencoded.png">    </p:cNvPr>
          <p:cNvPicPr>
            <a:picLocks noChangeAspect="1"/>
          </p:cNvPicPr>
          <p:nvPr/>
        </p:nvPicPr>
        <p:blipFill>
          <a:blip r:embed="rId3"/>
          <a:stretch>
            <a:fillRect/>
          </a:stretch>
        </p:blipFill>
        <p:spPr>
          <a:xfrm>
            <a:off x="684703" y="2924983"/>
            <a:ext cx="294803" cy="294803"/>
          </a:xfrm>
          <a:prstGeom prst="rect">
            <a:avLst/>
          </a:prstGeom>
        </p:spPr>
      </p:pic>
      <p:sp>
        <p:nvSpPr>
          <p:cNvPr id="12" name="ft1"/>
          <p:cNvSpPr txBox="1"/>
          <p:nvPr/>
        </p:nvSpPr>
        <p:spPr>
          <a:xfrm>
            <a:off x="1325880" y="2788920"/>
            <a:ext cx="6309360" cy="65836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Ravi is covered automatically</a:t>
            </a:r>
            <a:endParaRPr lang="en-US" sz="1700" dirty="0"/>
          </a:p>
          <a:p>
            <a:pPr indent="0" marL="0">
              <a:buNone/>
            </a:pPr>
            <a:r>
              <a:rPr lang="en-US" sz="1350" dirty="0">
                <a:solidFill>
                  <a:srgbClr val="B9C2D8"/>
                </a:solidFill>
                <a:latin typeface="Calibri" pitchFamily="34" charset="0"/>
                <a:ea typeface="Calibri" pitchFamily="34" charset="-122"/>
                <a:cs typeface="Calibri" pitchFamily="34" charset="-120"/>
              </a:rPr>
              <a:t>active rider, his usual 1 km zone; nothing to buy</a:t>
            </a:r>
            <a:endParaRPr lang="en-US" sz="1700" dirty="0"/>
          </a:p>
        </p:txBody>
      </p:sp>
      <p:sp>
        <p:nvSpPr>
          <p:cNvPr id="13" name="fa1"/>
          <p:cNvSpPr/>
          <p:nvPr/>
        </p:nvSpPr>
        <p:spPr>
          <a:xfrm>
            <a:off x="832104" y="3355848"/>
            <a:ext cx="914" cy="164592"/>
          </a:xfrm>
          <a:prstGeom prst="line">
            <a:avLst/>
          </a:prstGeom>
          <a:noFill/>
          <a:ln w="19050">
            <a:solidFill>
              <a:srgbClr val="5A6690"/>
            </a:solidFill>
            <a:prstDash val="solid"/>
            <a:tailEnd type="triangle"/>
          </a:ln>
        </p:spPr>
      </p:sp>
      <p:sp>
        <p:nvSpPr>
          <p:cNvPr id="14" name="f2c"/>
          <p:cNvSpPr/>
          <p:nvPr/>
        </p:nvSpPr>
        <p:spPr>
          <a:xfrm>
            <a:off x="548640" y="3520440"/>
            <a:ext cx="566928" cy="566928"/>
          </a:xfrm>
          <a:prstGeom prst="ellipse">
            <a:avLst/>
          </a:prstGeom>
          <a:solidFill>
            <a:srgbClr val="1C2447"/>
          </a:solidFill>
          <a:ln w="9525">
            <a:solidFill>
              <a:srgbClr val="2A3357"/>
            </a:solidFill>
            <a:prstDash val="solid"/>
          </a:ln>
        </p:spPr>
      </p:sp>
      <p:pic>
        <p:nvPicPr>
          <p:cNvPr id="15" name="f2i" descr="preencoded.png">    </p:cNvPr>
          <p:cNvPicPr>
            <a:picLocks noChangeAspect="1"/>
          </p:cNvPicPr>
          <p:nvPr/>
        </p:nvPicPr>
        <p:blipFill>
          <a:blip r:embed="rId4"/>
          <a:stretch>
            <a:fillRect/>
          </a:stretch>
        </p:blipFill>
        <p:spPr>
          <a:xfrm>
            <a:off x="684703" y="3656503"/>
            <a:ext cx="294803" cy="294803"/>
          </a:xfrm>
          <a:prstGeom prst="rect">
            <a:avLst/>
          </a:prstGeom>
        </p:spPr>
      </p:pic>
      <p:sp>
        <p:nvSpPr>
          <p:cNvPr id="16" name="ft2"/>
          <p:cNvSpPr txBox="1"/>
          <p:nvPr/>
        </p:nvSpPr>
        <p:spPr>
          <a:xfrm>
            <a:off x="1325880" y="3520440"/>
            <a:ext cx="6309360" cy="65836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Very heavy rain hits his zone</a:t>
            </a:r>
            <a:endParaRPr lang="en-US" sz="1700" dirty="0"/>
          </a:p>
          <a:p>
            <a:pPr indent="0" marL="0">
              <a:buNone/>
            </a:pPr>
            <a:r>
              <a:rPr lang="en-US" sz="1350" dirty="0">
                <a:solidFill>
                  <a:srgbClr val="B9C2D8"/>
                </a:solidFill>
                <a:latin typeface="Calibri" pitchFamily="34" charset="0"/>
                <a:ea typeface="Calibri" pitchFamily="34" charset="-122"/>
                <a:cs typeface="Calibri" pitchFamily="34" charset="-120"/>
              </a:rPr>
              <a:t>IMD level: 115.6 mm or more in a day</a:t>
            </a:r>
            <a:endParaRPr lang="en-US" sz="1700" dirty="0"/>
          </a:p>
        </p:txBody>
      </p:sp>
      <p:sp>
        <p:nvSpPr>
          <p:cNvPr id="17" name="fa2"/>
          <p:cNvSpPr/>
          <p:nvPr/>
        </p:nvSpPr>
        <p:spPr>
          <a:xfrm>
            <a:off x="832104" y="4087368"/>
            <a:ext cx="914" cy="164592"/>
          </a:xfrm>
          <a:prstGeom prst="line">
            <a:avLst/>
          </a:prstGeom>
          <a:noFill/>
          <a:ln w="19050">
            <a:solidFill>
              <a:srgbClr val="5A6690"/>
            </a:solidFill>
            <a:prstDash val="solid"/>
            <a:tailEnd type="triangle"/>
          </a:ln>
        </p:spPr>
      </p:sp>
      <p:sp>
        <p:nvSpPr>
          <p:cNvPr id="18" name="f3c"/>
          <p:cNvSpPr/>
          <p:nvPr/>
        </p:nvSpPr>
        <p:spPr>
          <a:xfrm>
            <a:off x="548640" y="4251960"/>
            <a:ext cx="566928" cy="566928"/>
          </a:xfrm>
          <a:prstGeom prst="ellipse">
            <a:avLst/>
          </a:prstGeom>
          <a:solidFill>
            <a:srgbClr val="1C2447"/>
          </a:solidFill>
          <a:ln w="9525">
            <a:solidFill>
              <a:srgbClr val="2A3357"/>
            </a:solidFill>
            <a:prstDash val="solid"/>
          </a:ln>
        </p:spPr>
      </p:sp>
      <p:pic>
        <p:nvPicPr>
          <p:cNvPr id="19" name="f3i" descr="preencoded.png">    </p:cNvPr>
          <p:cNvPicPr>
            <a:picLocks noChangeAspect="1"/>
          </p:cNvPicPr>
          <p:nvPr/>
        </p:nvPicPr>
        <p:blipFill>
          <a:blip r:embed="rId5"/>
          <a:stretch>
            <a:fillRect/>
          </a:stretch>
        </p:blipFill>
        <p:spPr>
          <a:xfrm>
            <a:off x="684703" y="4388023"/>
            <a:ext cx="294803" cy="294803"/>
          </a:xfrm>
          <a:prstGeom prst="rect">
            <a:avLst/>
          </a:prstGeom>
        </p:spPr>
      </p:pic>
      <p:sp>
        <p:nvSpPr>
          <p:cNvPr id="20" name="ft3"/>
          <p:cNvSpPr txBox="1"/>
          <p:nvPr/>
        </p:nvSpPr>
        <p:spPr>
          <a:xfrm>
            <a:off x="1325880" y="4251960"/>
            <a:ext cx="6309360" cy="658368"/>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 licensed insurer pays</a:t>
            </a:r>
            <a:endParaRPr lang="en-US" sz="1700" dirty="0"/>
          </a:p>
          <a:p>
            <a:pPr indent="0" marL="0">
              <a:buNone/>
            </a:pPr>
            <a:r>
              <a:rPr lang="en-US" sz="1350" dirty="0">
                <a:solidFill>
                  <a:srgbClr val="B9C2D8"/>
                </a:solidFill>
                <a:latin typeface="Calibri" pitchFamily="34" charset="0"/>
                <a:ea typeface="Calibri" pitchFamily="34" charset="-122"/>
                <a:cs typeface="Calibri" pitchFamily="34" charset="-120"/>
              </a:rPr>
              <a:t>it carries the risk, not Jio and not the rider</a:t>
            </a:r>
            <a:endParaRPr lang="en-US" sz="1700" dirty="0"/>
          </a:p>
        </p:txBody>
      </p:sp>
      <p:sp>
        <p:nvSpPr>
          <p:cNvPr id="21" name="fa3"/>
          <p:cNvSpPr/>
          <p:nvPr/>
        </p:nvSpPr>
        <p:spPr>
          <a:xfrm>
            <a:off x="832104" y="4818888"/>
            <a:ext cx="914" cy="164592"/>
          </a:xfrm>
          <a:prstGeom prst="line">
            <a:avLst/>
          </a:prstGeom>
          <a:noFill/>
          <a:ln w="19050">
            <a:solidFill>
              <a:srgbClr val="5A6690"/>
            </a:solidFill>
            <a:prstDash val="solid"/>
            <a:tailEnd type="triangle"/>
          </a:ln>
        </p:spPr>
      </p:sp>
      <p:sp>
        <p:nvSpPr>
          <p:cNvPr id="22" name="f4c"/>
          <p:cNvSpPr/>
          <p:nvPr/>
        </p:nvSpPr>
        <p:spPr>
          <a:xfrm>
            <a:off x="548640" y="4983480"/>
            <a:ext cx="566928" cy="566928"/>
          </a:xfrm>
          <a:prstGeom prst="ellipse">
            <a:avLst/>
          </a:prstGeom>
          <a:solidFill>
            <a:srgbClr val="3A2C0A"/>
          </a:solidFill>
          <a:ln w="9525">
            <a:solidFill>
              <a:srgbClr val="2A3357"/>
            </a:solidFill>
            <a:prstDash val="solid"/>
          </a:ln>
        </p:spPr>
      </p:sp>
      <p:pic>
        <p:nvPicPr>
          <p:cNvPr id="23" name="f4i" descr="preencoded.png">    </p:cNvPr>
          <p:cNvPicPr>
            <a:picLocks noChangeAspect="1"/>
          </p:cNvPicPr>
          <p:nvPr/>
        </p:nvPicPr>
        <p:blipFill>
          <a:blip r:embed="rId6"/>
          <a:stretch>
            <a:fillRect/>
          </a:stretch>
        </p:blipFill>
        <p:spPr>
          <a:xfrm>
            <a:off x="684703" y="5119543"/>
            <a:ext cx="294803" cy="294803"/>
          </a:xfrm>
          <a:prstGeom prst="rect">
            <a:avLst/>
          </a:prstGeom>
        </p:spPr>
      </p:pic>
      <p:sp>
        <p:nvSpPr>
          <p:cNvPr id="24" name="ft4"/>
          <p:cNvSpPr txBox="1"/>
          <p:nvPr/>
        </p:nvSpPr>
        <p:spPr>
          <a:xfrm>
            <a:off x="1325880" y="4983480"/>
            <a:ext cx="6309360" cy="658368"/>
          </a:xfrm>
          <a:prstGeom prst="rect">
            <a:avLst/>
          </a:prstGeom>
          <a:noFill/>
          <a:ln/>
        </p:spPr>
        <p:txBody>
          <a:bodyPr wrap="square" lIns="0" tIns="0" rIns="0" bIns="0" rtlCol="0" anchor="t"/>
          <a:lstStyle/>
          <a:p>
            <a:pPr indent="0" marL="0">
              <a:buNone/>
            </a:pPr>
            <a:r>
              <a:rPr lang="en-US" sz="1700" b="1" dirty="0">
                <a:solidFill>
                  <a:srgbClr val="F5A623"/>
                </a:solidFill>
                <a:latin typeface="Calibri" pitchFamily="34" charset="0"/>
                <a:ea typeface="Calibri" pitchFamily="34" charset="-122"/>
                <a:cs typeface="Calibri" pitchFamily="34" charset="-120"/>
              </a:rPr>
              <a:t>₹300 reaches Ravi within 6 hours</a:t>
            </a:r>
            <a:endParaRPr lang="en-US" sz="1700" dirty="0"/>
          </a:p>
          <a:p>
            <a:pPr indent="0" marL="0">
              <a:buNone/>
            </a:pPr>
            <a:r>
              <a:rPr lang="en-US" sz="1350" dirty="0">
                <a:solidFill>
                  <a:srgbClr val="B9C2D8"/>
                </a:solidFill>
                <a:latin typeface="Calibri" pitchFamily="34" charset="0"/>
                <a:ea typeface="Calibri" pitchFamily="34" charset="-122"/>
                <a:cs typeface="Calibri" pitchFamily="34" charset="-120"/>
              </a:rPr>
              <a:t>to his bank or UPI; no claim form, no need to ride</a:t>
            </a:r>
            <a:endParaRPr lang="en-US" sz="1700" dirty="0"/>
          </a:p>
        </p:txBody>
      </p:sp>
      <p:sp>
        <p:nvSpPr>
          <p:cNvPr id="25" name="phone"/>
          <p:cNvSpPr/>
          <p:nvPr/>
        </p:nvSpPr>
        <p:spPr>
          <a:xfrm>
            <a:off x="8001000" y="2011680"/>
            <a:ext cx="3017520" cy="3703320"/>
          </a:xfrm>
          <a:prstGeom prst="roundRect">
            <a:avLst>
              <a:gd name="adj" fmla="val 10606"/>
            </a:avLst>
          </a:prstGeom>
          <a:solidFill>
            <a:srgbClr val="0B1024"/>
          </a:solidFill>
          <a:ln w="38100">
            <a:solidFill>
              <a:srgbClr val="3A4570"/>
            </a:solidFill>
            <a:prstDash val="solid"/>
          </a:ln>
        </p:spPr>
      </p:sp>
      <p:sp>
        <p:nvSpPr>
          <p:cNvPr id="26" name="notch"/>
          <p:cNvSpPr/>
          <p:nvPr/>
        </p:nvSpPr>
        <p:spPr>
          <a:xfrm>
            <a:off x="9098280" y="2148840"/>
            <a:ext cx="822960" cy="146304"/>
          </a:xfrm>
          <a:prstGeom prst="roundRect">
            <a:avLst>
              <a:gd name="adj" fmla="val 50000"/>
            </a:avLst>
          </a:prstGeom>
          <a:solidFill>
            <a:srgbClr val="000000"/>
          </a:solidFill>
          <a:ln w="12700">
            <a:solidFill>
              <a:srgbClr val="000000"/>
            </a:solidFill>
            <a:prstDash val="solid"/>
          </a:ln>
        </p:spPr>
      </p:sp>
      <p:sp>
        <p:nvSpPr>
          <p:cNvPr id="27" name="notif"/>
          <p:cNvSpPr/>
          <p:nvPr/>
        </p:nvSpPr>
        <p:spPr>
          <a:xfrm>
            <a:off x="8183880" y="2514600"/>
            <a:ext cx="2651760" cy="1783080"/>
          </a:xfrm>
          <a:prstGeom prst="roundRect">
            <a:avLst>
              <a:gd name="adj" fmla="val 7179"/>
            </a:avLst>
          </a:prstGeom>
          <a:solidFill>
            <a:srgbClr val="F4F6FB"/>
          </a:solidFill>
          <a:ln w="12700">
            <a:solidFill>
              <a:srgbClr val="F4F6FB"/>
            </a:solidFill>
            <a:prstDash val="solid"/>
          </a:ln>
        </p:spPr>
      </p:sp>
      <p:sp>
        <p:nvSpPr>
          <p:cNvPr id="28" name="notifT"/>
          <p:cNvSpPr txBox="1"/>
          <p:nvPr/>
        </p:nvSpPr>
        <p:spPr>
          <a:xfrm>
            <a:off x="8339328" y="2633472"/>
            <a:ext cx="2377440" cy="1600200"/>
          </a:xfrm>
          <a:prstGeom prst="rect">
            <a:avLst/>
          </a:prstGeom>
          <a:noFill/>
          <a:ln/>
        </p:spPr>
        <p:txBody>
          <a:bodyPr wrap="square" lIns="0" tIns="0" rIns="0" bIns="0" rtlCol="0" anchor="t"/>
          <a:lstStyle/>
          <a:p>
            <a:pPr indent="0" marL="0">
              <a:spcAft>
                <a:spcPts val="300"/>
              </a:spcAft>
              <a:buNone/>
            </a:pPr>
            <a:r>
              <a:rPr lang="en-US" sz="950" b="1" dirty="0">
                <a:solidFill>
                  <a:srgbClr val="6A7590"/>
                </a:solidFill>
                <a:latin typeface="Calibri" pitchFamily="34" charset="0"/>
                <a:ea typeface="Calibri" pitchFamily="34" charset="-122"/>
                <a:cs typeface="Calibri" pitchFamily="34" charset="-120"/>
              </a:rPr>
              <a:t>MAUSAM KAVACH · now</a:t>
            </a:r>
            <a:endParaRPr lang="en-US" sz="950" dirty="0"/>
          </a:p>
          <a:p>
            <a:pPr indent="0" marL="0">
              <a:spcAft>
                <a:spcPts val="300"/>
              </a:spcAft>
              <a:buNone/>
            </a:pPr>
            <a:r>
              <a:rPr lang="en-US" sz="1400" b="1" dirty="0">
                <a:solidFill>
                  <a:srgbClr val="0E1424"/>
                </a:solidFill>
                <a:latin typeface="Calibri" pitchFamily="34" charset="0"/>
                <a:ea typeface="Calibri" pitchFamily="34" charset="-122"/>
                <a:cs typeface="Calibri" pitchFamily="34" charset="-120"/>
              </a:rPr>
              <a:t>₹300 credited to your bank account</a:t>
            </a:r>
            <a:endParaRPr lang="en-US" sz="950" dirty="0"/>
          </a:p>
          <a:p>
            <a:pPr indent="0" marL="0">
              <a:spcAft>
                <a:spcPts val="300"/>
              </a:spcAft>
              <a:buNone/>
            </a:pPr>
            <a:r>
              <a:rPr lang="en-US" sz="1150" dirty="0">
                <a:solidFill>
                  <a:srgbClr val="3A4560"/>
                </a:solidFill>
                <a:latin typeface="Calibri" pitchFamily="34" charset="0"/>
                <a:ea typeface="Calibri" pitchFamily="34" charset="-122"/>
                <a:cs typeface="Calibri" pitchFamily="34" charset="-120"/>
              </a:rPr>
              <a:t>Very heavy rain in Andheri East: 128 mm today. Paid by your insurer. Nothing to file. Stay safe.</a:t>
            </a:r>
            <a:endParaRPr lang="en-US" sz="950" dirty="0"/>
          </a:p>
        </p:txBody>
      </p:sp>
      <p:sp>
        <p:nvSpPr>
          <p:cNvPr id="29" name="phoneMeta"/>
          <p:cNvSpPr txBox="1"/>
          <p:nvPr/>
        </p:nvSpPr>
        <p:spPr>
          <a:xfrm>
            <a:off x="8275320" y="4526280"/>
            <a:ext cx="2514600" cy="640080"/>
          </a:xfrm>
          <a:prstGeom prst="rect">
            <a:avLst/>
          </a:prstGeom>
          <a:noFill/>
          <a:ln/>
        </p:spPr>
        <p:txBody>
          <a:bodyPr wrap="square" lIns="0" tIns="0" rIns="0" bIns="0" rtlCol="0" anchor="t"/>
          <a:lstStyle/>
          <a:p>
            <a:pPr indent="0" marL="0">
              <a:buNone/>
            </a:pPr>
            <a:r>
              <a:rPr lang="en-US" sz="1200" b="1" dirty="0">
                <a:solidFill>
                  <a:srgbClr val="EEF1F7"/>
                </a:solidFill>
                <a:latin typeface="Calibri" pitchFamily="34" charset="0"/>
                <a:ea typeface="Calibri" pitchFamily="34" charset="-122"/>
                <a:cs typeface="Calibri" pitchFamily="34" charset="-120"/>
              </a:rPr>
              <a:t>Covered by your app</a:t>
            </a:r>
            <a:endParaRPr lang="en-US" sz="1200" dirty="0"/>
          </a:p>
          <a:p>
            <a:pPr indent="0" marL="0">
              <a:buNone/>
            </a:pPr>
            <a:r>
              <a:rPr lang="en-US" sz="1200" dirty="0">
                <a:solidFill>
                  <a:srgbClr val="98A2C0"/>
                </a:solidFill>
                <a:latin typeface="Calibri" pitchFamily="34" charset="0"/>
                <a:ea typeface="Calibri" pitchFamily="34" charset="-122"/>
                <a:cs typeface="Calibri" pitchFamily="34" charset="-120"/>
              </a:rPr>
              <a:t>Payout days this year: 1 of 5</a:t>
            </a:r>
            <a:endParaRPr lang="en-US" sz="1200" dirty="0"/>
          </a:p>
        </p:txBody>
      </p:sp>
      <p:sp>
        <p:nvSpPr>
          <p:cNvPr id="30" name="illus"/>
          <p:cNvSpPr txBox="1"/>
          <p:nvPr/>
        </p:nvSpPr>
        <p:spPr>
          <a:xfrm>
            <a:off x="8001000" y="5760720"/>
            <a:ext cx="3017520" cy="228600"/>
          </a:xfrm>
          <a:prstGeom prst="rect">
            <a:avLst/>
          </a:prstGeom>
          <a:noFill/>
          <a:ln/>
        </p:spPr>
        <p:txBody>
          <a:bodyPr wrap="square" lIns="0" tIns="0" rIns="0" bIns="0" rtlCol="0" anchor="t"/>
          <a:lstStyle/>
          <a:p>
            <a:pPr algn="ctr" indent="0" marL="0">
              <a:buNone/>
            </a:pPr>
            <a:r>
              <a:rPr lang="en-US" sz="1000" dirty="0">
                <a:solidFill>
                  <a:srgbClr val="6F7AA0"/>
                </a:solidFill>
                <a:latin typeface="Calibri" pitchFamily="34" charset="0"/>
                <a:ea typeface="Calibri" pitchFamily="34" charset="-122"/>
                <a:cs typeface="Calibri" pitchFamily="34" charset="-120"/>
              </a:rPr>
              <a:t>Illustration</a:t>
            </a:r>
            <a:endParaRPr lang="en-US" sz="1000" dirty="0"/>
          </a:p>
        </p:txBody>
      </p:sp>
      <p:sp>
        <p:nvSpPr>
          <p:cNvPr id="31" name="chip0"/>
          <p:cNvSpPr/>
          <p:nvPr/>
        </p:nvSpPr>
        <p:spPr>
          <a:xfrm>
            <a:off x="548640" y="5788152"/>
            <a:ext cx="2286000" cy="566928"/>
          </a:xfrm>
          <a:prstGeom prst="roundRect">
            <a:avLst>
              <a:gd name="adj" fmla="val 19355"/>
            </a:avLst>
          </a:prstGeom>
          <a:solidFill>
            <a:srgbClr val="2B2208"/>
          </a:solidFill>
          <a:ln w="9525">
            <a:solidFill>
              <a:srgbClr val="F5A623"/>
            </a:solidFill>
            <a:prstDash val="solid"/>
          </a:ln>
        </p:spPr>
      </p:sp>
      <p:sp>
        <p:nvSpPr>
          <p:cNvPr id="32" name="chipT0"/>
          <p:cNvSpPr txBox="1"/>
          <p:nvPr/>
        </p:nvSpPr>
        <p:spPr>
          <a:xfrm>
            <a:off x="685800" y="5788152"/>
            <a:ext cx="2057400" cy="566928"/>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₹165 </a:t>
            </a:r>
            <a:pPr indent="0" marL="0">
              <a:buNone/>
            </a:pPr>
            <a:r>
              <a:rPr lang="en-US" sz="1150" dirty="0">
                <a:solidFill>
                  <a:srgbClr val="EEF1F7"/>
                </a:solidFill>
                <a:latin typeface="Calibri" pitchFamily="34" charset="0"/>
                <a:ea typeface="Calibri" pitchFamily="34" charset="-122"/>
                <a:cs typeface="Calibri" pitchFamily="34" charset="-120"/>
              </a:rPr>
              <a:t>a rider a month</a:t>
            </a:r>
            <a:endParaRPr lang="en-US" sz="1600" dirty="0"/>
          </a:p>
        </p:txBody>
      </p:sp>
      <p:sp>
        <p:nvSpPr>
          <p:cNvPr id="33" name="chip1"/>
          <p:cNvSpPr/>
          <p:nvPr/>
        </p:nvSpPr>
        <p:spPr>
          <a:xfrm>
            <a:off x="2944368" y="5788152"/>
            <a:ext cx="2286000" cy="566928"/>
          </a:xfrm>
          <a:prstGeom prst="roundRect">
            <a:avLst>
              <a:gd name="adj" fmla="val 19355"/>
            </a:avLst>
          </a:prstGeom>
          <a:solidFill>
            <a:srgbClr val="2B2208"/>
          </a:solidFill>
          <a:ln w="9525">
            <a:solidFill>
              <a:srgbClr val="F5A623"/>
            </a:solidFill>
            <a:prstDash val="solid"/>
          </a:ln>
        </p:spPr>
      </p:sp>
      <p:sp>
        <p:nvSpPr>
          <p:cNvPr id="34" name="chipT1"/>
          <p:cNvSpPr txBox="1"/>
          <p:nvPr/>
        </p:nvSpPr>
        <p:spPr>
          <a:xfrm>
            <a:off x="3081528" y="5788152"/>
            <a:ext cx="2057400" cy="566928"/>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~4 days </a:t>
            </a:r>
            <a:pPr indent="0" marL="0">
              <a:buNone/>
            </a:pPr>
            <a:r>
              <a:rPr lang="en-US" sz="1150" dirty="0">
                <a:solidFill>
                  <a:srgbClr val="EEF1F7"/>
                </a:solidFill>
                <a:latin typeface="Calibri" pitchFamily="34" charset="0"/>
                <a:ea typeface="Calibri" pitchFamily="34" charset="-122"/>
                <a:cs typeface="Calibri" pitchFamily="34" charset="-120"/>
              </a:rPr>
              <a:t>a year in Mumbai</a:t>
            </a:r>
            <a:endParaRPr lang="en-US" sz="1600" dirty="0"/>
          </a:p>
        </p:txBody>
      </p:sp>
      <p:sp>
        <p:nvSpPr>
          <p:cNvPr id="35" name="chip2"/>
          <p:cNvSpPr/>
          <p:nvPr/>
        </p:nvSpPr>
        <p:spPr>
          <a:xfrm>
            <a:off x="5340096" y="5788152"/>
            <a:ext cx="2286000" cy="566928"/>
          </a:xfrm>
          <a:prstGeom prst="roundRect">
            <a:avLst>
              <a:gd name="adj" fmla="val 19355"/>
            </a:avLst>
          </a:prstGeom>
          <a:solidFill>
            <a:srgbClr val="2B2208"/>
          </a:solidFill>
          <a:ln w="9525">
            <a:solidFill>
              <a:srgbClr val="F5A623"/>
            </a:solidFill>
            <a:prstDash val="solid"/>
          </a:ln>
        </p:spPr>
      </p:sp>
      <p:sp>
        <p:nvSpPr>
          <p:cNvPr id="36" name="chipT2"/>
          <p:cNvSpPr txBox="1"/>
          <p:nvPr/>
        </p:nvSpPr>
        <p:spPr>
          <a:xfrm>
            <a:off x="5477256" y="5788152"/>
            <a:ext cx="2057400" cy="566928"/>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Up to 5 </a:t>
            </a:r>
            <a:pPr indent="0" marL="0">
              <a:buNone/>
            </a:pPr>
            <a:r>
              <a:rPr lang="en-US" sz="1150" dirty="0">
                <a:solidFill>
                  <a:srgbClr val="EEF1F7"/>
                </a:solidFill>
                <a:latin typeface="Calibri" pitchFamily="34" charset="0"/>
                <a:ea typeface="Calibri" pitchFamily="34" charset="-122"/>
                <a:cs typeface="Calibri" pitchFamily="34" charset="-120"/>
              </a:rPr>
              <a:t>payouts a year</a:t>
            </a:r>
            <a:endParaRPr lang="en-US" sz="1600" dirty="0"/>
          </a:p>
        </p:txBody>
      </p:sp>
      <p:sp>
        <p:nvSpPr>
          <p:cNvPr id="37"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6F7AA0"/>
                </a:solidFill>
                <a:latin typeface="Calibri" pitchFamily="34" charset="0"/>
                <a:ea typeface="Calibri" pitchFamily="34" charset="-122"/>
                <a:cs typeface="Calibri" pitchFamily="34" charset="-120"/>
              </a:rPr>
              <a:t>Priced on IMD Santacruz records, 2000–2024. The pilot calibrates an equivalent 3-hour trigger. Jio Payments Bank is optional.</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73"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p:cTn id="16" dur="420" fill="hold"/>
                                        <p:tgtEl>
                                          <p:spTgt spid="6"/>
                                        </p:tgtEl>
                                        <p:attrNameLst>
                                          <p:attrName>ppt_x</p:attrName>
                                        </p:attrNameLst>
                                      </p:cBhvr>
                                      <p:tavLst>
                                        <p:tav tm="0">
                                          <p:val>
                                            <p:strVal val="#ppt_x"/>
                                          </p:val>
                                        </p:tav>
                                        <p:tav tm="100000">
                                          <p:val>
                                            <p:strVal val="#ppt_x"/>
                                          </p:val>
                                        </p:tav>
                                      </p:tavLst>
                                    </p:anim>
                                    <p:anim calcmode="lin" valueType="num">
                                      <p:cBhvr>
                                        <p:cTn id="17" dur="42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anim calcmode="lin" valueType="num">
                                      <p:cBhvr>
                                        <p:cTn id="21" dur="420" fill="hold"/>
                                        <p:tgtEl>
                                          <p:spTgt spid="7"/>
                                        </p:tgtEl>
                                        <p:attrNameLst>
                                          <p:attrName>ppt_x</p:attrName>
                                        </p:attrNameLst>
                                      </p:cBhvr>
                                      <p:tavLst>
                                        <p:tav tm="0">
                                          <p:val>
                                            <p:strVal val="#ppt_x"/>
                                          </p:val>
                                        </p:tav>
                                        <p:tav tm="100000">
                                          <p:val>
                                            <p:strVal val="#ppt_x"/>
                                          </p:val>
                                        </p:tav>
                                      </p:tavLst>
                                    </p:anim>
                                    <p:anim calcmode="lin" valueType="num">
                                      <p:cBhvr>
                                        <p:cTn id="22" dur="42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p:cTn id="26" dur="420" fill="hold"/>
                                        <p:tgtEl>
                                          <p:spTgt spid="8"/>
                                        </p:tgtEl>
                                        <p:attrNameLst>
                                          <p:attrName>ppt_x</p:attrName>
                                        </p:attrNameLst>
                                      </p:cBhvr>
                                      <p:tavLst>
                                        <p:tav tm="0">
                                          <p:val>
                                            <p:strVal val="#ppt_x"/>
                                          </p:val>
                                        </p:tav>
                                        <p:tav tm="100000">
                                          <p:val>
                                            <p:strVal val="#ppt_x"/>
                                          </p:val>
                                        </p:tav>
                                      </p:tavLst>
                                    </p:anim>
                                    <p:anim calcmode="lin" valueType="num">
                                      <p:cBhvr>
                                        <p:cTn id="27" dur="42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20"/>
                                        <p:tgtEl>
                                          <p:spTgt spid="9"/>
                                        </p:tgtEl>
                                      </p:cBhvr>
                                    </p:animEffect>
                                    <p:anim calcmode="lin" valueType="num">
                                      <p:cBhvr>
                                        <p:cTn id="31" dur="420" fill="hold"/>
                                        <p:tgtEl>
                                          <p:spTgt spid="9"/>
                                        </p:tgtEl>
                                        <p:attrNameLst>
                                          <p:attrName>ppt_x</p:attrName>
                                        </p:attrNameLst>
                                      </p:cBhvr>
                                      <p:tavLst>
                                        <p:tav tm="0">
                                          <p:val>
                                            <p:strVal val="#ppt_x"/>
                                          </p:val>
                                        </p:tav>
                                        <p:tav tm="100000">
                                          <p:val>
                                            <p:strVal val="#ppt_x"/>
                                          </p:val>
                                        </p:tav>
                                      </p:tavLst>
                                    </p:anim>
                                    <p:anim calcmode="lin" valueType="num">
                                      <p:cBhvr>
                                        <p:cTn id="32" dur="42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210"/>
                            </p:stCondLst>
                            <p:childTnLst>
                              <p:par>
                                <p:cTn id="34" presetID="42" presetClass="entr" presetSubtype="0" fill="hold" grpId="0" nodeType="afterEffect">
                                  <p:stCondLst>
                                    <p:cond delay="4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20"/>
                                        <p:tgtEl>
                                          <p:spTgt spid="10"/>
                                        </p:tgtEl>
                                      </p:cBhvr>
                                    </p:animEffect>
                                    <p:anim calcmode="lin" valueType="num">
                                      <p:cBhvr>
                                        <p:cTn id="37" dur="420" fill="hold"/>
                                        <p:tgtEl>
                                          <p:spTgt spid="10"/>
                                        </p:tgtEl>
                                        <p:attrNameLst>
                                          <p:attrName>ppt_x</p:attrName>
                                        </p:attrNameLst>
                                      </p:cBhvr>
                                      <p:tavLst>
                                        <p:tav tm="0">
                                          <p:val>
                                            <p:strVal val="#ppt_x"/>
                                          </p:val>
                                        </p:tav>
                                        <p:tav tm="100000">
                                          <p:val>
                                            <p:strVal val="#ppt_x"/>
                                          </p:val>
                                        </p:tav>
                                      </p:tavLst>
                                    </p:anim>
                                    <p:anim calcmode="lin" valueType="num">
                                      <p:cBhvr>
                                        <p:cTn id="38" dur="42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20"/>
                                        <p:tgtEl>
                                          <p:spTgt spid="11"/>
                                        </p:tgtEl>
                                      </p:cBhvr>
                                    </p:animEffect>
                                    <p:anim calcmode="lin" valueType="num">
                                      <p:cBhvr>
                                        <p:cTn id="42" dur="420" fill="hold"/>
                                        <p:tgtEl>
                                          <p:spTgt spid="11"/>
                                        </p:tgtEl>
                                        <p:attrNameLst>
                                          <p:attrName>ppt_x</p:attrName>
                                        </p:attrNameLst>
                                      </p:cBhvr>
                                      <p:tavLst>
                                        <p:tav tm="0">
                                          <p:val>
                                            <p:strVal val="#ppt_x"/>
                                          </p:val>
                                        </p:tav>
                                        <p:tav tm="100000">
                                          <p:val>
                                            <p:strVal val="#ppt_x"/>
                                          </p:val>
                                        </p:tav>
                                      </p:tavLst>
                                    </p:anim>
                                    <p:anim calcmode="lin" valueType="num">
                                      <p:cBhvr>
                                        <p:cTn id="43" dur="42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20"/>
                                        <p:tgtEl>
                                          <p:spTgt spid="12"/>
                                        </p:tgtEl>
                                      </p:cBhvr>
                                    </p:animEffect>
                                    <p:anim calcmode="lin" valueType="num">
                                      <p:cBhvr>
                                        <p:cTn id="47" dur="420" fill="hold"/>
                                        <p:tgtEl>
                                          <p:spTgt spid="12"/>
                                        </p:tgtEl>
                                        <p:attrNameLst>
                                          <p:attrName>ppt_x</p:attrName>
                                        </p:attrNameLst>
                                      </p:cBhvr>
                                      <p:tavLst>
                                        <p:tav tm="0">
                                          <p:val>
                                            <p:strVal val="#ppt_x"/>
                                          </p:val>
                                        </p:tav>
                                        <p:tav tm="100000">
                                          <p:val>
                                            <p:strVal val="#ppt_x"/>
                                          </p:val>
                                        </p:tav>
                                      </p:tavLst>
                                    </p:anim>
                                    <p:anim calcmode="lin" valueType="num">
                                      <p:cBhvr>
                                        <p:cTn id="48" dur="42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p:cTn id="52" dur="420" fill="hold"/>
                                        <p:tgtEl>
                                          <p:spTgt spid="13"/>
                                        </p:tgtEl>
                                        <p:attrNameLst>
                                          <p:attrName>ppt_x</p:attrName>
                                        </p:attrNameLst>
                                      </p:cBhvr>
                                      <p:tavLst>
                                        <p:tav tm="0">
                                          <p:val>
                                            <p:strVal val="#ppt_x"/>
                                          </p:val>
                                        </p:tav>
                                        <p:tav tm="100000">
                                          <p:val>
                                            <p:strVal val="#ppt_x"/>
                                          </p:val>
                                        </p:tav>
                                      </p:tavLst>
                                    </p:anim>
                                    <p:anim calcmode="lin" valueType="num">
                                      <p:cBhvr>
                                        <p:cTn id="53" dur="42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1670"/>
                            </p:stCondLst>
                            <p:childTnLst>
                              <p:par>
                                <p:cTn id="55" presetID="42" presetClass="entr" presetSubtype="0" fill="hold" grpId="0" nodeType="afterEffect">
                                  <p:stCondLst>
                                    <p:cond delay="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20"/>
                                        <p:tgtEl>
                                          <p:spTgt spid="14"/>
                                        </p:tgtEl>
                                      </p:cBhvr>
                                    </p:animEffect>
                                    <p:anim calcmode="lin" valueType="num">
                                      <p:cBhvr>
                                        <p:cTn id="58" dur="420" fill="hold"/>
                                        <p:tgtEl>
                                          <p:spTgt spid="14"/>
                                        </p:tgtEl>
                                        <p:attrNameLst>
                                          <p:attrName>ppt_x</p:attrName>
                                        </p:attrNameLst>
                                      </p:cBhvr>
                                      <p:tavLst>
                                        <p:tav tm="0">
                                          <p:val>
                                            <p:strVal val="#ppt_x"/>
                                          </p:val>
                                        </p:tav>
                                        <p:tav tm="100000">
                                          <p:val>
                                            <p:strVal val="#ppt_x"/>
                                          </p:val>
                                        </p:tav>
                                      </p:tavLst>
                                    </p:anim>
                                    <p:anim calcmode="lin" valueType="num">
                                      <p:cBhvr>
                                        <p:cTn id="59" dur="42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20"/>
                                        <p:tgtEl>
                                          <p:spTgt spid="15"/>
                                        </p:tgtEl>
                                      </p:cBhvr>
                                    </p:animEffect>
                                    <p:anim calcmode="lin" valueType="num">
                                      <p:cBhvr>
                                        <p:cTn id="63" dur="420" fill="hold"/>
                                        <p:tgtEl>
                                          <p:spTgt spid="15"/>
                                        </p:tgtEl>
                                        <p:attrNameLst>
                                          <p:attrName>ppt_x</p:attrName>
                                        </p:attrNameLst>
                                      </p:cBhvr>
                                      <p:tavLst>
                                        <p:tav tm="0">
                                          <p:val>
                                            <p:strVal val="#ppt_x"/>
                                          </p:val>
                                        </p:tav>
                                        <p:tav tm="100000">
                                          <p:val>
                                            <p:strVal val="#ppt_x"/>
                                          </p:val>
                                        </p:tav>
                                      </p:tavLst>
                                    </p:anim>
                                    <p:anim calcmode="lin" valueType="num">
                                      <p:cBhvr>
                                        <p:cTn id="64" dur="42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20"/>
                                        <p:tgtEl>
                                          <p:spTgt spid="16"/>
                                        </p:tgtEl>
                                      </p:cBhvr>
                                    </p:animEffect>
                                    <p:anim calcmode="lin" valueType="num">
                                      <p:cBhvr>
                                        <p:cTn id="68" dur="420" fill="hold"/>
                                        <p:tgtEl>
                                          <p:spTgt spid="16"/>
                                        </p:tgtEl>
                                        <p:attrNameLst>
                                          <p:attrName>ppt_x</p:attrName>
                                        </p:attrNameLst>
                                      </p:cBhvr>
                                      <p:tavLst>
                                        <p:tav tm="0">
                                          <p:val>
                                            <p:strVal val="#ppt_x"/>
                                          </p:val>
                                        </p:tav>
                                        <p:tav tm="100000">
                                          <p:val>
                                            <p:strVal val="#ppt_x"/>
                                          </p:val>
                                        </p:tav>
                                      </p:tavLst>
                                    </p:anim>
                                    <p:anim calcmode="lin" valueType="num">
                                      <p:cBhvr>
                                        <p:cTn id="69" dur="42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20"/>
                                        <p:tgtEl>
                                          <p:spTgt spid="17"/>
                                        </p:tgtEl>
                                      </p:cBhvr>
                                    </p:animEffect>
                                    <p:anim calcmode="lin" valueType="num">
                                      <p:cBhvr>
                                        <p:cTn id="73" dur="420" fill="hold"/>
                                        <p:tgtEl>
                                          <p:spTgt spid="17"/>
                                        </p:tgtEl>
                                        <p:attrNameLst>
                                          <p:attrName>ppt_x</p:attrName>
                                        </p:attrNameLst>
                                      </p:cBhvr>
                                      <p:tavLst>
                                        <p:tav tm="0">
                                          <p:val>
                                            <p:strVal val="#ppt_x"/>
                                          </p:val>
                                        </p:tav>
                                        <p:tav tm="100000">
                                          <p:val>
                                            <p:strVal val="#ppt_x"/>
                                          </p:val>
                                        </p:tav>
                                      </p:tavLst>
                                    </p:anim>
                                    <p:anim calcmode="lin" valueType="num">
                                      <p:cBhvr>
                                        <p:cTn id="74" dur="420" fill="hold"/>
                                        <p:tgtEl>
                                          <p:spTgt spid="17"/>
                                        </p:tgtEl>
                                        <p:attrNameLst>
                                          <p:attrName>ppt_y</p:attrName>
                                        </p:attrNameLst>
                                      </p:cBhvr>
                                      <p:tavLst>
                                        <p:tav tm="0">
                                          <p:val>
                                            <p:strVal val="#ppt_y+.06"/>
                                          </p:val>
                                        </p:tav>
                                        <p:tav tm="100000">
                                          <p:val>
                                            <p:strVal val="#ppt_y"/>
                                          </p:val>
                                        </p:tav>
                                      </p:tavLst>
                                    </p:anim>
                                  </p:childTnLst>
                                </p:cTn>
                              </p:par>
                            </p:childTnLst>
                          </p:cTn>
                        </p:par>
                        <p:par>
                          <p:cTn id="75" fill="hold">
                            <p:stCondLst>
                              <p:cond delay="2130"/>
                            </p:stCondLst>
                            <p:childTnLst>
                              <p:par>
                                <p:cTn id="76" presetID="42" presetClass="entr" presetSubtype="0" fill="hold" grpId="0" nodeType="afterEffect">
                                  <p:stCondLst>
                                    <p:cond delay="4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20"/>
                                        <p:tgtEl>
                                          <p:spTgt spid="18"/>
                                        </p:tgtEl>
                                      </p:cBhvr>
                                    </p:animEffect>
                                    <p:anim calcmode="lin" valueType="num">
                                      <p:cBhvr>
                                        <p:cTn id="79" dur="420" fill="hold"/>
                                        <p:tgtEl>
                                          <p:spTgt spid="18"/>
                                        </p:tgtEl>
                                        <p:attrNameLst>
                                          <p:attrName>ppt_x</p:attrName>
                                        </p:attrNameLst>
                                      </p:cBhvr>
                                      <p:tavLst>
                                        <p:tav tm="0">
                                          <p:val>
                                            <p:strVal val="#ppt_x"/>
                                          </p:val>
                                        </p:tav>
                                        <p:tav tm="100000">
                                          <p:val>
                                            <p:strVal val="#ppt_x"/>
                                          </p:val>
                                        </p:tav>
                                      </p:tavLst>
                                    </p:anim>
                                    <p:anim calcmode="lin" valueType="num">
                                      <p:cBhvr>
                                        <p:cTn id="80" dur="420" fill="hold"/>
                                        <p:tgtEl>
                                          <p:spTgt spid="18"/>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420"/>
                                        <p:tgtEl>
                                          <p:spTgt spid="19"/>
                                        </p:tgtEl>
                                      </p:cBhvr>
                                    </p:animEffect>
                                    <p:anim calcmode="lin" valueType="num">
                                      <p:cBhvr>
                                        <p:cTn id="84" dur="420" fill="hold"/>
                                        <p:tgtEl>
                                          <p:spTgt spid="19"/>
                                        </p:tgtEl>
                                        <p:attrNameLst>
                                          <p:attrName>ppt_x</p:attrName>
                                        </p:attrNameLst>
                                      </p:cBhvr>
                                      <p:tavLst>
                                        <p:tav tm="0">
                                          <p:val>
                                            <p:strVal val="#ppt_x"/>
                                          </p:val>
                                        </p:tav>
                                        <p:tav tm="100000">
                                          <p:val>
                                            <p:strVal val="#ppt_x"/>
                                          </p:val>
                                        </p:tav>
                                      </p:tavLst>
                                    </p:anim>
                                    <p:anim calcmode="lin" valueType="num">
                                      <p:cBhvr>
                                        <p:cTn id="85" dur="420" fill="hold"/>
                                        <p:tgtEl>
                                          <p:spTgt spid="19"/>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420"/>
                                        <p:tgtEl>
                                          <p:spTgt spid="20"/>
                                        </p:tgtEl>
                                      </p:cBhvr>
                                    </p:animEffect>
                                    <p:anim calcmode="lin" valueType="num">
                                      <p:cBhvr>
                                        <p:cTn id="89" dur="420" fill="hold"/>
                                        <p:tgtEl>
                                          <p:spTgt spid="20"/>
                                        </p:tgtEl>
                                        <p:attrNameLst>
                                          <p:attrName>ppt_x</p:attrName>
                                        </p:attrNameLst>
                                      </p:cBhvr>
                                      <p:tavLst>
                                        <p:tav tm="0">
                                          <p:val>
                                            <p:strVal val="#ppt_x"/>
                                          </p:val>
                                        </p:tav>
                                        <p:tav tm="100000">
                                          <p:val>
                                            <p:strVal val="#ppt_x"/>
                                          </p:val>
                                        </p:tav>
                                      </p:tavLst>
                                    </p:anim>
                                    <p:anim calcmode="lin" valueType="num">
                                      <p:cBhvr>
                                        <p:cTn id="90" dur="420" fill="hold"/>
                                        <p:tgtEl>
                                          <p:spTgt spid="20"/>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420"/>
                                        <p:tgtEl>
                                          <p:spTgt spid="21"/>
                                        </p:tgtEl>
                                      </p:cBhvr>
                                    </p:animEffect>
                                    <p:anim calcmode="lin" valueType="num">
                                      <p:cBhvr>
                                        <p:cTn id="94" dur="420" fill="hold"/>
                                        <p:tgtEl>
                                          <p:spTgt spid="21"/>
                                        </p:tgtEl>
                                        <p:attrNameLst>
                                          <p:attrName>ppt_x</p:attrName>
                                        </p:attrNameLst>
                                      </p:cBhvr>
                                      <p:tavLst>
                                        <p:tav tm="0">
                                          <p:val>
                                            <p:strVal val="#ppt_x"/>
                                          </p:val>
                                        </p:tav>
                                        <p:tav tm="100000">
                                          <p:val>
                                            <p:strVal val="#ppt_x"/>
                                          </p:val>
                                        </p:tav>
                                      </p:tavLst>
                                    </p:anim>
                                    <p:anim calcmode="lin" valueType="num">
                                      <p:cBhvr>
                                        <p:cTn id="95" dur="420" fill="hold"/>
                                        <p:tgtEl>
                                          <p:spTgt spid="21"/>
                                        </p:tgtEl>
                                        <p:attrNameLst>
                                          <p:attrName>ppt_y</p:attrName>
                                        </p:attrNameLst>
                                      </p:cBhvr>
                                      <p:tavLst>
                                        <p:tav tm="0">
                                          <p:val>
                                            <p:strVal val="#ppt_y+.06"/>
                                          </p:val>
                                        </p:tav>
                                        <p:tav tm="100000">
                                          <p:val>
                                            <p:strVal val="#ppt_y"/>
                                          </p:val>
                                        </p:tav>
                                      </p:tavLst>
                                    </p:anim>
                                  </p:childTnLst>
                                </p:cTn>
                              </p:par>
                            </p:childTnLst>
                          </p:cTn>
                        </p:par>
                        <p:par>
                          <p:cTn id="96" fill="hold">
                            <p:stCondLst>
                              <p:cond delay="2590"/>
                            </p:stCondLst>
                            <p:childTnLst>
                              <p:par>
                                <p:cTn id="97" presetID="42" presetClass="entr" presetSubtype="0" fill="hold" grpId="0" nodeType="afterEffect">
                                  <p:stCondLst>
                                    <p:cond delay="4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420"/>
                                        <p:tgtEl>
                                          <p:spTgt spid="22"/>
                                        </p:tgtEl>
                                      </p:cBhvr>
                                    </p:animEffect>
                                    <p:anim calcmode="lin" valueType="num">
                                      <p:cBhvr>
                                        <p:cTn id="100" dur="420" fill="hold"/>
                                        <p:tgtEl>
                                          <p:spTgt spid="22"/>
                                        </p:tgtEl>
                                        <p:attrNameLst>
                                          <p:attrName>ppt_x</p:attrName>
                                        </p:attrNameLst>
                                      </p:cBhvr>
                                      <p:tavLst>
                                        <p:tav tm="0">
                                          <p:val>
                                            <p:strVal val="#ppt_x"/>
                                          </p:val>
                                        </p:tav>
                                        <p:tav tm="100000">
                                          <p:val>
                                            <p:strVal val="#ppt_x"/>
                                          </p:val>
                                        </p:tav>
                                      </p:tavLst>
                                    </p:anim>
                                    <p:anim calcmode="lin" valueType="num">
                                      <p:cBhvr>
                                        <p:cTn id="101" dur="420" fill="hold"/>
                                        <p:tgtEl>
                                          <p:spTgt spid="22"/>
                                        </p:tgtEl>
                                        <p:attrNameLst>
                                          <p:attrName>ppt_y</p:attrName>
                                        </p:attrNameLst>
                                      </p:cBhvr>
                                      <p:tavLst>
                                        <p:tav tm="0">
                                          <p:val>
                                            <p:strVal val="#ppt_y+.06"/>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420"/>
                                        <p:tgtEl>
                                          <p:spTgt spid="23"/>
                                        </p:tgtEl>
                                      </p:cBhvr>
                                    </p:animEffect>
                                    <p:anim calcmode="lin" valueType="num">
                                      <p:cBhvr>
                                        <p:cTn id="105" dur="420" fill="hold"/>
                                        <p:tgtEl>
                                          <p:spTgt spid="23"/>
                                        </p:tgtEl>
                                        <p:attrNameLst>
                                          <p:attrName>ppt_x</p:attrName>
                                        </p:attrNameLst>
                                      </p:cBhvr>
                                      <p:tavLst>
                                        <p:tav tm="0">
                                          <p:val>
                                            <p:strVal val="#ppt_x"/>
                                          </p:val>
                                        </p:tav>
                                        <p:tav tm="100000">
                                          <p:val>
                                            <p:strVal val="#ppt_x"/>
                                          </p:val>
                                        </p:tav>
                                      </p:tavLst>
                                    </p:anim>
                                    <p:anim calcmode="lin" valueType="num">
                                      <p:cBhvr>
                                        <p:cTn id="106" dur="420" fill="hold"/>
                                        <p:tgtEl>
                                          <p:spTgt spid="23"/>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420"/>
                                        <p:tgtEl>
                                          <p:spTgt spid="24"/>
                                        </p:tgtEl>
                                      </p:cBhvr>
                                    </p:animEffect>
                                    <p:anim calcmode="lin" valueType="num">
                                      <p:cBhvr>
                                        <p:cTn id="110" dur="420" fill="hold"/>
                                        <p:tgtEl>
                                          <p:spTgt spid="24"/>
                                        </p:tgtEl>
                                        <p:attrNameLst>
                                          <p:attrName>ppt_x</p:attrName>
                                        </p:attrNameLst>
                                      </p:cBhvr>
                                      <p:tavLst>
                                        <p:tav tm="0">
                                          <p:val>
                                            <p:strVal val="#ppt_x"/>
                                          </p:val>
                                        </p:tav>
                                        <p:tav tm="100000">
                                          <p:val>
                                            <p:strVal val="#ppt_x"/>
                                          </p:val>
                                        </p:tav>
                                      </p:tavLst>
                                    </p:anim>
                                    <p:anim calcmode="lin" valueType="num">
                                      <p:cBhvr>
                                        <p:cTn id="111" dur="420" fill="hold"/>
                                        <p:tgtEl>
                                          <p:spTgt spid="24"/>
                                        </p:tgtEl>
                                        <p:attrNameLst>
                                          <p:attrName>ppt_y</p:attrName>
                                        </p:attrNameLst>
                                      </p:cBhvr>
                                      <p:tavLst>
                                        <p:tav tm="0">
                                          <p:val>
                                            <p:strVal val="#ppt_y+.06"/>
                                          </p:val>
                                        </p:tav>
                                        <p:tav tm="100000">
                                          <p:val>
                                            <p:strVal val="#ppt_y"/>
                                          </p:val>
                                        </p:tav>
                                      </p:tavLst>
                                    </p:anim>
                                  </p:childTnLst>
                                </p:cTn>
                              </p:par>
                            </p:childTnLst>
                          </p:cTn>
                        </p:par>
                        <p:par>
                          <p:cTn id="112" fill="hold">
                            <p:stCondLst>
                              <p:cond delay="3050"/>
                            </p:stCondLst>
                            <p:childTnLst>
                              <p:par>
                                <p:cTn id="113" presetID="10" presetClass="entr" presetSubtype="0" fill="hold" grpId="0" nodeType="afterEffect">
                                  <p:stCondLst>
                                    <p:cond delay="5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400"/>
                                        <p:tgtEl>
                                          <p:spTgt spid="2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400"/>
                                        <p:tgtEl>
                                          <p:spTgt spid="26"/>
                                        </p:tgtEl>
                                      </p:cBhvr>
                                    </p:animEffect>
                                  </p:childTnLst>
                                </p:cTn>
                              </p:par>
                            </p:childTnLst>
                          </p:cTn>
                        </p:par>
                        <p:par>
                          <p:cTn id="119" fill="hold">
                            <p:stCondLst>
                              <p:cond delay="3500"/>
                            </p:stCondLst>
                            <p:childTnLst>
                              <p:par>
                                <p:cTn id="120" presetID="42" presetClass="entr" presetSubtype="0" fill="hold" grpId="0" nodeType="after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600"/>
                                        <p:tgtEl>
                                          <p:spTgt spid="27"/>
                                        </p:tgtEl>
                                      </p:cBhvr>
                                    </p:animEffect>
                                    <p:anim calcmode="lin" valueType="num">
                                      <p:cBhvr>
                                        <p:cTn id="123" dur="600" fill="hold"/>
                                        <p:tgtEl>
                                          <p:spTgt spid="27"/>
                                        </p:tgtEl>
                                        <p:attrNameLst>
                                          <p:attrName>ppt_x</p:attrName>
                                        </p:attrNameLst>
                                      </p:cBhvr>
                                      <p:tavLst>
                                        <p:tav tm="0">
                                          <p:val>
                                            <p:strVal val="#ppt_x"/>
                                          </p:val>
                                        </p:tav>
                                        <p:tav tm="100000">
                                          <p:val>
                                            <p:strVal val="#ppt_x"/>
                                          </p:val>
                                        </p:tav>
                                      </p:tavLst>
                                    </p:anim>
                                    <p:anim calcmode="lin" valueType="num">
                                      <p:cBhvr>
                                        <p:cTn id="124" dur="600" fill="hold"/>
                                        <p:tgtEl>
                                          <p:spTgt spid="27"/>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600"/>
                                        <p:tgtEl>
                                          <p:spTgt spid="28"/>
                                        </p:tgtEl>
                                      </p:cBhvr>
                                    </p:animEffect>
                                    <p:anim calcmode="lin" valueType="num">
                                      <p:cBhvr>
                                        <p:cTn id="128" dur="600" fill="hold"/>
                                        <p:tgtEl>
                                          <p:spTgt spid="28"/>
                                        </p:tgtEl>
                                        <p:attrNameLst>
                                          <p:attrName>ppt_x</p:attrName>
                                        </p:attrNameLst>
                                      </p:cBhvr>
                                      <p:tavLst>
                                        <p:tav tm="0">
                                          <p:val>
                                            <p:strVal val="#ppt_x"/>
                                          </p:val>
                                        </p:tav>
                                        <p:tav tm="100000">
                                          <p:val>
                                            <p:strVal val="#ppt_x"/>
                                          </p:val>
                                        </p:tav>
                                      </p:tavLst>
                                    </p:anim>
                                    <p:anim calcmode="lin" valueType="num">
                                      <p:cBhvr>
                                        <p:cTn id="129" dur="600" fill="hold"/>
                                        <p:tgtEl>
                                          <p:spTgt spid="28"/>
                                        </p:tgtEl>
                                        <p:attrNameLst>
                                          <p:attrName>ppt_y</p:attrName>
                                        </p:attrNameLst>
                                      </p:cBhvr>
                                      <p:tavLst>
                                        <p:tav tm="0">
                                          <p:val>
                                            <p:strVal val="#ppt_y+.06"/>
                                          </p:val>
                                        </p:tav>
                                        <p:tav tm="100000">
                                          <p:val>
                                            <p:strVal val="#ppt_y"/>
                                          </p:val>
                                        </p:tav>
                                      </p:tavLst>
                                    </p:anim>
                                  </p:childTnLst>
                                </p:cTn>
                              </p:par>
                            </p:childTnLst>
                          </p:cTn>
                        </p:par>
                        <p:par>
                          <p:cTn id="130" fill="hold">
                            <p:stCondLst>
                              <p:cond delay="4100"/>
                            </p:stCondLst>
                            <p:childTnLst>
                              <p:par>
                                <p:cTn id="131" presetID="10" presetClass="entr" presetSubtype="0" fill="hold" grpId="0" nodeType="afterEffect">
                                  <p:stCondLst>
                                    <p:cond delay="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400"/>
                                        <p:tgtEl>
                                          <p:spTgt spid="29"/>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30"/>
                                        </p:tgtEl>
                                        <p:attrNameLst>
                                          <p:attrName>style.visibility</p:attrName>
                                        </p:attrNameLst>
                                      </p:cBhvr>
                                      <p:to>
                                        <p:strVal val="visible"/>
                                      </p:to>
                                    </p:set>
                                    <p:animEffect transition="in" filter="fade">
                                      <p:cBhvr>
                                        <p:cTn id="136" dur="400"/>
                                        <p:tgtEl>
                                          <p:spTgt spid="30"/>
                                        </p:tgtEl>
                                      </p:cBhvr>
                                    </p:animEffect>
                                  </p:childTnLst>
                                </p:cTn>
                              </p:par>
                            </p:childTnLst>
                          </p:cTn>
                        </p:par>
                        <p:par>
                          <p:cTn id="137" fill="hold">
                            <p:stCondLst>
                              <p:cond delay="4500"/>
                            </p:stCondLst>
                            <p:childTnLst>
                              <p:par>
                                <p:cTn id="138" presetID="42" presetClass="entr" presetSubtype="0" fill="hold" grpId="0" nodeType="afterEffect">
                                  <p:stCondLst>
                                    <p:cond delay="3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350"/>
                                        <p:tgtEl>
                                          <p:spTgt spid="31"/>
                                        </p:tgtEl>
                                      </p:cBhvr>
                                    </p:animEffect>
                                    <p:anim calcmode="lin" valueType="num">
                                      <p:cBhvr>
                                        <p:cTn id="141" dur="350" fill="hold"/>
                                        <p:tgtEl>
                                          <p:spTgt spid="31"/>
                                        </p:tgtEl>
                                        <p:attrNameLst>
                                          <p:attrName>ppt_x</p:attrName>
                                        </p:attrNameLst>
                                      </p:cBhvr>
                                      <p:tavLst>
                                        <p:tav tm="0">
                                          <p:val>
                                            <p:strVal val="#ppt_x"/>
                                          </p:val>
                                        </p:tav>
                                        <p:tav tm="100000">
                                          <p:val>
                                            <p:strVal val="#ppt_x"/>
                                          </p:val>
                                        </p:tav>
                                      </p:tavLst>
                                    </p:anim>
                                    <p:anim calcmode="lin" valueType="num">
                                      <p:cBhvr>
                                        <p:cTn id="142" dur="350" fill="hold"/>
                                        <p:tgtEl>
                                          <p:spTgt spid="31"/>
                                        </p:tgtEl>
                                        <p:attrNameLst>
                                          <p:attrName>ppt_y</p:attrName>
                                        </p:attrNameLst>
                                      </p:cBhvr>
                                      <p:tavLst>
                                        <p:tav tm="0">
                                          <p:val>
                                            <p:strVal val="#ppt_y+.06"/>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32"/>
                                        </p:tgtEl>
                                        <p:attrNameLst>
                                          <p:attrName>style.visibility</p:attrName>
                                        </p:attrNameLst>
                                      </p:cBhvr>
                                      <p:to>
                                        <p:strVal val="visible"/>
                                      </p:to>
                                    </p:set>
                                    <p:animEffect transition="in" filter="fade">
                                      <p:cBhvr>
                                        <p:cTn id="145" dur="350"/>
                                        <p:tgtEl>
                                          <p:spTgt spid="32"/>
                                        </p:tgtEl>
                                      </p:cBhvr>
                                    </p:animEffect>
                                    <p:anim calcmode="lin" valueType="num">
                                      <p:cBhvr>
                                        <p:cTn id="146" dur="350" fill="hold"/>
                                        <p:tgtEl>
                                          <p:spTgt spid="32"/>
                                        </p:tgtEl>
                                        <p:attrNameLst>
                                          <p:attrName>ppt_x</p:attrName>
                                        </p:attrNameLst>
                                      </p:cBhvr>
                                      <p:tavLst>
                                        <p:tav tm="0">
                                          <p:val>
                                            <p:strVal val="#ppt_x"/>
                                          </p:val>
                                        </p:tav>
                                        <p:tav tm="100000">
                                          <p:val>
                                            <p:strVal val="#ppt_x"/>
                                          </p:val>
                                        </p:tav>
                                      </p:tavLst>
                                    </p:anim>
                                    <p:anim calcmode="lin" valueType="num">
                                      <p:cBhvr>
                                        <p:cTn id="147" dur="350" fill="hold"/>
                                        <p:tgtEl>
                                          <p:spTgt spid="32"/>
                                        </p:tgtEl>
                                        <p:attrNameLst>
                                          <p:attrName>ppt_y</p:attrName>
                                        </p:attrNameLst>
                                      </p:cBhvr>
                                      <p:tavLst>
                                        <p:tav tm="0">
                                          <p:val>
                                            <p:strVal val="#ppt_y+.06"/>
                                          </p:val>
                                        </p:tav>
                                        <p:tav tm="100000">
                                          <p:val>
                                            <p:strVal val="#ppt_y"/>
                                          </p:val>
                                        </p:tav>
                                      </p:tavLst>
                                    </p:anim>
                                  </p:childTnLst>
                                </p:cTn>
                              </p:par>
                            </p:childTnLst>
                          </p:cTn>
                        </p:par>
                        <p:par>
                          <p:cTn id="148" fill="hold">
                            <p:stCondLst>
                              <p:cond delay="4880"/>
                            </p:stCondLst>
                            <p:childTnLst>
                              <p:par>
                                <p:cTn id="149" presetID="42" presetClass="entr" presetSubtype="0" fill="hold" grpId="0" nodeType="afterEffect">
                                  <p:stCondLst>
                                    <p:cond delay="30"/>
                                  </p:stCondLst>
                                  <p:childTnLst>
                                    <p:set>
                                      <p:cBhvr>
                                        <p:cTn id="150" dur="1" fill="hold">
                                          <p:stCondLst>
                                            <p:cond delay="0"/>
                                          </p:stCondLst>
                                        </p:cTn>
                                        <p:tgtEl>
                                          <p:spTgt spid="33"/>
                                        </p:tgtEl>
                                        <p:attrNameLst>
                                          <p:attrName>style.visibility</p:attrName>
                                        </p:attrNameLst>
                                      </p:cBhvr>
                                      <p:to>
                                        <p:strVal val="visible"/>
                                      </p:to>
                                    </p:set>
                                    <p:animEffect transition="in" filter="fade">
                                      <p:cBhvr>
                                        <p:cTn id="151" dur="350"/>
                                        <p:tgtEl>
                                          <p:spTgt spid="33"/>
                                        </p:tgtEl>
                                      </p:cBhvr>
                                    </p:animEffect>
                                    <p:anim calcmode="lin" valueType="num">
                                      <p:cBhvr>
                                        <p:cTn id="152" dur="350" fill="hold"/>
                                        <p:tgtEl>
                                          <p:spTgt spid="33"/>
                                        </p:tgtEl>
                                        <p:attrNameLst>
                                          <p:attrName>ppt_x</p:attrName>
                                        </p:attrNameLst>
                                      </p:cBhvr>
                                      <p:tavLst>
                                        <p:tav tm="0">
                                          <p:val>
                                            <p:strVal val="#ppt_x"/>
                                          </p:val>
                                        </p:tav>
                                        <p:tav tm="100000">
                                          <p:val>
                                            <p:strVal val="#ppt_x"/>
                                          </p:val>
                                        </p:tav>
                                      </p:tavLst>
                                    </p:anim>
                                    <p:anim calcmode="lin" valueType="num">
                                      <p:cBhvr>
                                        <p:cTn id="153" dur="350" fill="hold"/>
                                        <p:tgtEl>
                                          <p:spTgt spid="33"/>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34"/>
                                        </p:tgtEl>
                                        <p:attrNameLst>
                                          <p:attrName>style.visibility</p:attrName>
                                        </p:attrNameLst>
                                      </p:cBhvr>
                                      <p:to>
                                        <p:strVal val="visible"/>
                                      </p:to>
                                    </p:set>
                                    <p:animEffect transition="in" filter="fade">
                                      <p:cBhvr>
                                        <p:cTn id="156" dur="350"/>
                                        <p:tgtEl>
                                          <p:spTgt spid="34"/>
                                        </p:tgtEl>
                                      </p:cBhvr>
                                    </p:animEffect>
                                    <p:anim calcmode="lin" valueType="num">
                                      <p:cBhvr>
                                        <p:cTn id="157" dur="350" fill="hold"/>
                                        <p:tgtEl>
                                          <p:spTgt spid="34"/>
                                        </p:tgtEl>
                                        <p:attrNameLst>
                                          <p:attrName>ppt_x</p:attrName>
                                        </p:attrNameLst>
                                      </p:cBhvr>
                                      <p:tavLst>
                                        <p:tav tm="0">
                                          <p:val>
                                            <p:strVal val="#ppt_x"/>
                                          </p:val>
                                        </p:tav>
                                        <p:tav tm="100000">
                                          <p:val>
                                            <p:strVal val="#ppt_x"/>
                                          </p:val>
                                        </p:tav>
                                      </p:tavLst>
                                    </p:anim>
                                    <p:anim calcmode="lin" valueType="num">
                                      <p:cBhvr>
                                        <p:cTn id="158" dur="350" fill="hold"/>
                                        <p:tgtEl>
                                          <p:spTgt spid="34"/>
                                        </p:tgtEl>
                                        <p:attrNameLst>
                                          <p:attrName>ppt_y</p:attrName>
                                        </p:attrNameLst>
                                      </p:cBhvr>
                                      <p:tavLst>
                                        <p:tav tm="0">
                                          <p:val>
                                            <p:strVal val="#ppt_y+.06"/>
                                          </p:val>
                                        </p:tav>
                                        <p:tav tm="100000">
                                          <p:val>
                                            <p:strVal val="#ppt_y"/>
                                          </p:val>
                                        </p:tav>
                                      </p:tavLst>
                                    </p:anim>
                                  </p:childTnLst>
                                </p:cTn>
                              </p:par>
                            </p:childTnLst>
                          </p:cTn>
                        </p:par>
                        <p:par>
                          <p:cTn id="159" fill="hold">
                            <p:stCondLst>
                              <p:cond delay="5260"/>
                            </p:stCondLst>
                            <p:childTnLst>
                              <p:par>
                                <p:cTn id="160" presetID="42" presetClass="entr" presetSubtype="0" fill="hold" grpId="0" nodeType="afterEffect">
                                  <p:stCondLst>
                                    <p:cond delay="3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350"/>
                                        <p:tgtEl>
                                          <p:spTgt spid="35"/>
                                        </p:tgtEl>
                                      </p:cBhvr>
                                    </p:animEffect>
                                    <p:anim calcmode="lin" valueType="num">
                                      <p:cBhvr>
                                        <p:cTn id="163" dur="350" fill="hold"/>
                                        <p:tgtEl>
                                          <p:spTgt spid="35"/>
                                        </p:tgtEl>
                                        <p:attrNameLst>
                                          <p:attrName>ppt_x</p:attrName>
                                        </p:attrNameLst>
                                      </p:cBhvr>
                                      <p:tavLst>
                                        <p:tav tm="0">
                                          <p:val>
                                            <p:strVal val="#ppt_x"/>
                                          </p:val>
                                        </p:tav>
                                        <p:tav tm="100000">
                                          <p:val>
                                            <p:strVal val="#ppt_x"/>
                                          </p:val>
                                        </p:tav>
                                      </p:tavLst>
                                    </p:anim>
                                    <p:anim calcmode="lin" valueType="num">
                                      <p:cBhvr>
                                        <p:cTn id="164" dur="350" fill="hold"/>
                                        <p:tgtEl>
                                          <p:spTgt spid="35"/>
                                        </p:tgtEl>
                                        <p:attrNameLst>
                                          <p:attrName>ppt_y</p:attrName>
                                        </p:attrNameLst>
                                      </p:cBhvr>
                                      <p:tavLst>
                                        <p:tav tm="0">
                                          <p:val>
                                            <p:strVal val="#ppt_y+.06"/>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350"/>
                                        <p:tgtEl>
                                          <p:spTgt spid="36"/>
                                        </p:tgtEl>
                                      </p:cBhvr>
                                    </p:animEffect>
                                    <p:anim calcmode="lin" valueType="num">
                                      <p:cBhvr>
                                        <p:cTn id="168" dur="350" fill="hold"/>
                                        <p:tgtEl>
                                          <p:spTgt spid="36"/>
                                        </p:tgtEl>
                                        <p:attrNameLst>
                                          <p:attrName>ppt_x</p:attrName>
                                        </p:attrNameLst>
                                      </p:cBhvr>
                                      <p:tavLst>
                                        <p:tav tm="0">
                                          <p:val>
                                            <p:strVal val="#ppt_x"/>
                                          </p:val>
                                        </p:tav>
                                        <p:tav tm="100000">
                                          <p:val>
                                            <p:strVal val="#ppt_x"/>
                                          </p:val>
                                        </p:tav>
                                      </p:tavLst>
                                    </p:anim>
                                    <p:anim calcmode="lin" valueType="num">
                                      <p:cBhvr>
                                        <p:cTn id="169" dur="350" fill="hold"/>
                                        <p:tgtEl>
                                          <p:spTgt spid="36"/>
                                        </p:tgtEl>
                                        <p:attrNameLst>
                                          <p:attrName>ppt_y</p:attrName>
                                        </p:attrNameLst>
                                      </p:cBhvr>
                                      <p:tavLst>
                                        <p:tav tm="0">
                                          <p:val>
                                            <p:strVal val="#ppt_y+.06"/>
                                          </p:val>
                                        </p:tav>
                                        <p:tav tm="100000">
                                          <p:val>
                                            <p:strVal val="#ppt_y"/>
                                          </p:val>
                                        </p:tav>
                                      </p:tavLst>
                                    </p:anim>
                                  </p:childTnLst>
                                </p:cTn>
                              </p:par>
                              <p:par>
                                <p:cTn id="170" presetID="10" presetClass="entr" presetSubtype="0" fill="hold" grpId="0"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animBg="1"/>
      <p:bldP spid="10" grpId="0" animBg="1"/>
      <p:bldP spid="12" grpId="0"/>
      <p:bldP spid="13" grpId="0" animBg="1"/>
      <p:bldP spid="14" grpId="0" animBg="1"/>
      <p:bldP spid="16" grpId="0"/>
      <p:bldP spid="17" grpId="0" animBg="1"/>
      <p:bldP spid="18" grpId="0" animBg="1"/>
      <p:bldP spid="20" grpId="0"/>
      <p:bldP spid="21" grpId="0" animBg="1"/>
      <p:bldP spid="22" grpId="0" animBg="1"/>
      <p:bldP spid="24" grpId="0"/>
      <p:bldP spid="25" grpId="0" animBg="1"/>
      <p:bldP spid="26" grpId="0" animBg="1"/>
      <p:bldP spid="27" grpId="0" animBg="1"/>
      <p:bldP spid="28" grpId="0"/>
      <p:bldP spid="29" grpId="0"/>
      <p:bldP spid="30" grpId="0"/>
      <p:bldP spid="31" grpId="0" animBg="1"/>
      <p:bldP spid="32" grpId="0"/>
      <p:bldP spid="33" grpId="0" animBg="1"/>
      <p:bldP spid="34" grpId="0"/>
      <p:bldP spid="35" grpId="0" animBg="1"/>
      <p:bldP spid="36" grpId="0"/>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WHO PAYS, AND WHY</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We start with the platform, not the worker</a:t>
            </a:r>
            <a:endParaRPr lang="en-US" sz="3200" dirty="0"/>
          </a:p>
        </p:txBody>
      </p:sp>
      <p:sp>
        <p:nvSpPr>
          <p:cNvPr id="6" name="today"/>
          <p:cNvSpPr/>
          <p:nvPr/>
        </p:nvSpPr>
        <p:spPr>
          <a:xfrm>
            <a:off x="548640" y="2103120"/>
            <a:ext cx="5440680" cy="2880360"/>
          </a:xfrm>
          <a:prstGeom prst="roundRect">
            <a:avLst>
              <a:gd name="adj" fmla="val 3810"/>
            </a:avLst>
          </a:prstGeom>
          <a:solidFill>
            <a:srgbClr val="141B36"/>
          </a:solidFill>
          <a:ln w="9525">
            <a:solidFill>
              <a:srgbClr val="2A3357"/>
            </a:solidFill>
            <a:prstDash val="solid"/>
          </a:ln>
        </p:spPr>
      </p:sp>
      <p:pic>
        <p:nvPicPr>
          <p:cNvPr id="7" name="todayI" descr="preencoded.png">    </p:cNvPr>
          <p:cNvPicPr>
            <a:picLocks noChangeAspect="1"/>
          </p:cNvPicPr>
          <p:nvPr/>
        </p:nvPicPr>
        <p:blipFill>
          <a:blip r:embed="rId2"/>
          <a:stretch>
            <a:fillRect/>
          </a:stretch>
        </p:blipFill>
        <p:spPr>
          <a:xfrm>
            <a:off x="822960" y="2304288"/>
            <a:ext cx="384048" cy="384048"/>
          </a:xfrm>
          <a:prstGeom prst="rect">
            <a:avLst/>
          </a:prstGeom>
        </p:spPr>
      </p:pic>
      <p:sp>
        <p:nvSpPr>
          <p:cNvPr id="8" name="todayH"/>
          <p:cNvSpPr txBox="1"/>
          <p:nvPr/>
        </p:nvSpPr>
        <p:spPr>
          <a:xfrm>
            <a:off x="1325880" y="2286000"/>
            <a:ext cx="4389120" cy="4114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Today, in a storm</a:t>
            </a:r>
            <a:endParaRPr lang="en-US" sz="2100" dirty="0"/>
          </a:p>
        </p:txBody>
      </p:sp>
      <p:sp>
        <p:nvSpPr>
          <p:cNvPr id="9" name="todayT"/>
          <p:cNvSpPr txBox="1"/>
          <p:nvPr/>
        </p:nvSpPr>
        <p:spPr>
          <a:xfrm>
            <a:off x="868680" y="2926080"/>
            <a:ext cx="4892040" cy="19659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EEF1F7"/>
                </a:solidFill>
                <a:latin typeface="Calibri" pitchFamily="34" charset="0"/>
                <a:ea typeface="Calibri" pitchFamily="34" charset="-122"/>
                <a:cs typeface="Calibri" pitchFamily="34" charset="-120"/>
              </a:rPr>
              <a:t>Riders go offline, orders fail</a:t>
            </a:r>
            <a:endParaRPr lang="en-US" sz="1800" dirty="0"/>
          </a:p>
          <a:p>
            <a:pPr marL="342900" indent="-342900">
              <a:spcAft>
                <a:spcPts val="1200"/>
              </a:spcAft>
              <a:buSzPct val="100000"/>
              <a:buChar char="•"/>
            </a:pPr>
            <a:r>
              <a:rPr lang="en-US" sz="1800" dirty="0">
                <a:solidFill>
                  <a:srgbClr val="EEF1F7"/>
                </a:solidFill>
                <a:latin typeface="Calibri" pitchFamily="34" charset="0"/>
                <a:ea typeface="Calibri" pitchFamily="34" charset="-122"/>
                <a:cs typeface="Calibri" pitchFamily="34" charset="-120"/>
              </a:rPr>
              <a:t>Rain surge pay rewards riding into danger</a:t>
            </a:r>
            <a:endParaRPr lang="en-US" sz="1800" dirty="0"/>
          </a:p>
          <a:p>
            <a:pPr marL="342900" indent="-342900">
              <a:spcAft>
                <a:spcPts val="1200"/>
              </a:spcAft>
              <a:buSzPct val="100000"/>
              <a:buChar char="•"/>
            </a:pPr>
            <a:r>
              <a:rPr lang="en-US" sz="1800" dirty="0">
                <a:solidFill>
                  <a:srgbClr val="EEF1F7"/>
                </a:solidFill>
                <a:latin typeface="Calibri" pitchFamily="34" charset="0"/>
                <a:ea typeface="Calibri" pitchFamily="34" charset="-122"/>
                <a:cs typeface="Calibri" pitchFamily="34" charset="-120"/>
              </a:rPr>
              <a:t>Customers wait; service levels drop</a:t>
            </a:r>
            <a:endParaRPr lang="en-US" sz="1800" dirty="0"/>
          </a:p>
          <a:p>
            <a:pPr marL="342900" indent="-342900">
              <a:spcAft>
                <a:spcPts val="1200"/>
              </a:spcAft>
              <a:buSzPct val="100000"/>
              <a:buChar char="•"/>
            </a:pPr>
            <a:r>
              <a:rPr lang="en-US" sz="1800" dirty="0">
                <a:solidFill>
                  <a:srgbClr val="EEF1F7"/>
                </a:solidFill>
                <a:latin typeface="Calibri" pitchFamily="34" charset="0"/>
                <a:ea typeface="Calibri" pitchFamily="34" charset="-122"/>
                <a:cs typeface="Calibri" pitchFamily="34" charset="-120"/>
              </a:rPr>
              <a:t>The weather bill is unpredictable</a:t>
            </a:r>
            <a:endParaRPr lang="en-US" sz="1800" dirty="0"/>
          </a:p>
        </p:txBody>
      </p:sp>
      <p:sp>
        <p:nvSpPr>
          <p:cNvPr id="10" name="kavach"/>
          <p:cNvSpPr/>
          <p:nvPr/>
        </p:nvSpPr>
        <p:spPr>
          <a:xfrm>
            <a:off x="6199632" y="2103120"/>
            <a:ext cx="5440680" cy="2880360"/>
          </a:xfrm>
          <a:prstGeom prst="roundRect">
            <a:avLst>
              <a:gd name="adj" fmla="val 3810"/>
            </a:avLst>
          </a:prstGeom>
          <a:solidFill>
            <a:srgbClr val="1C2447"/>
          </a:solidFill>
          <a:ln w="15875">
            <a:solidFill>
              <a:srgbClr val="F5A623"/>
            </a:solidFill>
            <a:prstDash val="solid"/>
          </a:ln>
        </p:spPr>
      </p:sp>
      <p:pic>
        <p:nvPicPr>
          <p:cNvPr id="11" name="kavachI" descr="preencoded.png">    </p:cNvPr>
          <p:cNvPicPr>
            <a:picLocks noChangeAspect="1"/>
          </p:cNvPicPr>
          <p:nvPr/>
        </p:nvPicPr>
        <p:blipFill>
          <a:blip r:embed="rId3"/>
          <a:stretch>
            <a:fillRect/>
          </a:stretch>
        </p:blipFill>
        <p:spPr>
          <a:xfrm>
            <a:off x="6473952" y="2304288"/>
            <a:ext cx="384048" cy="384048"/>
          </a:xfrm>
          <a:prstGeom prst="rect">
            <a:avLst/>
          </a:prstGeom>
        </p:spPr>
      </p:pic>
      <p:sp>
        <p:nvSpPr>
          <p:cNvPr id="12" name="kavachH"/>
          <p:cNvSpPr txBox="1"/>
          <p:nvPr/>
        </p:nvSpPr>
        <p:spPr>
          <a:xfrm>
            <a:off x="6976872" y="2286000"/>
            <a:ext cx="4389120" cy="4114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With Kavach Plus</a:t>
            </a:r>
            <a:endParaRPr lang="en-US" sz="2100" dirty="0"/>
          </a:p>
        </p:txBody>
      </p:sp>
      <p:sp>
        <p:nvSpPr>
          <p:cNvPr id="13" name="kavachT"/>
          <p:cNvSpPr txBox="1"/>
          <p:nvPr/>
        </p:nvSpPr>
        <p:spPr>
          <a:xfrm>
            <a:off x="6519672" y="2926080"/>
            <a:ext cx="4892040" cy="19659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EEF1F7"/>
                </a:solidFill>
                <a:latin typeface="Calibri" pitchFamily="34" charset="0"/>
                <a:ea typeface="Calibri" pitchFamily="34" charset="-122"/>
                <a:cs typeface="Calibri" pitchFamily="34" charset="-120"/>
              </a:rPr>
              <a:t>A fixed premium, budgeted per rider</a:t>
            </a:r>
            <a:endParaRPr lang="en-US" sz="1800" dirty="0"/>
          </a:p>
          <a:p>
            <a:pPr marL="342900" indent="-342900">
              <a:spcAft>
                <a:spcPts val="1200"/>
              </a:spcAft>
              <a:buSzPct val="100000"/>
              <a:buChar char="•"/>
            </a:pPr>
            <a:r>
              <a:rPr lang="en-US" sz="1800" dirty="0">
                <a:solidFill>
                  <a:srgbClr val="EEF1F7"/>
                </a:solidFill>
                <a:latin typeface="Calibri" pitchFamily="34" charset="0"/>
                <a:ea typeface="Calibri" pitchFamily="34" charset="-122"/>
                <a:cs typeface="Calibri" pitchFamily="34" charset="-120"/>
              </a:rPr>
              <a:t>An automatic benefit, whether or not they ride</a:t>
            </a:r>
            <a:endParaRPr lang="en-US" sz="1800" dirty="0"/>
          </a:p>
          <a:p>
            <a:pPr marL="342900" indent="-342900">
              <a:spcAft>
                <a:spcPts val="1200"/>
              </a:spcAft>
              <a:buSzPct val="100000"/>
              <a:buChar char="•"/>
            </a:pPr>
            <a:r>
              <a:rPr lang="en-US" sz="1800" dirty="0">
                <a:solidFill>
                  <a:srgbClr val="EEF1F7"/>
                </a:solidFill>
                <a:latin typeface="Calibri" pitchFamily="34" charset="0"/>
                <a:ea typeface="Calibri" pitchFamily="34" charset="-122"/>
                <a:cs typeface="Calibri" pitchFamily="34" charset="-120"/>
              </a:rPr>
              <a:t>Riders stay safe, and stay with the app</a:t>
            </a:r>
            <a:endParaRPr lang="en-US" sz="1800" dirty="0"/>
          </a:p>
          <a:p>
            <a:pPr marL="342900" indent="-342900">
              <a:spcAft>
                <a:spcPts val="1200"/>
              </a:spcAft>
              <a:buSzPct val="100000"/>
              <a:buChar char="•"/>
            </a:pPr>
            <a:r>
              <a:rPr lang="en-US" sz="1800" dirty="0">
                <a:solidFill>
                  <a:srgbClr val="EEF1F7"/>
                </a:solidFill>
                <a:latin typeface="Calibri" pitchFamily="34" charset="0"/>
                <a:ea typeface="Calibri" pitchFamily="34" charset="-122"/>
                <a:cs typeface="Calibri" pitchFamily="34" charset="-120"/>
              </a:rPr>
              <a:t>Supports gig-worker welfare duties</a:t>
            </a:r>
            <a:endParaRPr lang="en-US" sz="1800" dirty="0"/>
          </a:p>
        </p:txBody>
      </p:sp>
      <p:sp>
        <p:nvSpPr>
          <p:cNvPr id="14" name="measure"/>
          <p:cNvSpPr/>
          <p:nvPr/>
        </p:nvSpPr>
        <p:spPr>
          <a:xfrm>
            <a:off x="548640" y="5303520"/>
            <a:ext cx="11091672" cy="777240"/>
          </a:xfrm>
          <a:prstGeom prst="roundRect">
            <a:avLst>
              <a:gd name="adj" fmla="val 14118"/>
            </a:avLst>
          </a:prstGeom>
          <a:solidFill>
            <a:srgbClr val="141B36"/>
          </a:solidFill>
          <a:ln w="9525">
            <a:solidFill>
              <a:srgbClr val="2A3357"/>
            </a:solidFill>
            <a:prstDash val="solid"/>
          </a:ln>
        </p:spPr>
      </p:sp>
      <p:pic>
        <p:nvPicPr>
          <p:cNvPr id="15" name="measureI" descr="preencoded.png">    </p:cNvPr>
          <p:cNvPicPr>
            <a:picLocks noChangeAspect="1"/>
          </p:cNvPicPr>
          <p:nvPr/>
        </p:nvPicPr>
        <p:blipFill>
          <a:blip r:embed="rId4"/>
          <a:stretch>
            <a:fillRect/>
          </a:stretch>
        </p:blipFill>
        <p:spPr>
          <a:xfrm>
            <a:off x="777240" y="5513832"/>
            <a:ext cx="365760" cy="365760"/>
          </a:xfrm>
          <a:prstGeom prst="rect">
            <a:avLst/>
          </a:prstGeom>
        </p:spPr>
      </p:pic>
      <p:sp>
        <p:nvSpPr>
          <p:cNvPr id="16" name="measureT"/>
          <p:cNvSpPr txBox="1"/>
          <p:nvPr/>
        </p:nvSpPr>
        <p:spPr>
          <a:xfrm>
            <a:off x="1325880" y="5303520"/>
            <a:ext cx="101498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pilot measures the return in the partner’s own data: </a:t>
            </a:r>
            <a:pPr indent="0" marL="0">
              <a:buNone/>
            </a:pPr>
            <a:r>
              <a:rPr lang="en-US" sz="1500" dirty="0">
                <a:solidFill>
                  <a:srgbClr val="B9C2D8"/>
                </a:solidFill>
                <a:latin typeface="Calibri" pitchFamily="34" charset="0"/>
                <a:ea typeface="Calibri" pitchFamily="34" charset="-122"/>
                <a:cs typeface="Calibri" pitchFamily="34" charset="-120"/>
              </a:rPr>
              <a:t>orders lost · rider online rate · rain incentive spend · rider churn</a:t>
            </a:r>
            <a:endParaRPr lang="en-US" sz="1500" dirty="0"/>
          </a:p>
        </p:txBody>
      </p:sp>
      <p:sp>
        <p:nvSpPr>
          <p:cNvPr id="17"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6F7AA0"/>
                </a:solidFill>
                <a:latin typeface="Calibri" pitchFamily="34" charset="0"/>
                <a:ea typeface="Calibri" pitchFamily="34" charset="-122"/>
                <a:cs typeface="Calibri" pitchFamily="34" charset="-120"/>
              </a:rPr>
              <a:t>We don’t claim the platform’s return yet. The shadow pilot measures it before anyone signs a cheque.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anim calcmode="lin" valueType="num">
                                      <p:cBhvr>
                                        <p:cTn id="16" dur="600" fill="hold"/>
                                        <p:tgtEl>
                                          <p:spTgt spid="6"/>
                                        </p:tgtEl>
                                        <p:attrNameLst>
                                          <p:attrName>ppt_x</p:attrName>
                                        </p:attrNameLst>
                                      </p:cBhvr>
                                      <p:tavLst>
                                        <p:tav tm="0">
                                          <p:val>
                                            <p:strVal val="#ppt_x"/>
                                          </p:val>
                                        </p:tav>
                                        <p:tav tm="100000">
                                          <p:val>
                                            <p:strVal val="#ppt_x"/>
                                          </p:val>
                                        </p:tav>
                                      </p:tavLst>
                                    </p:anim>
                                    <p:anim calcmode="lin" valueType="num">
                                      <p:cBhvr>
                                        <p:cTn id="17" dur="6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anim calcmode="lin" valueType="num">
                                      <p:cBhvr>
                                        <p:cTn id="21" dur="600" fill="hold"/>
                                        <p:tgtEl>
                                          <p:spTgt spid="7"/>
                                        </p:tgtEl>
                                        <p:attrNameLst>
                                          <p:attrName>ppt_x</p:attrName>
                                        </p:attrNameLst>
                                      </p:cBhvr>
                                      <p:tavLst>
                                        <p:tav tm="0">
                                          <p:val>
                                            <p:strVal val="#ppt_x"/>
                                          </p:val>
                                        </p:tav>
                                        <p:tav tm="100000">
                                          <p:val>
                                            <p:strVal val="#ppt_x"/>
                                          </p:val>
                                        </p:tav>
                                      </p:tavLst>
                                    </p:anim>
                                    <p:anim calcmode="lin" valueType="num">
                                      <p:cBhvr>
                                        <p:cTn id="22" dur="6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anim calcmode="lin" valueType="num">
                                      <p:cBhvr>
                                        <p:cTn id="31" dur="600" fill="hold"/>
                                        <p:tgtEl>
                                          <p:spTgt spid="9"/>
                                        </p:tgtEl>
                                        <p:attrNameLst>
                                          <p:attrName>ppt_x</p:attrName>
                                        </p:attrNameLst>
                                      </p:cBhvr>
                                      <p:tavLst>
                                        <p:tav tm="0">
                                          <p:val>
                                            <p:strVal val="#ppt_x"/>
                                          </p:val>
                                        </p:tav>
                                        <p:tav tm="100000">
                                          <p:val>
                                            <p:strVal val="#ppt_x"/>
                                          </p:val>
                                        </p:tav>
                                      </p:tavLst>
                                    </p:anim>
                                    <p:anim calcmode="lin" valueType="num">
                                      <p:cBhvr>
                                        <p:cTn id="32" dur="60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400"/>
                            </p:stCondLst>
                            <p:childTnLst>
                              <p:par>
                                <p:cTn id="34" presetID="42" presetClass="entr" presetSubtype="0" fill="hold" grpId="0" nodeType="afterEffect">
                                  <p:stCondLst>
                                    <p:cond delay="2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600"/>
                                        <p:tgtEl>
                                          <p:spTgt spid="10"/>
                                        </p:tgtEl>
                                      </p:cBhvr>
                                    </p:animEffect>
                                    <p:anim calcmode="lin" valueType="num">
                                      <p:cBhvr>
                                        <p:cTn id="37" dur="600" fill="hold"/>
                                        <p:tgtEl>
                                          <p:spTgt spid="10"/>
                                        </p:tgtEl>
                                        <p:attrNameLst>
                                          <p:attrName>ppt_x</p:attrName>
                                        </p:attrNameLst>
                                      </p:cBhvr>
                                      <p:tavLst>
                                        <p:tav tm="0">
                                          <p:val>
                                            <p:strVal val="#ppt_x"/>
                                          </p:val>
                                        </p:tav>
                                        <p:tav tm="100000">
                                          <p:val>
                                            <p:strVal val="#ppt_x"/>
                                          </p:val>
                                        </p:tav>
                                      </p:tavLst>
                                    </p:anim>
                                    <p:anim calcmode="lin" valueType="num">
                                      <p:cBhvr>
                                        <p:cTn id="38" dur="6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p:cTn id="42" dur="600" fill="hold"/>
                                        <p:tgtEl>
                                          <p:spTgt spid="11"/>
                                        </p:tgtEl>
                                        <p:attrNameLst>
                                          <p:attrName>ppt_x</p:attrName>
                                        </p:attrNameLst>
                                      </p:cBhvr>
                                      <p:tavLst>
                                        <p:tav tm="0">
                                          <p:val>
                                            <p:strVal val="#ppt_x"/>
                                          </p:val>
                                        </p:tav>
                                        <p:tav tm="100000">
                                          <p:val>
                                            <p:strVal val="#ppt_x"/>
                                          </p:val>
                                        </p:tav>
                                      </p:tavLst>
                                    </p:anim>
                                    <p:anim calcmode="lin" valueType="num">
                                      <p:cBhvr>
                                        <p:cTn id="43" dur="60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600"/>
                                        <p:tgtEl>
                                          <p:spTgt spid="12"/>
                                        </p:tgtEl>
                                      </p:cBhvr>
                                    </p:animEffect>
                                    <p:anim calcmode="lin" valueType="num">
                                      <p:cBhvr>
                                        <p:cTn id="47" dur="600" fill="hold"/>
                                        <p:tgtEl>
                                          <p:spTgt spid="12"/>
                                        </p:tgtEl>
                                        <p:attrNameLst>
                                          <p:attrName>ppt_x</p:attrName>
                                        </p:attrNameLst>
                                      </p:cBhvr>
                                      <p:tavLst>
                                        <p:tav tm="0">
                                          <p:val>
                                            <p:strVal val="#ppt_x"/>
                                          </p:val>
                                        </p:tav>
                                        <p:tav tm="100000">
                                          <p:val>
                                            <p:strVal val="#ppt_x"/>
                                          </p:val>
                                        </p:tav>
                                      </p:tavLst>
                                    </p:anim>
                                    <p:anim calcmode="lin" valueType="num">
                                      <p:cBhvr>
                                        <p:cTn id="48" dur="6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600"/>
                                        <p:tgtEl>
                                          <p:spTgt spid="13"/>
                                        </p:tgtEl>
                                      </p:cBhvr>
                                    </p:animEffect>
                                    <p:anim calcmode="lin" valueType="num">
                                      <p:cBhvr>
                                        <p:cTn id="52" dur="600" fill="hold"/>
                                        <p:tgtEl>
                                          <p:spTgt spid="13"/>
                                        </p:tgtEl>
                                        <p:attrNameLst>
                                          <p:attrName>ppt_x</p:attrName>
                                        </p:attrNameLst>
                                      </p:cBhvr>
                                      <p:tavLst>
                                        <p:tav tm="0">
                                          <p:val>
                                            <p:strVal val="#ppt_x"/>
                                          </p:val>
                                        </p:tav>
                                        <p:tav tm="100000">
                                          <p:val>
                                            <p:strVal val="#ppt_x"/>
                                          </p:val>
                                        </p:tav>
                                      </p:tavLst>
                                    </p:anim>
                                    <p:anim calcmode="lin" valueType="num">
                                      <p:cBhvr>
                                        <p:cTn id="53" dur="60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2200"/>
                            </p:stCondLst>
                            <p:childTnLst>
                              <p:par>
                                <p:cTn id="55" presetID="10" presetClass="entr" presetSubtype="0" fill="hold" grpId="0" nodeType="afterEffect">
                                  <p:stCondLst>
                                    <p:cond delay="15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p:bldP spid="10" grpId="0" animBg="1"/>
      <p:bldP spid="12" grpId="0"/>
      <p:bldP spid="13" grpId="0"/>
      <p:bldP spid="14" grpId="0" animBg="1"/>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MONEY</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Jio earns from intelligence, not insurance risk</a:t>
            </a:r>
            <a:endParaRPr lang="en-US" sz="3200" dirty="0"/>
          </a:p>
        </p:txBody>
      </p:sp>
      <p:sp>
        <p:nvSpPr>
          <p:cNvPr id="6" name="nP"/>
          <p:cNvSpPr/>
          <p:nvPr/>
        </p:nvSpPr>
        <p:spPr>
          <a:xfrm>
            <a:off x="548640" y="2148840"/>
            <a:ext cx="2743200" cy="960120"/>
          </a:xfrm>
          <a:prstGeom prst="roundRect">
            <a:avLst>
              <a:gd name="adj" fmla="val 11429"/>
            </a:avLst>
          </a:prstGeom>
          <a:solidFill>
            <a:srgbClr val="141B36"/>
          </a:solidFill>
          <a:ln w="9525">
            <a:solidFill>
              <a:srgbClr val="2A3357"/>
            </a:solidFill>
            <a:prstDash val="solid"/>
          </a:ln>
        </p:spPr>
      </p:sp>
      <p:pic>
        <p:nvPicPr>
          <p:cNvPr id="7" name="nPI" descr="preencoded.png">    </p:cNvPr>
          <p:cNvPicPr>
            <a:picLocks noChangeAspect="1"/>
          </p:cNvPicPr>
          <p:nvPr/>
        </p:nvPicPr>
        <p:blipFill>
          <a:blip r:embed="rId2"/>
          <a:stretch>
            <a:fillRect/>
          </a:stretch>
        </p:blipFill>
        <p:spPr>
          <a:xfrm>
            <a:off x="749808" y="2423160"/>
            <a:ext cx="384048" cy="384048"/>
          </a:xfrm>
          <a:prstGeom prst="rect">
            <a:avLst/>
          </a:prstGeom>
        </p:spPr>
      </p:pic>
      <p:sp>
        <p:nvSpPr>
          <p:cNvPr id="8" name="nPT"/>
          <p:cNvSpPr txBox="1"/>
          <p:nvPr/>
        </p:nvSpPr>
        <p:spPr>
          <a:xfrm>
            <a:off x="1280160" y="2258568"/>
            <a:ext cx="1874520" cy="7772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Delivery app</a:t>
            </a:r>
            <a:endParaRPr lang="en-US" sz="1600" dirty="0"/>
          </a:p>
          <a:p>
            <a:pPr indent="0" marL="0">
              <a:buNone/>
            </a:pPr>
            <a:r>
              <a:rPr lang="en-US" sz="1250" dirty="0">
                <a:solidFill>
                  <a:srgbClr val="B9C2D8"/>
                </a:solidFill>
                <a:latin typeface="Calibri" pitchFamily="34" charset="0"/>
                <a:ea typeface="Calibri" pitchFamily="34" charset="-122"/>
                <a:cs typeface="Calibri" pitchFamily="34" charset="-120"/>
              </a:rPr>
              <a:t>buys cover for riders</a:t>
            </a:r>
            <a:endParaRPr lang="en-US" sz="1600" dirty="0"/>
          </a:p>
        </p:txBody>
      </p:sp>
      <p:sp>
        <p:nvSpPr>
          <p:cNvPr id="9" name="nI"/>
          <p:cNvSpPr/>
          <p:nvPr/>
        </p:nvSpPr>
        <p:spPr>
          <a:xfrm>
            <a:off x="4526280" y="2148840"/>
            <a:ext cx="3108960" cy="960120"/>
          </a:xfrm>
          <a:prstGeom prst="roundRect">
            <a:avLst>
              <a:gd name="adj" fmla="val 11429"/>
            </a:avLst>
          </a:prstGeom>
          <a:solidFill>
            <a:srgbClr val="141B36"/>
          </a:solidFill>
          <a:ln w="9525">
            <a:solidFill>
              <a:srgbClr val="2A3357"/>
            </a:solidFill>
            <a:prstDash val="solid"/>
          </a:ln>
        </p:spPr>
      </p:sp>
      <p:pic>
        <p:nvPicPr>
          <p:cNvPr id="10" name="nII" descr="preencoded.png">    </p:cNvPr>
          <p:cNvPicPr>
            <a:picLocks noChangeAspect="1"/>
          </p:cNvPicPr>
          <p:nvPr/>
        </p:nvPicPr>
        <p:blipFill>
          <a:blip r:embed="rId3"/>
          <a:stretch>
            <a:fillRect/>
          </a:stretch>
        </p:blipFill>
        <p:spPr>
          <a:xfrm>
            <a:off x="4727448" y="2423160"/>
            <a:ext cx="384048" cy="384048"/>
          </a:xfrm>
          <a:prstGeom prst="rect">
            <a:avLst/>
          </a:prstGeom>
        </p:spPr>
      </p:pic>
      <p:sp>
        <p:nvSpPr>
          <p:cNvPr id="11" name="nIT"/>
          <p:cNvSpPr txBox="1"/>
          <p:nvPr/>
        </p:nvSpPr>
        <p:spPr>
          <a:xfrm>
            <a:off x="5257800" y="2258568"/>
            <a:ext cx="2240280" cy="7772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Licensed insurer</a:t>
            </a:r>
            <a:endParaRPr lang="en-US" sz="1600" dirty="0"/>
          </a:p>
          <a:p>
            <a:pPr indent="0" marL="0">
              <a:buNone/>
            </a:pPr>
            <a:r>
              <a:rPr lang="en-US" sz="1250" dirty="0">
                <a:solidFill>
                  <a:srgbClr val="B9C2D8"/>
                </a:solidFill>
                <a:latin typeface="Calibri" pitchFamily="34" charset="0"/>
                <a:ea typeface="Calibri" pitchFamily="34" charset="-122"/>
                <a:cs typeface="Calibri" pitchFamily="34" charset="-120"/>
              </a:rPr>
              <a:t>holds premiums, carries risk</a:t>
            </a:r>
            <a:endParaRPr lang="en-US" sz="1600" dirty="0"/>
          </a:p>
        </p:txBody>
      </p:sp>
      <p:sp>
        <p:nvSpPr>
          <p:cNvPr id="12" name="nR"/>
          <p:cNvSpPr/>
          <p:nvPr/>
        </p:nvSpPr>
        <p:spPr>
          <a:xfrm>
            <a:off x="8897112" y="2148840"/>
            <a:ext cx="2743200" cy="960120"/>
          </a:xfrm>
          <a:prstGeom prst="roundRect">
            <a:avLst>
              <a:gd name="adj" fmla="val 11429"/>
            </a:avLst>
          </a:prstGeom>
          <a:solidFill>
            <a:srgbClr val="141B36"/>
          </a:solidFill>
          <a:ln w="9525">
            <a:solidFill>
              <a:srgbClr val="2A3357"/>
            </a:solidFill>
            <a:prstDash val="solid"/>
          </a:ln>
        </p:spPr>
      </p:sp>
      <p:pic>
        <p:nvPicPr>
          <p:cNvPr id="13" name="nRI" descr="preencoded.png">    </p:cNvPr>
          <p:cNvPicPr>
            <a:picLocks noChangeAspect="1"/>
          </p:cNvPicPr>
          <p:nvPr/>
        </p:nvPicPr>
        <p:blipFill>
          <a:blip r:embed="rId4"/>
          <a:stretch>
            <a:fillRect/>
          </a:stretch>
        </p:blipFill>
        <p:spPr>
          <a:xfrm>
            <a:off x="9098280" y="2423160"/>
            <a:ext cx="384048" cy="384048"/>
          </a:xfrm>
          <a:prstGeom prst="rect">
            <a:avLst/>
          </a:prstGeom>
        </p:spPr>
      </p:pic>
      <p:sp>
        <p:nvSpPr>
          <p:cNvPr id="14" name="nRT"/>
          <p:cNvSpPr txBox="1"/>
          <p:nvPr/>
        </p:nvSpPr>
        <p:spPr>
          <a:xfrm>
            <a:off x="9628632" y="2258568"/>
            <a:ext cx="1874520" cy="7772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Riders</a:t>
            </a:r>
            <a:endParaRPr lang="en-US" sz="1600" dirty="0"/>
          </a:p>
          <a:p>
            <a:pPr indent="0" marL="0">
              <a:buNone/>
            </a:pPr>
            <a:r>
              <a:rPr lang="en-US" sz="1250" dirty="0">
                <a:solidFill>
                  <a:srgbClr val="B9C2D8"/>
                </a:solidFill>
                <a:latin typeface="Calibri" pitchFamily="34" charset="0"/>
                <a:ea typeface="Calibri" pitchFamily="34" charset="-122"/>
                <a:cs typeface="Calibri" pitchFamily="34" charset="-120"/>
              </a:rPr>
              <a:t>get ₹300 automatically</a:t>
            </a:r>
            <a:endParaRPr lang="en-US" sz="1600" dirty="0"/>
          </a:p>
        </p:txBody>
      </p:sp>
      <p:sp>
        <p:nvSpPr>
          <p:cNvPr id="15" name="nJ"/>
          <p:cNvSpPr/>
          <p:nvPr/>
        </p:nvSpPr>
        <p:spPr>
          <a:xfrm>
            <a:off x="4526280" y="3794760"/>
            <a:ext cx="3108960" cy="960120"/>
          </a:xfrm>
          <a:prstGeom prst="roundRect">
            <a:avLst>
              <a:gd name="adj" fmla="val 11429"/>
            </a:avLst>
          </a:prstGeom>
          <a:solidFill>
            <a:srgbClr val="1C2447"/>
          </a:solidFill>
          <a:ln w="15875">
            <a:solidFill>
              <a:srgbClr val="F5A623"/>
            </a:solidFill>
            <a:prstDash val="solid"/>
          </a:ln>
        </p:spPr>
      </p:sp>
      <p:pic>
        <p:nvPicPr>
          <p:cNvPr id="16" name="nJI" descr="preencoded.png">    </p:cNvPr>
          <p:cNvPicPr>
            <a:picLocks noChangeAspect="1"/>
          </p:cNvPicPr>
          <p:nvPr/>
        </p:nvPicPr>
        <p:blipFill>
          <a:blip r:embed="rId5"/>
          <a:stretch>
            <a:fillRect/>
          </a:stretch>
        </p:blipFill>
        <p:spPr>
          <a:xfrm>
            <a:off x="4727448" y="4069080"/>
            <a:ext cx="384048" cy="384048"/>
          </a:xfrm>
          <a:prstGeom prst="rect">
            <a:avLst/>
          </a:prstGeom>
        </p:spPr>
      </p:pic>
      <p:sp>
        <p:nvSpPr>
          <p:cNvPr id="17" name="nJT"/>
          <p:cNvSpPr txBox="1"/>
          <p:nvPr/>
        </p:nvSpPr>
        <p:spPr>
          <a:xfrm>
            <a:off x="5257800" y="3904488"/>
            <a:ext cx="2240280" cy="7772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Jio</a:t>
            </a:r>
            <a:endParaRPr lang="en-US" sz="1600" dirty="0"/>
          </a:p>
          <a:p>
            <a:pPr indent="0" marL="0">
              <a:buNone/>
            </a:pPr>
            <a:r>
              <a:rPr lang="en-US" sz="1250" dirty="0">
                <a:solidFill>
                  <a:srgbClr val="B9C2D8"/>
                </a:solidFill>
                <a:latin typeface="Calibri" pitchFamily="34" charset="0"/>
                <a:ea typeface="Calibri" pitchFamily="34" charset="-122"/>
                <a:cs typeface="Calibri" pitchFamily="34" charset="-120"/>
              </a:rPr>
              <a:t>distribution + data fees</a:t>
            </a:r>
            <a:endParaRPr lang="en-US" sz="1600" dirty="0"/>
          </a:p>
        </p:txBody>
      </p:sp>
      <p:sp>
        <p:nvSpPr>
          <p:cNvPr id="18" name="a1"/>
          <p:cNvSpPr/>
          <p:nvPr/>
        </p:nvSpPr>
        <p:spPr>
          <a:xfrm>
            <a:off x="3291840" y="2624328"/>
            <a:ext cx="1234440" cy="914"/>
          </a:xfrm>
          <a:prstGeom prst="line">
            <a:avLst/>
          </a:prstGeom>
          <a:noFill/>
          <a:ln w="19050">
            <a:solidFill>
              <a:srgbClr val="5A6690"/>
            </a:solidFill>
            <a:prstDash val="solid"/>
            <a:tailEnd type="triangle"/>
          </a:ln>
        </p:spPr>
      </p:sp>
      <p:sp>
        <p:nvSpPr>
          <p:cNvPr id="19" name="a1L"/>
          <p:cNvSpPr txBox="1"/>
          <p:nvPr/>
        </p:nvSpPr>
        <p:spPr>
          <a:xfrm>
            <a:off x="3291840" y="2240280"/>
            <a:ext cx="1207008" cy="365760"/>
          </a:xfrm>
          <a:prstGeom prst="rect">
            <a:avLst/>
          </a:prstGeom>
          <a:noFill/>
          <a:ln/>
        </p:spPr>
        <p:txBody>
          <a:bodyPr wrap="square" lIns="0" tIns="0" rIns="0" bIns="0" rtlCol="0" anchor="t"/>
          <a:lstStyle/>
          <a:p>
            <a:pPr algn="ctr" indent="0" marL="0">
              <a:buNone/>
            </a:pPr>
            <a:r>
              <a:rPr lang="en-US" sz="1050" dirty="0">
                <a:solidFill>
                  <a:srgbClr val="F5A623"/>
                </a:solidFill>
                <a:latin typeface="Calibri" pitchFamily="34" charset="0"/>
                <a:ea typeface="Calibri" pitchFamily="34" charset="-122"/>
                <a:cs typeface="Calibri" pitchFamily="34" charset="-120"/>
              </a:rPr>
              <a:t>₹165 / rider / month</a:t>
            </a:r>
            <a:endParaRPr lang="en-US" sz="1050" dirty="0"/>
          </a:p>
        </p:txBody>
      </p:sp>
      <p:sp>
        <p:nvSpPr>
          <p:cNvPr id="20" name="a2"/>
          <p:cNvSpPr/>
          <p:nvPr/>
        </p:nvSpPr>
        <p:spPr>
          <a:xfrm>
            <a:off x="7635240" y="2624328"/>
            <a:ext cx="1261872" cy="914"/>
          </a:xfrm>
          <a:prstGeom prst="line">
            <a:avLst/>
          </a:prstGeom>
          <a:noFill/>
          <a:ln w="19050">
            <a:solidFill>
              <a:srgbClr val="5A6690"/>
            </a:solidFill>
            <a:prstDash val="solid"/>
            <a:tailEnd type="triangle"/>
          </a:ln>
        </p:spPr>
      </p:sp>
      <p:sp>
        <p:nvSpPr>
          <p:cNvPr id="21" name="a2L"/>
          <p:cNvSpPr txBox="1"/>
          <p:nvPr/>
        </p:nvSpPr>
        <p:spPr>
          <a:xfrm>
            <a:off x="7635240" y="2286000"/>
            <a:ext cx="1261872" cy="320040"/>
          </a:xfrm>
          <a:prstGeom prst="rect">
            <a:avLst/>
          </a:prstGeom>
          <a:noFill/>
          <a:ln/>
        </p:spPr>
        <p:txBody>
          <a:bodyPr wrap="square" lIns="0" tIns="0" rIns="0" bIns="0" rtlCol="0" anchor="t"/>
          <a:lstStyle/>
          <a:p>
            <a:pPr algn="ctr" indent="0" marL="0">
              <a:buNone/>
            </a:pPr>
            <a:r>
              <a:rPr lang="en-US" sz="1100" dirty="0">
                <a:solidFill>
                  <a:srgbClr val="F5A623"/>
                </a:solidFill>
                <a:latin typeface="Calibri" pitchFamily="34" charset="0"/>
                <a:ea typeface="Calibri" pitchFamily="34" charset="-122"/>
                <a:cs typeface="Calibri" pitchFamily="34" charset="-120"/>
              </a:rPr>
              <a:t>₹300 payouts</a:t>
            </a:r>
            <a:endParaRPr lang="en-US" sz="1100" dirty="0"/>
          </a:p>
        </p:txBody>
      </p:sp>
      <p:sp>
        <p:nvSpPr>
          <p:cNvPr id="22" name="a3"/>
          <p:cNvSpPr/>
          <p:nvPr/>
        </p:nvSpPr>
        <p:spPr>
          <a:xfrm>
            <a:off x="6080760" y="3108960"/>
            <a:ext cx="914" cy="685800"/>
          </a:xfrm>
          <a:prstGeom prst="line">
            <a:avLst/>
          </a:prstGeom>
          <a:noFill/>
          <a:ln w="19050">
            <a:solidFill>
              <a:srgbClr val="5A6690"/>
            </a:solidFill>
            <a:prstDash val="solid"/>
            <a:tailEnd type="triangle"/>
          </a:ln>
        </p:spPr>
      </p:sp>
      <p:sp>
        <p:nvSpPr>
          <p:cNvPr id="23" name="a3L"/>
          <p:cNvSpPr txBox="1"/>
          <p:nvPr/>
        </p:nvSpPr>
        <p:spPr>
          <a:xfrm>
            <a:off x="6172200" y="3291840"/>
            <a:ext cx="1280160" cy="320040"/>
          </a:xfrm>
          <a:prstGeom prst="rect">
            <a:avLst/>
          </a:prstGeom>
          <a:noFill/>
          <a:ln/>
        </p:spPr>
        <p:txBody>
          <a:bodyPr wrap="square" lIns="0" tIns="0" rIns="0" bIns="0" rtlCol="0" anchor="t"/>
          <a:lstStyle/>
          <a:p>
            <a:pPr indent="0" marL="0">
              <a:buNone/>
            </a:pPr>
            <a:r>
              <a:rPr lang="en-US" sz="1100" dirty="0">
                <a:solidFill>
                  <a:srgbClr val="F5A623"/>
                </a:solidFill>
                <a:latin typeface="Calibri" pitchFamily="34" charset="0"/>
                <a:ea typeface="Calibri" pitchFamily="34" charset="-122"/>
                <a:cs typeface="Calibri" pitchFamily="34" charset="-120"/>
              </a:rPr>
              <a:t>15–25% fees</a:t>
            </a:r>
            <a:endParaRPr lang="en-US" sz="1100" dirty="0"/>
          </a:p>
        </p:txBody>
      </p:sp>
      <p:sp>
        <p:nvSpPr>
          <p:cNvPr id="24" name="dataRev"/>
          <p:cNvSpPr txBox="1"/>
          <p:nvPr/>
        </p:nvSpPr>
        <p:spPr>
          <a:xfrm>
            <a:off x="548640" y="3931920"/>
            <a:ext cx="3657600" cy="731520"/>
          </a:xfrm>
          <a:prstGeom prst="rect">
            <a:avLst/>
          </a:prstGeom>
          <a:noFill/>
          <a:ln/>
        </p:spPr>
        <p:txBody>
          <a:bodyPr wrap="square" lIns="0" tIns="0" rIns="0" bIns="0" rtlCol="0" anchor="t"/>
          <a:lstStyle/>
          <a:p>
            <a:pPr indent="0" marL="0">
              <a:buNone/>
            </a:pPr>
            <a:r>
              <a:rPr lang="en-US" sz="1400" dirty="0">
                <a:solidFill>
                  <a:srgbClr val="B9C2D8"/>
                </a:solidFill>
                <a:latin typeface="Calibri" pitchFamily="34" charset="0"/>
                <a:ea typeface="Calibri" pitchFamily="34" charset="-122"/>
                <a:cs typeface="Calibri" pitchFamily="34" charset="-120"/>
              </a:rPr>
              <a:t>Plus: weather data and API revenue that is Jio’s own</a:t>
            </a:r>
            <a:endParaRPr lang="en-US" sz="1400" dirty="0"/>
          </a:p>
        </p:txBody>
      </p:sp>
      <p:sp>
        <p:nvSpPr>
          <p:cNvPr id="25" name="numCard"/>
          <p:cNvSpPr/>
          <p:nvPr/>
        </p:nvSpPr>
        <p:spPr>
          <a:xfrm>
            <a:off x="8001000" y="3520440"/>
            <a:ext cx="3639312" cy="1600200"/>
          </a:xfrm>
          <a:prstGeom prst="roundRect">
            <a:avLst>
              <a:gd name="adj" fmla="val 6857"/>
            </a:avLst>
          </a:prstGeom>
          <a:solidFill>
            <a:srgbClr val="141B36"/>
          </a:solidFill>
          <a:ln w="9525">
            <a:solidFill>
              <a:srgbClr val="2A3357"/>
            </a:solidFill>
            <a:prstDash val="solid"/>
          </a:ln>
        </p:spPr>
      </p:sp>
      <p:sp>
        <p:nvSpPr>
          <p:cNvPr id="26" name="numT"/>
          <p:cNvSpPr txBox="1"/>
          <p:nvPr/>
        </p:nvSpPr>
        <p:spPr>
          <a:xfrm>
            <a:off x="8229600" y="3611880"/>
            <a:ext cx="3291840" cy="1463040"/>
          </a:xfrm>
          <a:prstGeom prst="rect">
            <a:avLst/>
          </a:prstGeom>
          <a:noFill/>
          <a:ln/>
        </p:spPr>
        <p:txBody>
          <a:bodyPr wrap="square" lIns="0" tIns="0" rIns="0" bIns="0" rtlCol="0" anchor="t"/>
          <a:lstStyle/>
          <a:p>
            <a:pPr indent="0" marL="0">
              <a:spcAft>
                <a:spcPts val="200"/>
              </a:spcAft>
              <a:buNone/>
            </a:pPr>
            <a:r>
              <a:rPr lang="en-US" sz="1300" dirty="0">
                <a:solidFill>
                  <a:srgbClr val="B9C2D8"/>
                </a:solidFill>
                <a:latin typeface="Calibri" pitchFamily="34" charset="0"/>
                <a:ea typeface="Calibri" pitchFamily="34" charset="-122"/>
                <a:cs typeface="Calibri" pitchFamily="34" charset="-120"/>
              </a:rPr>
              <a:t>50,000 Mumbai riders</a:t>
            </a:r>
            <a:endParaRPr lang="en-US" sz="1300" dirty="0"/>
          </a:p>
          <a:p>
            <a:pPr indent="0" marL="0">
              <a:spcAft>
                <a:spcPts val="200"/>
              </a:spcAft>
              <a:buNone/>
            </a:pPr>
            <a:r>
              <a:rPr lang="en-US" sz="2800" b="1" dirty="0">
                <a:solidFill>
                  <a:srgbClr val="FFFFFF"/>
                </a:solidFill>
                <a:latin typeface="Cambria" pitchFamily="34" charset="0"/>
                <a:ea typeface="Cambria" pitchFamily="34" charset="-122"/>
                <a:cs typeface="Cambria" pitchFamily="34" charset="-120"/>
              </a:rPr>
              <a:t>₹9.9 Cr</a:t>
            </a:r>
            <a:pPr indent="0" marL="0">
              <a:spcAft>
                <a:spcPts val="200"/>
              </a:spcAft>
              <a:buNone/>
            </a:pPr>
            <a:r>
              <a:rPr lang="en-US" sz="1250" dirty="0">
                <a:solidFill>
                  <a:srgbClr val="B9C2D8"/>
                </a:solidFill>
                <a:latin typeface="Calibri" pitchFamily="34" charset="0"/>
                <a:ea typeface="Calibri" pitchFamily="34" charset="-122"/>
                <a:cs typeface="Calibri" pitchFamily="34" charset="-120"/>
              </a:rPr>
              <a:t>  premium pool a year (the insurer’s)</a:t>
            </a:r>
            <a:endParaRPr lang="en-US" sz="1300" dirty="0"/>
          </a:p>
          <a:p>
            <a:pPr indent="0" marL="0">
              <a:spcAft>
                <a:spcPts val="200"/>
              </a:spcAft>
              <a:buNone/>
            </a:pPr>
            <a:r>
              <a:rPr lang="en-US" sz="2400" b="1" dirty="0">
                <a:solidFill>
                  <a:srgbClr val="F5A623"/>
                </a:solidFill>
                <a:latin typeface="Cambria" pitchFamily="34" charset="0"/>
                <a:ea typeface="Cambria" pitchFamily="34" charset="-122"/>
                <a:cs typeface="Cambria" pitchFamily="34" charset="-120"/>
              </a:rPr>
              <a:t>₹1.5–2.5 Cr</a:t>
            </a:r>
            <a:pPr indent="0" marL="0">
              <a:spcAft>
                <a:spcPts val="200"/>
              </a:spcAft>
              <a:buNone/>
            </a:pPr>
            <a:r>
              <a:rPr lang="en-US" sz="1250" dirty="0">
                <a:solidFill>
                  <a:srgbClr val="B9C2D8"/>
                </a:solidFill>
                <a:latin typeface="Calibri" pitchFamily="34" charset="0"/>
                <a:ea typeface="Calibri" pitchFamily="34" charset="-122"/>
                <a:cs typeface="Calibri" pitchFamily="34" charset="-120"/>
              </a:rPr>
              <a:t>  Jio fees a year</a:t>
            </a:r>
            <a:endParaRPr lang="en-US" sz="1300" dirty="0"/>
          </a:p>
        </p:txBody>
      </p:sp>
      <p:sp>
        <p:nvSpPr>
          <p:cNvPr id="27" name="chainH"/>
          <p:cNvSpPr txBox="1"/>
          <p:nvPr/>
        </p:nvSpPr>
        <p:spPr>
          <a:xfrm>
            <a:off x="548640" y="5138928"/>
            <a:ext cx="5486400" cy="3200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Reliance can connect the whole chain</a:t>
            </a:r>
            <a:endParaRPr lang="en-US" sz="1600" dirty="0"/>
          </a:p>
        </p:txBody>
      </p:sp>
      <p:sp>
        <p:nvSpPr>
          <p:cNvPr id="28" name="ch0"/>
          <p:cNvSpPr/>
          <p:nvPr/>
        </p:nvSpPr>
        <p:spPr>
          <a:xfrm>
            <a:off x="548640" y="5532120"/>
            <a:ext cx="2011680" cy="548640"/>
          </a:xfrm>
          <a:prstGeom prst="roundRect">
            <a:avLst>
              <a:gd name="adj" fmla="val 20000"/>
            </a:avLst>
          </a:prstGeom>
          <a:solidFill>
            <a:srgbClr val="141B36"/>
          </a:solidFill>
          <a:ln w="9525">
            <a:solidFill>
              <a:srgbClr val="2A3357"/>
            </a:solidFill>
            <a:prstDash val="solid"/>
          </a:ln>
        </p:spPr>
      </p:sp>
      <p:sp>
        <p:nvSpPr>
          <p:cNvPr id="29" name="chT0"/>
          <p:cNvSpPr txBox="1"/>
          <p:nvPr/>
        </p:nvSpPr>
        <p:spPr>
          <a:xfrm>
            <a:off x="676656" y="5532120"/>
            <a:ext cx="1828800" cy="54864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Sense  </a:t>
            </a:r>
            <a:pPr indent="0" marL="0">
              <a:buNone/>
            </a:pPr>
            <a:r>
              <a:rPr lang="en-US" sz="1200" dirty="0">
                <a:solidFill>
                  <a:srgbClr val="EEF1F7"/>
                </a:solidFill>
                <a:latin typeface="Calibri" pitchFamily="34" charset="0"/>
                <a:ea typeface="Calibri" pitchFamily="34" charset="-122"/>
                <a:cs typeface="Calibri" pitchFamily="34" charset="-120"/>
              </a:rPr>
              <a:t>Jio network</a:t>
            </a:r>
            <a:endParaRPr lang="en-US" sz="1400" dirty="0"/>
          </a:p>
        </p:txBody>
      </p:sp>
      <p:sp>
        <p:nvSpPr>
          <p:cNvPr id="30" name="chA0"/>
          <p:cNvSpPr/>
          <p:nvPr/>
        </p:nvSpPr>
        <p:spPr>
          <a:xfrm>
            <a:off x="2560320" y="5806440"/>
            <a:ext cx="246888" cy="914"/>
          </a:xfrm>
          <a:prstGeom prst="line">
            <a:avLst/>
          </a:prstGeom>
          <a:noFill/>
          <a:ln w="19050">
            <a:solidFill>
              <a:srgbClr val="5A6690"/>
            </a:solidFill>
            <a:prstDash val="solid"/>
            <a:tailEnd type="triangle"/>
          </a:ln>
        </p:spPr>
      </p:sp>
      <p:sp>
        <p:nvSpPr>
          <p:cNvPr id="31" name="ch1"/>
          <p:cNvSpPr/>
          <p:nvPr/>
        </p:nvSpPr>
        <p:spPr>
          <a:xfrm>
            <a:off x="2807208" y="5532120"/>
            <a:ext cx="2011680" cy="548640"/>
          </a:xfrm>
          <a:prstGeom prst="roundRect">
            <a:avLst>
              <a:gd name="adj" fmla="val 20000"/>
            </a:avLst>
          </a:prstGeom>
          <a:solidFill>
            <a:srgbClr val="141B36"/>
          </a:solidFill>
          <a:ln w="9525">
            <a:solidFill>
              <a:srgbClr val="2A3357"/>
            </a:solidFill>
            <a:prstDash val="solid"/>
          </a:ln>
        </p:spPr>
      </p:sp>
      <p:sp>
        <p:nvSpPr>
          <p:cNvPr id="32" name="chT1"/>
          <p:cNvSpPr txBox="1"/>
          <p:nvPr/>
        </p:nvSpPr>
        <p:spPr>
          <a:xfrm>
            <a:off x="2935224" y="5532120"/>
            <a:ext cx="1828800" cy="54864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Decide  </a:t>
            </a:r>
            <a:pPr indent="0" marL="0">
              <a:buNone/>
            </a:pPr>
            <a:r>
              <a:rPr lang="en-US" sz="1200" dirty="0">
                <a:solidFill>
                  <a:srgbClr val="EEF1F7"/>
                </a:solidFill>
                <a:latin typeface="Calibri" pitchFamily="34" charset="0"/>
                <a:ea typeface="Calibri" pitchFamily="34" charset="-122"/>
                <a:cs typeface="Calibri" pitchFamily="34" charset="-120"/>
              </a:rPr>
              <a:t>JioMausam</a:t>
            </a:r>
            <a:endParaRPr lang="en-US" sz="1400" dirty="0"/>
          </a:p>
        </p:txBody>
      </p:sp>
      <p:sp>
        <p:nvSpPr>
          <p:cNvPr id="33" name="chA1"/>
          <p:cNvSpPr/>
          <p:nvPr/>
        </p:nvSpPr>
        <p:spPr>
          <a:xfrm>
            <a:off x="4818888" y="5806440"/>
            <a:ext cx="246888" cy="914"/>
          </a:xfrm>
          <a:prstGeom prst="line">
            <a:avLst/>
          </a:prstGeom>
          <a:noFill/>
          <a:ln w="19050">
            <a:solidFill>
              <a:srgbClr val="5A6690"/>
            </a:solidFill>
            <a:prstDash val="solid"/>
            <a:tailEnd type="triangle"/>
          </a:ln>
        </p:spPr>
      </p:sp>
      <p:sp>
        <p:nvSpPr>
          <p:cNvPr id="34" name="ch2"/>
          <p:cNvSpPr/>
          <p:nvPr/>
        </p:nvSpPr>
        <p:spPr>
          <a:xfrm>
            <a:off x="5065776" y="5532120"/>
            <a:ext cx="2011680" cy="548640"/>
          </a:xfrm>
          <a:prstGeom prst="roundRect">
            <a:avLst>
              <a:gd name="adj" fmla="val 20000"/>
            </a:avLst>
          </a:prstGeom>
          <a:solidFill>
            <a:srgbClr val="141B36"/>
          </a:solidFill>
          <a:ln w="9525">
            <a:solidFill>
              <a:srgbClr val="2A3357"/>
            </a:solidFill>
            <a:prstDash val="solid"/>
          </a:ln>
        </p:spPr>
      </p:sp>
      <p:sp>
        <p:nvSpPr>
          <p:cNvPr id="35" name="chT2"/>
          <p:cNvSpPr txBox="1"/>
          <p:nvPr/>
        </p:nvSpPr>
        <p:spPr>
          <a:xfrm>
            <a:off x="5193792" y="5532120"/>
            <a:ext cx="1828800" cy="54864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Insure  </a:t>
            </a:r>
            <a:pPr indent="0" marL="0">
              <a:buNone/>
            </a:pPr>
            <a:r>
              <a:rPr lang="en-US" sz="1200" dirty="0">
                <a:solidFill>
                  <a:srgbClr val="EEF1F7"/>
                </a:solidFill>
                <a:latin typeface="Calibri" pitchFamily="34" charset="0"/>
                <a:ea typeface="Calibri" pitchFamily="34" charset="-122"/>
                <a:cs typeface="Calibri" pitchFamily="34" charset="-120"/>
              </a:rPr>
              <a:t>JFS partners</a:t>
            </a:r>
            <a:endParaRPr lang="en-US" sz="1400" dirty="0"/>
          </a:p>
        </p:txBody>
      </p:sp>
      <p:sp>
        <p:nvSpPr>
          <p:cNvPr id="36" name="chA2"/>
          <p:cNvSpPr/>
          <p:nvPr/>
        </p:nvSpPr>
        <p:spPr>
          <a:xfrm>
            <a:off x="7077456" y="5806440"/>
            <a:ext cx="246888" cy="914"/>
          </a:xfrm>
          <a:prstGeom prst="line">
            <a:avLst/>
          </a:prstGeom>
          <a:noFill/>
          <a:ln w="19050">
            <a:solidFill>
              <a:srgbClr val="5A6690"/>
            </a:solidFill>
            <a:prstDash val="solid"/>
            <a:tailEnd type="triangle"/>
          </a:ln>
        </p:spPr>
      </p:sp>
      <p:sp>
        <p:nvSpPr>
          <p:cNvPr id="37" name="ch3"/>
          <p:cNvSpPr/>
          <p:nvPr/>
        </p:nvSpPr>
        <p:spPr>
          <a:xfrm>
            <a:off x="7324344" y="5532120"/>
            <a:ext cx="2011680" cy="548640"/>
          </a:xfrm>
          <a:prstGeom prst="roundRect">
            <a:avLst>
              <a:gd name="adj" fmla="val 20000"/>
            </a:avLst>
          </a:prstGeom>
          <a:solidFill>
            <a:srgbClr val="141B36"/>
          </a:solidFill>
          <a:ln w="9525">
            <a:solidFill>
              <a:srgbClr val="2A3357"/>
            </a:solidFill>
            <a:prstDash val="solid"/>
          </a:ln>
        </p:spPr>
      </p:sp>
      <p:sp>
        <p:nvSpPr>
          <p:cNvPr id="38" name="chT3"/>
          <p:cNvSpPr txBox="1"/>
          <p:nvPr/>
        </p:nvSpPr>
        <p:spPr>
          <a:xfrm>
            <a:off x="7452360" y="5532120"/>
            <a:ext cx="1828800" cy="54864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Pay  </a:t>
            </a:r>
            <a:pPr indent="0" marL="0">
              <a:buNone/>
            </a:pPr>
            <a:r>
              <a:rPr lang="en-US" sz="1200" dirty="0">
                <a:solidFill>
                  <a:srgbClr val="EEF1F7"/>
                </a:solidFill>
                <a:latin typeface="Calibri" pitchFamily="34" charset="0"/>
                <a:ea typeface="Calibri" pitchFamily="34" charset="-122"/>
                <a:cs typeface="Calibri" pitchFamily="34" charset="-120"/>
              </a:rPr>
              <a:t>bank / UPI rails</a:t>
            </a:r>
            <a:endParaRPr lang="en-US" sz="1400" dirty="0"/>
          </a:p>
        </p:txBody>
      </p:sp>
      <p:sp>
        <p:nvSpPr>
          <p:cNvPr id="39" name="chA3"/>
          <p:cNvSpPr/>
          <p:nvPr/>
        </p:nvSpPr>
        <p:spPr>
          <a:xfrm>
            <a:off x="9336024" y="5806440"/>
            <a:ext cx="246888" cy="914"/>
          </a:xfrm>
          <a:prstGeom prst="line">
            <a:avLst/>
          </a:prstGeom>
          <a:noFill/>
          <a:ln w="19050">
            <a:solidFill>
              <a:srgbClr val="5A6690"/>
            </a:solidFill>
            <a:prstDash val="solid"/>
            <a:tailEnd type="triangle"/>
          </a:ln>
        </p:spPr>
      </p:sp>
      <p:sp>
        <p:nvSpPr>
          <p:cNvPr id="40" name="ch4"/>
          <p:cNvSpPr/>
          <p:nvPr/>
        </p:nvSpPr>
        <p:spPr>
          <a:xfrm>
            <a:off x="9582912" y="5532120"/>
            <a:ext cx="2011680" cy="548640"/>
          </a:xfrm>
          <a:prstGeom prst="roundRect">
            <a:avLst>
              <a:gd name="adj" fmla="val 20000"/>
            </a:avLst>
          </a:prstGeom>
          <a:solidFill>
            <a:srgbClr val="141B36"/>
          </a:solidFill>
          <a:ln w="9525">
            <a:solidFill>
              <a:srgbClr val="2A3357"/>
            </a:solidFill>
            <a:prstDash val="solid"/>
          </a:ln>
        </p:spPr>
      </p:sp>
      <p:sp>
        <p:nvSpPr>
          <p:cNvPr id="41" name="chT4"/>
          <p:cNvSpPr txBox="1"/>
          <p:nvPr/>
        </p:nvSpPr>
        <p:spPr>
          <a:xfrm>
            <a:off x="9710928" y="5532120"/>
            <a:ext cx="1828800" cy="548640"/>
          </a:xfrm>
          <a:prstGeom prst="rect">
            <a:avLst/>
          </a:prstGeom>
          <a:noFill/>
          <a:ln/>
        </p:spPr>
        <p:txBody>
          <a:bodyPr wrap="square" lIns="0" tIns="0" rIns="0" bIns="0" rtlCol="0" anchor="ctr"/>
          <a:lstStyle/>
          <a:p>
            <a:pPr indent="0" marL="0">
              <a:buNone/>
            </a:pPr>
            <a:r>
              <a:rPr lang="en-US" sz="1400" b="1" dirty="0">
                <a:solidFill>
                  <a:srgbClr val="F5A623"/>
                </a:solidFill>
                <a:latin typeface="Cambria" pitchFamily="34" charset="0"/>
                <a:ea typeface="Cambria" pitchFamily="34" charset="-122"/>
                <a:cs typeface="Cambria" pitchFamily="34" charset="-120"/>
              </a:rPr>
              <a:t>Use  </a:t>
            </a:r>
            <a:pPr indent="0" marL="0">
              <a:buNone/>
            </a:pPr>
            <a:r>
              <a:rPr lang="en-US" sz="1200" dirty="0">
                <a:solidFill>
                  <a:srgbClr val="EEF1F7"/>
                </a:solidFill>
                <a:latin typeface="Calibri" pitchFamily="34" charset="0"/>
                <a:ea typeface="Calibri" pitchFamily="34" charset="-122"/>
                <a:cs typeface="Calibri" pitchFamily="34" charset="-120"/>
              </a:rPr>
              <a:t>JioMart and more</a:t>
            </a:r>
            <a:endParaRPr lang="en-US" sz="1400" dirty="0"/>
          </a:p>
        </p:txBody>
      </p:sp>
      <p:sp>
        <p:nvSpPr>
          <p:cNvPr id="42"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6F7AA0"/>
                </a:solidFill>
                <a:latin typeface="Calibri" pitchFamily="34" charset="0"/>
                <a:ea typeface="Calibri" pitchFamily="34" charset="-122"/>
                <a:cs typeface="Calibri" pitchFamily="34" charset="-120"/>
              </a:rPr>
              <a:t>Illustrative: 50,000 × ₹165 × 12. Every 1 lakh riders ≈ ₹20 Cr of premiums. India had 77 lakh gig workers in 2020–21, projected 2.35 crore by 2029–30 (NITI Aayog, 2022).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1"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p:cTn id="16" dur="450" fill="hold"/>
                                        <p:tgtEl>
                                          <p:spTgt spid="6"/>
                                        </p:tgtEl>
                                        <p:attrNameLst>
                                          <p:attrName>ppt_x</p:attrName>
                                        </p:attrNameLst>
                                      </p:cBhvr>
                                      <p:tavLst>
                                        <p:tav tm="0">
                                          <p:val>
                                            <p:strVal val="#ppt_x"/>
                                          </p:val>
                                        </p:tav>
                                        <p:tav tm="100000">
                                          <p:val>
                                            <p:strVal val="#ppt_x"/>
                                          </p:val>
                                        </p:tav>
                                      </p:tavLst>
                                    </p:anim>
                                    <p:anim calcmode="lin" valueType="num">
                                      <p:cBhvr>
                                        <p:cTn id="17" dur="45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anim calcmode="lin" valueType="num">
                                      <p:cBhvr>
                                        <p:cTn id="21" dur="450" fill="hold"/>
                                        <p:tgtEl>
                                          <p:spTgt spid="7"/>
                                        </p:tgtEl>
                                        <p:attrNameLst>
                                          <p:attrName>ppt_x</p:attrName>
                                        </p:attrNameLst>
                                      </p:cBhvr>
                                      <p:tavLst>
                                        <p:tav tm="0">
                                          <p:val>
                                            <p:strVal val="#ppt_x"/>
                                          </p:val>
                                        </p:tav>
                                        <p:tav tm="100000">
                                          <p:val>
                                            <p:strVal val="#ppt_x"/>
                                          </p:val>
                                        </p:tav>
                                      </p:tavLst>
                                    </p:anim>
                                    <p:anim calcmode="lin" valueType="num">
                                      <p:cBhvr>
                                        <p:cTn id="22" dur="45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anim calcmode="lin" valueType="num">
                                      <p:cBhvr>
                                        <p:cTn id="26" dur="450" fill="hold"/>
                                        <p:tgtEl>
                                          <p:spTgt spid="8"/>
                                        </p:tgtEl>
                                        <p:attrNameLst>
                                          <p:attrName>ppt_x</p:attrName>
                                        </p:attrNameLst>
                                      </p:cBhvr>
                                      <p:tavLst>
                                        <p:tav tm="0">
                                          <p:val>
                                            <p:strVal val="#ppt_x"/>
                                          </p:val>
                                        </p:tav>
                                        <p:tav tm="100000">
                                          <p:val>
                                            <p:strVal val="#ppt_x"/>
                                          </p:val>
                                        </p:tav>
                                      </p:tavLst>
                                    </p:anim>
                                    <p:anim calcmode="lin" valueType="num">
                                      <p:cBhvr>
                                        <p:cTn id="27" dur="450" fill="hold"/>
                                        <p:tgtEl>
                                          <p:spTgt spid="8"/>
                                        </p:tgtEl>
                                        <p:attrNameLst>
                                          <p:attrName>ppt_y</p:attrName>
                                        </p:attrNameLst>
                                      </p:cBhvr>
                                      <p:tavLst>
                                        <p:tav tm="0">
                                          <p:val>
                                            <p:strVal val="#ppt_y+.06"/>
                                          </p:val>
                                        </p:tav>
                                        <p:tav tm="100000">
                                          <p:val>
                                            <p:strVal val="#ppt_y"/>
                                          </p:val>
                                        </p:tav>
                                      </p:tavLst>
                                    </p:anim>
                                  </p:childTnLst>
                                </p:cTn>
                              </p:par>
                            </p:childTnLst>
                          </p:cTn>
                        </p:par>
                        <p:par>
                          <p:cTn id="28" fill="hold">
                            <p:stCondLst>
                              <p:cond delay="1200"/>
                            </p:stCondLst>
                            <p:childTnLst>
                              <p:par>
                                <p:cTn id="29" presetID="10"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35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350"/>
                                        <p:tgtEl>
                                          <p:spTgt spid="19"/>
                                        </p:tgtEl>
                                      </p:cBhvr>
                                    </p:animEffect>
                                  </p:childTnLst>
                                </p:cTn>
                              </p:par>
                            </p:childTnLst>
                          </p:cTn>
                        </p:par>
                        <p:par>
                          <p:cTn id="35" fill="hold">
                            <p:stCondLst>
                              <p:cond delay="1550"/>
                            </p:stCondLst>
                            <p:childTnLst>
                              <p:par>
                                <p:cTn id="36" presetID="42"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450"/>
                                        <p:tgtEl>
                                          <p:spTgt spid="9"/>
                                        </p:tgtEl>
                                      </p:cBhvr>
                                    </p:animEffect>
                                    <p:anim calcmode="lin" valueType="num">
                                      <p:cBhvr>
                                        <p:cTn id="39" dur="450" fill="hold"/>
                                        <p:tgtEl>
                                          <p:spTgt spid="9"/>
                                        </p:tgtEl>
                                        <p:attrNameLst>
                                          <p:attrName>ppt_x</p:attrName>
                                        </p:attrNameLst>
                                      </p:cBhvr>
                                      <p:tavLst>
                                        <p:tav tm="0">
                                          <p:val>
                                            <p:strVal val="#ppt_x"/>
                                          </p:val>
                                        </p:tav>
                                        <p:tav tm="100000">
                                          <p:val>
                                            <p:strVal val="#ppt_x"/>
                                          </p:val>
                                        </p:tav>
                                      </p:tavLst>
                                    </p:anim>
                                    <p:anim calcmode="lin" valueType="num">
                                      <p:cBhvr>
                                        <p:cTn id="40" dur="450" fill="hold"/>
                                        <p:tgtEl>
                                          <p:spTgt spid="9"/>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450"/>
                                        <p:tgtEl>
                                          <p:spTgt spid="10"/>
                                        </p:tgtEl>
                                      </p:cBhvr>
                                    </p:animEffect>
                                    <p:anim calcmode="lin" valueType="num">
                                      <p:cBhvr>
                                        <p:cTn id="44" dur="450" fill="hold"/>
                                        <p:tgtEl>
                                          <p:spTgt spid="10"/>
                                        </p:tgtEl>
                                        <p:attrNameLst>
                                          <p:attrName>ppt_x</p:attrName>
                                        </p:attrNameLst>
                                      </p:cBhvr>
                                      <p:tavLst>
                                        <p:tav tm="0">
                                          <p:val>
                                            <p:strVal val="#ppt_x"/>
                                          </p:val>
                                        </p:tav>
                                        <p:tav tm="100000">
                                          <p:val>
                                            <p:strVal val="#ppt_x"/>
                                          </p:val>
                                        </p:tav>
                                      </p:tavLst>
                                    </p:anim>
                                    <p:anim calcmode="lin" valueType="num">
                                      <p:cBhvr>
                                        <p:cTn id="45" dur="450" fill="hold"/>
                                        <p:tgtEl>
                                          <p:spTgt spid="10"/>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50"/>
                                        <p:tgtEl>
                                          <p:spTgt spid="11"/>
                                        </p:tgtEl>
                                      </p:cBhvr>
                                    </p:animEffect>
                                    <p:anim calcmode="lin" valueType="num">
                                      <p:cBhvr>
                                        <p:cTn id="49" dur="450" fill="hold"/>
                                        <p:tgtEl>
                                          <p:spTgt spid="11"/>
                                        </p:tgtEl>
                                        <p:attrNameLst>
                                          <p:attrName>ppt_x</p:attrName>
                                        </p:attrNameLst>
                                      </p:cBhvr>
                                      <p:tavLst>
                                        <p:tav tm="0">
                                          <p:val>
                                            <p:strVal val="#ppt_x"/>
                                          </p:val>
                                        </p:tav>
                                        <p:tav tm="100000">
                                          <p:val>
                                            <p:strVal val="#ppt_x"/>
                                          </p:val>
                                        </p:tav>
                                      </p:tavLst>
                                    </p:anim>
                                    <p:anim calcmode="lin" valueType="num">
                                      <p:cBhvr>
                                        <p:cTn id="50" dur="450" fill="hold"/>
                                        <p:tgtEl>
                                          <p:spTgt spid="11"/>
                                        </p:tgtEl>
                                        <p:attrNameLst>
                                          <p:attrName>ppt_y</p:attrName>
                                        </p:attrNameLst>
                                      </p:cBhvr>
                                      <p:tavLst>
                                        <p:tav tm="0">
                                          <p:val>
                                            <p:strVal val="#ppt_y+.06"/>
                                          </p:val>
                                        </p:tav>
                                        <p:tav tm="100000">
                                          <p:val>
                                            <p:strVal val="#ppt_y"/>
                                          </p:val>
                                        </p:tav>
                                      </p:tavLst>
                                    </p:anim>
                                  </p:childTnLst>
                                </p:cTn>
                              </p:par>
                            </p:childTnLst>
                          </p:cTn>
                        </p:par>
                        <p:par>
                          <p:cTn id="51" fill="hold">
                            <p:stCondLst>
                              <p:cond delay="2000"/>
                            </p:stCondLst>
                            <p:childTnLst>
                              <p:par>
                                <p:cTn id="52" presetID="10" presetClass="entr" presetSubtype="0"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50"/>
                                        <p:tgtEl>
                                          <p:spTgt spid="21"/>
                                        </p:tgtEl>
                                      </p:cBhvr>
                                    </p:animEffect>
                                  </p:childTnLst>
                                </p:cTn>
                              </p:par>
                            </p:childTnLst>
                          </p:cTn>
                        </p:par>
                        <p:par>
                          <p:cTn id="58" fill="hold">
                            <p:stCondLst>
                              <p:cond delay="2350"/>
                            </p:stCondLst>
                            <p:childTnLst>
                              <p:par>
                                <p:cTn id="59" presetID="42" presetClass="entr" presetSubtype="0"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450"/>
                                        <p:tgtEl>
                                          <p:spTgt spid="12"/>
                                        </p:tgtEl>
                                      </p:cBhvr>
                                    </p:animEffect>
                                    <p:anim calcmode="lin" valueType="num">
                                      <p:cBhvr>
                                        <p:cTn id="62" dur="450" fill="hold"/>
                                        <p:tgtEl>
                                          <p:spTgt spid="12"/>
                                        </p:tgtEl>
                                        <p:attrNameLst>
                                          <p:attrName>ppt_x</p:attrName>
                                        </p:attrNameLst>
                                      </p:cBhvr>
                                      <p:tavLst>
                                        <p:tav tm="0">
                                          <p:val>
                                            <p:strVal val="#ppt_x"/>
                                          </p:val>
                                        </p:tav>
                                        <p:tav tm="100000">
                                          <p:val>
                                            <p:strVal val="#ppt_x"/>
                                          </p:val>
                                        </p:tav>
                                      </p:tavLst>
                                    </p:anim>
                                    <p:anim calcmode="lin" valueType="num">
                                      <p:cBhvr>
                                        <p:cTn id="63" dur="450" fill="hold"/>
                                        <p:tgtEl>
                                          <p:spTgt spid="12"/>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450"/>
                                        <p:tgtEl>
                                          <p:spTgt spid="13"/>
                                        </p:tgtEl>
                                      </p:cBhvr>
                                    </p:animEffect>
                                    <p:anim calcmode="lin" valueType="num">
                                      <p:cBhvr>
                                        <p:cTn id="67" dur="450" fill="hold"/>
                                        <p:tgtEl>
                                          <p:spTgt spid="13"/>
                                        </p:tgtEl>
                                        <p:attrNameLst>
                                          <p:attrName>ppt_x</p:attrName>
                                        </p:attrNameLst>
                                      </p:cBhvr>
                                      <p:tavLst>
                                        <p:tav tm="0">
                                          <p:val>
                                            <p:strVal val="#ppt_x"/>
                                          </p:val>
                                        </p:tav>
                                        <p:tav tm="100000">
                                          <p:val>
                                            <p:strVal val="#ppt_x"/>
                                          </p:val>
                                        </p:tav>
                                      </p:tavLst>
                                    </p:anim>
                                    <p:anim calcmode="lin" valueType="num">
                                      <p:cBhvr>
                                        <p:cTn id="68" dur="450" fill="hold"/>
                                        <p:tgtEl>
                                          <p:spTgt spid="13"/>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450"/>
                                        <p:tgtEl>
                                          <p:spTgt spid="14"/>
                                        </p:tgtEl>
                                      </p:cBhvr>
                                    </p:animEffect>
                                    <p:anim calcmode="lin" valueType="num">
                                      <p:cBhvr>
                                        <p:cTn id="72" dur="450" fill="hold"/>
                                        <p:tgtEl>
                                          <p:spTgt spid="14"/>
                                        </p:tgtEl>
                                        <p:attrNameLst>
                                          <p:attrName>ppt_x</p:attrName>
                                        </p:attrNameLst>
                                      </p:cBhvr>
                                      <p:tavLst>
                                        <p:tav tm="0">
                                          <p:val>
                                            <p:strVal val="#ppt_x"/>
                                          </p:val>
                                        </p:tav>
                                        <p:tav tm="100000">
                                          <p:val>
                                            <p:strVal val="#ppt_x"/>
                                          </p:val>
                                        </p:tav>
                                      </p:tavLst>
                                    </p:anim>
                                    <p:anim calcmode="lin" valueType="num">
                                      <p:cBhvr>
                                        <p:cTn id="73" dur="450" fill="hold"/>
                                        <p:tgtEl>
                                          <p:spTgt spid="14"/>
                                        </p:tgtEl>
                                        <p:attrNameLst>
                                          <p:attrName>ppt_y</p:attrName>
                                        </p:attrNameLst>
                                      </p:cBhvr>
                                      <p:tavLst>
                                        <p:tav tm="0">
                                          <p:val>
                                            <p:strVal val="#ppt_y+.06"/>
                                          </p:val>
                                        </p:tav>
                                        <p:tav tm="100000">
                                          <p:val>
                                            <p:strVal val="#ppt_y"/>
                                          </p:val>
                                        </p:tav>
                                      </p:tavLst>
                                    </p:anim>
                                  </p:childTnLst>
                                </p:cTn>
                              </p:par>
                            </p:childTnLst>
                          </p:cTn>
                        </p:par>
                        <p:par>
                          <p:cTn id="74" fill="hold">
                            <p:stCondLst>
                              <p:cond delay="2800"/>
                            </p:stCondLst>
                            <p:childTnLst>
                              <p:par>
                                <p:cTn id="75" presetID="10" presetClass="entr" presetSubtype="0" fill="hold" grpId="0" nodeType="after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350"/>
                                        <p:tgtEl>
                                          <p:spTgt spid="2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350"/>
                                        <p:tgtEl>
                                          <p:spTgt spid="23"/>
                                        </p:tgtEl>
                                      </p:cBhvr>
                                    </p:animEffect>
                                  </p:childTnLst>
                                </p:cTn>
                              </p:par>
                            </p:childTnLst>
                          </p:cTn>
                        </p:par>
                        <p:par>
                          <p:cTn id="81" fill="hold">
                            <p:stCondLst>
                              <p:cond delay="3150"/>
                            </p:stCondLst>
                            <p:childTnLst>
                              <p:par>
                                <p:cTn id="82" presetID="53" presetClass="entr" presetSubtype="16" fill="hold" grpId="0" nodeType="afterEffect">
                                  <p:stCondLst>
                                    <p:cond delay="0"/>
                                  </p:stCondLst>
                                  <p:childTnLst>
                                    <p:set>
                                      <p:cBhvr>
                                        <p:cTn id="83" dur="1" fill="hold">
                                          <p:stCondLst>
                                            <p:cond delay="0"/>
                                          </p:stCondLst>
                                        </p:cTn>
                                        <p:tgtEl>
                                          <p:spTgt spid="15"/>
                                        </p:tgtEl>
                                        <p:attrNameLst>
                                          <p:attrName>style.visibility</p:attrName>
                                        </p:attrNameLst>
                                      </p:cBhvr>
                                      <p:to>
                                        <p:strVal val="visible"/>
                                      </p:to>
                                    </p:set>
                                    <p:anim calcmode="lin" valueType="num">
                                      <p:cBhvr>
                                        <p:cTn id="84" dur="500" fill="hold"/>
                                        <p:tgtEl>
                                          <p:spTgt spid="15"/>
                                        </p:tgtEl>
                                        <p:attrNameLst>
                                          <p:attrName>ppt_w</p:attrName>
                                        </p:attrNameLst>
                                      </p:cBhvr>
                                      <p:tavLst>
                                        <p:tav tm="0">
                                          <p:val>
                                            <p:strVal val="#ppt_w*.82"/>
                                          </p:val>
                                        </p:tav>
                                        <p:tav tm="100000">
                                          <p:val>
                                            <p:strVal val="#ppt_w"/>
                                          </p:val>
                                        </p:tav>
                                      </p:tavLst>
                                    </p:anim>
                                    <p:anim calcmode="lin" valueType="num">
                                      <p:cBhvr>
                                        <p:cTn id="85" dur="500" fill="hold"/>
                                        <p:tgtEl>
                                          <p:spTgt spid="15"/>
                                        </p:tgtEl>
                                        <p:attrNameLst>
                                          <p:attrName>ppt_h</p:attrName>
                                        </p:attrNameLst>
                                      </p:cBhvr>
                                      <p:tavLst>
                                        <p:tav tm="0">
                                          <p:val>
                                            <p:strVal val="#ppt_h*.82"/>
                                          </p:val>
                                        </p:tav>
                                        <p:tav tm="100000">
                                          <p:val>
                                            <p:strVal val="#ppt_h"/>
                                          </p:val>
                                        </p:tav>
                                      </p:tavLst>
                                    </p:anim>
                                    <p:animEffect transition="in" filter="fade">
                                      <p:cBhvr>
                                        <p:cTn id="86" dur="500"/>
                                        <p:tgtEl>
                                          <p:spTgt spid="15"/>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16"/>
                                        </p:tgtEl>
                                        <p:attrNameLst>
                                          <p:attrName>style.visibility</p:attrName>
                                        </p:attrNameLst>
                                      </p:cBhvr>
                                      <p:to>
                                        <p:strVal val="visible"/>
                                      </p:to>
                                    </p:set>
                                    <p:anim calcmode="lin" valueType="num">
                                      <p:cBhvr>
                                        <p:cTn id="89" dur="500" fill="hold"/>
                                        <p:tgtEl>
                                          <p:spTgt spid="16"/>
                                        </p:tgtEl>
                                        <p:attrNameLst>
                                          <p:attrName>ppt_w</p:attrName>
                                        </p:attrNameLst>
                                      </p:cBhvr>
                                      <p:tavLst>
                                        <p:tav tm="0">
                                          <p:val>
                                            <p:strVal val="#ppt_w*.82"/>
                                          </p:val>
                                        </p:tav>
                                        <p:tav tm="100000">
                                          <p:val>
                                            <p:strVal val="#ppt_w"/>
                                          </p:val>
                                        </p:tav>
                                      </p:tavLst>
                                    </p:anim>
                                    <p:anim calcmode="lin" valueType="num">
                                      <p:cBhvr>
                                        <p:cTn id="90" dur="500" fill="hold"/>
                                        <p:tgtEl>
                                          <p:spTgt spid="16"/>
                                        </p:tgtEl>
                                        <p:attrNameLst>
                                          <p:attrName>ppt_h</p:attrName>
                                        </p:attrNameLst>
                                      </p:cBhvr>
                                      <p:tavLst>
                                        <p:tav tm="0">
                                          <p:val>
                                            <p:strVal val="#ppt_h*.82"/>
                                          </p:val>
                                        </p:tav>
                                        <p:tav tm="100000">
                                          <p:val>
                                            <p:strVal val="#ppt_h"/>
                                          </p:val>
                                        </p:tav>
                                      </p:tavLst>
                                    </p:anim>
                                    <p:animEffect transition="in" filter="fade">
                                      <p:cBhvr>
                                        <p:cTn id="91" dur="500"/>
                                        <p:tgtEl>
                                          <p:spTgt spid="16"/>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17"/>
                                        </p:tgtEl>
                                        <p:attrNameLst>
                                          <p:attrName>style.visibility</p:attrName>
                                        </p:attrNameLst>
                                      </p:cBhvr>
                                      <p:to>
                                        <p:strVal val="visible"/>
                                      </p:to>
                                    </p:set>
                                    <p:anim calcmode="lin" valueType="num">
                                      <p:cBhvr>
                                        <p:cTn id="94" dur="500" fill="hold"/>
                                        <p:tgtEl>
                                          <p:spTgt spid="17"/>
                                        </p:tgtEl>
                                        <p:attrNameLst>
                                          <p:attrName>ppt_w</p:attrName>
                                        </p:attrNameLst>
                                      </p:cBhvr>
                                      <p:tavLst>
                                        <p:tav tm="0">
                                          <p:val>
                                            <p:strVal val="#ppt_w*.82"/>
                                          </p:val>
                                        </p:tav>
                                        <p:tav tm="100000">
                                          <p:val>
                                            <p:strVal val="#ppt_w"/>
                                          </p:val>
                                        </p:tav>
                                      </p:tavLst>
                                    </p:anim>
                                    <p:anim calcmode="lin" valueType="num">
                                      <p:cBhvr>
                                        <p:cTn id="95" dur="500" fill="hold"/>
                                        <p:tgtEl>
                                          <p:spTgt spid="17"/>
                                        </p:tgtEl>
                                        <p:attrNameLst>
                                          <p:attrName>ppt_h</p:attrName>
                                        </p:attrNameLst>
                                      </p:cBhvr>
                                      <p:tavLst>
                                        <p:tav tm="0">
                                          <p:val>
                                            <p:strVal val="#ppt_h*.82"/>
                                          </p:val>
                                        </p:tav>
                                        <p:tav tm="100000">
                                          <p:val>
                                            <p:strVal val="#ppt_h"/>
                                          </p:val>
                                        </p:tav>
                                      </p:tavLst>
                                    </p:anim>
                                    <p:animEffect transition="in" filter="fade">
                                      <p:cBhvr>
                                        <p:cTn id="96" dur="500"/>
                                        <p:tgtEl>
                                          <p:spTgt spid="17"/>
                                        </p:tgtEl>
                                      </p:cBhvr>
                                    </p:animEffect>
                                  </p:childTnLst>
                                </p:cTn>
                              </p:par>
                            </p:childTnLst>
                          </p:cTn>
                        </p:par>
                        <p:par>
                          <p:cTn id="97" fill="hold">
                            <p:stCondLst>
                              <p:cond delay="3650"/>
                            </p:stCondLst>
                            <p:childTnLst>
                              <p:par>
                                <p:cTn id="98" presetID="10" presetClass="entr" presetSubtype="0" fill="hold" grpId="0" nodeType="afterEffect">
                                  <p:stCondLst>
                                    <p:cond delay="10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00"/>
                                        <p:tgtEl>
                                          <p:spTgt spid="26"/>
                                        </p:tgtEl>
                                      </p:cBhvr>
                                    </p:animEffect>
                                  </p:childTnLst>
                                </p:cTn>
                              </p:par>
                            </p:childTnLst>
                          </p:cTn>
                        </p:par>
                        <p:par>
                          <p:cTn id="107" fill="hold">
                            <p:stCondLst>
                              <p:cond delay="4250"/>
                            </p:stCondLst>
                            <p:childTnLst>
                              <p:par>
                                <p:cTn id="108" presetID="10" presetClass="entr" presetSubtype="0" fill="hold" grpId="0" nodeType="afterEffect">
                                  <p:stCondLst>
                                    <p:cond delay="10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400"/>
                                        <p:tgtEl>
                                          <p:spTgt spid="27"/>
                                        </p:tgtEl>
                                      </p:cBhvr>
                                    </p:animEffect>
                                  </p:childTnLst>
                                </p:cTn>
                              </p:par>
                            </p:childTnLst>
                          </p:cTn>
                        </p:par>
                        <p:par>
                          <p:cTn id="111" fill="hold">
                            <p:stCondLst>
                              <p:cond delay="4750"/>
                            </p:stCondLst>
                            <p:childTnLst>
                              <p:par>
                                <p:cTn id="112" presetID="22" presetClass="entr" presetSubtype="8" fill="hold" grpId="0" nodeType="after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wipe(left)">
                                      <p:cBhvr>
                                        <p:cTn id="114" dur="300"/>
                                        <p:tgtEl>
                                          <p:spTgt spid="28"/>
                                        </p:tgtEl>
                                      </p:cBhvr>
                                    </p:animEffect>
                                  </p:childTnLst>
                                </p:cTn>
                              </p:par>
                              <p:par>
                                <p:cTn id="115" presetID="22" presetClass="entr" presetSubtype="8" fill="hold" grpId="0" nodeType="withEffect">
                                  <p:stCondLst>
                                    <p:cond delay="0"/>
                                  </p:stCondLst>
                                  <p:childTnLst>
                                    <p:set>
                                      <p:cBhvr>
                                        <p:cTn id="116" dur="1" fill="hold">
                                          <p:stCondLst>
                                            <p:cond delay="0"/>
                                          </p:stCondLst>
                                        </p:cTn>
                                        <p:tgtEl>
                                          <p:spTgt spid="29"/>
                                        </p:tgtEl>
                                        <p:attrNameLst>
                                          <p:attrName>style.visibility</p:attrName>
                                        </p:attrNameLst>
                                      </p:cBhvr>
                                      <p:to>
                                        <p:strVal val="visible"/>
                                      </p:to>
                                    </p:set>
                                    <p:animEffect transition="in" filter="wipe(left)">
                                      <p:cBhvr>
                                        <p:cTn id="117" dur="300"/>
                                        <p:tgtEl>
                                          <p:spTgt spid="29"/>
                                        </p:tgtEl>
                                      </p:cBhvr>
                                    </p:animEffect>
                                  </p:childTnLst>
                                </p:cTn>
                              </p:par>
                              <p:par>
                                <p:cTn id="118" presetID="22" presetClass="entr" presetSubtype="8" fill="hold" grpId="0" nodeType="withEffect">
                                  <p:stCondLst>
                                    <p:cond delay="0"/>
                                  </p:stCondLst>
                                  <p:childTnLst>
                                    <p:set>
                                      <p:cBhvr>
                                        <p:cTn id="119" dur="1" fill="hold">
                                          <p:stCondLst>
                                            <p:cond delay="0"/>
                                          </p:stCondLst>
                                        </p:cTn>
                                        <p:tgtEl>
                                          <p:spTgt spid="30"/>
                                        </p:tgtEl>
                                        <p:attrNameLst>
                                          <p:attrName>style.visibility</p:attrName>
                                        </p:attrNameLst>
                                      </p:cBhvr>
                                      <p:to>
                                        <p:strVal val="visible"/>
                                      </p:to>
                                    </p:set>
                                    <p:animEffect transition="in" filter="wipe(left)">
                                      <p:cBhvr>
                                        <p:cTn id="120" dur="300"/>
                                        <p:tgtEl>
                                          <p:spTgt spid="30"/>
                                        </p:tgtEl>
                                      </p:cBhvr>
                                    </p:animEffect>
                                  </p:childTnLst>
                                </p:cTn>
                              </p:par>
                            </p:childTnLst>
                          </p:cTn>
                        </p:par>
                        <p:par>
                          <p:cTn id="121" fill="hold">
                            <p:stCondLst>
                              <p:cond delay="5050"/>
                            </p:stCondLst>
                            <p:childTnLst>
                              <p:par>
                                <p:cTn id="122" presetID="22" presetClass="entr" presetSubtype="8" fill="hold" grpId="0" nodeType="afterEffect">
                                  <p:stCondLst>
                                    <p:cond delay="0"/>
                                  </p:stCondLst>
                                  <p:childTnLst>
                                    <p:set>
                                      <p:cBhvr>
                                        <p:cTn id="123" dur="1" fill="hold">
                                          <p:stCondLst>
                                            <p:cond delay="0"/>
                                          </p:stCondLst>
                                        </p:cTn>
                                        <p:tgtEl>
                                          <p:spTgt spid="31"/>
                                        </p:tgtEl>
                                        <p:attrNameLst>
                                          <p:attrName>style.visibility</p:attrName>
                                        </p:attrNameLst>
                                      </p:cBhvr>
                                      <p:to>
                                        <p:strVal val="visible"/>
                                      </p:to>
                                    </p:set>
                                    <p:animEffect transition="in" filter="wipe(left)">
                                      <p:cBhvr>
                                        <p:cTn id="124" dur="300"/>
                                        <p:tgtEl>
                                          <p:spTgt spid="31"/>
                                        </p:tgtEl>
                                      </p:cBhvr>
                                    </p:animEffect>
                                  </p:childTnLst>
                                </p:cTn>
                              </p:par>
                              <p:par>
                                <p:cTn id="125" presetID="22" presetClass="entr" presetSubtype="8" fill="hold" grpId="0" nodeType="withEffect">
                                  <p:stCondLst>
                                    <p:cond delay="0"/>
                                  </p:stCondLst>
                                  <p:childTnLst>
                                    <p:set>
                                      <p:cBhvr>
                                        <p:cTn id="126" dur="1" fill="hold">
                                          <p:stCondLst>
                                            <p:cond delay="0"/>
                                          </p:stCondLst>
                                        </p:cTn>
                                        <p:tgtEl>
                                          <p:spTgt spid="32"/>
                                        </p:tgtEl>
                                        <p:attrNameLst>
                                          <p:attrName>style.visibility</p:attrName>
                                        </p:attrNameLst>
                                      </p:cBhvr>
                                      <p:to>
                                        <p:strVal val="visible"/>
                                      </p:to>
                                    </p:set>
                                    <p:animEffect transition="in" filter="wipe(left)">
                                      <p:cBhvr>
                                        <p:cTn id="127" dur="300"/>
                                        <p:tgtEl>
                                          <p:spTgt spid="32"/>
                                        </p:tgtEl>
                                      </p:cBhvr>
                                    </p:animEffect>
                                  </p:childTnLst>
                                </p:cTn>
                              </p:par>
                              <p:par>
                                <p:cTn id="128" presetID="22" presetClass="entr" presetSubtype="8" fill="hold" grpId="0" nodeType="withEffect">
                                  <p:stCondLst>
                                    <p:cond delay="0"/>
                                  </p:stCondLst>
                                  <p:childTnLst>
                                    <p:set>
                                      <p:cBhvr>
                                        <p:cTn id="129" dur="1" fill="hold">
                                          <p:stCondLst>
                                            <p:cond delay="0"/>
                                          </p:stCondLst>
                                        </p:cTn>
                                        <p:tgtEl>
                                          <p:spTgt spid="33"/>
                                        </p:tgtEl>
                                        <p:attrNameLst>
                                          <p:attrName>style.visibility</p:attrName>
                                        </p:attrNameLst>
                                      </p:cBhvr>
                                      <p:to>
                                        <p:strVal val="visible"/>
                                      </p:to>
                                    </p:set>
                                    <p:animEffect transition="in" filter="wipe(left)">
                                      <p:cBhvr>
                                        <p:cTn id="130" dur="300"/>
                                        <p:tgtEl>
                                          <p:spTgt spid="33"/>
                                        </p:tgtEl>
                                      </p:cBhvr>
                                    </p:animEffect>
                                  </p:childTnLst>
                                </p:cTn>
                              </p:par>
                            </p:childTnLst>
                          </p:cTn>
                        </p:par>
                        <p:par>
                          <p:cTn id="131" fill="hold">
                            <p:stCondLst>
                              <p:cond delay="5350"/>
                            </p:stCondLst>
                            <p:childTnLst>
                              <p:par>
                                <p:cTn id="132" presetID="22" presetClass="entr" presetSubtype="8" fill="hold" grpId="0" nodeType="afterEffect">
                                  <p:stCondLst>
                                    <p:cond delay="0"/>
                                  </p:stCondLst>
                                  <p:childTnLst>
                                    <p:set>
                                      <p:cBhvr>
                                        <p:cTn id="133" dur="1" fill="hold">
                                          <p:stCondLst>
                                            <p:cond delay="0"/>
                                          </p:stCondLst>
                                        </p:cTn>
                                        <p:tgtEl>
                                          <p:spTgt spid="34"/>
                                        </p:tgtEl>
                                        <p:attrNameLst>
                                          <p:attrName>style.visibility</p:attrName>
                                        </p:attrNameLst>
                                      </p:cBhvr>
                                      <p:to>
                                        <p:strVal val="visible"/>
                                      </p:to>
                                    </p:set>
                                    <p:animEffect transition="in" filter="wipe(left)">
                                      <p:cBhvr>
                                        <p:cTn id="134" dur="300"/>
                                        <p:tgtEl>
                                          <p:spTgt spid="34"/>
                                        </p:tgtEl>
                                      </p:cBhvr>
                                    </p:animEffect>
                                  </p:childTnLst>
                                </p:cTn>
                              </p:par>
                              <p:par>
                                <p:cTn id="135" presetID="22" presetClass="entr" presetSubtype="8" fill="hold" grpId="0" nodeType="withEffect">
                                  <p:stCondLst>
                                    <p:cond delay="0"/>
                                  </p:stCondLst>
                                  <p:childTnLst>
                                    <p:set>
                                      <p:cBhvr>
                                        <p:cTn id="136" dur="1" fill="hold">
                                          <p:stCondLst>
                                            <p:cond delay="0"/>
                                          </p:stCondLst>
                                        </p:cTn>
                                        <p:tgtEl>
                                          <p:spTgt spid="35"/>
                                        </p:tgtEl>
                                        <p:attrNameLst>
                                          <p:attrName>style.visibility</p:attrName>
                                        </p:attrNameLst>
                                      </p:cBhvr>
                                      <p:to>
                                        <p:strVal val="visible"/>
                                      </p:to>
                                    </p:set>
                                    <p:animEffect transition="in" filter="wipe(left)">
                                      <p:cBhvr>
                                        <p:cTn id="137" dur="300"/>
                                        <p:tgtEl>
                                          <p:spTgt spid="35"/>
                                        </p:tgtEl>
                                      </p:cBhvr>
                                    </p:animEffect>
                                  </p:childTnLst>
                                </p:cTn>
                              </p:par>
                              <p:par>
                                <p:cTn id="138" presetID="22" presetClass="entr" presetSubtype="8" fill="hold" grpId="0" nodeType="withEffect">
                                  <p:stCondLst>
                                    <p:cond delay="0"/>
                                  </p:stCondLst>
                                  <p:childTnLst>
                                    <p:set>
                                      <p:cBhvr>
                                        <p:cTn id="139" dur="1" fill="hold">
                                          <p:stCondLst>
                                            <p:cond delay="0"/>
                                          </p:stCondLst>
                                        </p:cTn>
                                        <p:tgtEl>
                                          <p:spTgt spid="36"/>
                                        </p:tgtEl>
                                        <p:attrNameLst>
                                          <p:attrName>style.visibility</p:attrName>
                                        </p:attrNameLst>
                                      </p:cBhvr>
                                      <p:to>
                                        <p:strVal val="visible"/>
                                      </p:to>
                                    </p:set>
                                    <p:animEffect transition="in" filter="wipe(left)">
                                      <p:cBhvr>
                                        <p:cTn id="140" dur="300"/>
                                        <p:tgtEl>
                                          <p:spTgt spid="36"/>
                                        </p:tgtEl>
                                      </p:cBhvr>
                                    </p:animEffect>
                                  </p:childTnLst>
                                </p:cTn>
                              </p:par>
                            </p:childTnLst>
                          </p:cTn>
                        </p:par>
                        <p:par>
                          <p:cTn id="141" fill="hold">
                            <p:stCondLst>
                              <p:cond delay="5650"/>
                            </p:stCondLst>
                            <p:childTnLst>
                              <p:par>
                                <p:cTn id="142" presetID="22" presetClass="entr" presetSubtype="8" fill="hold" grpId="0" nodeType="afterEffect">
                                  <p:stCondLst>
                                    <p:cond delay="0"/>
                                  </p:stCondLst>
                                  <p:childTnLst>
                                    <p:set>
                                      <p:cBhvr>
                                        <p:cTn id="143" dur="1" fill="hold">
                                          <p:stCondLst>
                                            <p:cond delay="0"/>
                                          </p:stCondLst>
                                        </p:cTn>
                                        <p:tgtEl>
                                          <p:spTgt spid="37"/>
                                        </p:tgtEl>
                                        <p:attrNameLst>
                                          <p:attrName>style.visibility</p:attrName>
                                        </p:attrNameLst>
                                      </p:cBhvr>
                                      <p:to>
                                        <p:strVal val="visible"/>
                                      </p:to>
                                    </p:set>
                                    <p:animEffect transition="in" filter="wipe(left)">
                                      <p:cBhvr>
                                        <p:cTn id="144" dur="300"/>
                                        <p:tgtEl>
                                          <p:spTgt spid="37"/>
                                        </p:tgtEl>
                                      </p:cBhvr>
                                    </p:animEffect>
                                  </p:childTnLst>
                                </p:cTn>
                              </p:par>
                              <p:par>
                                <p:cTn id="145" presetID="22" presetClass="entr" presetSubtype="8" fill="hold" grpId="0" nodeType="withEffect">
                                  <p:stCondLst>
                                    <p:cond delay="0"/>
                                  </p:stCondLst>
                                  <p:childTnLst>
                                    <p:set>
                                      <p:cBhvr>
                                        <p:cTn id="146" dur="1" fill="hold">
                                          <p:stCondLst>
                                            <p:cond delay="0"/>
                                          </p:stCondLst>
                                        </p:cTn>
                                        <p:tgtEl>
                                          <p:spTgt spid="38"/>
                                        </p:tgtEl>
                                        <p:attrNameLst>
                                          <p:attrName>style.visibility</p:attrName>
                                        </p:attrNameLst>
                                      </p:cBhvr>
                                      <p:to>
                                        <p:strVal val="visible"/>
                                      </p:to>
                                    </p:set>
                                    <p:animEffect transition="in" filter="wipe(left)">
                                      <p:cBhvr>
                                        <p:cTn id="147" dur="300"/>
                                        <p:tgtEl>
                                          <p:spTgt spid="38"/>
                                        </p:tgtEl>
                                      </p:cBhvr>
                                    </p:animEffect>
                                  </p:childTnLst>
                                </p:cTn>
                              </p:par>
                              <p:par>
                                <p:cTn id="148" presetID="22" presetClass="entr" presetSubtype="8" fill="hold" grpId="0" nodeType="with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wipe(left)">
                                      <p:cBhvr>
                                        <p:cTn id="150" dur="300"/>
                                        <p:tgtEl>
                                          <p:spTgt spid="39"/>
                                        </p:tgtEl>
                                      </p:cBhvr>
                                    </p:animEffect>
                                  </p:childTnLst>
                                </p:cTn>
                              </p:par>
                            </p:childTnLst>
                          </p:cTn>
                        </p:par>
                        <p:par>
                          <p:cTn id="151" fill="hold">
                            <p:stCondLst>
                              <p:cond delay="5950"/>
                            </p:stCondLst>
                            <p:childTnLst>
                              <p:par>
                                <p:cTn id="152" presetID="22" presetClass="entr" presetSubtype="8"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wipe(left)">
                                      <p:cBhvr>
                                        <p:cTn id="154" dur="300"/>
                                        <p:tgtEl>
                                          <p:spTgt spid="40"/>
                                        </p:tgtEl>
                                      </p:cBhvr>
                                    </p:animEffect>
                                  </p:childTnLst>
                                </p:cTn>
                              </p:par>
                              <p:par>
                                <p:cTn id="155" presetID="22" presetClass="entr" presetSubtype="8" fill="hold" grpId="0" nodeType="withEffect">
                                  <p:stCondLst>
                                    <p:cond delay="0"/>
                                  </p:stCondLst>
                                  <p:childTnLst>
                                    <p:set>
                                      <p:cBhvr>
                                        <p:cTn id="156" dur="1" fill="hold">
                                          <p:stCondLst>
                                            <p:cond delay="0"/>
                                          </p:stCondLst>
                                        </p:cTn>
                                        <p:tgtEl>
                                          <p:spTgt spid="41"/>
                                        </p:tgtEl>
                                        <p:attrNameLst>
                                          <p:attrName>style.visibility</p:attrName>
                                        </p:attrNameLst>
                                      </p:cBhvr>
                                      <p:to>
                                        <p:strVal val="visible"/>
                                      </p:to>
                                    </p:set>
                                    <p:animEffect transition="in" filter="wipe(left)">
                                      <p:cBhvr>
                                        <p:cTn id="157" dur="300"/>
                                        <p:tgtEl>
                                          <p:spTgt spid="4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42"/>
                                        </p:tgtEl>
                                        <p:attrNameLst>
                                          <p:attrName>style.visibility</p:attrName>
                                        </p:attrNameLst>
                                      </p:cBhvr>
                                      <p:to>
                                        <p:strVal val="visible"/>
                                      </p:to>
                                    </p:set>
                                    <p:animEffect transition="in" filter="fade">
                                      <p:cBhvr>
                                        <p:cTn id="160"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18" grpId="0" animBg="1"/>
      <p:bldP spid="19" grpId="0"/>
      <p:bldP spid="9" grpId="0" animBg="1"/>
      <p:bldP spid="11" grpId="0"/>
      <p:bldP spid="20" grpId="0" animBg="1"/>
      <p:bldP spid="21" grpId="0"/>
      <p:bldP spid="12" grpId="0" animBg="1"/>
      <p:bldP spid="14" grpId="0"/>
      <p:bldP spid="22" grpId="0" animBg="1"/>
      <p:bldP spid="23" grpId="0"/>
      <p:bldP spid="15" grpId="0" animBg="1"/>
      <p:bldP spid="17" grpId="0"/>
      <p:bldP spid="24" grpId="0"/>
      <p:bldP spid="25" grpId="0" animBg="1"/>
      <p:bldP spid="26" grpId="0"/>
      <p:bldP spid="27" grpId="0"/>
      <p:bldP spid="28" grpId="0" animBg="1"/>
      <p:bldP spid="29" grpId="0"/>
      <p:bldP spid="30" grpId="0" animBg="1"/>
      <p:bldP spid="31" grpId="0" animBg="1"/>
      <p:bldP spid="32" grpId="0"/>
      <p:bldP spid="33" grpId="0" animBg="1"/>
      <p:bldP spid="34" grpId="0" animBg="1"/>
      <p:bldP spid="35" grpId="0"/>
      <p:bldP spid="36" grpId="0" animBg="1"/>
      <p:bldP spid="37" grpId="0" animBg="1"/>
      <p:bldP spid="38" grpId="0"/>
      <p:bldP spid="39" grpId="0" animBg="1"/>
      <p:bldP spid="40" grpId="0" animBg="1"/>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OUR ASK</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No new network. Just proof that ours is usable</a:t>
            </a:r>
            <a:endParaRPr lang="en-US" sz="3200" dirty="0"/>
          </a:p>
        </p:txBody>
      </p:sp>
      <p:sp>
        <p:nvSpPr>
          <p:cNvPr id="6" name="tl0"/>
          <p:cNvSpPr/>
          <p:nvPr/>
        </p:nvSpPr>
        <p:spPr>
          <a:xfrm>
            <a:off x="548640" y="2103120"/>
            <a:ext cx="2670048" cy="2011680"/>
          </a:xfrm>
          <a:prstGeom prst="roundRect">
            <a:avLst>
              <a:gd name="adj" fmla="val 5455"/>
            </a:avLst>
          </a:prstGeom>
          <a:solidFill>
            <a:srgbClr val="1C2447"/>
          </a:solidFill>
          <a:ln w="15875">
            <a:solidFill>
              <a:srgbClr val="F5A623"/>
            </a:solidFill>
            <a:prstDash val="solid"/>
          </a:ln>
        </p:spPr>
      </p:sp>
      <p:pic>
        <p:nvPicPr>
          <p:cNvPr id="7" name="tlI0" descr="preencoded.png">    </p:cNvPr>
          <p:cNvPicPr>
            <a:picLocks noChangeAspect="1"/>
          </p:cNvPicPr>
          <p:nvPr/>
        </p:nvPicPr>
        <p:blipFill>
          <a:blip r:embed="rId2"/>
          <a:stretch>
            <a:fillRect/>
          </a:stretch>
        </p:blipFill>
        <p:spPr>
          <a:xfrm>
            <a:off x="749808" y="2286000"/>
            <a:ext cx="347472" cy="347472"/>
          </a:xfrm>
          <a:prstGeom prst="rect">
            <a:avLst/>
          </a:prstGeom>
        </p:spPr>
      </p:pic>
      <p:sp>
        <p:nvSpPr>
          <p:cNvPr id="8" name="tlT0"/>
          <p:cNvSpPr txBox="1"/>
          <p:nvPr/>
        </p:nvSpPr>
        <p:spPr>
          <a:xfrm>
            <a:off x="749808" y="2743200"/>
            <a:ext cx="2331720" cy="1325880"/>
          </a:xfrm>
          <a:prstGeom prst="rect">
            <a:avLst/>
          </a:prstGeom>
          <a:noFill/>
          <a:ln/>
        </p:spPr>
        <p:txBody>
          <a:bodyPr wrap="square" lIns="0" tIns="0" rIns="0" bIns="0" rtlCol="0" anchor="t"/>
          <a:lstStyle/>
          <a:p>
            <a:pPr indent="0" marL="0">
              <a:spcAft>
                <a:spcPts val="300"/>
              </a:spcAft>
              <a:buNone/>
            </a:pPr>
            <a:r>
              <a:rPr lang="en-US" sz="1050" b="1" spc="200" kern="0" dirty="0">
                <a:solidFill>
                  <a:srgbClr val="98A2C0"/>
                </a:solidFill>
                <a:latin typeface="Calibri" pitchFamily="34" charset="0"/>
                <a:ea typeface="Calibri" pitchFamily="34" charset="-122"/>
                <a:cs typeface="Calibri" pitchFamily="34" charset="-120"/>
              </a:rPr>
              <a:t>DAYS 0–30</a:t>
            </a:r>
            <a:endParaRPr lang="en-US" sz="1050" dirty="0"/>
          </a:p>
          <a:p>
            <a:pPr indent="0" marL="0">
              <a:spcAft>
                <a:spcPts val="300"/>
              </a:spcAft>
              <a:buNone/>
            </a:pPr>
            <a:r>
              <a:rPr lang="en-US" sz="1800" b="1" dirty="0">
                <a:solidFill>
                  <a:srgbClr val="FFFFFF"/>
                </a:solidFill>
                <a:latin typeface="Cambria" pitchFamily="34" charset="0"/>
                <a:ea typeface="Cambria" pitchFamily="34" charset="-122"/>
                <a:cs typeface="Cambria" pitchFamily="34" charset="-120"/>
              </a:rPr>
              <a:t>Coverage audit</a:t>
            </a:r>
            <a:endParaRPr lang="en-US" sz="1050" dirty="0"/>
          </a:p>
          <a:p>
            <a:pPr indent="0" marL="0">
              <a:spcAft>
                <a:spcPts val="300"/>
              </a:spcAft>
              <a:buNone/>
            </a:pPr>
            <a:r>
              <a:rPr lang="en-US" sz="1300" dirty="0">
                <a:solidFill>
                  <a:srgbClr val="B9C2D8"/>
                </a:solidFill>
                <a:latin typeface="Calibri" pitchFamily="34" charset="0"/>
                <a:ea typeface="Calibri" pitchFamily="34" charset="-122"/>
                <a:cs typeface="Calibri" pitchFamily="34" charset="-120"/>
              </a:rPr>
              <a:t>Usable links in every 1 km cell; how often Jio logs them</a:t>
            </a:r>
            <a:endParaRPr lang="en-US" sz="1050" dirty="0"/>
          </a:p>
        </p:txBody>
      </p:sp>
      <p:sp>
        <p:nvSpPr>
          <p:cNvPr id="9" name="tlA0"/>
          <p:cNvSpPr/>
          <p:nvPr/>
        </p:nvSpPr>
        <p:spPr>
          <a:xfrm>
            <a:off x="3218688" y="3108960"/>
            <a:ext cx="137160" cy="914"/>
          </a:xfrm>
          <a:prstGeom prst="line">
            <a:avLst/>
          </a:prstGeom>
          <a:noFill/>
          <a:ln w="19050">
            <a:solidFill>
              <a:srgbClr val="5A6690"/>
            </a:solidFill>
            <a:prstDash val="solid"/>
            <a:tailEnd type="triangle"/>
          </a:ln>
        </p:spPr>
      </p:sp>
      <p:sp>
        <p:nvSpPr>
          <p:cNvPr id="10" name="tl1"/>
          <p:cNvSpPr/>
          <p:nvPr/>
        </p:nvSpPr>
        <p:spPr>
          <a:xfrm>
            <a:off x="3355848" y="2103120"/>
            <a:ext cx="2670048" cy="2011680"/>
          </a:xfrm>
          <a:prstGeom prst="roundRect">
            <a:avLst>
              <a:gd name="adj" fmla="val 5455"/>
            </a:avLst>
          </a:prstGeom>
          <a:solidFill>
            <a:srgbClr val="141B36"/>
          </a:solidFill>
          <a:ln w="9525">
            <a:solidFill>
              <a:srgbClr val="2A3357"/>
            </a:solidFill>
            <a:prstDash val="solid"/>
          </a:ln>
        </p:spPr>
      </p:sp>
      <p:pic>
        <p:nvPicPr>
          <p:cNvPr id="11" name="tlI1" descr="preencoded.png">    </p:cNvPr>
          <p:cNvPicPr>
            <a:picLocks noChangeAspect="1"/>
          </p:cNvPicPr>
          <p:nvPr/>
        </p:nvPicPr>
        <p:blipFill>
          <a:blip r:embed="rId3"/>
          <a:stretch>
            <a:fillRect/>
          </a:stretch>
        </p:blipFill>
        <p:spPr>
          <a:xfrm>
            <a:off x="3557016" y="2286000"/>
            <a:ext cx="347472" cy="347472"/>
          </a:xfrm>
          <a:prstGeom prst="rect">
            <a:avLst/>
          </a:prstGeom>
        </p:spPr>
      </p:pic>
      <p:sp>
        <p:nvSpPr>
          <p:cNvPr id="12" name="tlT1"/>
          <p:cNvSpPr txBox="1"/>
          <p:nvPr/>
        </p:nvSpPr>
        <p:spPr>
          <a:xfrm>
            <a:off x="3557016" y="2743200"/>
            <a:ext cx="2331720" cy="1325880"/>
          </a:xfrm>
          <a:prstGeom prst="rect">
            <a:avLst/>
          </a:prstGeom>
          <a:noFill/>
          <a:ln/>
        </p:spPr>
        <p:txBody>
          <a:bodyPr wrap="square" lIns="0" tIns="0" rIns="0" bIns="0" rtlCol="0" anchor="t"/>
          <a:lstStyle/>
          <a:p>
            <a:pPr indent="0" marL="0">
              <a:spcAft>
                <a:spcPts val="300"/>
              </a:spcAft>
              <a:buNone/>
            </a:pPr>
            <a:r>
              <a:rPr lang="en-US" sz="1050" b="1" spc="200" kern="0" dirty="0">
                <a:solidFill>
                  <a:srgbClr val="98A2C0"/>
                </a:solidFill>
                <a:latin typeface="Calibri" pitchFamily="34" charset="0"/>
                <a:ea typeface="Calibri" pitchFamily="34" charset="-122"/>
                <a:cs typeface="Calibri" pitchFamily="34" charset="-120"/>
              </a:rPr>
              <a:t>DAYS 31–60</a:t>
            </a:r>
            <a:endParaRPr lang="en-US" sz="1050" dirty="0"/>
          </a:p>
          <a:p>
            <a:pPr indent="0" marL="0">
              <a:spcAft>
                <a:spcPts val="300"/>
              </a:spcAft>
              <a:buNone/>
            </a:pPr>
            <a:r>
              <a:rPr lang="en-US" sz="1800" b="1" dirty="0">
                <a:solidFill>
                  <a:srgbClr val="FFFFFF"/>
                </a:solidFill>
                <a:latin typeface="Cambria" pitchFamily="34" charset="0"/>
                <a:ea typeface="Cambria" pitchFamily="34" charset="-122"/>
                <a:cs typeface="Cambria" pitchFamily="34" charset="-120"/>
              </a:rPr>
              <a:t>Accuracy</a:t>
            </a:r>
            <a:endParaRPr lang="en-US" sz="1050" dirty="0"/>
          </a:p>
          <a:p>
            <a:pPr indent="0" marL="0">
              <a:spcAft>
                <a:spcPts val="300"/>
              </a:spcAft>
              <a:buNone/>
            </a:pPr>
            <a:r>
              <a:rPr lang="en-US" sz="1300" dirty="0">
                <a:solidFill>
                  <a:srgbClr val="B9C2D8"/>
                </a:solidFill>
                <a:latin typeface="Calibri" pitchFamily="34" charset="0"/>
                <a:ea typeface="Calibri" pitchFamily="34" charset="-122"/>
                <a:cs typeface="Calibri" pitchFamily="34" charset="-120"/>
              </a:rPr>
              <a:t>Rain against IMD gauges and radar</a:t>
            </a:r>
            <a:endParaRPr lang="en-US" sz="1050" dirty="0"/>
          </a:p>
        </p:txBody>
      </p:sp>
      <p:sp>
        <p:nvSpPr>
          <p:cNvPr id="13" name="tlA1"/>
          <p:cNvSpPr/>
          <p:nvPr/>
        </p:nvSpPr>
        <p:spPr>
          <a:xfrm>
            <a:off x="6025896" y="3108960"/>
            <a:ext cx="137160" cy="914"/>
          </a:xfrm>
          <a:prstGeom prst="line">
            <a:avLst/>
          </a:prstGeom>
          <a:noFill/>
          <a:ln w="19050">
            <a:solidFill>
              <a:srgbClr val="5A6690"/>
            </a:solidFill>
            <a:prstDash val="solid"/>
            <a:tailEnd type="triangle"/>
          </a:ln>
        </p:spPr>
      </p:sp>
      <p:sp>
        <p:nvSpPr>
          <p:cNvPr id="14" name="tl2"/>
          <p:cNvSpPr/>
          <p:nvPr/>
        </p:nvSpPr>
        <p:spPr>
          <a:xfrm>
            <a:off x="6163056" y="2103120"/>
            <a:ext cx="2670048" cy="2011680"/>
          </a:xfrm>
          <a:prstGeom prst="roundRect">
            <a:avLst>
              <a:gd name="adj" fmla="val 5455"/>
            </a:avLst>
          </a:prstGeom>
          <a:solidFill>
            <a:srgbClr val="141B36"/>
          </a:solidFill>
          <a:ln w="9525">
            <a:solidFill>
              <a:srgbClr val="2A3357"/>
            </a:solidFill>
            <a:prstDash val="solid"/>
          </a:ln>
        </p:spPr>
      </p:sp>
      <p:pic>
        <p:nvPicPr>
          <p:cNvPr id="15" name="tlI2" descr="preencoded.png">    </p:cNvPr>
          <p:cNvPicPr>
            <a:picLocks noChangeAspect="1"/>
          </p:cNvPicPr>
          <p:nvPr/>
        </p:nvPicPr>
        <p:blipFill>
          <a:blip r:embed="rId4"/>
          <a:stretch>
            <a:fillRect/>
          </a:stretch>
        </p:blipFill>
        <p:spPr>
          <a:xfrm>
            <a:off x="6364224" y="2286000"/>
            <a:ext cx="347472" cy="347472"/>
          </a:xfrm>
          <a:prstGeom prst="rect">
            <a:avLst/>
          </a:prstGeom>
        </p:spPr>
      </p:pic>
      <p:sp>
        <p:nvSpPr>
          <p:cNvPr id="16" name="tlT2"/>
          <p:cNvSpPr txBox="1"/>
          <p:nvPr/>
        </p:nvSpPr>
        <p:spPr>
          <a:xfrm>
            <a:off x="6364224" y="2743200"/>
            <a:ext cx="2331720" cy="1325880"/>
          </a:xfrm>
          <a:prstGeom prst="rect">
            <a:avLst/>
          </a:prstGeom>
          <a:noFill/>
          <a:ln/>
        </p:spPr>
        <p:txBody>
          <a:bodyPr wrap="square" lIns="0" tIns="0" rIns="0" bIns="0" rtlCol="0" anchor="t"/>
          <a:lstStyle/>
          <a:p>
            <a:pPr indent="0" marL="0">
              <a:spcAft>
                <a:spcPts val="300"/>
              </a:spcAft>
              <a:buNone/>
            </a:pPr>
            <a:r>
              <a:rPr lang="en-US" sz="1050" b="1" spc="200" kern="0" dirty="0">
                <a:solidFill>
                  <a:srgbClr val="98A2C0"/>
                </a:solidFill>
                <a:latin typeface="Calibri" pitchFamily="34" charset="0"/>
                <a:ea typeface="Calibri" pitchFamily="34" charset="-122"/>
                <a:cs typeface="Calibri" pitchFamily="34" charset="-120"/>
              </a:rPr>
              <a:t>DAYS 61–90</a:t>
            </a:r>
            <a:endParaRPr lang="en-US" sz="1050" dirty="0"/>
          </a:p>
          <a:p>
            <a:pPr indent="0" marL="0">
              <a:spcAft>
                <a:spcPts val="300"/>
              </a:spcAft>
              <a:buNone/>
            </a:pPr>
            <a:r>
              <a:rPr lang="en-US" sz="1800" b="1" dirty="0">
                <a:solidFill>
                  <a:srgbClr val="FFFFFF"/>
                </a:solidFill>
                <a:latin typeface="Cambria" pitchFamily="34" charset="0"/>
                <a:ea typeface="Cambria" pitchFamily="34" charset="-122"/>
                <a:cs typeface="Cambria" pitchFamily="34" charset="-120"/>
              </a:rPr>
              <a:t>Triggers and payouts</a:t>
            </a:r>
            <a:endParaRPr lang="en-US" sz="1050" dirty="0"/>
          </a:p>
          <a:p>
            <a:pPr indent="0" marL="0">
              <a:spcAft>
                <a:spcPts val="300"/>
              </a:spcAft>
              <a:buNone/>
            </a:pPr>
            <a:r>
              <a:rPr lang="en-US" sz="1300" dirty="0">
                <a:solidFill>
                  <a:srgbClr val="B9C2D8"/>
                </a:solidFill>
                <a:latin typeface="Calibri" pitchFamily="34" charset="0"/>
                <a:ea typeface="Calibri" pitchFamily="34" charset="-122"/>
                <a:cs typeface="Calibri" pitchFamily="34" charset="-120"/>
              </a:rPr>
              <a:t>Simulated payouts for real riders; false triggers</a:t>
            </a:r>
            <a:endParaRPr lang="en-US" sz="1050" dirty="0"/>
          </a:p>
        </p:txBody>
      </p:sp>
      <p:sp>
        <p:nvSpPr>
          <p:cNvPr id="17" name="tlA2"/>
          <p:cNvSpPr/>
          <p:nvPr/>
        </p:nvSpPr>
        <p:spPr>
          <a:xfrm>
            <a:off x="8833104" y="3108960"/>
            <a:ext cx="137160" cy="914"/>
          </a:xfrm>
          <a:prstGeom prst="line">
            <a:avLst/>
          </a:prstGeom>
          <a:noFill/>
          <a:ln w="19050">
            <a:solidFill>
              <a:srgbClr val="5A6690"/>
            </a:solidFill>
            <a:prstDash val="solid"/>
            <a:tailEnd type="triangle"/>
          </a:ln>
        </p:spPr>
      </p:sp>
      <p:sp>
        <p:nvSpPr>
          <p:cNvPr id="18" name="tl3"/>
          <p:cNvSpPr/>
          <p:nvPr/>
        </p:nvSpPr>
        <p:spPr>
          <a:xfrm>
            <a:off x="8970264" y="2103120"/>
            <a:ext cx="2670048" cy="2011680"/>
          </a:xfrm>
          <a:prstGeom prst="roundRect">
            <a:avLst>
              <a:gd name="adj" fmla="val 5455"/>
            </a:avLst>
          </a:prstGeom>
          <a:solidFill>
            <a:srgbClr val="141B36"/>
          </a:solidFill>
          <a:ln w="9525">
            <a:solidFill>
              <a:srgbClr val="2A3357"/>
            </a:solidFill>
            <a:prstDash val="solid"/>
          </a:ln>
        </p:spPr>
      </p:sp>
      <p:pic>
        <p:nvPicPr>
          <p:cNvPr id="19" name="tlI3" descr="preencoded.png">    </p:cNvPr>
          <p:cNvPicPr>
            <a:picLocks noChangeAspect="1"/>
          </p:cNvPicPr>
          <p:nvPr/>
        </p:nvPicPr>
        <p:blipFill>
          <a:blip r:embed="rId5"/>
          <a:stretch>
            <a:fillRect/>
          </a:stretch>
        </p:blipFill>
        <p:spPr>
          <a:xfrm>
            <a:off x="9171432" y="2286000"/>
            <a:ext cx="347472" cy="347472"/>
          </a:xfrm>
          <a:prstGeom prst="rect">
            <a:avLst/>
          </a:prstGeom>
        </p:spPr>
      </p:pic>
      <p:sp>
        <p:nvSpPr>
          <p:cNvPr id="20" name="tlT3"/>
          <p:cNvSpPr txBox="1"/>
          <p:nvPr/>
        </p:nvSpPr>
        <p:spPr>
          <a:xfrm>
            <a:off x="9171432" y="2743200"/>
            <a:ext cx="2331720" cy="1325880"/>
          </a:xfrm>
          <a:prstGeom prst="rect">
            <a:avLst/>
          </a:prstGeom>
          <a:noFill/>
          <a:ln/>
        </p:spPr>
        <p:txBody>
          <a:bodyPr wrap="square" lIns="0" tIns="0" rIns="0" bIns="0" rtlCol="0" anchor="t"/>
          <a:lstStyle/>
          <a:p>
            <a:pPr indent="0" marL="0">
              <a:spcAft>
                <a:spcPts val="300"/>
              </a:spcAft>
              <a:buNone/>
            </a:pPr>
            <a:r>
              <a:rPr lang="en-US" sz="1050" b="1" spc="200" kern="0" dirty="0">
                <a:solidFill>
                  <a:srgbClr val="98A2C0"/>
                </a:solidFill>
                <a:latin typeface="Calibri" pitchFamily="34" charset="0"/>
                <a:ea typeface="Calibri" pitchFamily="34" charset="-122"/>
                <a:cs typeface="Calibri" pitchFamily="34" charset="-120"/>
              </a:rPr>
              <a:t>DAY 90</a:t>
            </a:r>
            <a:endParaRPr lang="en-US" sz="1050" dirty="0"/>
          </a:p>
          <a:p>
            <a:pPr indent="0" marL="0">
              <a:spcAft>
                <a:spcPts val="300"/>
              </a:spcAft>
              <a:buNone/>
            </a:pPr>
            <a:r>
              <a:rPr lang="en-US" sz="1800" b="1" dirty="0">
                <a:solidFill>
                  <a:srgbClr val="FFFFFF"/>
                </a:solidFill>
                <a:latin typeface="Cambria" pitchFamily="34" charset="0"/>
                <a:ea typeface="Cambria" pitchFamily="34" charset="-122"/>
                <a:cs typeface="Cambria" pitchFamily="34" charset="-120"/>
              </a:rPr>
              <a:t>Go / no-go</a:t>
            </a:r>
            <a:endParaRPr lang="en-US" sz="1050" dirty="0"/>
          </a:p>
          <a:p>
            <a:pPr indent="0" marL="0">
              <a:spcAft>
                <a:spcPts val="300"/>
              </a:spcAft>
              <a:buNone/>
            </a:pPr>
            <a:r>
              <a:rPr lang="en-US" sz="1300" dirty="0">
                <a:solidFill>
                  <a:srgbClr val="B9C2D8"/>
                </a:solidFill>
                <a:latin typeface="Calibri" pitchFamily="34" charset="0"/>
                <a:ea typeface="Calibri" pitchFamily="34" charset="-122"/>
                <a:cs typeface="Calibri" pitchFamily="34" charset="-120"/>
              </a:rPr>
              <a:t>Enough coverage? ≥80% caught? &lt;15% false? &lt;6 h?</a:t>
            </a:r>
            <a:endParaRPr lang="en-US" sz="1050" dirty="0"/>
          </a:p>
        </p:txBody>
      </p:sp>
      <p:sp>
        <p:nvSpPr>
          <p:cNvPr id="21" name="askBox"/>
          <p:cNvSpPr/>
          <p:nvPr/>
        </p:nvSpPr>
        <p:spPr>
          <a:xfrm>
            <a:off x="548640" y="4389120"/>
            <a:ext cx="11091672" cy="1645920"/>
          </a:xfrm>
          <a:prstGeom prst="roundRect">
            <a:avLst>
              <a:gd name="adj" fmla="val 6667"/>
            </a:avLst>
          </a:prstGeom>
          <a:solidFill>
            <a:srgbClr val="F5A623"/>
          </a:solidFill>
          <a:ln w="12700">
            <a:solidFill>
              <a:srgbClr val="F5A623"/>
            </a:solidFill>
            <a:prstDash val="solid"/>
          </a:ln>
        </p:spPr>
      </p:sp>
      <p:sp>
        <p:nvSpPr>
          <p:cNvPr id="22" name="askT"/>
          <p:cNvSpPr txBox="1"/>
          <p:nvPr/>
        </p:nvSpPr>
        <p:spPr>
          <a:xfrm>
            <a:off x="868680" y="4553712"/>
            <a:ext cx="6400800" cy="1554480"/>
          </a:xfrm>
          <a:prstGeom prst="rect">
            <a:avLst/>
          </a:prstGeom>
          <a:noFill/>
          <a:ln/>
        </p:spPr>
        <p:txBody>
          <a:bodyPr wrap="square" lIns="0" tIns="0" rIns="0" bIns="0" rtlCol="0" anchor="t"/>
          <a:lstStyle/>
          <a:p>
            <a:pPr indent="0" marL="0">
              <a:spcAft>
                <a:spcPts val="400"/>
              </a:spcAft>
              <a:buNone/>
            </a:pPr>
            <a:r>
              <a:rPr lang="en-US" sz="1900" b="1" dirty="0">
                <a:solidFill>
                  <a:srgbClr val="1A1200"/>
                </a:solidFill>
                <a:latin typeface="Cambria" pitchFamily="34" charset="0"/>
                <a:ea typeface="Cambria" pitchFamily="34" charset="-122"/>
                <a:cs typeface="Cambria" pitchFamily="34" charset="-120"/>
              </a:rPr>
              <a:t>What we need from Jio</a:t>
            </a:r>
            <a:endParaRPr lang="en-US" sz="1500" dirty="0"/>
          </a:p>
          <a:p>
            <a:pPr marL="342900" indent="-342900">
              <a:spcAft>
                <a:spcPts val="400"/>
              </a:spcAft>
              <a:buSzPct val="100000"/>
              <a:buChar char="•"/>
            </a:pPr>
            <a:r>
              <a:rPr lang="en-US" sz="1500" dirty="0">
                <a:solidFill>
                  <a:srgbClr val="1A1200"/>
                </a:solidFill>
                <a:latin typeface="Calibri" pitchFamily="34" charset="0"/>
                <a:ea typeface="Calibri" pitchFamily="34" charset="-122"/>
                <a:cs typeface="Calibri" pitchFamily="34" charset="-120"/>
              </a:rPr>
              <a:t>Microwave-link telemetry for Mumbai, for 90 days</a:t>
            </a:r>
            <a:endParaRPr lang="en-US" sz="1500" dirty="0"/>
          </a:p>
          <a:p>
            <a:pPr marL="342900" indent="-342900">
              <a:spcAft>
                <a:spcPts val="400"/>
              </a:spcAft>
              <a:buSzPct val="100000"/>
              <a:buChar char="•"/>
            </a:pPr>
            <a:r>
              <a:rPr lang="en-US" sz="1500" dirty="0">
                <a:solidFill>
                  <a:srgbClr val="1A1200"/>
                </a:solidFill>
                <a:latin typeface="Calibri" pitchFamily="34" charset="0"/>
                <a:ea typeface="Calibri" pitchFamily="34" charset="-122"/>
                <a:cs typeface="Calibri" pitchFamily="34" charset="-120"/>
              </a:rPr>
              <a:t>JioMart’s own delivery riders as the first customer</a:t>
            </a:r>
            <a:endParaRPr lang="en-US" sz="1500" dirty="0"/>
          </a:p>
          <a:p>
            <a:pPr marL="342900" indent="-342900">
              <a:spcAft>
                <a:spcPts val="400"/>
              </a:spcAft>
              <a:buSzPct val="100000"/>
              <a:buChar char="•"/>
            </a:pPr>
            <a:r>
              <a:rPr lang="en-US" sz="1500" dirty="0">
                <a:solidFill>
                  <a:srgbClr val="1A1200"/>
                </a:solidFill>
                <a:latin typeface="Calibri" pitchFamily="34" charset="0"/>
                <a:ea typeface="Calibri" pitchFamily="34" charset="-122"/>
                <a:cs typeface="Calibri" pitchFamily="34" charset="-120"/>
              </a:rPr>
              <a:t>One JFS insurance partner and a five-person team</a:t>
            </a:r>
            <a:endParaRPr lang="en-US" sz="1500" dirty="0"/>
          </a:p>
        </p:txBody>
      </p:sp>
      <p:sp>
        <p:nvSpPr>
          <p:cNvPr id="23" name="costT"/>
          <p:cNvSpPr txBox="1"/>
          <p:nvPr/>
        </p:nvSpPr>
        <p:spPr>
          <a:xfrm>
            <a:off x="7589520" y="4553712"/>
            <a:ext cx="3840480" cy="1554480"/>
          </a:xfrm>
          <a:prstGeom prst="rect">
            <a:avLst/>
          </a:prstGeom>
          <a:noFill/>
          <a:ln/>
        </p:spPr>
        <p:txBody>
          <a:bodyPr wrap="square" lIns="0" tIns="0" rIns="0" bIns="0" rtlCol="0" anchor="t"/>
          <a:lstStyle/>
          <a:p>
            <a:pPr indent="0" marL="0">
              <a:buNone/>
            </a:pPr>
            <a:r>
              <a:rPr lang="en-US" sz="1900" b="1" dirty="0">
                <a:solidFill>
                  <a:srgbClr val="1A1200"/>
                </a:solidFill>
                <a:latin typeface="Cambria" pitchFamily="34" charset="0"/>
                <a:ea typeface="Cambria" pitchFamily="34" charset="-122"/>
                <a:cs typeface="Cambria" pitchFamily="34" charset="-120"/>
              </a:rPr>
              <a:t>What it costs</a:t>
            </a:r>
            <a:endParaRPr lang="en-US" sz="1900" dirty="0"/>
          </a:p>
          <a:p>
            <a:pPr indent="0" marL="0">
              <a:buNone/>
            </a:pPr>
            <a:r>
              <a:rPr lang="en-US" sz="1500" dirty="0">
                <a:solidFill>
                  <a:srgbClr val="1A1200"/>
                </a:solidFill>
                <a:latin typeface="Calibri" pitchFamily="34" charset="0"/>
                <a:ea typeface="Calibri" pitchFamily="34" charset="-122"/>
                <a:cs typeface="Calibri" pitchFamily="34" charset="-120"/>
              </a:rPr>
              <a:t>Under ₹1 crore. No new hardware. No money moves in shadow mode.</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0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p:cTn id="16" dur="450" fill="hold"/>
                                        <p:tgtEl>
                                          <p:spTgt spid="6"/>
                                        </p:tgtEl>
                                        <p:attrNameLst>
                                          <p:attrName>ppt_x</p:attrName>
                                        </p:attrNameLst>
                                      </p:cBhvr>
                                      <p:tavLst>
                                        <p:tav tm="0">
                                          <p:val>
                                            <p:strVal val="#ppt_x"/>
                                          </p:val>
                                        </p:tav>
                                        <p:tav tm="100000">
                                          <p:val>
                                            <p:strVal val="#ppt_x"/>
                                          </p:val>
                                        </p:tav>
                                      </p:tavLst>
                                    </p:anim>
                                    <p:anim calcmode="lin" valueType="num">
                                      <p:cBhvr>
                                        <p:cTn id="17" dur="45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anim calcmode="lin" valueType="num">
                                      <p:cBhvr>
                                        <p:cTn id="21" dur="450" fill="hold"/>
                                        <p:tgtEl>
                                          <p:spTgt spid="7"/>
                                        </p:tgtEl>
                                        <p:attrNameLst>
                                          <p:attrName>ppt_x</p:attrName>
                                        </p:attrNameLst>
                                      </p:cBhvr>
                                      <p:tavLst>
                                        <p:tav tm="0">
                                          <p:val>
                                            <p:strVal val="#ppt_x"/>
                                          </p:val>
                                        </p:tav>
                                        <p:tav tm="100000">
                                          <p:val>
                                            <p:strVal val="#ppt_x"/>
                                          </p:val>
                                        </p:tav>
                                      </p:tavLst>
                                    </p:anim>
                                    <p:anim calcmode="lin" valueType="num">
                                      <p:cBhvr>
                                        <p:cTn id="22" dur="45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anim calcmode="lin" valueType="num">
                                      <p:cBhvr>
                                        <p:cTn id="26" dur="450" fill="hold"/>
                                        <p:tgtEl>
                                          <p:spTgt spid="8"/>
                                        </p:tgtEl>
                                        <p:attrNameLst>
                                          <p:attrName>ppt_x</p:attrName>
                                        </p:attrNameLst>
                                      </p:cBhvr>
                                      <p:tavLst>
                                        <p:tav tm="0">
                                          <p:val>
                                            <p:strVal val="#ppt_x"/>
                                          </p:val>
                                        </p:tav>
                                        <p:tav tm="100000">
                                          <p:val>
                                            <p:strVal val="#ppt_x"/>
                                          </p:val>
                                        </p:tav>
                                      </p:tavLst>
                                    </p:anim>
                                    <p:anim calcmode="lin" valueType="num">
                                      <p:cBhvr>
                                        <p:cTn id="27" dur="45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50"/>
                                        <p:tgtEl>
                                          <p:spTgt spid="9"/>
                                        </p:tgtEl>
                                      </p:cBhvr>
                                    </p:animEffect>
                                    <p:anim calcmode="lin" valueType="num">
                                      <p:cBhvr>
                                        <p:cTn id="31" dur="450" fill="hold"/>
                                        <p:tgtEl>
                                          <p:spTgt spid="9"/>
                                        </p:tgtEl>
                                        <p:attrNameLst>
                                          <p:attrName>ppt_x</p:attrName>
                                        </p:attrNameLst>
                                      </p:cBhvr>
                                      <p:tavLst>
                                        <p:tav tm="0">
                                          <p:val>
                                            <p:strVal val="#ppt_x"/>
                                          </p:val>
                                        </p:tav>
                                        <p:tav tm="100000">
                                          <p:val>
                                            <p:strVal val="#ppt_x"/>
                                          </p:val>
                                        </p:tav>
                                      </p:tavLst>
                                    </p:anim>
                                    <p:anim calcmode="lin" valueType="num">
                                      <p:cBhvr>
                                        <p:cTn id="32" dur="45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240"/>
                            </p:stCondLst>
                            <p:childTnLst>
                              <p:par>
                                <p:cTn id="34" presetID="42" presetClass="entr" presetSubtype="0" fill="hold" grpId="0" nodeType="afterEffect">
                                  <p:stCondLst>
                                    <p:cond delay="4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50"/>
                                        <p:tgtEl>
                                          <p:spTgt spid="10"/>
                                        </p:tgtEl>
                                      </p:cBhvr>
                                    </p:animEffect>
                                    <p:anim calcmode="lin" valueType="num">
                                      <p:cBhvr>
                                        <p:cTn id="37" dur="450" fill="hold"/>
                                        <p:tgtEl>
                                          <p:spTgt spid="10"/>
                                        </p:tgtEl>
                                        <p:attrNameLst>
                                          <p:attrName>ppt_x</p:attrName>
                                        </p:attrNameLst>
                                      </p:cBhvr>
                                      <p:tavLst>
                                        <p:tav tm="0">
                                          <p:val>
                                            <p:strVal val="#ppt_x"/>
                                          </p:val>
                                        </p:tav>
                                        <p:tav tm="100000">
                                          <p:val>
                                            <p:strVal val="#ppt_x"/>
                                          </p:val>
                                        </p:tav>
                                      </p:tavLst>
                                    </p:anim>
                                    <p:anim calcmode="lin" valueType="num">
                                      <p:cBhvr>
                                        <p:cTn id="38" dur="45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50"/>
                                        <p:tgtEl>
                                          <p:spTgt spid="11"/>
                                        </p:tgtEl>
                                      </p:cBhvr>
                                    </p:animEffect>
                                    <p:anim calcmode="lin" valueType="num">
                                      <p:cBhvr>
                                        <p:cTn id="42" dur="450" fill="hold"/>
                                        <p:tgtEl>
                                          <p:spTgt spid="11"/>
                                        </p:tgtEl>
                                        <p:attrNameLst>
                                          <p:attrName>ppt_x</p:attrName>
                                        </p:attrNameLst>
                                      </p:cBhvr>
                                      <p:tavLst>
                                        <p:tav tm="0">
                                          <p:val>
                                            <p:strVal val="#ppt_x"/>
                                          </p:val>
                                        </p:tav>
                                        <p:tav tm="100000">
                                          <p:val>
                                            <p:strVal val="#ppt_x"/>
                                          </p:val>
                                        </p:tav>
                                      </p:tavLst>
                                    </p:anim>
                                    <p:anim calcmode="lin" valueType="num">
                                      <p:cBhvr>
                                        <p:cTn id="43" dur="45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50"/>
                                        <p:tgtEl>
                                          <p:spTgt spid="12"/>
                                        </p:tgtEl>
                                      </p:cBhvr>
                                    </p:animEffect>
                                    <p:anim calcmode="lin" valueType="num">
                                      <p:cBhvr>
                                        <p:cTn id="47" dur="450" fill="hold"/>
                                        <p:tgtEl>
                                          <p:spTgt spid="12"/>
                                        </p:tgtEl>
                                        <p:attrNameLst>
                                          <p:attrName>ppt_x</p:attrName>
                                        </p:attrNameLst>
                                      </p:cBhvr>
                                      <p:tavLst>
                                        <p:tav tm="0">
                                          <p:val>
                                            <p:strVal val="#ppt_x"/>
                                          </p:val>
                                        </p:tav>
                                        <p:tav tm="100000">
                                          <p:val>
                                            <p:strVal val="#ppt_x"/>
                                          </p:val>
                                        </p:tav>
                                      </p:tavLst>
                                    </p:anim>
                                    <p:anim calcmode="lin" valueType="num">
                                      <p:cBhvr>
                                        <p:cTn id="48" dur="45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50"/>
                                        <p:tgtEl>
                                          <p:spTgt spid="13"/>
                                        </p:tgtEl>
                                      </p:cBhvr>
                                    </p:animEffect>
                                    <p:anim calcmode="lin" valueType="num">
                                      <p:cBhvr>
                                        <p:cTn id="52" dur="450" fill="hold"/>
                                        <p:tgtEl>
                                          <p:spTgt spid="13"/>
                                        </p:tgtEl>
                                        <p:attrNameLst>
                                          <p:attrName>ppt_x</p:attrName>
                                        </p:attrNameLst>
                                      </p:cBhvr>
                                      <p:tavLst>
                                        <p:tav tm="0">
                                          <p:val>
                                            <p:strVal val="#ppt_x"/>
                                          </p:val>
                                        </p:tav>
                                        <p:tav tm="100000">
                                          <p:val>
                                            <p:strVal val="#ppt_x"/>
                                          </p:val>
                                        </p:tav>
                                      </p:tavLst>
                                    </p:anim>
                                    <p:anim calcmode="lin" valueType="num">
                                      <p:cBhvr>
                                        <p:cTn id="53" dur="45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1730"/>
                            </p:stCondLst>
                            <p:childTnLst>
                              <p:par>
                                <p:cTn id="55" presetID="42" presetClass="entr" presetSubtype="0" fill="hold" grpId="0" nodeType="afterEffect">
                                  <p:stCondLst>
                                    <p:cond delay="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50"/>
                                        <p:tgtEl>
                                          <p:spTgt spid="14"/>
                                        </p:tgtEl>
                                      </p:cBhvr>
                                    </p:animEffect>
                                    <p:anim calcmode="lin" valueType="num">
                                      <p:cBhvr>
                                        <p:cTn id="58" dur="450" fill="hold"/>
                                        <p:tgtEl>
                                          <p:spTgt spid="14"/>
                                        </p:tgtEl>
                                        <p:attrNameLst>
                                          <p:attrName>ppt_x</p:attrName>
                                        </p:attrNameLst>
                                      </p:cBhvr>
                                      <p:tavLst>
                                        <p:tav tm="0">
                                          <p:val>
                                            <p:strVal val="#ppt_x"/>
                                          </p:val>
                                        </p:tav>
                                        <p:tav tm="100000">
                                          <p:val>
                                            <p:strVal val="#ppt_x"/>
                                          </p:val>
                                        </p:tav>
                                      </p:tavLst>
                                    </p:anim>
                                    <p:anim calcmode="lin" valueType="num">
                                      <p:cBhvr>
                                        <p:cTn id="59" dur="45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50"/>
                                        <p:tgtEl>
                                          <p:spTgt spid="15"/>
                                        </p:tgtEl>
                                      </p:cBhvr>
                                    </p:animEffect>
                                    <p:anim calcmode="lin" valueType="num">
                                      <p:cBhvr>
                                        <p:cTn id="63" dur="450" fill="hold"/>
                                        <p:tgtEl>
                                          <p:spTgt spid="15"/>
                                        </p:tgtEl>
                                        <p:attrNameLst>
                                          <p:attrName>ppt_x</p:attrName>
                                        </p:attrNameLst>
                                      </p:cBhvr>
                                      <p:tavLst>
                                        <p:tav tm="0">
                                          <p:val>
                                            <p:strVal val="#ppt_x"/>
                                          </p:val>
                                        </p:tav>
                                        <p:tav tm="100000">
                                          <p:val>
                                            <p:strVal val="#ppt_x"/>
                                          </p:val>
                                        </p:tav>
                                      </p:tavLst>
                                    </p:anim>
                                    <p:anim calcmode="lin" valueType="num">
                                      <p:cBhvr>
                                        <p:cTn id="64" dur="45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50"/>
                                        <p:tgtEl>
                                          <p:spTgt spid="16"/>
                                        </p:tgtEl>
                                      </p:cBhvr>
                                    </p:animEffect>
                                    <p:anim calcmode="lin" valueType="num">
                                      <p:cBhvr>
                                        <p:cTn id="68" dur="450" fill="hold"/>
                                        <p:tgtEl>
                                          <p:spTgt spid="16"/>
                                        </p:tgtEl>
                                        <p:attrNameLst>
                                          <p:attrName>ppt_x</p:attrName>
                                        </p:attrNameLst>
                                      </p:cBhvr>
                                      <p:tavLst>
                                        <p:tav tm="0">
                                          <p:val>
                                            <p:strVal val="#ppt_x"/>
                                          </p:val>
                                        </p:tav>
                                        <p:tav tm="100000">
                                          <p:val>
                                            <p:strVal val="#ppt_x"/>
                                          </p:val>
                                        </p:tav>
                                      </p:tavLst>
                                    </p:anim>
                                    <p:anim calcmode="lin" valueType="num">
                                      <p:cBhvr>
                                        <p:cTn id="69" dur="45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50"/>
                                        <p:tgtEl>
                                          <p:spTgt spid="17"/>
                                        </p:tgtEl>
                                      </p:cBhvr>
                                    </p:animEffect>
                                    <p:anim calcmode="lin" valueType="num">
                                      <p:cBhvr>
                                        <p:cTn id="73" dur="450" fill="hold"/>
                                        <p:tgtEl>
                                          <p:spTgt spid="17"/>
                                        </p:tgtEl>
                                        <p:attrNameLst>
                                          <p:attrName>ppt_x</p:attrName>
                                        </p:attrNameLst>
                                      </p:cBhvr>
                                      <p:tavLst>
                                        <p:tav tm="0">
                                          <p:val>
                                            <p:strVal val="#ppt_x"/>
                                          </p:val>
                                        </p:tav>
                                        <p:tav tm="100000">
                                          <p:val>
                                            <p:strVal val="#ppt_x"/>
                                          </p:val>
                                        </p:tav>
                                      </p:tavLst>
                                    </p:anim>
                                    <p:anim calcmode="lin" valueType="num">
                                      <p:cBhvr>
                                        <p:cTn id="74" dur="450" fill="hold"/>
                                        <p:tgtEl>
                                          <p:spTgt spid="17"/>
                                        </p:tgtEl>
                                        <p:attrNameLst>
                                          <p:attrName>ppt_y</p:attrName>
                                        </p:attrNameLst>
                                      </p:cBhvr>
                                      <p:tavLst>
                                        <p:tav tm="0">
                                          <p:val>
                                            <p:strVal val="#ppt_y+.06"/>
                                          </p:val>
                                        </p:tav>
                                        <p:tav tm="100000">
                                          <p:val>
                                            <p:strVal val="#ppt_y"/>
                                          </p:val>
                                        </p:tav>
                                      </p:tavLst>
                                    </p:anim>
                                  </p:childTnLst>
                                </p:cTn>
                              </p:par>
                            </p:childTnLst>
                          </p:cTn>
                        </p:par>
                        <p:par>
                          <p:cTn id="75" fill="hold">
                            <p:stCondLst>
                              <p:cond delay="2220"/>
                            </p:stCondLst>
                            <p:childTnLst>
                              <p:par>
                                <p:cTn id="76" presetID="42" presetClass="entr" presetSubtype="0" fill="hold" grpId="0" nodeType="afterEffect">
                                  <p:stCondLst>
                                    <p:cond delay="4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50"/>
                                        <p:tgtEl>
                                          <p:spTgt spid="18"/>
                                        </p:tgtEl>
                                      </p:cBhvr>
                                    </p:animEffect>
                                    <p:anim calcmode="lin" valueType="num">
                                      <p:cBhvr>
                                        <p:cTn id="79" dur="450" fill="hold"/>
                                        <p:tgtEl>
                                          <p:spTgt spid="18"/>
                                        </p:tgtEl>
                                        <p:attrNameLst>
                                          <p:attrName>ppt_x</p:attrName>
                                        </p:attrNameLst>
                                      </p:cBhvr>
                                      <p:tavLst>
                                        <p:tav tm="0">
                                          <p:val>
                                            <p:strVal val="#ppt_x"/>
                                          </p:val>
                                        </p:tav>
                                        <p:tav tm="100000">
                                          <p:val>
                                            <p:strVal val="#ppt_x"/>
                                          </p:val>
                                        </p:tav>
                                      </p:tavLst>
                                    </p:anim>
                                    <p:anim calcmode="lin" valueType="num">
                                      <p:cBhvr>
                                        <p:cTn id="80" dur="450" fill="hold"/>
                                        <p:tgtEl>
                                          <p:spTgt spid="18"/>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450"/>
                                        <p:tgtEl>
                                          <p:spTgt spid="19"/>
                                        </p:tgtEl>
                                      </p:cBhvr>
                                    </p:animEffect>
                                    <p:anim calcmode="lin" valueType="num">
                                      <p:cBhvr>
                                        <p:cTn id="84" dur="450" fill="hold"/>
                                        <p:tgtEl>
                                          <p:spTgt spid="19"/>
                                        </p:tgtEl>
                                        <p:attrNameLst>
                                          <p:attrName>ppt_x</p:attrName>
                                        </p:attrNameLst>
                                      </p:cBhvr>
                                      <p:tavLst>
                                        <p:tav tm="0">
                                          <p:val>
                                            <p:strVal val="#ppt_x"/>
                                          </p:val>
                                        </p:tav>
                                        <p:tav tm="100000">
                                          <p:val>
                                            <p:strVal val="#ppt_x"/>
                                          </p:val>
                                        </p:tav>
                                      </p:tavLst>
                                    </p:anim>
                                    <p:anim calcmode="lin" valueType="num">
                                      <p:cBhvr>
                                        <p:cTn id="85" dur="450" fill="hold"/>
                                        <p:tgtEl>
                                          <p:spTgt spid="19"/>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450"/>
                                        <p:tgtEl>
                                          <p:spTgt spid="20"/>
                                        </p:tgtEl>
                                      </p:cBhvr>
                                    </p:animEffect>
                                    <p:anim calcmode="lin" valueType="num">
                                      <p:cBhvr>
                                        <p:cTn id="89" dur="450" fill="hold"/>
                                        <p:tgtEl>
                                          <p:spTgt spid="20"/>
                                        </p:tgtEl>
                                        <p:attrNameLst>
                                          <p:attrName>ppt_x</p:attrName>
                                        </p:attrNameLst>
                                      </p:cBhvr>
                                      <p:tavLst>
                                        <p:tav tm="0">
                                          <p:val>
                                            <p:strVal val="#ppt_x"/>
                                          </p:val>
                                        </p:tav>
                                        <p:tav tm="100000">
                                          <p:val>
                                            <p:strVal val="#ppt_x"/>
                                          </p:val>
                                        </p:tav>
                                      </p:tavLst>
                                    </p:anim>
                                    <p:anim calcmode="lin" valueType="num">
                                      <p:cBhvr>
                                        <p:cTn id="90" dur="450" fill="hold"/>
                                        <p:tgtEl>
                                          <p:spTgt spid="20"/>
                                        </p:tgtEl>
                                        <p:attrNameLst>
                                          <p:attrName>ppt_y</p:attrName>
                                        </p:attrNameLst>
                                      </p:cBhvr>
                                      <p:tavLst>
                                        <p:tav tm="0">
                                          <p:val>
                                            <p:strVal val="#ppt_y+.06"/>
                                          </p:val>
                                        </p:tav>
                                        <p:tav tm="100000">
                                          <p:val>
                                            <p:strVal val="#ppt_y"/>
                                          </p:val>
                                        </p:tav>
                                      </p:tavLst>
                                    </p:anim>
                                  </p:childTnLst>
                                </p:cTn>
                              </p:par>
                            </p:childTnLst>
                          </p:cTn>
                        </p:par>
                        <p:par>
                          <p:cTn id="91" fill="hold">
                            <p:stCondLst>
                              <p:cond delay="2710"/>
                            </p:stCondLst>
                            <p:childTnLst>
                              <p:par>
                                <p:cTn id="92" presetID="53" presetClass="entr" presetSubtype="16" fill="hold" grpId="0" nodeType="afterEffect">
                                  <p:stCondLst>
                                    <p:cond delay="150"/>
                                  </p:stCondLst>
                                  <p:childTnLst>
                                    <p:set>
                                      <p:cBhvr>
                                        <p:cTn id="93" dur="1" fill="hold">
                                          <p:stCondLst>
                                            <p:cond delay="0"/>
                                          </p:stCondLst>
                                        </p:cTn>
                                        <p:tgtEl>
                                          <p:spTgt spid="21"/>
                                        </p:tgtEl>
                                        <p:attrNameLst>
                                          <p:attrName>style.visibility</p:attrName>
                                        </p:attrNameLst>
                                      </p:cBhvr>
                                      <p:to>
                                        <p:strVal val="visible"/>
                                      </p:to>
                                    </p:set>
                                    <p:anim calcmode="lin" valueType="num">
                                      <p:cBhvr>
                                        <p:cTn id="94" dur="650" fill="hold"/>
                                        <p:tgtEl>
                                          <p:spTgt spid="21"/>
                                        </p:tgtEl>
                                        <p:attrNameLst>
                                          <p:attrName>ppt_w</p:attrName>
                                        </p:attrNameLst>
                                      </p:cBhvr>
                                      <p:tavLst>
                                        <p:tav tm="0">
                                          <p:val>
                                            <p:strVal val="#ppt_w*.82"/>
                                          </p:val>
                                        </p:tav>
                                        <p:tav tm="100000">
                                          <p:val>
                                            <p:strVal val="#ppt_w"/>
                                          </p:val>
                                        </p:tav>
                                      </p:tavLst>
                                    </p:anim>
                                    <p:anim calcmode="lin" valueType="num">
                                      <p:cBhvr>
                                        <p:cTn id="95" dur="650" fill="hold"/>
                                        <p:tgtEl>
                                          <p:spTgt spid="21"/>
                                        </p:tgtEl>
                                        <p:attrNameLst>
                                          <p:attrName>ppt_h</p:attrName>
                                        </p:attrNameLst>
                                      </p:cBhvr>
                                      <p:tavLst>
                                        <p:tav tm="0">
                                          <p:val>
                                            <p:strVal val="#ppt_h*.82"/>
                                          </p:val>
                                        </p:tav>
                                        <p:tav tm="100000">
                                          <p:val>
                                            <p:strVal val="#ppt_h"/>
                                          </p:val>
                                        </p:tav>
                                      </p:tavLst>
                                    </p:anim>
                                    <p:animEffect transition="in" filter="fade">
                                      <p:cBhvr>
                                        <p:cTn id="96" dur="650"/>
                                        <p:tgtEl>
                                          <p:spTgt spid="21"/>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 calcmode="lin" valueType="num">
                                      <p:cBhvr>
                                        <p:cTn id="99" dur="650" fill="hold"/>
                                        <p:tgtEl>
                                          <p:spTgt spid="22"/>
                                        </p:tgtEl>
                                        <p:attrNameLst>
                                          <p:attrName>ppt_w</p:attrName>
                                        </p:attrNameLst>
                                      </p:cBhvr>
                                      <p:tavLst>
                                        <p:tav tm="0">
                                          <p:val>
                                            <p:strVal val="#ppt_w*.82"/>
                                          </p:val>
                                        </p:tav>
                                        <p:tav tm="100000">
                                          <p:val>
                                            <p:strVal val="#ppt_w"/>
                                          </p:val>
                                        </p:tav>
                                      </p:tavLst>
                                    </p:anim>
                                    <p:anim calcmode="lin" valueType="num">
                                      <p:cBhvr>
                                        <p:cTn id="100" dur="650" fill="hold"/>
                                        <p:tgtEl>
                                          <p:spTgt spid="22"/>
                                        </p:tgtEl>
                                        <p:attrNameLst>
                                          <p:attrName>ppt_h</p:attrName>
                                        </p:attrNameLst>
                                      </p:cBhvr>
                                      <p:tavLst>
                                        <p:tav tm="0">
                                          <p:val>
                                            <p:strVal val="#ppt_h*.82"/>
                                          </p:val>
                                        </p:tav>
                                        <p:tav tm="100000">
                                          <p:val>
                                            <p:strVal val="#ppt_h"/>
                                          </p:val>
                                        </p:tav>
                                      </p:tavLst>
                                    </p:anim>
                                    <p:animEffect transition="in" filter="fade">
                                      <p:cBhvr>
                                        <p:cTn id="101" dur="650"/>
                                        <p:tgtEl>
                                          <p:spTgt spid="22"/>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p:cTn id="104" dur="650" fill="hold"/>
                                        <p:tgtEl>
                                          <p:spTgt spid="23"/>
                                        </p:tgtEl>
                                        <p:attrNameLst>
                                          <p:attrName>ppt_w</p:attrName>
                                        </p:attrNameLst>
                                      </p:cBhvr>
                                      <p:tavLst>
                                        <p:tav tm="0">
                                          <p:val>
                                            <p:strVal val="#ppt_w*.82"/>
                                          </p:val>
                                        </p:tav>
                                        <p:tav tm="100000">
                                          <p:val>
                                            <p:strVal val="#ppt_w"/>
                                          </p:val>
                                        </p:tav>
                                      </p:tavLst>
                                    </p:anim>
                                    <p:anim calcmode="lin" valueType="num">
                                      <p:cBhvr>
                                        <p:cTn id="105" dur="650" fill="hold"/>
                                        <p:tgtEl>
                                          <p:spTgt spid="23"/>
                                        </p:tgtEl>
                                        <p:attrNameLst>
                                          <p:attrName>ppt_h</p:attrName>
                                        </p:attrNameLst>
                                      </p:cBhvr>
                                      <p:tavLst>
                                        <p:tav tm="0">
                                          <p:val>
                                            <p:strVal val="#ppt_h*.82"/>
                                          </p:val>
                                        </p:tav>
                                        <p:tav tm="100000">
                                          <p:val>
                                            <p:strVal val="#ppt_h"/>
                                          </p:val>
                                        </p:tav>
                                      </p:tavLst>
                                    </p:anim>
                                    <p:animEffect transition="in" filter="fade">
                                      <p:cBhvr>
                                        <p:cTn id="106" dur="6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animBg="1"/>
      <p:bldP spid="10" grpId="0" animBg="1"/>
      <p:bldP spid="12" grpId="0"/>
      <p:bldP spid="13" grpId="0" animBg="1"/>
      <p:bldP spid="14" grpId="0" animBg="1"/>
      <p:bldP spid="16" grpId="0"/>
      <p:bldP spid="17" grpId="0" animBg="1"/>
      <p:bldP spid="18" grpId="0" animBg="1"/>
      <p:bldP spid="20" grpId="0"/>
      <p:bldP spid="21" grpId="0" animBg="1"/>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hB0"/>
          <p:cNvSpPr/>
          <p:nvPr/>
        </p:nvSpPr>
        <p:spPr>
          <a:xfrm>
            <a:off x="548640" y="731520"/>
            <a:ext cx="2578608" cy="960120"/>
          </a:xfrm>
          <a:prstGeom prst="roundRect">
            <a:avLst>
              <a:gd name="adj" fmla="val 11429"/>
            </a:avLst>
          </a:prstGeom>
          <a:solidFill>
            <a:srgbClr val="2B2208"/>
          </a:solidFill>
          <a:ln w="9525">
            <a:solidFill>
              <a:srgbClr val="F5A623"/>
            </a:solidFill>
            <a:prstDash val="solid"/>
          </a:ln>
        </p:spPr>
      </p:sp>
      <p:sp>
        <p:nvSpPr>
          <p:cNvPr id="3" name="ph0"/>
          <p:cNvSpPr txBox="1"/>
          <p:nvPr/>
        </p:nvSpPr>
        <p:spPr>
          <a:xfrm>
            <a:off x="731520" y="804672"/>
            <a:ext cx="2286000" cy="841248"/>
          </a:xfrm>
          <a:prstGeom prst="rect">
            <a:avLst/>
          </a:prstGeom>
          <a:noFill/>
          <a:ln/>
        </p:spPr>
        <p:txBody>
          <a:bodyPr wrap="square" lIns="0" tIns="0" rIns="0" bIns="0" rtlCol="0" anchor="t"/>
          <a:lstStyle/>
          <a:p>
            <a:pPr indent="0" marL="0">
              <a:buNone/>
            </a:pPr>
            <a:r>
              <a:rPr lang="en-US" sz="2000" b="1" dirty="0">
                <a:solidFill>
                  <a:srgbClr val="F5A623"/>
                </a:solidFill>
                <a:latin typeface="Cambria" pitchFamily="34" charset="0"/>
                <a:ea typeface="Cambria" pitchFamily="34" charset="-122"/>
                <a:cs typeface="Cambria" pitchFamily="34" charset="-120"/>
              </a:rPr>
              <a:t>1</a:t>
            </a:r>
            <a:endParaRPr lang="en-US" sz="2000" dirty="0"/>
          </a:p>
          <a:p>
            <a:pPr indent="0" marL="0">
              <a:buNone/>
            </a:pPr>
            <a:r>
              <a:rPr lang="en-US" sz="1300" dirty="0">
                <a:solidFill>
                  <a:srgbClr val="EEF1F7"/>
                </a:solidFill>
                <a:latin typeface="Calibri" pitchFamily="34" charset="0"/>
                <a:ea typeface="Calibri" pitchFamily="34" charset="-122"/>
                <a:cs typeface="Calibri" pitchFamily="34" charset="-120"/>
              </a:rPr>
              <a:t>Mumbai rain + riders</a:t>
            </a:r>
            <a:endParaRPr lang="en-US" sz="2000" dirty="0"/>
          </a:p>
        </p:txBody>
      </p:sp>
      <p:sp>
        <p:nvSpPr>
          <p:cNvPr id="4" name="phA0"/>
          <p:cNvSpPr/>
          <p:nvPr/>
        </p:nvSpPr>
        <p:spPr>
          <a:xfrm>
            <a:off x="3127248" y="1207008"/>
            <a:ext cx="228600" cy="914"/>
          </a:xfrm>
          <a:prstGeom prst="line">
            <a:avLst/>
          </a:prstGeom>
          <a:noFill/>
          <a:ln w="19050">
            <a:solidFill>
              <a:srgbClr val="3A4570"/>
            </a:solidFill>
            <a:prstDash val="solid"/>
            <a:tailEnd type="triangle"/>
          </a:ln>
        </p:spPr>
      </p:sp>
      <p:sp>
        <p:nvSpPr>
          <p:cNvPr id="5" name="phB1"/>
          <p:cNvSpPr/>
          <p:nvPr/>
        </p:nvSpPr>
        <p:spPr>
          <a:xfrm>
            <a:off x="3355848" y="731520"/>
            <a:ext cx="2578608" cy="960120"/>
          </a:xfrm>
          <a:prstGeom prst="roundRect">
            <a:avLst>
              <a:gd name="adj" fmla="val 11429"/>
            </a:avLst>
          </a:prstGeom>
          <a:solidFill>
            <a:srgbClr val="10152A"/>
          </a:solidFill>
          <a:ln w="9525">
            <a:solidFill>
              <a:srgbClr val="232B4A"/>
            </a:solidFill>
            <a:prstDash val="solid"/>
          </a:ln>
        </p:spPr>
      </p:sp>
      <p:sp>
        <p:nvSpPr>
          <p:cNvPr id="6" name="ph1"/>
          <p:cNvSpPr txBox="1"/>
          <p:nvPr/>
        </p:nvSpPr>
        <p:spPr>
          <a:xfrm>
            <a:off x="3538728" y="804672"/>
            <a:ext cx="2286000" cy="841248"/>
          </a:xfrm>
          <a:prstGeom prst="rect">
            <a:avLst/>
          </a:prstGeom>
          <a:noFill/>
          <a:ln/>
        </p:spPr>
        <p:txBody>
          <a:bodyPr wrap="square" lIns="0" tIns="0" rIns="0" bIns="0" rtlCol="0" anchor="t"/>
          <a:lstStyle/>
          <a:p>
            <a:pPr indent="0" marL="0">
              <a:buNone/>
            </a:pPr>
            <a:r>
              <a:rPr lang="en-US" sz="2000" b="1" dirty="0">
                <a:solidFill>
                  <a:srgbClr val="8A95B8"/>
                </a:solidFill>
                <a:latin typeface="Cambria" pitchFamily="34" charset="0"/>
                <a:ea typeface="Cambria" pitchFamily="34" charset="-122"/>
                <a:cs typeface="Cambria" pitchFamily="34" charset="-120"/>
              </a:rPr>
              <a:t>2</a:t>
            </a:r>
            <a:endParaRPr lang="en-US" sz="2000" dirty="0"/>
          </a:p>
          <a:p>
            <a:pPr indent="0" marL="0">
              <a:buNone/>
            </a:pPr>
            <a:r>
              <a:rPr lang="en-US" sz="1300" dirty="0">
                <a:solidFill>
                  <a:srgbClr val="98A2C0"/>
                </a:solidFill>
                <a:latin typeface="Calibri" pitchFamily="34" charset="0"/>
                <a:ea typeface="Calibri" pitchFamily="34" charset="-122"/>
                <a:cs typeface="Calibri" pitchFamily="34" charset="-120"/>
              </a:rPr>
              <a:t>Real payouts, more cities and risks</a:t>
            </a:r>
            <a:endParaRPr lang="en-US" sz="2000" dirty="0"/>
          </a:p>
        </p:txBody>
      </p:sp>
      <p:sp>
        <p:nvSpPr>
          <p:cNvPr id="7" name="phA1"/>
          <p:cNvSpPr/>
          <p:nvPr/>
        </p:nvSpPr>
        <p:spPr>
          <a:xfrm>
            <a:off x="5934456" y="1207008"/>
            <a:ext cx="228600" cy="914"/>
          </a:xfrm>
          <a:prstGeom prst="line">
            <a:avLst/>
          </a:prstGeom>
          <a:noFill/>
          <a:ln w="19050">
            <a:solidFill>
              <a:srgbClr val="3A4570"/>
            </a:solidFill>
            <a:prstDash val="solid"/>
            <a:tailEnd type="triangle"/>
          </a:ln>
        </p:spPr>
      </p:sp>
      <p:sp>
        <p:nvSpPr>
          <p:cNvPr id="8" name="phB2"/>
          <p:cNvSpPr/>
          <p:nvPr/>
        </p:nvSpPr>
        <p:spPr>
          <a:xfrm>
            <a:off x="6163056" y="731520"/>
            <a:ext cx="2578608" cy="960120"/>
          </a:xfrm>
          <a:prstGeom prst="roundRect">
            <a:avLst>
              <a:gd name="adj" fmla="val 11429"/>
            </a:avLst>
          </a:prstGeom>
          <a:solidFill>
            <a:srgbClr val="10152A"/>
          </a:solidFill>
          <a:ln w="9525">
            <a:solidFill>
              <a:srgbClr val="232B4A"/>
            </a:solidFill>
            <a:prstDash val="solid"/>
          </a:ln>
        </p:spPr>
      </p:sp>
      <p:sp>
        <p:nvSpPr>
          <p:cNvPr id="9" name="ph2"/>
          <p:cNvSpPr txBox="1"/>
          <p:nvPr/>
        </p:nvSpPr>
        <p:spPr>
          <a:xfrm>
            <a:off x="6345936" y="804672"/>
            <a:ext cx="2286000" cy="841248"/>
          </a:xfrm>
          <a:prstGeom prst="rect">
            <a:avLst/>
          </a:prstGeom>
          <a:noFill/>
          <a:ln/>
        </p:spPr>
        <p:txBody>
          <a:bodyPr wrap="square" lIns="0" tIns="0" rIns="0" bIns="0" rtlCol="0" anchor="t"/>
          <a:lstStyle/>
          <a:p>
            <a:pPr indent="0" marL="0">
              <a:buNone/>
            </a:pPr>
            <a:r>
              <a:rPr lang="en-US" sz="2000" b="1" dirty="0">
                <a:solidFill>
                  <a:srgbClr val="8A95B8"/>
                </a:solidFill>
                <a:latin typeface="Cambria" pitchFamily="34" charset="0"/>
                <a:ea typeface="Cambria" pitchFamily="34" charset="-122"/>
                <a:cs typeface="Cambria" pitchFamily="34" charset="-120"/>
              </a:rPr>
              <a:t>3</a:t>
            </a:r>
            <a:endParaRPr lang="en-US" sz="2000" dirty="0"/>
          </a:p>
          <a:p>
            <a:pPr indent="0" marL="0">
              <a:buNone/>
            </a:pPr>
            <a:r>
              <a:rPr lang="en-US" sz="1300" dirty="0">
                <a:solidFill>
                  <a:srgbClr val="98A2C0"/>
                </a:solidFill>
                <a:latin typeface="Calibri" pitchFamily="34" charset="0"/>
                <a:ea typeface="Calibri" pitchFamily="34" charset="-122"/>
                <a:cs typeface="Calibri" pitchFamily="34" charset="-120"/>
              </a:rPr>
              <a:t>Kavach for everyone, at recharge</a:t>
            </a:r>
            <a:endParaRPr lang="en-US" sz="2000" dirty="0"/>
          </a:p>
        </p:txBody>
      </p:sp>
      <p:sp>
        <p:nvSpPr>
          <p:cNvPr id="10" name="phA2"/>
          <p:cNvSpPr/>
          <p:nvPr/>
        </p:nvSpPr>
        <p:spPr>
          <a:xfrm>
            <a:off x="8741664" y="1207008"/>
            <a:ext cx="228600" cy="914"/>
          </a:xfrm>
          <a:prstGeom prst="line">
            <a:avLst/>
          </a:prstGeom>
          <a:noFill/>
          <a:ln w="19050">
            <a:solidFill>
              <a:srgbClr val="3A4570"/>
            </a:solidFill>
            <a:prstDash val="solid"/>
            <a:tailEnd type="triangle"/>
          </a:ln>
        </p:spPr>
      </p:sp>
      <p:sp>
        <p:nvSpPr>
          <p:cNvPr id="11" name="phB3"/>
          <p:cNvSpPr/>
          <p:nvPr/>
        </p:nvSpPr>
        <p:spPr>
          <a:xfrm>
            <a:off x="8970264" y="731520"/>
            <a:ext cx="2578608" cy="960120"/>
          </a:xfrm>
          <a:prstGeom prst="roundRect">
            <a:avLst>
              <a:gd name="adj" fmla="val 11429"/>
            </a:avLst>
          </a:prstGeom>
          <a:solidFill>
            <a:srgbClr val="10152A"/>
          </a:solidFill>
          <a:ln w="9525">
            <a:solidFill>
              <a:srgbClr val="232B4A"/>
            </a:solidFill>
            <a:prstDash val="solid"/>
          </a:ln>
        </p:spPr>
      </p:sp>
      <p:sp>
        <p:nvSpPr>
          <p:cNvPr id="12" name="ph3"/>
          <p:cNvSpPr txBox="1"/>
          <p:nvPr/>
        </p:nvSpPr>
        <p:spPr>
          <a:xfrm>
            <a:off x="9153144" y="804672"/>
            <a:ext cx="2286000" cy="841248"/>
          </a:xfrm>
          <a:prstGeom prst="rect">
            <a:avLst/>
          </a:prstGeom>
          <a:noFill/>
          <a:ln/>
        </p:spPr>
        <p:txBody>
          <a:bodyPr wrap="square" lIns="0" tIns="0" rIns="0" bIns="0" rtlCol="0" anchor="t"/>
          <a:lstStyle/>
          <a:p>
            <a:pPr indent="0" marL="0">
              <a:buNone/>
            </a:pPr>
            <a:r>
              <a:rPr lang="en-US" sz="2000" b="1" dirty="0">
                <a:solidFill>
                  <a:srgbClr val="8A95B8"/>
                </a:solidFill>
                <a:latin typeface="Cambria" pitchFamily="34" charset="0"/>
                <a:ea typeface="Cambria" pitchFamily="34" charset="-122"/>
                <a:cs typeface="Cambria" pitchFamily="34" charset="-120"/>
              </a:rPr>
              <a:t>4</a:t>
            </a:r>
            <a:endParaRPr lang="en-US" sz="2000" dirty="0"/>
          </a:p>
          <a:p>
            <a:pPr indent="0" marL="0">
              <a:buNone/>
            </a:pPr>
            <a:r>
              <a:rPr lang="en-US" sz="1300" dirty="0">
                <a:solidFill>
                  <a:srgbClr val="98A2C0"/>
                </a:solidFill>
                <a:latin typeface="Calibri" pitchFamily="34" charset="0"/>
                <a:ea typeface="Calibri" pitchFamily="34" charset="-122"/>
                <a:cs typeface="Calibri" pitchFamily="34" charset="-120"/>
              </a:rPr>
              <a:t>National weather intelligence + API</a:t>
            </a:r>
            <a:endParaRPr lang="en-US" sz="2000" dirty="0"/>
          </a:p>
        </p:txBody>
      </p:sp>
      <p:sp>
        <p:nvSpPr>
          <p:cNvPr id="13" name="line1"/>
          <p:cNvSpPr txBox="1"/>
          <p:nvPr/>
        </p:nvSpPr>
        <p:spPr>
          <a:xfrm>
            <a:off x="548640" y="2514600"/>
            <a:ext cx="11091672" cy="548640"/>
          </a:xfrm>
          <a:prstGeom prst="rect">
            <a:avLst/>
          </a:prstGeom>
          <a:noFill/>
          <a:ln/>
        </p:spPr>
        <p:txBody>
          <a:bodyPr wrap="square" lIns="0" tIns="0" rIns="0" bIns="0" rtlCol="0" anchor="t"/>
          <a:lstStyle/>
          <a:p>
            <a:pPr algn="ctr" indent="0" marL="0">
              <a:buNone/>
            </a:pPr>
            <a:r>
              <a:rPr lang="en-US" sz="2600" dirty="0">
                <a:solidFill>
                  <a:srgbClr val="B9C2D8"/>
                </a:solidFill>
                <a:latin typeface="Cambria" pitchFamily="34" charset="0"/>
                <a:ea typeface="Cambria" pitchFamily="34" charset="-122"/>
                <a:cs typeface="Cambria" pitchFamily="34" charset="-120"/>
              </a:rPr>
              <a:t>We aren’t asking Jio to build another weather network.</a:t>
            </a:r>
            <a:endParaRPr lang="en-US" sz="2600" dirty="0"/>
          </a:p>
        </p:txBody>
      </p:sp>
      <p:sp>
        <p:nvSpPr>
          <p:cNvPr id="14" name="line2"/>
          <p:cNvSpPr txBox="1"/>
          <p:nvPr/>
        </p:nvSpPr>
        <p:spPr>
          <a:xfrm>
            <a:off x="548640" y="3108960"/>
            <a:ext cx="11091672" cy="548640"/>
          </a:xfrm>
          <a:prstGeom prst="rect">
            <a:avLst/>
          </a:prstGeom>
          <a:noFill/>
          <a:ln/>
        </p:spPr>
        <p:txBody>
          <a:bodyPr wrap="square" lIns="0" tIns="0" rIns="0" bIns="0" rtlCol="0" anchor="t"/>
          <a:lstStyle/>
          <a:p>
            <a:pPr algn="ctr" indent="0" marL="0">
              <a:buNone/>
            </a:pPr>
            <a:r>
              <a:rPr lang="en-US" sz="2600" b="1" dirty="0">
                <a:solidFill>
                  <a:srgbClr val="FFFFFF"/>
                </a:solidFill>
                <a:latin typeface="Cambria" pitchFamily="34" charset="0"/>
                <a:ea typeface="Cambria" pitchFamily="34" charset="-122"/>
                <a:cs typeface="Cambria" pitchFamily="34" charset="-120"/>
              </a:rPr>
              <a:t>We’re asking it to discover what its network can already tell us.</a:t>
            </a:r>
            <a:endParaRPr lang="en-US" sz="2600" dirty="0"/>
          </a:p>
        </p:txBody>
      </p:sp>
      <p:sp>
        <p:nvSpPr>
          <p:cNvPr id="15" name="!!brand"/>
          <p:cNvSpPr txBox="1"/>
          <p:nvPr/>
        </p:nvSpPr>
        <p:spPr>
          <a:xfrm>
            <a:off x="4023360" y="4343400"/>
            <a:ext cx="4142232" cy="777240"/>
          </a:xfrm>
          <a:prstGeom prst="rect">
            <a:avLst/>
          </a:prstGeom>
          <a:noFill/>
          <a:ln/>
        </p:spPr>
        <p:txBody>
          <a:bodyPr wrap="square" lIns="0" tIns="0" rIns="0" bIns="0" rtlCol="0" anchor="t"/>
          <a:lstStyle/>
          <a:p>
            <a:pPr algn="ctr" indent="0" marL="0">
              <a:buNone/>
            </a:pPr>
            <a:r>
              <a:rPr lang="en-US" sz="4000" b="1" dirty="0">
                <a:solidFill>
                  <a:srgbClr val="F5A623"/>
                </a:solidFill>
                <a:latin typeface="Cambria" pitchFamily="34" charset="0"/>
                <a:ea typeface="Cambria" pitchFamily="34" charset="-122"/>
                <a:cs typeface="Cambria" pitchFamily="34" charset="-120"/>
              </a:rPr>
              <a:t>JioMausam</a:t>
            </a:r>
            <a:endParaRPr lang="en-US" sz="4000" dirty="0"/>
          </a:p>
        </p:txBody>
      </p:sp>
      <p:sp>
        <p:nvSpPr>
          <p:cNvPr id="16" name="tag"/>
          <p:cNvSpPr txBox="1"/>
          <p:nvPr/>
        </p:nvSpPr>
        <p:spPr>
          <a:xfrm>
            <a:off x="548640" y="5166360"/>
            <a:ext cx="11091672" cy="365760"/>
          </a:xfrm>
          <a:prstGeom prst="rect">
            <a:avLst/>
          </a:prstGeom>
          <a:noFill/>
          <a:ln/>
        </p:spPr>
        <p:txBody>
          <a:bodyPr wrap="square" lIns="0" tIns="0" rIns="0" bIns="0" rtlCol="0" anchor="t"/>
          <a:lstStyle/>
          <a:p>
            <a:pPr algn="ctr" indent="0" marL="0">
              <a:buNone/>
            </a:pPr>
            <a:r>
              <a:rPr lang="en-US" sz="1500" dirty="0">
                <a:solidFill>
                  <a:srgbClr val="98A2C0"/>
                </a:solidFill>
                <a:latin typeface="Calibri" pitchFamily="34" charset="0"/>
                <a:ea typeface="Calibri" pitchFamily="34" charset="-122"/>
                <a:cs typeface="Calibri" pitchFamily="34" charset="-120"/>
              </a:rPr>
              <a:t>Turn the network into intelligence. Turn intelligence into protection.</a:t>
            </a:r>
            <a:endParaRPr lang="en-US" sz="15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5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8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00"/>
                                        <p:tgtEl>
                                          <p:spTgt spid="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00"/>
                                        <p:tgtEl>
                                          <p:spTgt spid="3"/>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par>
                          <p:cTn id="13" fill="hold">
                            <p:stCondLst>
                              <p:cond delay="480"/>
                            </p:stCondLst>
                            <p:childTnLst>
                              <p:par>
                                <p:cTn id="14" presetID="10" presetClass="entr" presetSubtype="0" fill="hold" grpId="0" nodeType="afterEffect">
                                  <p:stCondLst>
                                    <p:cond delay="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childTnLst>
                          </p:cTn>
                        </p:par>
                        <p:par>
                          <p:cTn id="23" fill="hold">
                            <p:stCondLst>
                              <p:cond delay="960"/>
                            </p:stCondLst>
                            <p:childTnLst>
                              <p:par>
                                <p:cTn id="24" presetID="10" presetClass="entr" presetSubtype="0" fill="hold" grpId="0" nodeType="afterEffect">
                                  <p:stCondLst>
                                    <p:cond delay="8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childTnLst>
                          </p:cTn>
                        </p:par>
                        <p:par>
                          <p:cTn id="33" fill="hold">
                            <p:stCondLst>
                              <p:cond delay="1440"/>
                            </p:stCondLst>
                            <p:childTnLst>
                              <p:par>
                                <p:cTn id="34" presetID="10" presetClass="entr" presetSubtype="0" fill="hold" grpId="0" nodeType="afterEffect">
                                  <p:stCondLst>
                                    <p:cond delay="8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4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00"/>
                                        <p:tgtEl>
                                          <p:spTgt spid="12"/>
                                        </p:tgtEl>
                                      </p:cBhvr>
                                    </p:animEffect>
                                  </p:childTnLst>
                                </p:cTn>
                              </p:par>
                            </p:childTnLst>
                          </p:cTn>
                        </p:par>
                        <p:par>
                          <p:cTn id="40" fill="hold">
                            <p:stCondLst>
                              <p:cond delay="1920"/>
                            </p:stCondLst>
                            <p:childTnLst>
                              <p:par>
                                <p:cTn id="41" presetID="10" presetClass="entr" presetSubtype="0" fill="hold" grpId="0" nodeType="afterEffect">
                                  <p:stCondLst>
                                    <p:cond delay="3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childTnLst>
                                </p:cTn>
                              </p:par>
                            </p:childTnLst>
                          </p:cTn>
                        </p:par>
                        <p:par>
                          <p:cTn id="44" fill="hold">
                            <p:stCondLst>
                              <p:cond delay="3220"/>
                            </p:stCondLst>
                            <p:childTnLst>
                              <p:par>
                                <p:cTn id="45" presetID="10" presetClass="entr" presetSubtype="0" fill="hold" grpId="0" nodeType="afterEffect">
                                  <p:stCondLst>
                                    <p:cond delay="30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childTnLst>
                                </p:cTn>
                              </p:par>
                            </p:childTnLst>
                          </p:cTn>
                        </p:par>
                        <p:par>
                          <p:cTn id="48" fill="hold">
                            <p:stCondLst>
                              <p:cond delay="4520"/>
                            </p:stCondLst>
                            <p:childTnLst>
                              <p:par>
                                <p:cTn id="49" presetID="53" presetClass="entr" presetSubtype="16" fill="hold" grpId="0" nodeType="afterEffect">
                                  <p:stCondLst>
                                    <p:cond delay="300"/>
                                  </p:stCondLst>
                                  <p:childTnLst>
                                    <p:set>
                                      <p:cBhvr>
                                        <p:cTn id="50" dur="1" fill="hold">
                                          <p:stCondLst>
                                            <p:cond delay="0"/>
                                          </p:stCondLst>
                                        </p:cTn>
                                        <p:tgtEl>
                                          <p:spTgt spid="15"/>
                                        </p:tgtEl>
                                        <p:attrNameLst>
                                          <p:attrName>style.visibility</p:attrName>
                                        </p:attrNameLst>
                                      </p:cBhvr>
                                      <p:to>
                                        <p:strVal val="visible"/>
                                      </p:to>
                                    </p:set>
                                    <p:anim calcmode="lin" valueType="num">
                                      <p:cBhvr>
                                        <p:cTn id="51" dur="800" fill="hold"/>
                                        <p:tgtEl>
                                          <p:spTgt spid="15"/>
                                        </p:tgtEl>
                                        <p:attrNameLst>
                                          <p:attrName>ppt_w</p:attrName>
                                        </p:attrNameLst>
                                      </p:cBhvr>
                                      <p:tavLst>
                                        <p:tav tm="0">
                                          <p:val>
                                            <p:strVal val="#ppt_w*.82"/>
                                          </p:val>
                                        </p:tav>
                                        <p:tav tm="100000">
                                          <p:val>
                                            <p:strVal val="#ppt_w"/>
                                          </p:val>
                                        </p:tav>
                                      </p:tavLst>
                                    </p:anim>
                                    <p:anim calcmode="lin" valueType="num">
                                      <p:cBhvr>
                                        <p:cTn id="52" dur="800" fill="hold"/>
                                        <p:tgtEl>
                                          <p:spTgt spid="15"/>
                                        </p:tgtEl>
                                        <p:attrNameLst>
                                          <p:attrName>ppt_h</p:attrName>
                                        </p:attrNameLst>
                                      </p:cBhvr>
                                      <p:tavLst>
                                        <p:tav tm="0">
                                          <p:val>
                                            <p:strVal val="#ppt_h*.82"/>
                                          </p:val>
                                        </p:tav>
                                        <p:tav tm="100000">
                                          <p:val>
                                            <p:strVal val="#ppt_h"/>
                                          </p:val>
                                        </p:tav>
                                      </p:tavLst>
                                    </p:anim>
                                    <p:animEffect transition="in" filter="fade">
                                      <p:cBhvr>
                                        <p:cTn id="53" dur="800"/>
                                        <p:tgtEl>
                                          <p:spTgt spid="15"/>
                                        </p:tgtEl>
                                      </p:cBhvr>
                                    </p:animEffect>
                                  </p:childTnLst>
                                </p:cTn>
                              </p:par>
                              <p:par>
                                <p:cTn id="54" presetID="10" presetClass="entr" presetSubtype="0" fill="hold" grpId="0" nodeType="withEffect">
                                  <p:stCondLst>
                                    <p:cond delay="30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7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p:bldP spid="7" grpId="0" animBg="1"/>
      <p:bldP spid="8" grpId="0" animBg="1"/>
      <p:bldP spid="9" grpId="0"/>
      <p:bldP spid="10" grpId="0" animBg="1"/>
      <p:bldP spid="11" grpId="0" animBg="1"/>
      <p:bldP spid="12" grpId="0"/>
      <p:bldP spid="13" grpId="0"/>
      <p:bldP spid="14" grpId="0"/>
      <p:bldP spid="15" grpId="0"/>
      <p:bldP spid="16" grpId="0"/>
    </p:bldLst>
  </p:timing>
</p:sld>
</file>

<file path=ppt/theme/theme1.xml><?xml version="1.0" encoding="utf-8"?>
<a:theme xmlns:a="http://schemas.openxmlformats.org/drawingml/2006/main" name="JioMausam Night">
  <a:themeElements>
    <a:clrScheme name="JioMausam Night">
      <a:dk1>
        <a:srgbClr val="0B1020"/>
      </a:dk1>
      <a:lt1>
        <a:srgbClr val="FFFFFF"/>
      </a:lt1>
      <a:dk2>
        <a:srgbClr val="1A2246"/>
      </a:dk2>
      <a:lt2>
        <a:srgbClr val="EEF1F7"/>
      </a:lt2>
      <a:accent1>
        <a:srgbClr val="F5A623"/>
      </a:accent1>
      <a:accent2>
        <a:srgbClr val="3987E5"/>
      </a:accent2>
      <a:accent3>
        <a:srgbClr val="D95926"/>
      </a:accent3>
      <a:accent4>
        <a:srgbClr val="1BAF7A"/>
      </a:accent4>
      <a:accent5>
        <a:srgbClr val="E5484D"/>
      </a:accent5>
      <a:accent6>
        <a:srgbClr val="98A2C0"/>
      </a:accent6>
      <a:hlink>
        <a:srgbClr val="F5A623"/>
      </a:hlink>
      <a:folHlink>
        <a:srgbClr val="C98500"/>
      </a:folHlink>
    </a:clrScheme>
    <a:fontScheme name="JioMausam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JioMausam · Reliance T.U.P XII · Elimination round</dc:title>
  <dc:subject>PptxGenJS Presentation</dc:subject>
  <dc:creator>JioMausam team</dc:creator>
  <cp:lastModifiedBy>JioMausam team</cp:lastModifiedBy>
  <cp:revision>1</cp:revision>
  <dcterms:created xsi:type="dcterms:W3CDTF">2026-10-03T12:53:21Z</dcterms:created>
  <dcterms:modified xsi:type="dcterms:W3CDTF">2026-10-03T12:53:21Z</dcterms:modified>
</cp:coreProperties>
</file>