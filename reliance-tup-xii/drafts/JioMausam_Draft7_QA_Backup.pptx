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limination round" id="{b5e7e58b-185f-831d-f96b-4ec7eaaa55c0}">
          <p14:sldIdLst>
            <p14:sldId id="256"/>
            <p14:sldId id="257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NIGHT-image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IGH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rand"/>
          <p:cNvSpPr txBox="1"/>
          <p:nvPr/>
        </p:nvSpPr>
        <p:spPr>
          <a:xfrm>
            <a:off x="548640" y="292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E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JioMausam</a:t>
            </a:r>
            <a:endParaRPr lang="en-US" sz="1500" dirty="0"/>
          </a:p>
        </p:txBody>
      </p:sp>
      <p:pic>
        <p:nvPicPr>
          <p:cNvPr id="3" name="!!tower" descr="/tmp/claude-0/-home-user-market-research-agent/e8d4caac-b1a5-588e-8461-832ca62ca567/scratchpad/deck2/assets/to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201168"/>
            <a:ext cx="384048" cy="548640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BACKUP · PROOF HIERARCHY</a:t>
            </a:r>
            <a:endParaRPr lang="en-US" sz="110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11704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What’s proven, what we checked, what isn’t</a:t>
            </a:r>
            <a:endParaRPr lang="en-US" sz="3200" dirty="0"/>
          </a:p>
        </p:txBody>
      </p:sp>
      <p:sp>
        <p:nvSpPr>
          <p:cNvPr id="6" name="col0"/>
          <p:cNvSpPr/>
          <p:nvPr/>
        </p:nvSpPr>
        <p:spPr>
          <a:xfrm>
            <a:off x="548640" y="2057400"/>
            <a:ext cx="3545738" cy="3566160"/>
          </a:xfrm>
          <a:prstGeom prst="roundRect">
            <a:avLst>
              <a:gd name="adj" fmla="val 3095"/>
            </a:avLst>
          </a:prstGeom>
          <a:solidFill>
            <a:srgbClr val="141B36"/>
          </a:solidFill>
          <a:ln w="12700">
            <a:solidFill>
              <a:srgbClr val="1BAF7A"/>
            </a:solidFill>
            <a:prstDash val="solid"/>
          </a:ln>
        </p:spPr>
      </p:sp>
      <p:pic>
        <p:nvPicPr>
          <p:cNvPr id="7" name="colI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240280"/>
            <a:ext cx="329184" cy="329184"/>
          </a:xfrm>
          <a:prstGeom prst="rect">
            <a:avLst/>
          </a:prstGeom>
        </p:spPr>
      </p:pic>
      <p:sp>
        <p:nvSpPr>
          <p:cNvPr id="8" name="colK0"/>
          <p:cNvSpPr txBox="1"/>
          <p:nvPr/>
        </p:nvSpPr>
        <p:spPr>
          <a:xfrm>
            <a:off x="1207008" y="2240280"/>
            <a:ext cx="272277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· PUBLISHED</a:t>
            </a:r>
            <a:endParaRPr lang="en-US" sz="1100" dirty="0"/>
          </a:p>
        </p:txBody>
      </p:sp>
      <p:sp>
        <p:nvSpPr>
          <p:cNvPr id="9" name="colT0"/>
          <p:cNvSpPr txBox="1"/>
          <p:nvPr/>
        </p:nvSpPr>
        <p:spPr>
          <a:xfrm>
            <a:off x="777240" y="2743200"/>
            <a:ext cx="313425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Physics: rain weakens microwave signals (ITU-R P.838)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rain from a phone network (Science 2006)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Scale: country-wide rain maps (PNAS 2013)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tools exist (pycomlink, KIT Germany)</a:t>
            </a:r>
            <a:endParaRPr lang="en-US" sz="1350" dirty="0"/>
          </a:p>
        </p:txBody>
      </p:sp>
      <p:sp>
        <p:nvSpPr>
          <p:cNvPr id="10" name="col1"/>
          <p:cNvSpPr/>
          <p:nvPr/>
        </p:nvSpPr>
        <p:spPr>
          <a:xfrm>
            <a:off x="4322978" y="2057400"/>
            <a:ext cx="3545738" cy="3566160"/>
          </a:xfrm>
          <a:prstGeom prst="roundRect">
            <a:avLst>
              <a:gd name="adj" fmla="val 3095"/>
            </a:avLst>
          </a:prstGeom>
          <a:solidFill>
            <a:srgbClr val="2B2208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1" name="colI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1578" y="2240280"/>
            <a:ext cx="329184" cy="329184"/>
          </a:xfrm>
          <a:prstGeom prst="rect">
            <a:avLst/>
          </a:prstGeom>
        </p:spPr>
      </p:pic>
      <p:sp>
        <p:nvSpPr>
          <p:cNvPr id="12" name="colK1"/>
          <p:cNvSpPr txBox="1"/>
          <p:nvPr/>
        </p:nvSpPr>
        <p:spPr>
          <a:xfrm>
            <a:off x="4981346" y="2240280"/>
            <a:ext cx="272277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CHECK · PUBLIC DATA</a:t>
            </a:r>
            <a:endParaRPr lang="en-US" sz="1100" dirty="0"/>
          </a:p>
        </p:txBody>
      </p:sp>
      <p:sp>
        <p:nvSpPr>
          <p:cNvPr id="13" name="colT1"/>
          <p:cNvSpPr txBox="1"/>
          <p:nvPr/>
        </p:nvSpPr>
        <p:spPr>
          <a:xfrm>
            <a:off x="4551578" y="2743200"/>
            <a:ext cx="313425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real links, Germany, 11 days, radar as reference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 network-wide match; 0.88 typical link; 0.78 map level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/ no-rain days: 91% detected, 5% false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alone failed all three accuracy gates: 68% of trigger events (≥80%), totals 18% low (±10%), 18% unconfirmed (&lt;15%)</a:t>
            </a:r>
            <a:endParaRPr lang="en-US" sz="1350" dirty="0"/>
          </a:p>
        </p:txBody>
      </p:sp>
      <p:sp>
        <p:nvSpPr>
          <p:cNvPr id="14" name="col2"/>
          <p:cNvSpPr/>
          <p:nvPr/>
        </p:nvSpPr>
        <p:spPr>
          <a:xfrm>
            <a:off x="8097317" y="2057400"/>
            <a:ext cx="3545738" cy="3566160"/>
          </a:xfrm>
          <a:prstGeom prst="roundRect">
            <a:avLst>
              <a:gd name="adj" fmla="val 3095"/>
            </a:avLst>
          </a:prstGeom>
          <a:solidFill>
            <a:srgbClr val="2A1622"/>
          </a:solidFill>
          <a:ln w="12700">
            <a:solidFill>
              <a:srgbClr val="E5484D"/>
            </a:solidFill>
            <a:prstDash val="dash"/>
          </a:ln>
        </p:spPr>
      </p:sp>
      <p:pic>
        <p:nvPicPr>
          <p:cNvPr id="15" name="colI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5917" y="2240280"/>
            <a:ext cx="329184" cy="329184"/>
          </a:xfrm>
          <a:prstGeom prst="rect">
            <a:avLst/>
          </a:prstGeom>
        </p:spPr>
      </p:pic>
      <p:sp>
        <p:nvSpPr>
          <p:cNvPr id="16" name="colK2"/>
          <p:cNvSpPr txBox="1"/>
          <p:nvPr/>
        </p:nvSpPr>
        <p:spPr>
          <a:xfrm>
            <a:off x="8755685" y="2240280"/>
            <a:ext cx="272277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8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PROVEN · THE PILOT</a:t>
            </a:r>
            <a:endParaRPr lang="en-US" sz="1100" dirty="0"/>
          </a:p>
        </p:txBody>
      </p:sp>
      <p:sp>
        <p:nvSpPr>
          <p:cNvPr id="17" name="colT2"/>
          <p:cNvSpPr txBox="1"/>
          <p:nvPr/>
        </p:nvSpPr>
        <p:spPr>
          <a:xfrm>
            <a:off x="8325917" y="2743200"/>
            <a:ext cx="313425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Jio’s usable coverage → Gate 1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in Indian monsoon → Gate 2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 inside Reliance → Gate 3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pays → payer test in the pilot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Insurance-grade triggers → accuracy + actuarial gates, shadow payouts</a:t>
            </a:r>
            <a:endParaRPr lang="en-US" sz="1350" dirty="0"/>
          </a:p>
        </p:txBody>
      </p:sp>
      <p:sp>
        <p:nvSpPr>
          <p:cNvPr id="18" name="takeaway"/>
          <p:cNvSpPr txBox="1"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know what is proven. We know what isn’t. The pilot is built around the unknowns.</a:t>
            </a:r>
            <a:endParaRPr lang="en-US" sz="1800" dirty="0"/>
          </a:p>
        </p:txBody>
      </p:sp>
      <p:sp>
        <p:nvSpPr>
          <p:cNvPr id="19" name="source"/>
          <p:cNvSpPr txBox="1"/>
          <p:nvPr/>
        </p:nvSpPr>
        <p:spPr>
          <a:xfrm>
            <a:off x="548640" y="641908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check: our pipeline on the open pycomlink example dataset (KIT, BSD licence), German DWD radar as reference; tuned 10–12 May 2018, scored 13–20 May. Not Jio data.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rand"/>
          <p:cNvSpPr txBox="1"/>
          <p:nvPr/>
        </p:nvSpPr>
        <p:spPr>
          <a:xfrm>
            <a:off x="548640" y="292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E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JioMausam</a:t>
            </a:r>
            <a:endParaRPr lang="en-US" sz="1500" dirty="0"/>
          </a:p>
        </p:txBody>
      </p:sp>
      <p:pic>
        <p:nvPicPr>
          <p:cNvPr id="3" name="!!tower" descr="/tmp/claude-0/-home-user-market-research-agent/e8d4caac-b1a5-588e-8461-832ca62ca567/scratchpad/deck2/assets/to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201168"/>
            <a:ext cx="384048" cy="548640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BACKUP · DEFENCE WALL</a:t>
            </a:r>
            <a:endParaRPr lang="en-US" sz="110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11704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limit we know of, and our answer</a:t>
            </a:r>
            <a:endParaRPr lang="en-US" sz="3200" dirty="0"/>
          </a:p>
        </p:txBody>
      </p:sp>
      <p:graphicFrame>
        <p:nvGraphicFramePr>
          <p:cNvPr id="3" name="wal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94415" cy="914400"/>
        </p:xfrm>
        <a:graphic>
          <a:graphicData uri="http://schemas.openxmlformats.org/drawingml/2006/table">
            <a:tbl>
              <a:tblPr/>
              <a:tblGrid>
                <a:gridCol w="4480560"/>
                <a:gridCol w="6613855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answer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Jio may not have enough usable microwave links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 audit is Gate 1; radar, gauges and satellite still work without links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Fibre doesn’t sense rain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only use microwave links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link measures path-averaged rain, not a point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Fusion with radar and gauges turns it into grid estimates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Links alone failed all three accuracy gates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never use links alone; accuracy picks the mix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18% of our triggers weren’t confirmed by radar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Multi-source confirmation and local calibration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Rain can be confused with equipment faults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Network-health flags (faults, outages, maintenance) and cross-link checks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 in India is unknown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Back-test Jio’s archived Mumbai monsoon data (Gate 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km resolution isn’t guaranteed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Resolution depends on link density and fusion; reported per area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Platforms’ willingness to pay is unknown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 value inside Reliance first (Gate 3, matched zones), then sell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Insurance basis 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zones, multi-source trigger, review process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₹300 payout is arbitrary today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Prototype assumption; set by actuarial calibration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₹208 isn’t priced on the 10 mm in 3 h trigger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Priced on 25 years of daily IMD risk; the pilot recalibrates the trigger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Towers don’t sense heat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IMD stations and satellite feed the same engine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Insurance may never launch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intelligence business stands on its own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rand"/>
          <p:cNvSpPr txBox="1"/>
          <p:nvPr/>
        </p:nvSpPr>
        <p:spPr>
          <a:xfrm>
            <a:off x="548640" y="292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E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JioMausam</a:t>
            </a:r>
            <a:endParaRPr lang="en-US" sz="1500" dirty="0"/>
          </a:p>
        </p:txBody>
      </p:sp>
      <p:pic>
        <p:nvPicPr>
          <p:cNvPr id="3" name="!!tower" descr="/tmp/claude-0/-home-user-market-research-agent/e8d4caac-b1a5-588e-8461-832ca62ca567/scratchpad/deck2/assets/to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201168"/>
            <a:ext cx="384048" cy="548640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BACKUP · TOUGH QUESTIONS</a:t>
            </a:r>
            <a:endParaRPr lang="en-US" sz="110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11704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questions we expect, and short answers</a:t>
            </a:r>
            <a:endParaRPr lang="en-US" sz="3200" dirty="0"/>
          </a:p>
        </p:txBody>
      </p:sp>
      <p:graphicFrame>
        <p:nvGraphicFramePr>
          <p:cNvPr id="4" name="q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94415" cy="914400"/>
        </p:xfrm>
        <a:graphic>
          <a:graphicData uri="http://schemas.openxmlformats.org/drawingml/2006/table">
            <a:tbl>
              <a:tblPr/>
              <a:tblGrid>
                <a:gridCol w="3429000"/>
                <a:gridCol w="7665415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a judge asks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“How closely did links track radar?” / “Why only 68%?”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Network-wide hourly match 0.95; a typical single link 0.88; map level 0.78. The trigger test is harsher: a 9 mm estimate against an 11 mm event is a miss, and links read 18% low. So 68%.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“Mumbai already has hyperlocal weather.”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Exactly: BMC gauges and IMD radar are inputs we fuse, not rivals. The pilot’s “radar + gauges, no links” run measures what Jio’s links add.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“Jio already knows rain fade.”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may. Then Gate 1 confirms cheaply what weather information is available. If it doesn’t, the same telemetry is a new signal.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“What if it doesn’t rain in days 61–90?”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back-test replays archived monsoon events, including network-ops value. The full live test runs in Mumbai’s 2027 monsoon (months 4–12).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“Why ₹208 if the live trigger is 10 mm in 3 h?”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₹208 isn’t priced from that prototype trigger. It uses 25 years of daily IMD heavy-rain history, capped at five paid days. The pilot measures the 3-hour trigger’s real frequency and recalibrates before launch.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“Did you build the model?”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didn’t invent the method; it’s published research. We implemented it with open-source tools, ran it ourselves on real link data, and measured where it fails.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“Germany isn’t India.”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Agreed. Gate 2 back-tests Jio’s archived Mumbai monsoon data against held-out IMD and BMC gauges. Nothing scales until it passes.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“Who decides whether Jio’s own system pays?”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Jio only supplies the trigger data. A licensed insurer owns the contract, the rules and the payout; the trigger is multi-source and auditable.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JioMausam Night">
  <a:themeElements>
    <a:clrScheme name="JioMausam Night">
      <a:dk1>
        <a:srgbClr val="0B1020"/>
      </a:dk1>
      <a:lt1>
        <a:srgbClr val="FFFFFF"/>
      </a:lt1>
      <a:dk2>
        <a:srgbClr val="1A2246"/>
      </a:dk2>
      <a:lt2>
        <a:srgbClr val="EEF1F7"/>
      </a:lt2>
      <a:accent1>
        <a:srgbClr val="F5A623"/>
      </a:accent1>
      <a:accent2>
        <a:srgbClr val="3987E5"/>
      </a:accent2>
      <a:accent3>
        <a:srgbClr val="D95926"/>
      </a:accent3>
      <a:accent4>
        <a:srgbClr val="1BAF7A"/>
      </a:accent4>
      <a:accent5>
        <a:srgbClr val="E5484D"/>
      </a:accent5>
      <a:accent6>
        <a:srgbClr val="98A2C0"/>
      </a:accent6>
      <a:hlink>
        <a:srgbClr val="F5A623"/>
      </a:hlink>
      <a:folHlink>
        <a:srgbClr val="C98500"/>
      </a:folHlink>
    </a:clrScheme>
    <a:fontScheme name="JioMausam Nigh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JioMausam · Q&amp;A backup</dc:title>
  <dc:subject>PptxGenJS Presentation</dc:subject>
  <dc:creator>JioMausam team</dc:creator>
  <cp:lastModifiedBy>JioMausam team</cp:lastModifiedBy>
  <cp:revision>1</cp:revision>
  <dcterms:created xsi:type="dcterms:W3CDTF">2026-10-04T11:23:20Z</dcterms:created>
  <dcterms:modified xsi:type="dcterms:W3CDTF">2026-10-04T11:23:20Z</dcterms:modified>
</cp:coreProperties>
</file>