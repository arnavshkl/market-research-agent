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limination round" id="{cf4ccc44-542c-d03a-e390-140571173d3d}">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Rainfall (mm)</c:v>
                </c:pt>
              </c:strCache>
            </c:strRef>
          </c:tx>
          <c:spPr>
            <a:solidFill>
              <a:srgbClr val="3987E5"/>
            </a:solidFill>
            <a:effectLst/>
          </c:spPr>
          <c:invertIfNegative val="0"/>
          <c:dLbls>
            <c:numFmt formatCode="0" sourceLinked="0"/>
            <c:txPr>
              <a:bodyPr/>
              <a:lstStyle/>
              <a:p>
                <a:pPr>
                  <a:defRPr b="1" i="0" strike="noStrike" sz="1800" u="none">
                    <a:solidFill>
                      <a:srgbClr val="FFFFFF"/>
                    </a:solidFill>
                    <a:latin typeface="+mn-lt"/>
                  </a:defRPr>
                </a:pPr>
              </a:p>
            </c:txPr>
            <c:showLegendKey val="0"/>
            <c:showVal val="1"/>
            <c:showCatName val="0"/>
            <c:showSerName val="0"/>
            <c:showPercent val="0"/>
            <c:showBubbleSize val="0"/>
            <c:showLeaderLines val="0"/>
          </c:dLbls>
          <c:dPt>
            <c:idx val="0"/>
            <c:invertIfNegative val="0"/>
            <c:bubble3D val="0"/>
            <c:spPr>
              <a:solidFill>
                <a:srgbClr val="3987E5"/>
              </a:solidFill>
              <a:effectLst/>
            </c:spPr>
          </c:dPt>
          <c:dPt>
            <c:idx val="1"/>
            <c:invertIfNegative val="0"/>
            <c:bubble3D val="0"/>
            <c:spPr>
              <a:solidFill>
                <a:srgbClr val="3987E5"/>
              </a:solidFill>
              <a:effectLst/>
            </c:spPr>
          </c:dPt>
          <c:cat>
            <c:multiLvlStrRef>
              <c:f>Sheet1!$A$2:$A$3</c:f>
              <c:multiLvlStrCache>
                <c:ptCount val="2"/>
                <c:lvl>
                  <c:pt idx="0">
                    <c:v>Santacruz</c:v>
                  </c:pt>
                  <c:pt idx="1">
                    <c:v>Colaba</c:v>
                  </c:pt>
                </c:lvl>
              </c:multiLvlStrCache>
            </c:multiLvlStrRef>
          </c:cat>
          <c:val>
            <c:numRef>
              <c:f>Sheet1!$B$2:$B$3</c:f>
              <c:numCache>
                <c:formatCode>General</c:formatCode>
                <c:ptCount val="2"/>
                <c:pt idx="0">
                  <c:v>944</c:v>
                </c:pt>
                <c:pt idx="1">
                  <c:v>73</c:v>
                </c:pt>
              </c:numCache>
            </c:numRef>
          </c:val>
        </c:ser>
        <c:dLbls>
          <c:numFmt formatCode="0" sourceLinked="0"/>
          <c:txPr>
            <a:bodyPr/>
            <a:lstStyle/>
            <a:p>
              <a:pPr>
                <a:defRPr b="1" i="0" strike="noStrike" sz="1800" u="none">
                  <a:solidFill>
                    <a:srgbClr val="FFFFFF"/>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B9C2D8"/>
                </a:solidFill>
                <a:latin typeface="+mn-lt"/>
              </a:defRPr>
            </a:pPr>
            <a:endParaRPr lang="en-US"/>
          </a:p>
        </c:txPr>
        <c:crossAx val="2094734552"/>
        <c:crosses val="autoZero"/>
        <c:auto val="1"/>
        <c:lblAlgn val="ctr"/>
        <c:noMultiLvlLbl val="1"/>
      </c:catAx>
      <c:valAx>
        <c:axId val="2094734552"/>
        <c:scaling>
          <c:orientation val="minMax"/>
          <c:max val="115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B9C2D8"/>
                </a:solidFill>
                <a:latin typeface="Calibri"/>
              </a:defRPr>
            </a:pPr>
            <a:r>
              <a:rPr sz="1150" b="0" i="0" u="none" strike="noStrike">
                <a:solidFill>
                  <a:srgbClr val="B9C2D8"/>
                </a:solidFill>
                <a:latin typeface="Calibri"/>
              </a:rPr>
              <a:t>Network average, hour by hour: links tracked radar closely</a:t>
            </a:r>
          </a:p>
        </c:rich>
      </c:tx>
      <c:layout/>
      <c:overlay val="0"/>
    </c:title>
    <c:autoTitleDeleted val="0"/>
    <c:plotArea>
      <c:layout/>
      <c:lineChart>
        <c:varyColors val="0"/>
        <c:ser>
          <c:idx val="0"/>
          <c:order val="0"/>
          <c:tx>
            <c:strRef>
              <c:f>Sheet1!$B$1</c:f>
              <c:strCache>
                <c:ptCount val="1"/>
                <c:pt idx="0">
                  <c:v>Radar</c:v>
                </c:pt>
              </c:strCache>
            </c:strRef>
          </c:tx>
          <c:spPr>
            <a:solidFill>
              <a:srgbClr val="D95926"/>
            </a:solidFill>
            <a:ln w="25400" cap="flat">
              <a:solidFill>
                <a:srgbClr val="D959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95926"/>
              </a:solidFill>
              <a:ln w="9525" cap="flat">
                <a:solidFill>
                  <a:srgbClr val="D95926"/>
                </a:solidFill>
                <a:prstDash val="solid"/>
                <a:round/>
              </a:ln>
              <a:effectLst/>
            </c:spPr>
          </c:marker>
          <c:cat>
            <c:multiLvlStrRef>
              <c:f>Sheet1!$A$2:$A$265</c:f>
              <c:multiLvlStrCache>
                <c:ptCount val="264"/>
                <c:lvl>
                  <c:pt idx="0">
                    <c:v/>
                  </c:pt>
                  <c:pt idx="1">
                    <c:v/>
                  </c:pt>
                  <c:pt idx="2">
                    <c:v/>
                  </c:pt>
                  <c:pt idx="3">
                    <c:v/>
                  </c:pt>
                  <c:pt idx="4">
                    <c:v/>
                  </c:pt>
                  <c:pt idx="5">
                    <c:v/>
                  </c:pt>
                  <c:pt idx="6">
                    <c:v/>
                  </c:pt>
                  <c:pt idx="7">
                    <c:v/>
                  </c:pt>
                  <c:pt idx="8">
                    <c:v/>
                  </c:pt>
                  <c:pt idx="9">
                    <c:v/>
                  </c:pt>
                  <c:pt idx="10">
                    <c:v/>
                  </c:pt>
                  <c:pt idx="11">
                    <c:v/>
                  </c:pt>
                  <c:pt idx="12">
                    <c:v>10 May</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12 May</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14 May</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16 May</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18 May</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20 May</c:v>
                  </c:pt>
                  <c:pt idx="253">
                    <c:v/>
                  </c:pt>
                  <c:pt idx="254">
                    <c:v/>
                  </c:pt>
                  <c:pt idx="255">
                    <c:v/>
                  </c:pt>
                  <c:pt idx="256">
                    <c:v/>
                  </c:pt>
                  <c:pt idx="257">
                    <c:v/>
                  </c:pt>
                  <c:pt idx="258">
                    <c:v/>
                  </c:pt>
                  <c:pt idx="259">
                    <c:v/>
                  </c:pt>
                  <c:pt idx="260">
                    <c:v/>
                  </c:pt>
                  <c:pt idx="261">
                    <c:v/>
                  </c:pt>
                  <c:pt idx="262">
                    <c:v/>
                  </c:pt>
                  <c:pt idx="263">
                    <c:v/>
                  </c:pt>
                </c:lvl>
              </c:multiLvlStrCache>
            </c:multiLvlStrRef>
          </c:cat>
          <c:val>
            <c:numRef>
              <c:f>Sheet1!$B$2:$B$265</c:f>
              <c:numCache>
                <c:formatCode>General</c:formatCode>
                <c:ptCount val="264"/>
                <c:pt idx="0">
                  <c:v>0.01</c:v>
                </c:pt>
                <c:pt idx="1">
                  <c:v>0.03</c:v>
                </c:pt>
                <c:pt idx="2">
                  <c:v>0.07</c:v>
                </c:pt>
                <c:pt idx="3">
                  <c:v>0.07</c:v>
                </c:pt>
                <c:pt idx="4">
                  <c:v>0.13</c:v>
                </c:pt>
                <c:pt idx="5">
                  <c:v>0.13</c:v>
                </c:pt>
                <c:pt idx="6">
                  <c:v>0.1</c:v>
                </c:pt>
                <c:pt idx="7">
                  <c:v>0.03</c:v>
                </c:pt>
                <c:pt idx="8">
                  <c:v>0.06</c:v>
                </c:pt>
                <c:pt idx="9">
                  <c:v>0.14</c:v>
                </c:pt>
                <c:pt idx="10">
                  <c:v>0.36</c:v>
                </c:pt>
                <c:pt idx="11">
                  <c:v>0.8</c:v>
                </c:pt>
                <c:pt idx="12">
                  <c:v>1.04</c:v>
                </c:pt>
                <c:pt idx="13">
                  <c:v>0.51</c:v>
                </c:pt>
                <c:pt idx="14">
                  <c:v>0.44</c:v>
                </c:pt>
                <c:pt idx="15">
                  <c:v>0.25</c:v>
                </c:pt>
                <c:pt idx="16">
                  <c:v>0.22</c:v>
                </c:pt>
                <c:pt idx="17">
                  <c:v>0.27</c:v>
                </c:pt>
                <c:pt idx="18">
                  <c:v>0.41</c:v>
                </c:pt>
                <c:pt idx="19">
                  <c:v>0.2</c:v>
                </c:pt>
                <c:pt idx="20">
                  <c:v>0.03</c:v>
                </c:pt>
                <c:pt idx="21">
                  <c:v>0.02</c:v>
                </c:pt>
                <c:pt idx="22">
                  <c:v>0.01</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0.01</c:v>
                </c:pt>
                <c:pt idx="65">
                  <c:v>0.03</c:v>
                </c:pt>
                <c:pt idx="66">
                  <c:v>0.03</c:v>
                </c:pt>
                <c:pt idx="67">
                  <c:v>0</c:v>
                </c:pt>
                <c:pt idx="68">
                  <c:v>0.01</c:v>
                </c:pt>
                <c:pt idx="69">
                  <c:v>0.04</c:v>
                </c:pt>
                <c:pt idx="70">
                  <c:v>0.02</c:v>
                </c:pt>
                <c:pt idx="71">
                  <c:v>0.02</c:v>
                </c:pt>
                <c:pt idx="72">
                  <c:v>0</c:v>
                </c:pt>
                <c:pt idx="73">
                  <c:v>0</c:v>
                </c:pt>
                <c:pt idx="74">
                  <c:v>0</c:v>
                </c:pt>
                <c:pt idx="75">
                  <c:v>0</c:v>
                </c:pt>
                <c:pt idx="76">
                  <c:v>0</c:v>
                </c:pt>
                <c:pt idx="77">
                  <c:v>0</c:v>
                </c:pt>
                <c:pt idx="78">
                  <c:v>0.02</c:v>
                </c:pt>
                <c:pt idx="79">
                  <c:v>0.02</c:v>
                </c:pt>
                <c:pt idx="80">
                  <c:v>0.02</c:v>
                </c:pt>
                <c:pt idx="81">
                  <c:v>0</c:v>
                </c:pt>
                <c:pt idx="82">
                  <c:v>0</c:v>
                </c:pt>
                <c:pt idx="83">
                  <c:v>0</c:v>
                </c:pt>
                <c:pt idx="84">
                  <c:v>0.13</c:v>
                </c:pt>
                <c:pt idx="85">
                  <c:v>0.4</c:v>
                </c:pt>
                <c:pt idx="86">
                  <c:v>0.54</c:v>
                </c:pt>
                <c:pt idx="87">
                  <c:v>1.22</c:v>
                </c:pt>
                <c:pt idx="88">
                  <c:v>1.35</c:v>
                </c:pt>
                <c:pt idx="89">
                  <c:v>1.18</c:v>
                </c:pt>
                <c:pt idx="90">
                  <c:v>1.54</c:v>
                </c:pt>
                <c:pt idx="91">
                  <c:v>1.75</c:v>
                </c:pt>
                <c:pt idx="92">
                  <c:v>1.51</c:v>
                </c:pt>
                <c:pt idx="93">
                  <c:v>1.86</c:v>
                </c:pt>
                <c:pt idx="94">
                  <c:v>1.75</c:v>
                </c:pt>
                <c:pt idx="95">
                  <c:v>1.55</c:v>
                </c:pt>
                <c:pt idx="96">
                  <c:v>0.87</c:v>
                </c:pt>
                <c:pt idx="97">
                  <c:v>0.25</c:v>
                </c:pt>
                <c:pt idx="98">
                  <c:v>0.25</c:v>
                </c:pt>
                <c:pt idx="99">
                  <c:v>0.3</c:v>
                </c:pt>
                <c:pt idx="100">
                  <c:v>0.16</c:v>
                </c:pt>
                <c:pt idx="101">
                  <c:v>0.09</c:v>
                </c:pt>
                <c:pt idx="102">
                  <c:v>0.05</c:v>
                </c:pt>
                <c:pt idx="103">
                  <c:v>0.04</c:v>
                </c:pt>
                <c:pt idx="104">
                  <c:v>0.01</c:v>
                </c:pt>
                <c:pt idx="105">
                  <c:v>0.02</c:v>
                </c:pt>
                <c:pt idx="106">
                  <c:v>0.02</c:v>
                </c:pt>
                <c:pt idx="107">
                  <c:v>0.04</c:v>
                </c:pt>
                <c:pt idx="108">
                  <c:v>0.25</c:v>
                </c:pt>
                <c:pt idx="109">
                  <c:v>0.38</c:v>
                </c:pt>
                <c:pt idx="110">
                  <c:v>0.7</c:v>
                </c:pt>
                <c:pt idx="111">
                  <c:v>0.63</c:v>
                </c:pt>
                <c:pt idx="112">
                  <c:v>0.41</c:v>
                </c:pt>
                <c:pt idx="113">
                  <c:v>0.17</c:v>
                </c:pt>
                <c:pt idx="114">
                  <c:v>0.29</c:v>
                </c:pt>
                <c:pt idx="115">
                  <c:v>0.45</c:v>
                </c:pt>
                <c:pt idx="116">
                  <c:v>0.42</c:v>
                </c:pt>
                <c:pt idx="117">
                  <c:v>0.49</c:v>
                </c:pt>
                <c:pt idx="118">
                  <c:v>0.11</c:v>
                </c:pt>
                <c:pt idx="119">
                  <c:v>0</c:v>
                </c:pt>
                <c:pt idx="120">
                  <c:v>0</c:v>
                </c:pt>
                <c:pt idx="121">
                  <c:v>0</c:v>
                </c:pt>
                <c:pt idx="122">
                  <c:v>0</c:v>
                </c:pt>
                <c:pt idx="123">
                  <c:v>0</c:v>
                </c:pt>
                <c:pt idx="124">
                  <c:v>0.01</c:v>
                </c:pt>
                <c:pt idx="125">
                  <c:v>0.03</c:v>
                </c:pt>
                <c:pt idx="126">
                  <c:v>0.03</c:v>
                </c:pt>
                <c:pt idx="127">
                  <c:v>0.05</c:v>
                </c:pt>
                <c:pt idx="128">
                  <c:v>0</c:v>
                </c:pt>
                <c:pt idx="129">
                  <c:v>0</c:v>
                </c:pt>
                <c:pt idx="130">
                  <c:v>0</c:v>
                </c:pt>
                <c:pt idx="131">
                  <c:v>0.03</c:v>
                </c:pt>
                <c:pt idx="132">
                  <c:v>0.15</c:v>
                </c:pt>
                <c:pt idx="133">
                  <c:v>0.12</c:v>
                </c:pt>
                <c:pt idx="134">
                  <c:v>0.18</c:v>
                </c:pt>
                <c:pt idx="135">
                  <c:v>0.25</c:v>
                </c:pt>
                <c:pt idx="136">
                  <c:v>0.38</c:v>
                </c:pt>
                <c:pt idx="137">
                  <c:v>0.36</c:v>
                </c:pt>
                <c:pt idx="138">
                  <c:v>0.13</c:v>
                </c:pt>
                <c:pt idx="139">
                  <c:v>0.03</c:v>
                </c:pt>
                <c:pt idx="140">
                  <c:v>0.02</c:v>
                </c:pt>
                <c:pt idx="141">
                  <c:v>0.05</c:v>
                </c:pt>
                <c:pt idx="142">
                  <c:v>0.1</c:v>
                </c:pt>
                <c:pt idx="143">
                  <c:v>0.27</c:v>
                </c:pt>
                <c:pt idx="144">
                  <c:v>0.53</c:v>
                </c:pt>
                <c:pt idx="145">
                  <c:v>0.8</c:v>
                </c:pt>
                <c:pt idx="146">
                  <c:v>0.97</c:v>
                </c:pt>
                <c:pt idx="147">
                  <c:v>0.88</c:v>
                </c:pt>
                <c:pt idx="148">
                  <c:v>0.73</c:v>
                </c:pt>
                <c:pt idx="149">
                  <c:v>0.35</c:v>
                </c:pt>
                <c:pt idx="150">
                  <c:v>0.13</c:v>
                </c:pt>
                <c:pt idx="151">
                  <c:v>0.05</c:v>
                </c:pt>
                <c:pt idx="152">
                  <c:v>0.12</c:v>
                </c:pt>
                <c:pt idx="153">
                  <c:v>0.11</c:v>
                </c:pt>
                <c:pt idx="154">
                  <c:v>0.06</c:v>
                </c:pt>
                <c:pt idx="155">
                  <c:v>0.24</c:v>
                </c:pt>
                <c:pt idx="156">
                  <c:v>0.32</c:v>
                </c:pt>
                <c:pt idx="157">
                  <c:v>0.54</c:v>
                </c:pt>
                <c:pt idx="158">
                  <c:v>0.74</c:v>
                </c:pt>
                <c:pt idx="159">
                  <c:v>0.63</c:v>
                </c:pt>
                <c:pt idx="160">
                  <c:v>0.44</c:v>
                </c:pt>
                <c:pt idx="161">
                  <c:v>0.26</c:v>
                </c:pt>
                <c:pt idx="162">
                  <c:v>0.17</c:v>
                </c:pt>
                <c:pt idx="163">
                  <c:v>0.15</c:v>
                </c:pt>
                <c:pt idx="164">
                  <c:v>0.23</c:v>
                </c:pt>
                <c:pt idx="165">
                  <c:v>0.33</c:v>
                </c:pt>
                <c:pt idx="166">
                  <c:v>0.63</c:v>
                </c:pt>
                <c:pt idx="167">
                  <c:v>0.46</c:v>
                </c:pt>
                <c:pt idx="168">
                  <c:v>0.61</c:v>
                </c:pt>
                <c:pt idx="169">
                  <c:v>0.47</c:v>
                </c:pt>
                <c:pt idx="170">
                  <c:v>0.49</c:v>
                </c:pt>
                <c:pt idx="171">
                  <c:v>0.24</c:v>
                </c:pt>
                <c:pt idx="172">
                  <c:v>0.29</c:v>
                </c:pt>
                <c:pt idx="173">
                  <c:v>0.36</c:v>
                </c:pt>
                <c:pt idx="174">
                  <c:v>0.19</c:v>
                </c:pt>
                <c:pt idx="175">
                  <c:v>0.07</c:v>
                </c:pt>
                <c:pt idx="176">
                  <c:v>0.04</c:v>
                </c:pt>
                <c:pt idx="177">
                  <c:v>0.04</c:v>
                </c:pt>
                <c:pt idx="178">
                  <c:v>0.04</c:v>
                </c:pt>
                <c:pt idx="179">
                  <c:v>0.04</c:v>
                </c:pt>
                <c:pt idx="180">
                  <c:v>0.01</c:v>
                </c:pt>
                <c:pt idx="181">
                  <c:v>0</c:v>
                </c:pt>
                <c:pt idx="182">
                  <c:v>0</c:v>
                </c:pt>
                <c:pt idx="183">
                  <c:v>0</c:v>
                </c:pt>
                <c:pt idx="184">
                  <c:v>0</c:v>
                </c:pt>
                <c:pt idx="185">
                  <c:v>0</c:v>
                </c:pt>
                <c:pt idx="186">
                  <c:v>0</c:v>
                </c:pt>
                <c:pt idx="187">
                  <c:v>0</c:v>
                </c:pt>
                <c:pt idx="188">
                  <c:v>0</c:v>
                </c:pt>
                <c:pt idx="189">
                  <c:v>0</c:v>
                </c:pt>
                <c:pt idx="190">
                  <c:v>0.01</c:v>
                </c:pt>
                <c:pt idx="191">
                  <c:v>0.01</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0.01</c:v>
                </c:pt>
                <c:pt idx="229">
                  <c:v>0.01</c:v>
                </c:pt>
                <c:pt idx="230">
                  <c:v>0.07</c:v>
                </c:pt>
                <c:pt idx="231">
                  <c:v>0.11</c:v>
                </c:pt>
                <c:pt idx="232">
                  <c:v>0.12</c:v>
                </c:pt>
                <c:pt idx="233">
                  <c:v>0.13</c:v>
                </c:pt>
                <c:pt idx="234">
                  <c:v>0.16</c:v>
                </c:pt>
                <c:pt idx="235">
                  <c:v>0.13</c:v>
                </c:pt>
                <c:pt idx="236">
                  <c:v>0.05</c:v>
                </c:pt>
                <c:pt idx="237">
                  <c:v>0.04</c:v>
                </c:pt>
                <c:pt idx="238">
                  <c:v>0.11</c:v>
                </c:pt>
                <c:pt idx="239">
                  <c:v>0.24</c:v>
                </c:pt>
                <c:pt idx="240">
                  <c:v>0.49</c:v>
                </c:pt>
                <c:pt idx="241">
                  <c:v>0.77</c:v>
                </c:pt>
                <c:pt idx="242">
                  <c:v>0.72</c:v>
                </c:pt>
                <c:pt idx="243">
                  <c:v>0.51</c:v>
                </c:pt>
                <c:pt idx="244">
                  <c:v>0.33</c:v>
                </c:pt>
                <c:pt idx="245">
                  <c:v>0.55</c:v>
                </c:pt>
                <c:pt idx="246">
                  <c:v>0.49</c:v>
                </c:pt>
                <c:pt idx="247">
                  <c:v>0.32</c:v>
                </c:pt>
                <c:pt idx="248">
                  <c:v>0.21</c:v>
                </c:pt>
                <c:pt idx="249">
                  <c:v>0.14</c:v>
                </c:pt>
                <c:pt idx="250">
                  <c:v>0.17</c:v>
                </c:pt>
                <c:pt idx="251">
                  <c:v>0.14</c:v>
                </c:pt>
                <c:pt idx="252">
                  <c:v>0.1</c:v>
                </c:pt>
                <c:pt idx="253">
                  <c:v>0.05</c:v>
                </c:pt>
                <c:pt idx="254">
                  <c:v>0.04</c:v>
                </c:pt>
                <c:pt idx="255">
                  <c:v>0.04</c:v>
                </c:pt>
                <c:pt idx="256">
                  <c:v>0.02</c:v>
                </c:pt>
                <c:pt idx="257">
                  <c:v>0.02</c:v>
                </c:pt>
                <c:pt idx="258">
                  <c:v>0.03</c:v>
                </c:pt>
                <c:pt idx="259">
                  <c:v>0.01</c:v>
                </c:pt>
                <c:pt idx="260">
                  <c:v>0</c:v>
                </c:pt>
                <c:pt idx="261">
                  <c:v>0</c:v>
                </c:pt>
                <c:pt idx="262">
                  <c:v>0</c:v>
                </c:pt>
                <c:pt idx="263">
                  <c:v>0</c:v>
                </c:pt>
              </c:numCache>
            </c:numRef>
          </c:val>
          <c:smooth val="0"/>
        </c:ser>
        <c:ser>
          <c:idx val="1"/>
          <c:order val="1"/>
          <c:tx>
            <c:strRef>
              <c:f>Sheet1!$C$1</c:f>
              <c:strCache>
                <c:ptCount val="1"/>
                <c:pt idx="0">
                  <c:v>Links (our check)</c:v>
                </c:pt>
              </c:strCache>
            </c:strRef>
          </c:tx>
          <c:spPr>
            <a:solidFill>
              <a:srgbClr val="3987E5"/>
            </a:solidFill>
            <a:ln w="25400" cap="flat">
              <a:solidFill>
                <a:srgbClr val="3987E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3987E5"/>
              </a:solidFill>
              <a:ln w="9525" cap="flat">
                <a:solidFill>
                  <a:srgbClr val="3987E5"/>
                </a:solidFill>
                <a:prstDash val="solid"/>
                <a:round/>
              </a:ln>
              <a:effectLst/>
            </c:spPr>
          </c:marker>
          <c:cat>
            <c:multiLvlStrRef>
              <c:f>Sheet1!$A$2:$A$265</c:f>
              <c:multiLvlStrCache>
                <c:ptCount val="264"/>
                <c:lvl>
                  <c:pt idx="0">
                    <c:v/>
                  </c:pt>
                  <c:pt idx="1">
                    <c:v/>
                  </c:pt>
                  <c:pt idx="2">
                    <c:v/>
                  </c:pt>
                  <c:pt idx="3">
                    <c:v/>
                  </c:pt>
                  <c:pt idx="4">
                    <c:v/>
                  </c:pt>
                  <c:pt idx="5">
                    <c:v/>
                  </c:pt>
                  <c:pt idx="6">
                    <c:v/>
                  </c:pt>
                  <c:pt idx="7">
                    <c:v/>
                  </c:pt>
                  <c:pt idx="8">
                    <c:v/>
                  </c:pt>
                  <c:pt idx="9">
                    <c:v/>
                  </c:pt>
                  <c:pt idx="10">
                    <c:v/>
                  </c:pt>
                  <c:pt idx="11">
                    <c:v/>
                  </c:pt>
                  <c:pt idx="12">
                    <c:v>10 May</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12 May</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14 May</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16 May</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18 May</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20 May</c:v>
                  </c:pt>
                  <c:pt idx="253">
                    <c:v/>
                  </c:pt>
                  <c:pt idx="254">
                    <c:v/>
                  </c:pt>
                  <c:pt idx="255">
                    <c:v/>
                  </c:pt>
                  <c:pt idx="256">
                    <c:v/>
                  </c:pt>
                  <c:pt idx="257">
                    <c:v/>
                  </c:pt>
                  <c:pt idx="258">
                    <c:v/>
                  </c:pt>
                  <c:pt idx="259">
                    <c:v/>
                  </c:pt>
                  <c:pt idx="260">
                    <c:v/>
                  </c:pt>
                  <c:pt idx="261">
                    <c:v/>
                  </c:pt>
                  <c:pt idx="262">
                    <c:v/>
                  </c:pt>
                  <c:pt idx="263">
                    <c:v/>
                  </c:pt>
                </c:lvl>
              </c:multiLvlStrCache>
            </c:multiLvlStrRef>
          </c:cat>
          <c:val>
            <c:numRef>
              <c:f>Sheet1!$C$2:$C$265</c:f>
              <c:numCache>
                <c:formatCode>General</c:formatCode>
                <c:ptCount val="264"/>
                <c:pt idx="0">
                  <c:v>0.01</c:v>
                </c:pt>
                <c:pt idx="1">
                  <c:v>0.05</c:v>
                </c:pt>
                <c:pt idx="2">
                  <c:v>0.07</c:v>
                </c:pt>
                <c:pt idx="3">
                  <c:v>0.09</c:v>
                </c:pt>
                <c:pt idx="4">
                  <c:v>0.1</c:v>
                </c:pt>
                <c:pt idx="5">
                  <c:v>0.08</c:v>
                </c:pt>
                <c:pt idx="6">
                  <c:v>0.05</c:v>
                </c:pt>
                <c:pt idx="7">
                  <c:v>0.02</c:v>
                </c:pt>
                <c:pt idx="8">
                  <c:v>0.05</c:v>
                </c:pt>
                <c:pt idx="9">
                  <c:v>0.09</c:v>
                </c:pt>
                <c:pt idx="10">
                  <c:v>0.37</c:v>
                </c:pt>
                <c:pt idx="11">
                  <c:v>0.63</c:v>
                </c:pt>
                <c:pt idx="12">
                  <c:v>0.75</c:v>
                </c:pt>
                <c:pt idx="13">
                  <c:v>0.55</c:v>
                </c:pt>
                <c:pt idx="14">
                  <c:v>0.54</c:v>
                </c:pt>
                <c:pt idx="15">
                  <c:v>0.33</c:v>
                </c:pt>
                <c:pt idx="16">
                  <c:v>0.29</c:v>
                </c:pt>
                <c:pt idx="17">
                  <c:v>0.38</c:v>
                </c:pt>
                <c:pt idx="18">
                  <c:v>0.41</c:v>
                </c:pt>
                <c:pt idx="19">
                  <c:v>0.17</c:v>
                </c:pt>
                <c:pt idx="20">
                  <c:v>0.03</c:v>
                </c:pt>
                <c:pt idx="21">
                  <c:v>0.01</c:v>
                </c:pt>
                <c:pt idx="22">
                  <c:v>0.01</c:v>
                </c:pt>
                <c:pt idx="23">
                  <c:v>0</c:v>
                </c:pt>
                <c:pt idx="24">
                  <c:v>0</c:v>
                </c:pt>
                <c:pt idx="25">
                  <c:v>0</c:v>
                </c:pt>
                <c:pt idx="26">
                  <c:v>0.01</c:v>
                </c:pt>
                <c:pt idx="27">
                  <c:v>0</c:v>
                </c:pt>
                <c:pt idx="28">
                  <c:v>0</c:v>
                </c:pt>
                <c:pt idx="29">
                  <c:v>0</c:v>
                </c:pt>
                <c:pt idx="30">
                  <c:v>0</c:v>
                </c:pt>
                <c:pt idx="31">
                  <c:v>0</c:v>
                </c:pt>
                <c:pt idx="32">
                  <c:v>0</c:v>
                </c:pt>
                <c:pt idx="33">
                  <c:v>0</c:v>
                </c:pt>
                <c:pt idx="34">
                  <c:v>0.01</c:v>
                </c:pt>
                <c:pt idx="35">
                  <c:v>0.01</c:v>
                </c:pt>
                <c:pt idx="36">
                  <c:v>0.01</c:v>
                </c:pt>
                <c:pt idx="37">
                  <c:v>0</c:v>
                </c:pt>
                <c:pt idx="38">
                  <c:v>0</c:v>
                </c:pt>
                <c:pt idx="39">
                  <c:v>0</c:v>
                </c:pt>
                <c:pt idx="40">
                  <c:v>0</c:v>
                </c:pt>
                <c:pt idx="41">
                  <c:v>0</c:v>
                </c:pt>
                <c:pt idx="42">
                  <c:v>0</c:v>
                </c:pt>
                <c:pt idx="43">
                  <c:v>0</c:v>
                </c:pt>
                <c:pt idx="44">
                  <c:v>0.01</c:v>
                </c:pt>
                <c:pt idx="45">
                  <c:v>0.01</c:v>
                </c:pt>
                <c:pt idx="46">
                  <c:v>0</c:v>
                </c:pt>
                <c:pt idx="47">
                  <c:v>0.01</c:v>
                </c:pt>
                <c:pt idx="48">
                  <c:v>0.01</c:v>
                </c:pt>
                <c:pt idx="49">
                  <c:v>0.02</c:v>
                </c:pt>
                <c:pt idx="50">
                  <c:v>0.02</c:v>
                </c:pt>
                <c:pt idx="51">
                  <c:v>0.02</c:v>
                </c:pt>
                <c:pt idx="52">
                  <c:v>0.03</c:v>
                </c:pt>
                <c:pt idx="53">
                  <c:v>0.04</c:v>
                </c:pt>
                <c:pt idx="54">
                  <c:v>0.01</c:v>
                </c:pt>
                <c:pt idx="55">
                  <c:v>0.01</c:v>
                </c:pt>
                <c:pt idx="56">
                  <c:v>0</c:v>
                </c:pt>
                <c:pt idx="57">
                  <c:v>0</c:v>
                </c:pt>
                <c:pt idx="58">
                  <c:v>0.01</c:v>
                </c:pt>
                <c:pt idx="59">
                  <c:v>0.01</c:v>
                </c:pt>
                <c:pt idx="60">
                  <c:v>0.01</c:v>
                </c:pt>
                <c:pt idx="61">
                  <c:v>0.01</c:v>
                </c:pt>
                <c:pt idx="62">
                  <c:v>0.01</c:v>
                </c:pt>
                <c:pt idx="63">
                  <c:v>0</c:v>
                </c:pt>
                <c:pt idx="64">
                  <c:v>0</c:v>
                </c:pt>
                <c:pt idx="65">
                  <c:v>0.01</c:v>
                </c:pt>
                <c:pt idx="66">
                  <c:v>0.01</c:v>
                </c:pt>
                <c:pt idx="67">
                  <c:v>0</c:v>
                </c:pt>
                <c:pt idx="68">
                  <c:v>0.01</c:v>
                </c:pt>
                <c:pt idx="69">
                  <c:v>0.04</c:v>
                </c:pt>
                <c:pt idx="70">
                  <c:v>0.02</c:v>
                </c:pt>
                <c:pt idx="71">
                  <c:v>0.02</c:v>
                </c:pt>
                <c:pt idx="72">
                  <c:v>0.01</c:v>
                </c:pt>
                <c:pt idx="73">
                  <c:v>0.01</c:v>
                </c:pt>
                <c:pt idx="74">
                  <c:v>0</c:v>
                </c:pt>
                <c:pt idx="75">
                  <c:v>0</c:v>
                </c:pt>
                <c:pt idx="76">
                  <c:v>0</c:v>
                </c:pt>
                <c:pt idx="77">
                  <c:v>0.01</c:v>
                </c:pt>
                <c:pt idx="78">
                  <c:v>0.02</c:v>
                </c:pt>
                <c:pt idx="79">
                  <c:v>0.02</c:v>
                </c:pt>
                <c:pt idx="80">
                  <c:v>0.03</c:v>
                </c:pt>
                <c:pt idx="81">
                  <c:v>0.01</c:v>
                </c:pt>
                <c:pt idx="82">
                  <c:v>0.01</c:v>
                </c:pt>
                <c:pt idx="83">
                  <c:v>0.02</c:v>
                </c:pt>
                <c:pt idx="84">
                  <c:v>0.1</c:v>
                </c:pt>
                <c:pt idx="85">
                  <c:v>0.22</c:v>
                </c:pt>
                <c:pt idx="86">
                  <c:v>0.43</c:v>
                </c:pt>
                <c:pt idx="87">
                  <c:v>0.82</c:v>
                </c:pt>
                <c:pt idx="88">
                  <c:v>0.99</c:v>
                </c:pt>
                <c:pt idx="89">
                  <c:v>1.11</c:v>
                </c:pt>
                <c:pt idx="90">
                  <c:v>1.43</c:v>
                </c:pt>
                <c:pt idx="91">
                  <c:v>1.51</c:v>
                </c:pt>
                <c:pt idx="92">
                  <c:v>1.55</c:v>
                </c:pt>
                <c:pt idx="93">
                  <c:v>1.92</c:v>
                </c:pt>
                <c:pt idx="94">
                  <c:v>1.86</c:v>
                </c:pt>
                <c:pt idx="95">
                  <c:v>1.16</c:v>
                </c:pt>
                <c:pt idx="96">
                  <c:v>0.64</c:v>
                </c:pt>
                <c:pt idx="97">
                  <c:v>0.16</c:v>
                </c:pt>
                <c:pt idx="98">
                  <c:v>0.13</c:v>
                </c:pt>
                <c:pt idx="99">
                  <c:v>0.23</c:v>
                </c:pt>
                <c:pt idx="100">
                  <c:v>0.08</c:v>
                </c:pt>
                <c:pt idx="101">
                  <c:v>0.05</c:v>
                </c:pt>
                <c:pt idx="102">
                  <c:v>0.05</c:v>
                </c:pt>
                <c:pt idx="103">
                  <c:v>0.02</c:v>
                </c:pt>
                <c:pt idx="104">
                  <c:v>0.01</c:v>
                </c:pt>
                <c:pt idx="105">
                  <c:v>0.01</c:v>
                </c:pt>
                <c:pt idx="106">
                  <c:v>0.02</c:v>
                </c:pt>
                <c:pt idx="107">
                  <c:v>0.03</c:v>
                </c:pt>
                <c:pt idx="108">
                  <c:v>0.22</c:v>
                </c:pt>
                <c:pt idx="109">
                  <c:v>0.48</c:v>
                </c:pt>
                <c:pt idx="110">
                  <c:v>0.56</c:v>
                </c:pt>
                <c:pt idx="111">
                  <c:v>0.43</c:v>
                </c:pt>
                <c:pt idx="112">
                  <c:v>0.3</c:v>
                </c:pt>
                <c:pt idx="113">
                  <c:v>0.19</c:v>
                </c:pt>
                <c:pt idx="114">
                  <c:v>0.25</c:v>
                </c:pt>
                <c:pt idx="115">
                  <c:v>0.5</c:v>
                </c:pt>
                <c:pt idx="116">
                  <c:v>0.44</c:v>
                </c:pt>
                <c:pt idx="117">
                  <c:v>0.44</c:v>
                </c:pt>
                <c:pt idx="118">
                  <c:v>0.07</c:v>
                </c:pt>
                <c:pt idx="119">
                  <c:v>0.02</c:v>
                </c:pt>
                <c:pt idx="120">
                  <c:v>0.01</c:v>
                </c:pt>
                <c:pt idx="121">
                  <c:v>0.01</c:v>
                </c:pt>
                <c:pt idx="122">
                  <c:v>0.01</c:v>
                </c:pt>
                <c:pt idx="123">
                  <c:v>0.01</c:v>
                </c:pt>
                <c:pt idx="124">
                  <c:v>0.01</c:v>
                </c:pt>
                <c:pt idx="125">
                  <c:v>0.02</c:v>
                </c:pt>
                <c:pt idx="126">
                  <c:v>0.04</c:v>
                </c:pt>
                <c:pt idx="127">
                  <c:v>0.05</c:v>
                </c:pt>
                <c:pt idx="128">
                  <c:v>0.01</c:v>
                </c:pt>
                <c:pt idx="129">
                  <c:v>0.02</c:v>
                </c:pt>
                <c:pt idx="130">
                  <c:v>0.02</c:v>
                </c:pt>
                <c:pt idx="131">
                  <c:v>0.07</c:v>
                </c:pt>
                <c:pt idx="132">
                  <c:v>0.17</c:v>
                </c:pt>
                <c:pt idx="133">
                  <c:v>0.12</c:v>
                </c:pt>
                <c:pt idx="134">
                  <c:v>0.19</c:v>
                </c:pt>
                <c:pt idx="135">
                  <c:v>0.31</c:v>
                </c:pt>
                <c:pt idx="136">
                  <c:v>0.32</c:v>
                </c:pt>
                <c:pt idx="137">
                  <c:v>0.3</c:v>
                </c:pt>
                <c:pt idx="138">
                  <c:v>0.09</c:v>
                </c:pt>
                <c:pt idx="139">
                  <c:v>0.01</c:v>
                </c:pt>
                <c:pt idx="140">
                  <c:v>0.01</c:v>
                </c:pt>
                <c:pt idx="141">
                  <c:v>0.02</c:v>
                </c:pt>
                <c:pt idx="142">
                  <c:v>0.03</c:v>
                </c:pt>
                <c:pt idx="143">
                  <c:v>0.13</c:v>
                </c:pt>
                <c:pt idx="144">
                  <c:v>0.25</c:v>
                </c:pt>
                <c:pt idx="145">
                  <c:v>0.39</c:v>
                </c:pt>
                <c:pt idx="146">
                  <c:v>0.48</c:v>
                </c:pt>
                <c:pt idx="147">
                  <c:v>0.45</c:v>
                </c:pt>
                <c:pt idx="148">
                  <c:v>0.33</c:v>
                </c:pt>
                <c:pt idx="149">
                  <c:v>0.16</c:v>
                </c:pt>
                <c:pt idx="150">
                  <c:v>0.1</c:v>
                </c:pt>
                <c:pt idx="151">
                  <c:v>0.1</c:v>
                </c:pt>
                <c:pt idx="152">
                  <c:v>0.14</c:v>
                </c:pt>
                <c:pt idx="153">
                  <c:v>0.09</c:v>
                </c:pt>
                <c:pt idx="154">
                  <c:v>0.12</c:v>
                </c:pt>
                <c:pt idx="155">
                  <c:v>0.31</c:v>
                </c:pt>
                <c:pt idx="156">
                  <c:v>0.42</c:v>
                </c:pt>
                <c:pt idx="157">
                  <c:v>0.61</c:v>
                </c:pt>
                <c:pt idx="158">
                  <c:v>0.85</c:v>
                </c:pt>
                <c:pt idx="159">
                  <c:v>0.71</c:v>
                </c:pt>
                <c:pt idx="160">
                  <c:v>0.37</c:v>
                </c:pt>
                <c:pt idx="161">
                  <c:v>0.22</c:v>
                </c:pt>
                <c:pt idx="162">
                  <c:v>0.16</c:v>
                </c:pt>
                <c:pt idx="163">
                  <c:v>0.13</c:v>
                </c:pt>
                <c:pt idx="164">
                  <c:v>0.19</c:v>
                </c:pt>
                <c:pt idx="165">
                  <c:v>0.34</c:v>
                </c:pt>
                <c:pt idx="166">
                  <c:v>0.66</c:v>
                </c:pt>
                <c:pt idx="167">
                  <c:v>0.41</c:v>
                </c:pt>
                <c:pt idx="168">
                  <c:v>0.65</c:v>
                </c:pt>
                <c:pt idx="169">
                  <c:v>0.59</c:v>
                </c:pt>
                <c:pt idx="170">
                  <c:v>0.61</c:v>
                </c:pt>
                <c:pt idx="171">
                  <c:v>0.29</c:v>
                </c:pt>
                <c:pt idx="172">
                  <c:v>0.34</c:v>
                </c:pt>
                <c:pt idx="173">
                  <c:v>0.29</c:v>
                </c:pt>
                <c:pt idx="174">
                  <c:v>0.17</c:v>
                </c:pt>
                <c:pt idx="175">
                  <c:v>0.05</c:v>
                </c:pt>
                <c:pt idx="176">
                  <c:v>0.06</c:v>
                </c:pt>
                <c:pt idx="177">
                  <c:v>0.05</c:v>
                </c:pt>
                <c:pt idx="178">
                  <c:v>0.06</c:v>
                </c:pt>
                <c:pt idx="179">
                  <c:v>0.05</c:v>
                </c:pt>
                <c:pt idx="180">
                  <c:v>0.03</c:v>
                </c:pt>
                <c:pt idx="181">
                  <c:v>0.01</c:v>
                </c:pt>
                <c:pt idx="182">
                  <c:v>0</c:v>
                </c:pt>
                <c:pt idx="183">
                  <c:v>0.01</c:v>
                </c:pt>
                <c:pt idx="184">
                  <c:v>0</c:v>
                </c:pt>
                <c:pt idx="185">
                  <c:v>0</c:v>
                </c:pt>
                <c:pt idx="186">
                  <c:v>0</c:v>
                </c:pt>
                <c:pt idx="187">
                  <c:v>0</c:v>
                </c:pt>
                <c:pt idx="188">
                  <c:v>0.01</c:v>
                </c:pt>
                <c:pt idx="189">
                  <c:v>0.01</c:v>
                </c:pt>
                <c:pt idx="190">
                  <c:v>0.01</c:v>
                </c:pt>
                <c:pt idx="191">
                  <c:v>0.01</c:v>
                </c:pt>
                <c:pt idx="192">
                  <c:v>0.01</c:v>
                </c:pt>
                <c:pt idx="193">
                  <c:v>0</c:v>
                </c:pt>
                <c:pt idx="194">
                  <c:v>0.01</c:v>
                </c:pt>
                <c:pt idx="195">
                  <c:v>0</c:v>
                </c:pt>
                <c:pt idx="196">
                  <c:v>0</c:v>
                </c:pt>
                <c:pt idx="197">
                  <c:v>0</c:v>
                </c:pt>
                <c:pt idx="198">
                  <c:v>0.01</c:v>
                </c:pt>
                <c:pt idx="199">
                  <c:v>0</c:v>
                </c:pt>
                <c:pt idx="200">
                  <c:v>0</c:v>
                </c:pt>
                <c:pt idx="201">
                  <c:v>0</c:v>
                </c:pt>
                <c:pt idx="202">
                  <c:v>0</c:v>
                </c:pt>
                <c:pt idx="203">
                  <c:v>0</c:v>
                </c:pt>
                <c:pt idx="204">
                  <c:v>0</c:v>
                </c:pt>
                <c:pt idx="205">
                  <c:v>0.01</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0.01</c:v>
                </c:pt>
                <c:pt idx="221">
                  <c:v>0.01</c:v>
                </c:pt>
                <c:pt idx="222">
                  <c:v>0</c:v>
                </c:pt>
                <c:pt idx="223">
                  <c:v>0</c:v>
                </c:pt>
                <c:pt idx="224">
                  <c:v>0</c:v>
                </c:pt>
                <c:pt idx="225">
                  <c:v>0</c:v>
                </c:pt>
                <c:pt idx="226">
                  <c:v>0</c:v>
                </c:pt>
                <c:pt idx="227">
                  <c:v>0.01</c:v>
                </c:pt>
                <c:pt idx="228">
                  <c:v>0.01</c:v>
                </c:pt>
                <c:pt idx="229">
                  <c:v>0.01</c:v>
                </c:pt>
                <c:pt idx="230">
                  <c:v>0.09</c:v>
                </c:pt>
                <c:pt idx="231">
                  <c:v>0.1</c:v>
                </c:pt>
                <c:pt idx="232">
                  <c:v>0.08</c:v>
                </c:pt>
                <c:pt idx="233">
                  <c:v>0.12</c:v>
                </c:pt>
                <c:pt idx="234">
                  <c:v>0.09</c:v>
                </c:pt>
                <c:pt idx="235">
                  <c:v>0.08</c:v>
                </c:pt>
                <c:pt idx="236">
                  <c:v>0.04</c:v>
                </c:pt>
                <c:pt idx="237">
                  <c:v>0.05</c:v>
                </c:pt>
                <c:pt idx="238">
                  <c:v>0.07</c:v>
                </c:pt>
                <c:pt idx="239">
                  <c:v>0.1</c:v>
                </c:pt>
                <c:pt idx="240">
                  <c:v>0.2</c:v>
                </c:pt>
                <c:pt idx="241">
                  <c:v>0.23</c:v>
                </c:pt>
                <c:pt idx="242">
                  <c:v>0.33</c:v>
                </c:pt>
                <c:pt idx="243">
                  <c:v>0.26</c:v>
                </c:pt>
                <c:pt idx="244">
                  <c:v>0.1</c:v>
                </c:pt>
                <c:pt idx="245">
                  <c:v>0.22</c:v>
                </c:pt>
                <c:pt idx="246">
                  <c:v>0.17</c:v>
                </c:pt>
                <c:pt idx="247">
                  <c:v>0.12</c:v>
                </c:pt>
                <c:pt idx="248">
                  <c:v>0.08</c:v>
                </c:pt>
                <c:pt idx="249">
                  <c:v>0.04</c:v>
                </c:pt>
                <c:pt idx="250">
                  <c:v>0.07</c:v>
                </c:pt>
                <c:pt idx="251">
                  <c:v>0.06</c:v>
                </c:pt>
                <c:pt idx="252">
                  <c:v>0.06</c:v>
                </c:pt>
                <c:pt idx="253">
                  <c:v>0.03</c:v>
                </c:pt>
                <c:pt idx="254">
                  <c:v>0.01</c:v>
                </c:pt>
                <c:pt idx="255">
                  <c:v>0.02</c:v>
                </c:pt>
                <c:pt idx="256">
                  <c:v>0.02</c:v>
                </c:pt>
                <c:pt idx="257">
                  <c:v>0.01</c:v>
                </c:pt>
                <c:pt idx="258">
                  <c:v>0.01</c:v>
                </c:pt>
                <c:pt idx="259">
                  <c:v>0.02</c:v>
                </c:pt>
                <c:pt idx="260">
                  <c:v>0.02</c:v>
                </c:pt>
                <c:pt idx="261">
                  <c:v>0.01</c:v>
                </c:pt>
                <c:pt idx="262">
                  <c:v>0.01</c:v>
                </c:pt>
                <c:pt idx="263">
                  <c:v>0.01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98A2C0"/>
                </a:solidFill>
                <a:latin typeface="+mn-lt"/>
              </a:defRPr>
            </a:pPr>
            <a:endParaRPr lang="en-US"/>
          </a:p>
        </c:txPr>
        <c:crossAx val="2094734552"/>
        <c:crosses val="autoZero"/>
        <c:auto val="1"/>
        <c:lblAlgn val="ctr"/>
        <c:noMultiLvlLbl val="1"/>
        <c:tickLblSkip val="1"/>
      </c:catAx>
      <c:valAx>
        <c:axId val="2094734552"/>
        <c:scaling>
          <c:orientation val="minMax"/>
        </c:scaling>
        <c:delete val="0"/>
        <c:axPos val="l"/>
        <c:majorGridlines>
          <c:spPr>
            <a:ln w="6350" cap="flat">
              <a:solidFill>
                <a:srgbClr val="2A3357"/>
              </a:solidFill>
              <a:prstDash val="solid"/>
              <a:round/>
            </a:ln>
          </c:spPr>
        </c:majorGridlines>
        <c:title>
          <c:tx>
            <c:rich>
              <a:bodyPr/>
              <a:lstStyle/>
              <a:p>
                <a:pPr>
                  <a:defRPr sz="1100" b="0" i="0" u="none" strike="noStrike">
                    <a:solidFill>
                      <a:srgbClr val="98A2C0"/>
                    </a:solidFill>
                    <a:latin typeface="+mn-lt"/>
                  </a:defRPr>
                </a:pPr>
                <a:r>
                  <a:rPr sz="1100" b="0" i="0" u="none" strike="noStrike">
                    <a:solidFill>
                      <a:srgbClr val="98A2C0"/>
                    </a:solidFill>
                    <a:latin typeface="+mn-lt"/>
                  </a:rPr>
                  <a:t>mm/h</a:t>
                </a:r>
              </a:p>
            </c:rich>
          </c:tx>
          <c:layout/>
          <c:overlay val="0"/>
        </c:title>
        <c:numFmt formatCode="General" sourceLinked="0"/>
        <c:majorTickMark val="out"/>
        <c:minorTickMark val="none"/>
        <c:tickLblPos val="nextTo"/>
        <c:spPr>
          <a:ln w="12700" cap="flat">
            <a:noFill/>
            <a:prstDash val="solid"/>
            <a:round/>
          </a:ln>
        </c:spPr>
        <c:txPr>
          <a:bodyPr/>
          <a:lstStyle/>
          <a:p>
            <a:pPr>
              <a:defRPr sz="1100" b="0" i="0" u="none" strike="noStrike">
                <a:solidFill>
                  <a:srgbClr val="98A2C0"/>
                </a:solidFill>
                <a:latin typeface="+mn-lt"/>
              </a:defRPr>
            </a:pPr>
            <a:endParaRPr lang="en-US"/>
          </a:p>
        </c:txPr>
        <c:crossAx val="2094734554"/>
        <c:crosses val="autoZero"/>
        <c:crossBetween val="between"/>
      </c:valAx>
      <c:spPr>
        <a:noFill/>
        <a:ln>
          <a:noFill/>
        </a:ln>
        <a:effectLst/>
      </c:spPr>
    </c:plotArea>
    <c:legend>
      <c:legendPos val="r"/>
      <c:overlay val="0"/>
      <c:txPr>
        <a:bodyPr/>
        <a:lstStyle/>
        <a:p>
          <a:pPr>
            <a:defRPr sz="1150">
              <a:solidFill>
                <a:srgbClr val="D7DDE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[0:00–0:19] Imagine you’re running deliveries in Mumbai. Your dashboard says: “Heavy rain in Mumbai.” Do you stop the whole city? On 26 July 2005, Santacruz got 944 millimetres of rain. Colaba, 20 kilometres away, got 73. The problem isn’t weather data. It’s knowing what to do, zone by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[0:19–0:37] But Jio may already own infrastructure that can carry a signal about that rain. Rain weakens microwave signals between telecom sites. Measure the extra loss and you can estimate rain along each link. JioMausam combines that with radar and gauges into alerts businesses can act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[0:37–0:58] Sounds great? We thought so too. The physics is well established, so we tested it ourselves: 500 real links from a public dataset in Germany, not Jio’s. The links tracked radar closely, but alone they caught only 68% of rain events. Our bar is 80%. That gap told us how to build JioMausam.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[0:58–1:15] So we don’t bet on one sensor. Accuracy decides the mix: Jio’s links, network-health data to filter out faults, radar, gauges, satellite. The pilot tests every combination against held-out gauges. The answer isn’t “Jio only”. It’s the cheapest mix that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[1:15–1:32] Before selling to Swiggy, where do we prove it? Inside Reliance, starting with Jio. A signal drops: is it rain, or is something broken? If JioMausam can answer that before a crew goes out, that’s real value. Then JioMart tests commercial value; MyJio tests 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[1:32–1:49] Once that works, the same intelligence goes outside. Rain hits Zone A. JioMausam flags it. The platform decides whether to reroute, delay or raise incentives. That’s the product: not a prettier weather map, but a signal that changes a business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[1:49–2:04] So why Jio? Not because it invented the physics. The edge is integration: Jio’s signal, JioMausam’s intelligence, Reliance’s proving ground and reach. We can monetise the intelligence outside and create savings inside Reliance, even if insurance never launches.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[2:04–2:22] Kavach is where we started: protection for workers. Then we stress-tested it. Who pays? Is the trigger accurate? Can an insurer price it? The insurance isn’t the business; the intelligence underneath it is. So Kavach becomes one application, only after the accuracy and actuarial gates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[2:22–2:39] If we offer it, Indian weather risk sets the starting point for the price. From 25 years of IMD records: about 45 rupees a month in Mumbai, 52 in Nagpur, 29 in Ahmedabad, and 208 for Mumbai Plus. All illustrative until actuarial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[2:39–3:00] We’re not asking you to believe us. We’re asking Jio to test it. Ninety days, three questions. Does Jio have the coverage? Does the combined system clear our bar? Does it improve a real Reliance operation? If yes, scale. If not, stop. First prove the signal. Then sell the intelligence. Protection comes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NIGHT-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IGH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slideLayout" Target="../slideLayouts/slideLayout2.xml"/><Relationship Id="rId1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5" Type="http://schemas.openxmlformats.org/officeDocument/2006/relationships/chart" Target="/ppt/charts/chart2.xml"/><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2.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t"/>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2/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9144000" cy="274320"/>
          </a:xfrm>
          <a:prstGeom prst="rect">
            <a:avLst/>
          </a:prstGeom>
          <a:noFill/>
          <a:ln/>
        </p:spPr>
        <p:txBody>
          <a:bodyPr wrap="square" lIns="0" tIns="0" rIns="0" bIns="0" rtlCol="0" anchor="t"/>
          <a:lstStyle/>
          <a:p>
            <a:pPr indent="0" marL="0">
              <a:buNone/>
            </a:pPr>
            <a:r>
              <a:rPr lang="en-US" sz="1100" b="1" spc="300" kern="0" dirty="0">
                <a:solidFill>
                  <a:srgbClr val="F5A623"/>
                </a:solidFill>
                <a:latin typeface="Calibri" pitchFamily="34" charset="0"/>
                <a:ea typeface="Calibri" pitchFamily="34" charset="-122"/>
                <a:cs typeface="Calibri" pitchFamily="34" charset="-120"/>
              </a:rPr>
              <a:t>THE PROBLEM</a:t>
            </a:r>
            <a:endParaRPr lang="en-US" sz="1100" dirty="0"/>
          </a:p>
        </p:txBody>
      </p:sp>
      <p:sp>
        <p:nvSpPr>
          <p:cNvPr id="5" name="title"/>
          <p:cNvSpPr txBox="1"/>
          <p:nvPr/>
        </p:nvSpPr>
        <p:spPr>
          <a:xfrm>
            <a:off x="548640" y="1170432"/>
            <a:ext cx="11094415"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India has a weather-decision problem</a:t>
            </a:r>
            <a:endParaRPr lang="en-US" sz="3200" dirty="0"/>
          </a:p>
        </p:txBody>
      </p:sp>
      <p:sp>
        <p:nvSpPr>
          <p:cNvPr id="6" name="hlCard"/>
          <p:cNvSpPr/>
          <p:nvPr/>
        </p:nvSpPr>
        <p:spPr>
          <a:xfrm>
            <a:off x="548640" y="2103120"/>
            <a:ext cx="4572000" cy="3474720"/>
          </a:xfrm>
          <a:prstGeom prst="roundRect">
            <a:avLst>
              <a:gd name="adj" fmla="val 3158"/>
            </a:avLst>
          </a:prstGeom>
          <a:solidFill>
            <a:srgbClr val="141B36"/>
          </a:solidFill>
          <a:ln w="9525">
            <a:solidFill>
              <a:srgbClr val="2A3357"/>
            </a:solidFill>
            <a:prstDash val="solid"/>
          </a:ln>
        </p:spPr>
      </p:sp>
      <p:sp>
        <p:nvSpPr>
          <p:cNvPr id="7" name="hlHead"/>
          <p:cNvSpPr txBox="1"/>
          <p:nvPr/>
        </p:nvSpPr>
        <p:spPr>
          <a:xfrm>
            <a:off x="822960" y="2267712"/>
            <a:ext cx="4114800" cy="731520"/>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Same city. Different weather.</a:t>
            </a:r>
            <a:endParaRPr lang="en-US" sz="1900" dirty="0"/>
          </a:p>
          <a:p>
            <a:pPr indent="0" marL="0">
              <a:buNone/>
            </a:pPr>
            <a:r>
              <a:rPr lang="en-US" sz="1250" dirty="0">
                <a:solidFill>
                  <a:srgbClr val="B9C2D8"/>
                </a:solidFill>
                <a:latin typeface="Calibri" pitchFamily="34" charset="0"/>
                <a:ea typeface="Calibri" pitchFamily="34" charset="-122"/>
                <a:cs typeface="Calibri" pitchFamily="34" charset="-120"/>
              </a:rPr>
              <a:t>Rainfall (mm) · IMD · 26 July 2005 · stations 20 km apart</a:t>
            </a:r>
            <a:endParaRPr lang="en-US" sz="1900" dirty="0"/>
          </a:p>
        </p:txBody>
      </p:sp>
      <p:graphicFrame>
        <p:nvGraphicFramePr>
          <p:cNvPr id="8" name="hlChart" descr=""/>
          <p:cNvGraphicFramePr/>
          <p:nvPr/>
        </p:nvGraphicFramePr>
        <p:xfrm>
          <a:off x="685800" y="3017520"/>
          <a:ext cx="4297680" cy="2468880"/>
        </p:xfrm>
        <a:graphic xmlns:a="http://schemas.openxmlformats.org/drawingml/2006/main">
          <a:graphicData uri="http://schemas.openxmlformats.org/drawingml/2006/chart">
            <c:chart xmlns:c="http://schemas.openxmlformats.org/drawingml/2006/chart" r:id="rId2"/>
          </a:graphicData>
        </a:graphic>
      </p:graphicFrame>
      <p:sp>
        <p:nvSpPr>
          <p:cNvPr id="9" name="knowCard"/>
          <p:cNvSpPr/>
          <p:nvPr/>
        </p:nvSpPr>
        <p:spPr>
          <a:xfrm>
            <a:off x="5440680" y="2103120"/>
            <a:ext cx="6199632" cy="914400"/>
          </a:xfrm>
          <a:prstGeom prst="roundRect">
            <a:avLst>
              <a:gd name="adj" fmla="val 12000"/>
            </a:avLst>
          </a:prstGeom>
          <a:solidFill>
            <a:srgbClr val="141B36"/>
          </a:solidFill>
          <a:ln w="9525">
            <a:solidFill>
              <a:srgbClr val="2A3357"/>
            </a:solidFill>
            <a:prstDash val="solid"/>
          </a:ln>
        </p:spPr>
      </p:sp>
      <p:sp>
        <p:nvSpPr>
          <p:cNvPr id="10" name="knowT"/>
          <p:cNvSpPr txBox="1"/>
          <p:nvPr/>
        </p:nvSpPr>
        <p:spPr>
          <a:xfrm>
            <a:off x="5715000" y="2212848"/>
            <a:ext cx="5760720" cy="731520"/>
          </a:xfrm>
          <a:prstGeom prst="rect">
            <a:avLst/>
          </a:prstGeom>
          <a:noFill/>
          <a:ln/>
        </p:spPr>
        <p:txBody>
          <a:bodyPr wrap="square" lIns="0" tIns="0" rIns="0" bIns="0" rtlCol="0" anchor="t"/>
          <a:lstStyle/>
          <a:p>
            <a:pPr indent="0" marL="0">
              <a:buNone/>
            </a:pPr>
            <a:r>
              <a:rPr lang="en-US" sz="1050" b="1" spc="200" kern="0" dirty="0">
                <a:solidFill>
                  <a:srgbClr val="98A2C0"/>
                </a:solidFill>
                <a:latin typeface="Calibri" pitchFamily="34" charset="0"/>
                <a:ea typeface="Calibri" pitchFamily="34" charset="-122"/>
                <a:cs typeface="Calibri" pitchFamily="34" charset="-120"/>
              </a:rPr>
              <a:t>WHAT A CITY-LEVEL ALERT SAYS</a:t>
            </a:r>
            <a:endParaRPr lang="en-US" sz="1050" dirty="0"/>
          </a:p>
          <a:p>
            <a:pPr indent="0" marL="0">
              <a:buNone/>
            </a:pPr>
            <a:r>
              <a:rPr lang="en-US" sz="2000" i="1" dirty="0">
                <a:solidFill>
                  <a:srgbClr val="FFFFFF"/>
                </a:solidFill>
                <a:latin typeface="Cambria" pitchFamily="34" charset="0"/>
                <a:ea typeface="Cambria" pitchFamily="34" charset="-122"/>
                <a:cs typeface="Cambria" pitchFamily="34" charset="-120"/>
              </a:rPr>
              <a:t>“Heavy rain in Mumbai.”</a:t>
            </a:r>
            <a:endParaRPr lang="en-US" sz="1050" dirty="0"/>
          </a:p>
        </p:txBody>
      </p:sp>
      <p:sp>
        <p:nvSpPr>
          <p:cNvPr id="11" name="knowA"/>
          <p:cNvSpPr/>
          <p:nvPr/>
        </p:nvSpPr>
        <p:spPr>
          <a:xfrm>
            <a:off x="8540496" y="3017520"/>
            <a:ext cx="914" cy="228600"/>
          </a:xfrm>
          <a:prstGeom prst="line">
            <a:avLst/>
          </a:prstGeom>
          <a:noFill/>
          <a:ln w="19050">
            <a:solidFill>
              <a:srgbClr val="5A6690"/>
            </a:solidFill>
            <a:prstDash val="solid"/>
            <a:tailEnd type="triangle"/>
          </a:ln>
        </p:spPr>
      </p:sp>
      <p:sp>
        <p:nvSpPr>
          <p:cNvPr id="12" name="needCard"/>
          <p:cNvSpPr/>
          <p:nvPr/>
        </p:nvSpPr>
        <p:spPr>
          <a:xfrm>
            <a:off x="5440680" y="3246120"/>
            <a:ext cx="6199632" cy="914400"/>
          </a:xfrm>
          <a:prstGeom prst="roundRect">
            <a:avLst>
              <a:gd name="adj" fmla="val 12000"/>
            </a:avLst>
          </a:prstGeom>
          <a:solidFill>
            <a:srgbClr val="1C2447"/>
          </a:solidFill>
          <a:ln w="15875">
            <a:solidFill>
              <a:srgbClr val="F5A623"/>
            </a:solidFill>
            <a:prstDash val="solid"/>
          </a:ln>
        </p:spPr>
      </p:sp>
      <p:sp>
        <p:nvSpPr>
          <p:cNvPr id="13" name="needT"/>
          <p:cNvSpPr txBox="1"/>
          <p:nvPr/>
        </p:nvSpPr>
        <p:spPr>
          <a:xfrm>
            <a:off x="5715000" y="3355848"/>
            <a:ext cx="5760720" cy="731520"/>
          </a:xfrm>
          <a:prstGeom prst="rect">
            <a:avLst/>
          </a:prstGeom>
          <a:noFill/>
          <a:ln/>
        </p:spPr>
        <p:txBody>
          <a:bodyPr wrap="square" lIns="0" tIns="0" rIns="0" bIns="0" rtlCol="0" anchor="t"/>
          <a:lstStyle/>
          <a:p>
            <a:pPr indent="0" marL="0">
              <a:buNone/>
            </a:pPr>
            <a:r>
              <a:rPr lang="en-US" sz="1050" b="1" spc="200" kern="0" dirty="0">
                <a:solidFill>
                  <a:srgbClr val="F5A623"/>
                </a:solidFill>
                <a:latin typeface="Calibri" pitchFamily="34" charset="0"/>
                <a:ea typeface="Calibri" pitchFamily="34" charset="-122"/>
                <a:cs typeface="Calibri" pitchFamily="34" charset="-120"/>
              </a:rPr>
              <a:t>WHAT IT NEEDS TO DECIDE</a:t>
            </a:r>
            <a:endParaRPr lang="en-US" sz="1050" dirty="0"/>
          </a:p>
          <a:p>
            <a:pPr indent="0" marL="0">
              <a:buNone/>
            </a:pPr>
            <a:r>
              <a:rPr lang="en-US" sz="2000" i="1" dirty="0">
                <a:solidFill>
                  <a:srgbClr val="FFFFFF"/>
                </a:solidFill>
                <a:latin typeface="Cambria" pitchFamily="34" charset="0"/>
                <a:ea typeface="Cambria" pitchFamily="34" charset="-122"/>
                <a:cs typeface="Cambria" pitchFamily="34" charset="-120"/>
              </a:rPr>
              <a:t>“Which zones do I act on, right now?”</a:t>
            </a:r>
            <a:endParaRPr lang="en-US" sz="1050" dirty="0"/>
          </a:p>
        </p:txBody>
      </p:sp>
      <p:sp>
        <p:nvSpPr>
          <p:cNvPr id="14" name="imp0"/>
          <p:cNvSpPr/>
          <p:nvPr/>
        </p:nvSpPr>
        <p:spPr>
          <a:xfrm>
            <a:off x="5440680" y="4389120"/>
            <a:ext cx="3044952" cy="1188720"/>
          </a:xfrm>
          <a:prstGeom prst="roundRect">
            <a:avLst>
              <a:gd name="adj" fmla="val 9231"/>
            </a:avLst>
          </a:prstGeom>
          <a:solidFill>
            <a:srgbClr val="141B36"/>
          </a:solidFill>
          <a:ln w="9525">
            <a:solidFill>
              <a:srgbClr val="2A3357"/>
            </a:solidFill>
            <a:prstDash val="solid"/>
          </a:ln>
        </p:spPr>
      </p:sp>
      <p:pic>
        <p:nvPicPr>
          <p:cNvPr id="15" name="impI0" descr="preencoded.png">    </p:cNvPr>
          <p:cNvPicPr>
            <a:picLocks noChangeAspect="1"/>
          </p:cNvPicPr>
          <p:nvPr/>
        </p:nvPicPr>
        <p:blipFill>
          <a:blip r:embed="rId3"/>
          <a:stretch>
            <a:fillRect/>
          </a:stretch>
        </p:blipFill>
        <p:spPr>
          <a:xfrm>
            <a:off x="5641848" y="4590288"/>
            <a:ext cx="365760" cy="365760"/>
          </a:xfrm>
          <a:prstGeom prst="rect">
            <a:avLst/>
          </a:prstGeom>
        </p:spPr>
      </p:pic>
      <p:sp>
        <p:nvSpPr>
          <p:cNvPr id="16" name="impT0"/>
          <p:cNvSpPr txBox="1"/>
          <p:nvPr/>
        </p:nvSpPr>
        <p:spPr>
          <a:xfrm>
            <a:off x="6153912" y="4553712"/>
            <a:ext cx="2240280" cy="914400"/>
          </a:xfrm>
          <a:prstGeom prst="rect">
            <a:avLst/>
          </a:prstGeom>
          <a:noFill/>
          <a:ln/>
        </p:spPr>
        <p:txBody>
          <a:bodyPr wrap="square" lIns="0" tIns="0" rIns="0" bIns="0" rtlCol="0" anchor="t"/>
          <a:lstStyle/>
          <a:p>
            <a:pPr indent="0" marL="0">
              <a:buNone/>
            </a:pPr>
            <a:r>
              <a:rPr lang="en-US" sz="1550" b="1" dirty="0">
                <a:solidFill>
                  <a:srgbClr val="FFFFFF"/>
                </a:solidFill>
                <a:latin typeface="Calibri" pitchFamily="34" charset="0"/>
                <a:ea typeface="Calibri" pitchFamily="34" charset="-122"/>
                <a:cs typeface="Calibri" pitchFamily="34" charset="-120"/>
              </a:rPr>
              <a:t>Businesses decide blind</a:t>
            </a:r>
            <a:endParaRPr lang="en-US" sz="1550" dirty="0"/>
          </a:p>
          <a:p>
            <a:pPr indent="0" marL="0">
              <a:buNone/>
            </a:pPr>
            <a:r>
              <a:rPr lang="en-US" sz="1300" dirty="0">
                <a:solidFill>
                  <a:srgbClr val="B9C2D8"/>
                </a:solidFill>
                <a:latin typeface="Calibri" pitchFamily="34" charset="0"/>
                <a:ea typeface="Calibri" pitchFamily="34" charset="-122"/>
                <a:cs typeface="Calibri" pitchFamily="34" charset="-120"/>
              </a:rPr>
              <a:t>dispatch, incentives, delivery times</a:t>
            </a:r>
            <a:endParaRPr lang="en-US" sz="1550" dirty="0"/>
          </a:p>
        </p:txBody>
      </p:sp>
      <p:sp>
        <p:nvSpPr>
          <p:cNvPr id="17" name="imp1"/>
          <p:cNvSpPr/>
          <p:nvPr/>
        </p:nvSpPr>
        <p:spPr>
          <a:xfrm>
            <a:off x="8595360" y="4389120"/>
            <a:ext cx="3044952" cy="1188720"/>
          </a:xfrm>
          <a:prstGeom prst="roundRect">
            <a:avLst>
              <a:gd name="adj" fmla="val 9231"/>
            </a:avLst>
          </a:prstGeom>
          <a:solidFill>
            <a:srgbClr val="141B36"/>
          </a:solidFill>
          <a:ln w="9525">
            <a:solidFill>
              <a:srgbClr val="2A3357"/>
            </a:solidFill>
            <a:prstDash val="solid"/>
          </a:ln>
        </p:spPr>
      </p:sp>
      <p:pic>
        <p:nvPicPr>
          <p:cNvPr id="18" name="impI1" descr="preencoded.png">    </p:cNvPr>
          <p:cNvPicPr>
            <a:picLocks noChangeAspect="1"/>
          </p:cNvPicPr>
          <p:nvPr/>
        </p:nvPicPr>
        <p:blipFill>
          <a:blip r:embed="rId4"/>
          <a:stretch>
            <a:fillRect/>
          </a:stretch>
        </p:blipFill>
        <p:spPr>
          <a:xfrm>
            <a:off x="8796528" y="4590288"/>
            <a:ext cx="365760" cy="365760"/>
          </a:xfrm>
          <a:prstGeom prst="rect">
            <a:avLst/>
          </a:prstGeom>
        </p:spPr>
      </p:pic>
      <p:sp>
        <p:nvSpPr>
          <p:cNvPr id="19" name="impT1"/>
          <p:cNvSpPr txBox="1"/>
          <p:nvPr/>
        </p:nvSpPr>
        <p:spPr>
          <a:xfrm>
            <a:off x="9308592" y="4553712"/>
            <a:ext cx="2240280" cy="914400"/>
          </a:xfrm>
          <a:prstGeom prst="rect">
            <a:avLst/>
          </a:prstGeom>
          <a:noFill/>
          <a:ln/>
        </p:spPr>
        <p:txBody>
          <a:bodyPr wrap="square" lIns="0" tIns="0" rIns="0" bIns="0" rtlCol="0" anchor="t"/>
          <a:lstStyle/>
          <a:p>
            <a:pPr indent="0" marL="0">
              <a:buNone/>
            </a:pPr>
            <a:r>
              <a:rPr lang="en-US" sz="1550" b="1" dirty="0">
                <a:solidFill>
                  <a:srgbClr val="FFFFFF"/>
                </a:solidFill>
                <a:latin typeface="Calibri" pitchFamily="34" charset="0"/>
                <a:ea typeface="Calibri" pitchFamily="34" charset="-122"/>
                <a:cs typeface="Calibri" pitchFamily="34" charset="-120"/>
              </a:rPr>
              <a:t>Workers carry the loss</a:t>
            </a:r>
            <a:endParaRPr lang="en-US" sz="1550" dirty="0"/>
          </a:p>
          <a:p>
            <a:pPr indent="0" marL="0">
              <a:buNone/>
            </a:pPr>
            <a:r>
              <a:rPr lang="en-US" sz="1300" dirty="0">
                <a:solidFill>
                  <a:srgbClr val="B9C2D8"/>
                </a:solidFill>
                <a:latin typeface="Calibri" pitchFamily="34" charset="0"/>
                <a:ea typeface="Calibri" pitchFamily="34" charset="-122"/>
                <a:cs typeface="Calibri" pitchFamily="34" charset="-120"/>
              </a:rPr>
              <a:t>income and safety, street by street</a:t>
            </a:r>
            <a:endParaRPr lang="en-US" sz="1550" dirty="0"/>
          </a:p>
        </p:txBody>
      </p:sp>
      <p:sp>
        <p:nvSpPr>
          <p:cNvPr id="20" name="takeaway"/>
          <p:cNvSpPr txBox="1"/>
          <p:nvPr/>
        </p:nvSpPr>
        <p:spPr>
          <a:xfrm>
            <a:off x="548640" y="5852160"/>
            <a:ext cx="11094415" cy="457200"/>
          </a:xfrm>
          <a:prstGeom prst="rect">
            <a:avLst/>
          </a:prstGeom>
          <a:noFill/>
          <a:ln/>
        </p:spPr>
        <p:txBody>
          <a:bodyPr wrap="square" lIns="0" tIns="0" rIns="0" bIns="0" rtlCol="0" anchor="t"/>
          <a:lstStyle/>
          <a:p>
            <a:pPr indent="0" marL="0">
              <a:buNone/>
            </a:pPr>
            <a:r>
              <a:rPr lang="en-US" sz="1800" b="1" i="1" dirty="0">
                <a:solidFill>
                  <a:srgbClr val="F5A623"/>
                </a:solidFill>
                <a:latin typeface="Cambria" pitchFamily="34" charset="0"/>
                <a:ea typeface="Cambria" pitchFamily="34" charset="-122"/>
                <a:cs typeface="Cambria" pitchFamily="34" charset="-120"/>
              </a:rPr>
              <a:t>Weather is lived street by street. Decisions are still made city by city.</a:t>
            </a:r>
            <a:endParaRPr lang="en-US" sz="1800" dirty="0"/>
          </a:p>
        </p:txBody>
      </p:sp>
      <p:sp>
        <p:nvSpPr>
          <p:cNvPr id="21" name="source"/>
          <p:cNvSpPr txBox="1"/>
          <p:nvPr/>
        </p:nvSpPr>
        <p:spPr>
          <a:xfrm>
            <a:off x="548640" y="6419088"/>
            <a:ext cx="11094415" cy="274320"/>
          </a:xfrm>
          <a:prstGeom prst="rect">
            <a:avLst/>
          </a:prstGeom>
          <a:noFill/>
          <a:ln/>
        </p:spPr>
        <p:txBody>
          <a:bodyPr wrap="square" lIns="0" tIns="0" rIns="0" bIns="0" rtlCol="0" anchor="t"/>
          <a:lstStyle/>
          <a:p>
            <a:pPr indent="0" marL="0">
              <a:buNone/>
            </a:pPr>
            <a:r>
              <a:rPr lang="en-US" sz="1000" dirty="0">
                <a:solidFill>
                  <a:srgbClr val="7A85A8"/>
                </a:solidFill>
                <a:latin typeface="Calibri" pitchFamily="34" charset="0"/>
                <a:ea typeface="Calibri" pitchFamily="34" charset="-122"/>
                <a:cs typeface="Calibri" pitchFamily="34" charset="-120"/>
              </a:rPr>
              <a:t>Rainfall: India Meteorological Department, 26 July 2005.</a:t>
            </a:r>
            <a:endParaRPr lang="en-US" sz="10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88"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00"/>
                                        <p:tgtEl>
                                          <p:spTgt spid="4"/>
                                        </p:tgtEl>
                                      </p:cBhvr>
                                    </p:animEffect>
                                  </p:childTnLst>
                                </p:cTn>
                              </p:par>
                              <p:par>
                                <p:cTn id="7" presetID="42" presetClass="entr" presetSubtype="0" fill="hold" grpId="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650"/>
                                        <p:tgtEl>
                                          <p:spTgt spid="5"/>
                                        </p:tgtEl>
                                      </p:cBhvr>
                                    </p:animEffect>
                                    <p:anim calcmode="lin" valueType="num">
                                      <p:cBhvr>
                                        <p:cTn id="10" dur="650" fill="hold"/>
                                        <p:tgtEl>
                                          <p:spTgt spid="5"/>
                                        </p:tgtEl>
                                        <p:attrNameLst>
                                          <p:attrName>ppt_x</p:attrName>
                                        </p:attrNameLst>
                                      </p:cBhvr>
                                      <p:tavLst>
                                        <p:tav tm="0">
                                          <p:val>
                                            <p:strVal val="#ppt_x"/>
                                          </p:val>
                                        </p:tav>
                                        <p:tav tm="100000">
                                          <p:val>
                                            <p:strVal val="#ppt_x"/>
                                          </p:val>
                                        </p:tav>
                                      </p:tavLst>
                                    </p:anim>
                                    <p:anim calcmode="lin" valueType="num">
                                      <p:cBhvr>
                                        <p:cTn id="11" dur="65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750"/>
                            </p:stCondLst>
                            <p:childTnLst>
                              <p:par>
                                <p:cTn id="13" presetID="10" presetClass="entr" presetSubtype="0" fill="hold" grpId="0" nodeType="afterEffect">
                                  <p:stCondLst>
                                    <p:cond delay="5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childTnLst>
                          </p:cTn>
                        </p:par>
                        <p:par>
                          <p:cTn id="19" fill="hold">
                            <p:stCondLst>
                              <p:cond delay="1250"/>
                            </p:stCondLst>
                            <p:childTnLst>
                              <p:par>
                                <p:cTn id="20" presetID="22" presetClass="entr" presetSubtype="4"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800"/>
                                        <p:tgtEl>
                                          <p:spTgt spid="8"/>
                                        </p:tgtEl>
                                      </p:cBhvr>
                                    </p:animEffect>
                                  </p:childTnLst>
                                </p:cTn>
                              </p:par>
                            </p:childTnLst>
                          </p:cTn>
                        </p:par>
                        <p:par>
                          <p:cTn id="23" fill="hold">
                            <p:stCondLst>
                              <p:cond delay="2050"/>
                            </p:stCondLst>
                            <p:childTnLst>
                              <p:par>
                                <p:cTn id="24" presetID="42" presetClass="entr" presetSubtype="0" fill="hold" grpId="0" nodeType="afterEffect">
                                  <p:stCondLst>
                                    <p:cond delay="5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50"/>
                                        <p:tgtEl>
                                          <p:spTgt spid="9"/>
                                        </p:tgtEl>
                                      </p:cBhvr>
                                    </p:animEffect>
                                    <p:anim calcmode="lin" valueType="num">
                                      <p:cBhvr>
                                        <p:cTn id="27" dur="450" fill="hold"/>
                                        <p:tgtEl>
                                          <p:spTgt spid="9"/>
                                        </p:tgtEl>
                                        <p:attrNameLst>
                                          <p:attrName>ppt_x</p:attrName>
                                        </p:attrNameLst>
                                      </p:cBhvr>
                                      <p:tavLst>
                                        <p:tav tm="0">
                                          <p:val>
                                            <p:strVal val="#ppt_x"/>
                                          </p:val>
                                        </p:tav>
                                        <p:tav tm="100000">
                                          <p:val>
                                            <p:strVal val="#ppt_x"/>
                                          </p:val>
                                        </p:tav>
                                      </p:tavLst>
                                    </p:anim>
                                    <p:anim calcmode="lin" valueType="num">
                                      <p:cBhvr>
                                        <p:cTn id="28" dur="450" fill="hold"/>
                                        <p:tgtEl>
                                          <p:spTgt spid="9"/>
                                        </p:tgtEl>
                                        <p:attrNameLst>
                                          <p:attrName>ppt_y</p:attrName>
                                        </p:attrNameLst>
                                      </p:cBhvr>
                                      <p:tavLst>
                                        <p:tav tm="0">
                                          <p:val>
                                            <p:strVal val="#ppt_y+.06"/>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50"/>
                                        <p:tgtEl>
                                          <p:spTgt spid="10"/>
                                        </p:tgtEl>
                                      </p:cBhvr>
                                    </p:animEffect>
                                    <p:anim calcmode="lin" valueType="num">
                                      <p:cBhvr>
                                        <p:cTn id="32" dur="450" fill="hold"/>
                                        <p:tgtEl>
                                          <p:spTgt spid="10"/>
                                        </p:tgtEl>
                                        <p:attrNameLst>
                                          <p:attrName>ppt_x</p:attrName>
                                        </p:attrNameLst>
                                      </p:cBhvr>
                                      <p:tavLst>
                                        <p:tav tm="0">
                                          <p:val>
                                            <p:strVal val="#ppt_x"/>
                                          </p:val>
                                        </p:tav>
                                        <p:tav tm="100000">
                                          <p:val>
                                            <p:strVal val="#ppt_x"/>
                                          </p:val>
                                        </p:tav>
                                      </p:tavLst>
                                    </p:anim>
                                    <p:anim calcmode="lin" valueType="num">
                                      <p:cBhvr>
                                        <p:cTn id="33" dur="450" fill="hold"/>
                                        <p:tgtEl>
                                          <p:spTgt spid="10"/>
                                        </p:tgtEl>
                                        <p:attrNameLst>
                                          <p:attrName>ppt_y</p:attrName>
                                        </p:attrNameLst>
                                      </p:cBhvr>
                                      <p:tavLst>
                                        <p:tav tm="0">
                                          <p:val>
                                            <p:strVal val="#ppt_y+.06"/>
                                          </p:val>
                                        </p:tav>
                                        <p:tav tm="100000">
                                          <p:val>
                                            <p:strVal val="#ppt_y"/>
                                          </p:val>
                                        </p:tav>
                                      </p:tavLst>
                                    </p:anim>
                                  </p:childTnLst>
                                </p:cTn>
                              </p:par>
                            </p:childTnLst>
                          </p:cTn>
                        </p:par>
                        <p:par>
                          <p:cTn id="34" fill="hold">
                            <p:stCondLst>
                              <p:cond delay="2550"/>
                            </p:stCondLst>
                            <p:childTnLst>
                              <p:par>
                                <p:cTn id="35" presetID="10" presetClass="entr" presetSubtype="0" fill="hold" grpId="0" nodeType="after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250"/>
                                        <p:tgtEl>
                                          <p:spTgt spid="11"/>
                                        </p:tgtEl>
                                      </p:cBhvr>
                                    </p:animEffect>
                                  </p:childTnLst>
                                </p:cTn>
                              </p:par>
                            </p:childTnLst>
                          </p:cTn>
                        </p:par>
                        <p:par>
                          <p:cTn id="38" fill="hold">
                            <p:stCondLst>
                              <p:cond delay="2800"/>
                            </p:stCondLst>
                            <p:childTnLst>
                              <p:par>
                                <p:cTn id="39" presetID="42" presetClass="entr" presetSubtype="0" fill="hold" grpId="0" nodeType="after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450"/>
                                        <p:tgtEl>
                                          <p:spTgt spid="12"/>
                                        </p:tgtEl>
                                      </p:cBhvr>
                                    </p:animEffect>
                                    <p:anim calcmode="lin" valueType="num">
                                      <p:cBhvr>
                                        <p:cTn id="42" dur="450" fill="hold"/>
                                        <p:tgtEl>
                                          <p:spTgt spid="12"/>
                                        </p:tgtEl>
                                        <p:attrNameLst>
                                          <p:attrName>ppt_x</p:attrName>
                                        </p:attrNameLst>
                                      </p:cBhvr>
                                      <p:tavLst>
                                        <p:tav tm="0">
                                          <p:val>
                                            <p:strVal val="#ppt_x"/>
                                          </p:val>
                                        </p:tav>
                                        <p:tav tm="100000">
                                          <p:val>
                                            <p:strVal val="#ppt_x"/>
                                          </p:val>
                                        </p:tav>
                                      </p:tavLst>
                                    </p:anim>
                                    <p:anim calcmode="lin" valueType="num">
                                      <p:cBhvr>
                                        <p:cTn id="43" dur="450" fill="hold"/>
                                        <p:tgtEl>
                                          <p:spTgt spid="12"/>
                                        </p:tgtEl>
                                        <p:attrNameLst>
                                          <p:attrName>ppt_y</p:attrName>
                                        </p:attrNameLst>
                                      </p:cBhvr>
                                      <p:tavLst>
                                        <p:tav tm="0">
                                          <p:val>
                                            <p:strVal val="#ppt_y+.06"/>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450"/>
                                        <p:tgtEl>
                                          <p:spTgt spid="13"/>
                                        </p:tgtEl>
                                      </p:cBhvr>
                                    </p:animEffect>
                                    <p:anim calcmode="lin" valueType="num">
                                      <p:cBhvr>
                                        <p:cTn id="47" dur="450" fill="hold"/>
                                        <p:tgtEl>
                                          <p:spTgt spid="13"/>
                                        </p:tgtEl>
                                        <p:attrNameLst>
                                          <p:attrName>ppt_x</p:attrName>
                                        </p:attrNameLst>
                                      </p:cBhvr>
                                      <p:tavLst>
                                        <p:tav tm="0">
                                          <p:val>
                                            <p:strVal val="#ppt_x"/>
                                          </p:val>
                                        </p:tav>
                                        <p:tav tm="100000">
                                          <p:val>
                                            <p:strVal val="#ppt_x"/>
                                          </p:val>
                                        </p:tav>
                                      </p:tavLst>
                                    </p:anim>
                                    <p:anim calcmode="lin" valueType="num">
                                      <p:cBhvr>
                                        <p:cTn id="48" dur="450" fill="hold"/>
                                        <p:tgtEl>
                                          <p:spTgt spid="13"/>
                                        </p:tgtEl>
                                        <p:attrNameLst>
                                          <p:attrName>ppt_y</p:attrName>
                                        </p:attrNameLst>
                                      </p:cBhvr>
                                      <p:tavLst>
                                        <p:tav tm="0">
                                          <p:val>
                                            <p:strVal val="#ppt_y+.06"/>
                                          </p:val>
                                        </p:tav>
                                        <p:tav tm="100000">
                                          <p:val>
                                            <p:strVal val="#ppt_y"/>
                                          </p:val>
                                        </p:tav>
                                      </p:tavLst>
                                    </p:anim>
                                  </p:childTnLst>
                                </p:cTn>
                              </p:par>
                            </p:childTnLst>
                          </p:cTn>
                        </p:par>
                        <p:par>
                          <p:cTn id="49" fill="hold">
                            <p:stCondLst>
                              <p:cond delay="3250"/>
                            </p:stCondLst>
                            <p:childTnLst>
                              <p:par>
                                <p:cTn id="50" presetID="42" presetClass="entr" presetSubtype="0" fill="hold" grpId="0" nodeType="afterEffect">
                                  <p:stCondLst>
                                    <p:cond delay="3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400"/>
                                        <p:tgtEl>
                                          <p:spTgt spid="14"/>
                                        </p:tgtEl>
                                      </p:cBhvr>
                                    </p:animEffect>
                                    <p:anim calcmode="lin" valueType="num">
                                      <p:cBhvr>
                                        <p:cTn id="53" dur="400" fill="hold"/>
                                        <p:tgtEl>
                                          <p:spTgt spid="14"/>
                                        </p:tgtEl>
                                        <p:attrNameLst>
                                          <p:attrName>ppt_x</p:attrName>
                                        </p:attrNameLst>
                                      </p:cBhvr>
                                      <p:tavLst>
                                        <p:tav tm="0">
                                          <p:val>
                                            <p:strVal val="#ppt_x"/>
                                          </p:val>
                                        </p:tav>
                                        <p:tav tm="100000">
                                          <p:val>
                                            <p:strVal val="#ppt_x"/>
                                          </p:val>
                                        </p:tav>
                                      </p:tavLst>
                                    </p:anim>
                                    <p:anim calcmode="lin" valueType="num">
                                      <p:cBhvr>
                                        <p:cTn id="54" dur="400" fill="hold"/>
                                        <p:tgtEl>
                                          <p:spTgt spid="14"/>
                                        </p:tgtEl>
                                        <p:attrNameLst>
                                          <p:attrName>ppt_y</p:attrName>
                                        </p:attrNameLst>
                                      </p:cBhvr>
                                      <p:tavLst>
                                        <p:tav tm="0">
                                          <p:val>
                                            <p:strVal val="#ppt_y+.06"/>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400"/>
                                        <p:tgtEl>
                                          <p:spTgt spid="15"/>
                                        </p:tgtEl>
                                      </p:cBhvr>
                                    </p:animEffect>
                                    <p:anim calcmode="lin" valueType="num">
                                      <p:cBhvr>
                                        <p:cTn id="58" dur="400" fill="hold"/>
                                        <p:tgtEl>
                                          <p:spTgt spid="15"/>
                                        </p:tgtEl>
                                        <p:attrNameLst>
                                          <p:attrName>ppt_x</p:attrName>
                                        </p:attrNameLst>
                                      </p:cBhvr>
                                      <p:tavLst>
                                        <p:tav tm="0">
                                          <p:val>
                                            <p:strVal val="#ppt_x"/>
                                          </p:val>
                                        </p:tav>
                                        <p:tav tm="100000">
                                          <p:val>
                                            <p:strVal val="#ppt_x"/>
                                          </p:val>
                                        </p:tav>
                                      </p:tavLst>
                                    </p:anim>
                                    <p:anim calcmode="lin" valueType="num">
                                      <p:cBhvr>
                                        <p:cTn id="59" dur="400" fill="hold"/>
                                        <p:tgtEl>
                                          <p:spTgt spid="15"/>
                                        </p:tgtEl>
                                        <p:attrNameLst>
                                          <p:attrName>ppt_y</p:attrName>
                                        </p:attrNameLst>
                                      </p:cBhvr>
                                      <p:tavLst>
                                        <p:tav tm="0">
                                          <p:val>
                                            <p:strVal val="#ppt_y+.06"/>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400"/>
                                        <p:tgtEl>
                                          <p:spTgt spid="16"/>
                                        </p:tgtEl>
                                      </p:cBhvr>
                                    </p:animEffect>
                                    <p:anim calcmode="lin" valueType="num">
                                      <p:cBhvr>
                                        <p:cTn id="63" dur="400" fill="hold"/>
                                        <p:tgtEl>
                                          <p:spTgt spid="16"/>
                                        </p:tgtEl>
                                        <p:attrNameLst>
                                          <p:attrName>ppt_x</p:attrName>
                                        </p:attrNameLst>
                                      </p:cBhvr>
                                      <p:tavLst>
                                        <p:tav tm="0">
                                          <p:val>
                                            <p:strVal val="#ppt_x"/>
                                          </p:val>
                                        </p:tav>
                                        <p:tav tm="100000">
                                          <p:val>
                                            <p:strVal val="#ppt_x"/>
                                          </p:val>
                                        </p:tav>
                                      </p:tavLst>
                                    </p:anim>
                                    <p:anim calcmode="lin" valueType="num">
                                      <p:cBhvr>
                                        <p:cTn id="64" dur="400" fill="hold"/>
                                        <p:tgtEl>
                                          <p:spTgt spid="16"/>
                                        </p:tgtEl>
                                        <p:attrNameLst>
                                          <p:attrName>ppt_y</p:attrName>
                                        </p:attrNameLst>
                                      </p:cBhvr>
                                      <p:tavLst>
                                        <p:tav tm="0">
                                          <p:val>
                                            <p:strVal val="#ppt_y+.06"/>
                                          </p:val>
                                        </p:tav>
                                        <p:tav tm="100000">
                                          <p:val>
                                            <p:strVal val="#ppt_y"/>
                                          </p:val>
                                        </p:tav>
                                      </p:tavLst>
                                    </p:anim>
                                  </p:childTnLst>
                                </p:cTn>
                              </p:par>
                            </p:childTnLst>
                          </p:cTn>
                        </p:par>
                        <p:par>
                          <p:cTn id="65" fill="hold">
                            <p:stCondLst>
                              <p:cond delay="3680"/>
                            </p:stCondLst>
                            <p:childTnLst>
                              <p:par>
                                <p:cTn id="66" presetID="42" presetClass="entr" presetSubtype="0" fill="hold" grpId="0" nodeType="afterEffect">
                                  <p:stCondLst>
                                    <p:cond delay="30"/>
                                  </p:stCondLst>
                                  <p:childTnLst>
                                    <p:set>
                                      <p:cBhvr>
                                        <p:cTn id="67" dur="1" fill="hold">
                                          <p:stCondLst>
                                            <p:cond delay="0"/>
                                          </p:stCondLst>
                                        </p:cTn>
                                        <p:tgtEl>
                                          <p:spTgt spid="17"/>
                                        </p:tgtEl>
                                        <p:attrNameLst>
                                          <p:attrName>style.visibility</p:attrName>
                                        </p:attrNameLst>
                                      </p:cBhvr>
                                      <p:to>
                                        <p:strVal val="visible"/>
                                      </p:to>
                                    </p:set>
                                    <p:animEffect transition="in" filter="fade">
                                      <p:cBhvr>
                                        <p:cTn id="68" dur="400"/>
                                        <p:tgtEl>
                                          <p:spTgt spid="17"/>
                                        </p:tgtEl>
                                      </p:cBhvr>
                                    </p:animEffect>
                                    <p:anim calcmode="lin" valueType="num">
                                      <p:cBhvr>
                                        <p:cTn id="69" dur="400" fill="hold"/>
                                        <p:tgtEl>
                                          <p:spTgt spid="17"/>
                                        </p:tgtEl>
                                        <p:attrNameLst>
                                          <p:attrName>ppt_x</p:attrName>
                                        </p:attrNameLst>
                                      </p:cBhvr>
                                      <p:tavLst>
                                        <p:tav tm="0">
                                          <p:val>
                                            <p:strVal val="#ppt_x"/>
                                          </p:val>
                                        </p:tav>
                                        <p:tav tm="100000">
                                          <p:val>
                                            <p:strVal val="#ppt_x"/>
                                          </p:val>
                                        </p:tav>
                                      </p:tavLst>
                                    </p:anim>
                                    <p:anim calcmode="lin" valueType="num">
                                      <p:cBhvr>
                                        <p:cTn id="70" dur="400" fill="hold"/>
                                        <p:tgtEl>
                                          <p:spTgt spid="17"/>
                                        </p:tgtEl>
                                        <p:attrNameLst>
                                          <p:attrName>ppt_y</p:attrName>
                                        </p:attrNameLst>
                                      </p:cBhvr>
                                      <p:tavLst>
                                        <p:tav tm="0">
                                          <p:val>
                                            <p:strVal val="#ppt_y+.06"/>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fade">
                                      <p:cBhvr>
                                        <p:cTn id="73" dur="400"/>
                                        <p:tgtEl>
                                          <p:spTgt spid="18"/>
                                        </p:tgtEl>
                                      </p:cBhvr>
                                    </p:animEffect>
                                    <p:anim calcmode="lin" valueType="num">
                                      <p:cBhvr>
                                        <p:cTn id="74" dur="400" fill="hold"/>
                                        <p:tgtEl>
                                          <p:spTgt spid="18"/>
                                        </p:tgtEl>
                                        <p:attrNameLst>
                                          <p:attrName>ppt_x</p:attrName>
                                        </p:attrNameLst>
                                      </p:cBhvr>
                                      <p:tavLst>
                                        <p:tav tm="0">
                                          <p:val>
                                            <p:strVal val="#ppt_x"/>
                                          </p:val>
                                        </p:tav>
                                        <p:tav tm="100000">
                                          <p:val>
                                            <p:strVal val="#ppt_x"/>
                                          </p:val>
                                        </p:tav>
                                      </p:tavLst>
                                    </p:anim>
                                    <p:anim calcmode="lin" valueType="num">
                                      <p:cBhvr>
                                        <p:cTn id="75" dur="400" fill="hold"/>
                                        <p:tgtEl>
                                          <p:spTgt spid="18"/>
                                        </p:tgtEl>
                                        <p:attrNameLst>
                                          <p:attrName>ppt_y</p:attrName>
                                        </p:attrNameLst>
                                      </p:cBhvr>
                                      <p:tavLst>
                                        <p:tav tm="0">
                                          <p:val>
                                            <p:strVal val="#ppt_y+.06"/>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19"/>
                                        </p:tgtEl>
                                        <p:attrNameLst>
                                          <p:attrName>style.visibility</p:attrName>
                                        </p:attrNameLst>
                                      </p:cBhvr>
                                      <p:to>
                                        <p:strVal val="visible"/>
                                      </p:to>
                                    </p:set>
                                    <p:animEffect transition="in" filter="fade">
                                      <p:cBhvr>
                                        <p:cTn id="78" dur="400"/>
                                        <p:tgtEl>
                                          <p:spTgt spid="19"/>
                                        </p:tgtEl>
                                      </p:cBhvr>
                                    </p:animEffect>
                                    <p:anim calcmode="lin" valueType="num">
                                      <p:cBhvr>
                                        <p:cTn id="79" dur="400" fill="hold"/>
                                        <p:tgtEl>
                                          <p:spTgt spid="19"/>
                                        </p:tgtEl>
                                        <p:attrNameLst>
                                          <p:attrName>ppt_x</p:attrName>
                                        </p:attrNameLst>
                                      </p:cBhvr>
                                      <p:tavLst>
                                        <p:tav tm="0">
                                          <p:val>
                                            <p:strVal val="#ppt_x"/>
                                          </p:val>
                                        </p:tav>
                                        <p:tav tm="100000">
                                          <p:val>
                                            <p:strVal val="#ppt_x"/>
                                          </p:val>
                                        </p:tav>
                                      </p:tavLst>
                                    </p:anim>
                                    <p:anim calcmode="lin" valueType="num">
                                      <p:cBhvr>
                                        <p:cTn id="80" dur="400" fill="hold"/>
                                        <p:tgtEl>
                                          <p:spTgt spid="19"/>
                                        </p:tgtEl>
                                        <p:attrNameLst>
                                          <p:attrName>ppt_y</p:attrName>
                                        </p:attrNameLst>
                                      </p:cBhvr>
                                      <p:tavLst>
                                        <p:tav tm="0">
                                          <p:val>
                                            <p:strVal val="#ppt_y+.06"/>
                                          </p:val>
                                        </p:tav>
                                        <p:tav tm="100000">
                                          <p:val>
                                            <p:strVal val="#ppt_y"/>
                                          </p:val>
                                        </p:tav>
                                      </p:tavLst>
                                    </p:anim>
                                  </p:childTnLst>
                                </p:cTn>
                              </p:par>
                            </p:childTnLst>
                          </p:cTn>
                        </p:par>
                        <p:par>
                          <p:cTn id="81" fill="hold">
                            <p:stCondLst>
                              <p:cond delay="4110"/>
                            </p:stCondLst>
                            <p:childTnLst>
                              <p:par>
                                <p:cTn id="82" presetID="10" presetClass="entr" presetSubtype="0" fill="hold" grpId="0" nodeType="afterEffect">
                                  <p:stCondLst>
                                    <p:cond delay="120"/>
                                  </p:stCondLst>
                                  <p:childTnLst>
                                    <p:set>
                                      <p:cBhvr>
                                        <p:cTn id="83" dur="1" fill="hold">
                                          <p:stCondLst>
                                            <p:cond delay="0"/>
                                          </p:stCondLst>
                                        </p:cTn>
                                        <p:tgtEl>
                                          <p:spTgt spid="20"/>
                                        </p:tgtEl>
                                        <p:attrNameLst>
                                          <p:attrName>style.visibility</p:attrName>
                                        </p:attrNameLst>
                                      </p:cBhvr>
                                      <p:to>
                                        <p:strVal val="visible"/>
                                      </p:to>
                                    </p:set>
                                    <p:animEffect transition="in" filter="fade">
                                      <p:cBhvr>
                                        <p:cTn id="84" dur="500"/>
                                        <p:tgtEl>
                                          <p:spTgt spid="20"/>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1"/>
                                        </p:tgtEl>
                                        <p:attrNameLst>
                                          <p:attrName>style.visibility</p:attrName>
                                        </p:attrNameLst>
                                      </p:cBhvr>
                                      <p:to>
                                        <p:strVal val="visible"/>
                                      </p:to>
                                    </p:set>
                                    <p:animEffect transition="in" filter="fade">
                                      <p:cBhvr>
                                        <p:cTn id="87"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Graphic spid="8" grpId="0">
        <p:bldAsOne/>
      </p:bldGraphic>
      <p:bldP spid="9" grpId="0" animBg="1"/>
      <p:bldP spid="10" grpId="0"/>
      <p:bldP spid="11" grpId="0" animBg="1"/>
      <p:bldP spid="12" grpId="0" animBg="1"/>
      <p:bldP spid="13" grpId="0"/>
      <p:bldP spid="14" grpId="0" animBg="1"/>
      <p:bldP spid="16" grpId="0"/>
      <p:bldP spid="17" grpId="0" animBg="1"/>
      <p:bldP spid="19" grpId="0"/>
      <p:bldP spid="20" grpId="0"/>
      <p:bldP spid="21" grpId="0"/>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t"/>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2/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9144000" cy="274320"/>
          </a:xfrm>
          <a:prstGeom prst="rect">
            <a:avLst/>
          </a:prstGeom>
          <a:noFill/>
          <a:ln/>
        </p:spPr>
        <p:txBody>
          <a:bodyPr wrap="square" lIns="0" tIns="0" rIns="0" bIns="0" rtlCol="0" anchor="t"/>
          <a:lstStyle/>
          <a:p>
            <a:pPr indent="0" marL="0">
              <a:buNone/>
            </a:pPr>
            <a:r>
              <a:rPr lang="en-US" sz="1100" b="1" spc="300" kern="0" dirty="0">
                <a:solidFill>
                  <a:srgbClr val="F5A623"/>
                </a:solidFill>
                <a:latin typeface="Calibri" pitchFamily="34" charset="0"/>
                <a:ea typeface="Calibri" pitchFamily="34" charset="-122"/>
                <a:cs typeface="Calibri" pitchFamily="34" charset="-120"/>
              </a:rPr>
              <a:t>THE INSIGHT</a:t>
            </a:r>
            <a:endParaRPr lang="en-US" sz="1100" dirty="0"/>
          </a:p>
        </p:txBody>
      </p:sp>
      <p:sp>
        <p:nvSpPr>
          <p:cNvPr id="5" name="title"/>
          <p:cNvSpPr txBox="1"/>
          <p:nvPr/>
        </p:nvSpPr>
        <p:spPr>
          <a:xfrm>
            <a:off x="548640" y="1170432"/>
            <a:ext cx="11094415"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Jio’s microwave links may carry a weather signal</a:t>
            </a:r>
            <a:endParaRPr lang="en-US" sz="3200" dirty="0"/>
          </a:p>
        </p:txBody>
      </p:sp>
      <p:pic>
        <p:nvPicPr>
          <p:cNvPr id="6" name="towerA" descr="/tmp/claude-0/-home-user-market-research-agent/e8d4caac-b1a5-588e-8461-832ca62ca567/scratchpad/deck2/assets/tower_big.png">    </p:cNvPr>
          <p:cNvPicPr>
            <a:picLocks noChangeAspect="1"/>
          </p:cNvPicPr>
          <p:nvPr/>
        </p:nvPicPr>
        <p:blipFill>
          <a:blip r:embed="rId2"/>
          <a:stretch>
            <a:fillRect/>
          </a:stretch>
        </p:blipFill>
        <p:spPr>
          <a:xfrm>
            <a:off x="685800" y="2286000"/>
            <a:ext cx="841248" cy="1272808"/>
          </a:xfrm>
          <a:prstGeom prst="rect">
            <a:avLst/>
          </a:prstGeom>
        </p:spPr>
      </p:pic>
      <p:pic>
        <p:nvPicPr>
          <p:cNvPr id="7" name="towerB" descr="/tmp/claude-0/-home-user-market-research-agent/e8d4caac-b1a5-588e-8461-832ca62ca567/scratchpad/deck2/assets/tower_big.png">    </p:cNvPr>
          <p:cNvPicPr>
            <a:picLocks noChangeAspect="1"/>
          </p:cNvPicPr>
          <p:nvPr/>
        </p:nvPicPr>
        <p:blipFill>
          <a:blip r:embed="rId3"/>
          <a:stretch>
            <a:fillRect/>
          </a:stretch>
        </p:blipFill>
        <p:spPr>
          <a:xfrm>
            <a:off x="4937760" y="2286000"/>
            <a:ext cx="841248" cy="1272808"/>
          </a:xfrm>
          <a:prstGeom prst="rect">
            <a:avLst/>
          </a:prstGeom>
        </p:spPr>
      </p:pic>
      <p:sp>
        <p:nvSpPr>
          <p:cNvPr id="8" name="beam"/>
          <p:cNvSpPr/>
          <p:nvPr/>
        </p:nvSpPr>
        <p:spPr>
          <a:xfrm>
            <a:off x="1106424" y="2441448"/>
            <a:ext cx="4251960" cy="0"/>
          </a:xfrm>
          <a:prstGeom prst="line">
            <a:avLst/>
          </a:prstGeom>
          <a:noFill/>
          <a:ln w="31750">
            <a:solidFill>
              <a:srgbClr val="F5A623"/>
            </a:solidFill>
            <a:prstDash val="dash"/>
          </a:ln>
        </p:spPr>
      </p:sp>
      <p:sp>
        <p:nvSpPr>
          <p:cNvPr id="9" name="beamLab"/>
          <p:cNvSpPr txBox="1"/>
          <p:nvPr/>
        </p:nvSpPr>
        <p:spPr>
          <a:xfrm>
            <a:off x="1371600" y="2057400"/>
            <a:ext cx="3749040" cy="274320"/>
          </a:xfrm>
          <a:prstGeom prst="rect">
            <a:avLst/>
          </a:prstGeom>
          <a:noFill/>
          <a:ln/>
        </p:spPr>
        <p:txBody>
          <a:bodyPr wrap="square" lIns="0" tIns="0" rIns="0" bIns="0" rtlCol="0" anchor="t"/>
          <a:lstStyle/>
          <a:p>
            <a:pPr algn="ctr" indent="0" marL="0">
              <a:buNone/>
            </a:pPr>
            <a:r>
              <a:rPr lang="en-US" sz="1300" b="1" dirty="0">
                <a:solidFill>
                  <a:srgbClr val="F5A623"/>
                </a:solidFill>
                <a:latin typeface="Calibri" pitchFamily="34" charset="0"/>
                <a:ea typeface="Calibri" pitchFamily="34" charset="-122"/>
                <a:cs typeface="Calibri" pitchFamily="34" charset="-120"/>
              </a:rPr>
              <a:t>Microwave link between two sites</a:t>
            </a:r>
            <a:endParaRPr lang="en-US" sz="1300" dirty="0"/>
          </a:p>
        </p:txBody>
      </p:sp>
      <p:pic>
        <p:nvPicPr>
          <p:cNvPr id="10" name="drop0" descr="preencoded.png">    </p:cNvPr>
          <p:cNvPicPr>
            <a:picLocks noChangeAspect="1"/>
          </p:cNvPicPr>
          <p:nvPr/>
        </p:nvPicPr>
        <p:blipFill>
          <a:blip r:embed="rId4"/>
          <a:stretch>
            <a:fillRect/>
          </a:stretch>
        </p:blipFill>
        <p:spPr>
          <a:xfrm>
            <a:off x="1920240" y="2743200"/>
            <a:ext cx="182880" cy="182880"/>
          </a:xfrm>
          <a:prstGeom prst="rect">
            <a:avLst/>
          </a:prstGeom>
        </p:spPr>
      </p:pic>
      <p:pic>
        <p:nvPicPr>
          <p:cNvPr id="11" name="drop1" descr="preencoded.png">    </p:cNvPr>
          <p:cNvPicPr>
            <a:picLocks noChangeAspect="1"/>
          </p:cNvPicPr>
          <p:nvPr/>
        </p:nvPicPr>
        <p:blipFill>
          <a:blip r:embed="rId5"/>
          <a:stretch>
            <a:fillRect/>
          </a:stretch>
        </p:blipFill>
        <p:spPr>
          <a:xfrm>
            <a:off x="2514600" y="3017520"/>
            <a:ext cx="182880" cy="182880"/>
          </a:xfrm>
          <a:prstGeom prst="rect">
            <a:avLst/>
          </a:prstGeom>
        </p:spPr>
      </p:pic>
      <p:pic>
        <p:nvPicPr>
          <p:cNvPr id="12" name="drop2" descr="preencoded.png">    </p:cNvPr>
          <p:cNvPicPr>
            <a:picLocks noChangeAspect="1"/>
          </p:cNvPicPr>
          <p:nvPr/>
        </p:nvPicPr>
        <p:blipFill>
          <a:blip r:embed="rId6"/>
          <a:stretch>
            <a:fillRect/>
          </a:stretch>
        </p:blipFill>
        <p:spPr>
          <a:xfrm>
            <a:off x="3108960" y="2697480"/>
            <a:ext cx="182880" cy="182880"/>
          </a:xfrm>
          <a:prstGeom prst="rect">
            <a:avLst/>
          </a:prstGeom>
        </p:spPr>
      </p:pic>
      <p:pic>
        <p:nvPicPr>
          <p:cNvPr id="13" name="drop3" descr="preencoded.png">    </p:cNvPr>
          <p:cNvPicPr>
            <a:picLocks noChangeAspect="1"/>
          </p:cNvPicPr>
          <p:nvPr/>
        </p:nvPicPr>
        <p:blipFill>
          <a:blip r:embed="rId7"/>
          <a:stretch>
            <a:fillRect/>
          </a:stretch>
        </p:blipFill>
        <p:spPr>
          <a:xfrm>
            <a:off x="3703320" y="3063240"/>
            <a:ext cx="182880" cy="182880"/>
          </a:xfrm>
          <a:prstGeom prst="rect">
            <a:avLst/>
          </a:prstGeom>
        </p:spPr>
      </p:pic>
      <p:pic>
        <p:nvPicPr>
          <p:cNvPr id="14" name="drop4" descr="preencoded.png">    </p:cNvPr>
          <p:cNvPicPr>
            <a:picLocks noChangeAspect="1"/>
          </p:cNvPicPr>
          <p:nvPr/>
        </p:nvPicPr>
        <p:blipFill>
          <a:blip r:embed="rId8"/>
          <a:stretch>
            <a:fillRect/>
          </a:stretch>
        </p:blipFill>
        <p:spPr>
          <a:xfrm>
            <a:off x="4297680" y="2743200"/>
            <a:ext cx="182880" cy="182880"/>
          </a:xfrm>
          <a:prstGeom prst="rect">
            <a:avLst/>
          </a:prstGeom>
        </p:spPr>
      </p:pic>
      <p:pic>
        <p:nvPicPr>
          <p:cNvPr id="15" name="drop5" descr="preencoded.png">    </p:cNvPr>
          <p:cNvPicPr>
            <a:picLocks noChangeAspect="1"/>
          </p:cNvPicPr>
          <p:nvPr/>
        </p:nvPicPr>
        <p:blipFill>
          <a:blip r:embed="rId9"/>
          <a:stretch>
            <a:fillRect/>
          </a:stretch>
        </p:blipFill>
        <p:spPr>
          <a:xfrm>
            <a:off x="2240280" y="3337560"/>
            <a:ext cx="182880" cy="182880"/>
          </a:xfrm>
          <a:prstGeom prst="rect">
            <a:avLst/>
          </a:prstGeom>
        </p:spPr>
      </p:pic>
      <p:pic>
        <p:nvPicPr>
          <p:cNvPr id="16" name="drop6" descr="preencoded.png">    </p:cNvPr>
          <p:cNvPicPr>
            <a:picLocks noChangeAspect="1"/>
          </p:cNvPicPr>
          <p:nvPr/>
        </p:nvPicPr>
        <p:blipFill>
          <a:blip r:embed="rId10"/>
          <a:stretch>
            <a:fillRect/>
          </a:stretch>
        </p:blipFill>
        <p:spPr>
          <a:xfrm>
            <a:off x="3429000" y="3383280"/>
            <a:ext cx="182880" cy="182880"/>
          </a:xfrm>
          <a:prstGeom prst="rect">
            <a:avLst/>
          </a:prstGeom>
        </p:spPr>
      </p:pic>
      <p:pic>
        <p:nvPicPr>
          <p:cNvPr id="17" name="drop7" descr="preencoded.png">    </p:cNvPr>
          <p:cNvPicPr>
            <a:picLocks noChangeAspect="1"/>
          </p:cNvPicPr>
          <p:nvPr/>
        </p:nvPicPr>
        <p:blipFill>
          <a:blip r:embed="rId11"/>
          <a:stretch>
            <a:fillRect/>
          </a:stretch>
        </p:blipFill>
        <p:spPr>
          <a:xfrm>
            <a:off x="4572000" y="3291840"/>
            <a:ext cx="182880" cy="182880"/>
          </a:xfrm>
          <a:prstGeom prst="rect">
            <a:avLst/>
          </a:prstGeom>
        </p:spPr>
      </p:pic>
      <p:sp>
        <p:nvSpPr>
          <p:cNvPr id="18" name="how"/>
          <p:cNvSpPr txBox="1"/>
          <p:nvPr/>
        </p:nvSpPr>
        <p:spPr>
          <a:xfrm>
            <a:off x="548640" y="3730752"/>
            <a:ext cx="5394960" cy="7772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Rain weakens the signal. </a:t>
            </a:r>
            <a:pPr indent="0" marL="0">
              <a:buNone/>
            </a:pPr>
            <a:r>
              <a:rPr lang="en-US" sz="1400" dirty="0">
                <a:solidFill>
                  <a:srgbClr val="B9C2D8"/>
                </a:solidFill>
                <a:latin typeface="Calibri" pitchFamily="34" charset="0"/>
                <a:ea typeface="Calibri" pitchFamily="34" charset="-122"/>
                <a:cs typeface="Calibri" pitchFamily="34" charset="-120"/>
              </a:rPr>
              <a:t>Measure the excess loss and estimate path-averaged rainfall along each link, in near-real-time. This technique uses microwave links, not fibre.</a:t>
            </a:r>
            <a:endParaRPr lang="en-US" sz="1400" dirty="0"/>
          </a:p>
        </p:txBody>
      </p:sp>
      <p:sp>
        <p:nvSpPr>
          <p:cNvPr id="19" name="defCard"/>
          <p:cNvSpPr/>
          <p:nvPr/>
        </p:nvSpPr>
        <p:spPr>
          <a:xfrm>
            <a:off x="6263640" y="2057400"/>
            <a:ext cx="5376672" cy="2377440"/>
          </a:xfrm>
          <a:prstGeom prst="roundRect">
            <a:avLst>
              <a:gd name="adj" fmla="val 4615"/>
            </a:avLst>
          </a:prstGeom>
          <a:solidFill>
            <a:srgbClr val="1C2447"/>
          </a:solidFill>
          <a:ln w="15875">
            <a:solidFill>
              <a:srgbClr val="F5A623"/>
            </a:solidFill>
            <a:prstDash val="solid"/>
          </a:ln>
        </p:spPr>
      </p:sp>
      <p:sp>
        <p:nvSpPr>
          <p:cNvPr id="20" name="defT"/>
          <p:cNvSpPr txBox="1"/>
          <p:nvPr/>
        </p:nvSpPr>
        <p:spPr>
          <a:xfrm>
            <a:off x="6537960" y="2212848"/>
            <a:ext cx="4892040" cy="914400"/>
          </a:xfrm>
          <a:prstGeom prst="rect">
            <a:avLst/>
          </a:prstGeom>
          <a:noFill/>
          <a:ln/>
        </p:spPr>
        <p:txBody>
          <a:bodyPr wrap="square" lIns="0" tIns="0" rIns="0" bIns="0" rtlCol="0" anchor="t"/>
          <a:lstStyle/>
          <a:p>
            <a:pPr indent="0" marL="0">
              <a:buNone/>
            </a:pPr>
            <a:r>
              <a:rPr lang="en-US" sz="1050" b="1" spc="200" kern="0" dirty="0">
                <a:solidFill>
                  <a:srgbClr val="F5A623"/>
                </a:solidFill>
                <a:latin typeface="Calibri" pitchFamily="34" charset="0"/>
                <a:ea typeface="Calibri" pitchFamily="34" charset="-122"/>
                <a:cs typeface="Calibri" pitchFamily="34" charset="-120"/>
              </a:rPr>
              <a:t>JIOMAUSAM IS</a:t>
            </a:r>
            <a:endParaRPr lang="en-US" sz="1050" dirty="0"/>
          </a:p>
          <a:p>
            <a:pPr indent="0" marL="0">
              <a:buNone/>
            </a:pPr>
            <a:r>
              <a:rPr lang="en-US" sz="2100" b="1" dirty="0">
                <a:solidFill>
                  <a:srgbClr val="FFFFFF"/>
                </a:solidFill>
                <a:latin typeface="Cambria" pitchFamily="34" charset="0"/>
                <a:ea typeface="Cambria" pitchFamily="34" charset="-122"/>
                <a:cs typeface="Cambria" pitchFamily="34" charset="-120"/>
              </a:rPr>
              <a:t>decision infrastructure, not a weather map</a:t>
            </a:r>
            <a:endParaRPr lang="en-US" sz="1050" dirty="0"/>
          </a:p>
        </p:txBody>
      </p:sp>
      <p:sp>
        <p:nvSpPr>
          <p:cNvPr id="21" name="defT2"/>
          <p:cNvSpPr txBox="1"/>
          <p:nvPr/>
        </p:nvSpPr>
        <p:spPr>
          <a:xfrm>
            <a:off x="6537960" y="3200400"/>
            <a:ext cx="4892040" cy="1143000"/>
          </a:xfrm>
          <a:prstGeom prst="rect">
            <a:avLst/>
          </a:prstGeom>
          <a:noFill/>
          <a:ln/>
        </p:spPr>
        <p:txBody>
          <a:bodyPr wrap="square" lIns="0" tIns="0" rIns="0" bIns="0" rtlCol="0" anchor="t"/>
          <a:lstStyle/>
          <a:p>
            <a:pPr indent="0" marL="0">
              <a:buNone/>
            </a:pPr>
            <a:r>
              <a:rPr lang="en-US" sz="1500" dirty="0">
                <a:solidFill>
                  <a:srgbClr val="B9C2D8"/>
                </a:solidFill>
                <a:latin typeface="Calibri" pitchFamily="34" charset="0"/>
                <a:ea typeface="Calibri" pitchFamily="34" charset="-122"/>
                <a:cs typeface="Calibri" pitchFamily="34" charset="-120"/>
              </a:rPr>
              <a:t>It converts link signals, IMD radar and rain gauges into a spatial weather grid, then into decision-ready alerts and triggers for the teams who act on them.</a:t>
            </a:r>
            <a:endParaRPr lang="en-US" sz="1500" dirty="0"/>
          </a:p>
        </p:txBody>
      </p:sp>
      <p:sp>
        <p:nvSpPr>
          <p:cNvPr id="22" name="isCard"/>
          <p:cNvSpPr/>
          <p:nvPr/>
        </p:nvSpPr>
        <p:spPr>
          <a:xfrm>
            <a:off x="548640" y="4617720"/>
            <a:ext cx="5394960" cy="1143000"/>
          </a:xfrm>
          <a:prstGeom prst="roundRect">
            <a:avLst>
              <a:gd name="adj" fmla="val 9600"/>
            </a:avLst>
          </a:prstGeom>
          <a:solidFill>
            <a:srgbClr val="141B36"/>
          </a:solidFill>
          <a:ln w="9525">
            <a:solidFill>
              <a:srgbClr val="2A3357"/>
            </a:solidFill>
            <a:prstDash val="solid"/>
          </a:ln>
        </p:spPr>
      </p:sp>
      <p:sp>
        <p:nvSpPr>
          <p:cNvPr id="23" name="isT"/>
          <p:cNvSpPr txBox="1"/>
          <p:nvPr/>
        </p:nvSpPr>
        <p:spPr>
          <a:xfrm>
            <a:off x="777240" y="4690872"/>
            <a:ext cx="5029200" cy="1024128"/>
          </a:xfrm>
          <a:prstGeom prst="rect">
            <a:avLst/>
          </a:prstGeom>
          <a:noFill/>
          <a:ln/>
        </p:spPr>
        <p:txBody>
          <a:bodyPr wrap="square" lIns="0" tIns="0" rIns="0" bIns="0" rtlCol="0" anchor="t"/>
          <a:lstStyle/>
          <a:p>
            <a:pPr indent="0" marL="0">
              <a:buNone/>
            </a:pPr>
            <a:r>
              <a:rPr lang="en-US" sz="1050" b="1" spc="200" kern="0" dirty="0">
                <a:solidFill>
                  <a:srgbClr val="1BAF7A"/>
                </a:solidFill>
                <a:latin typeface="Calibri" pitchFamily="34" charset="0"/>
                <a:ea typeface="Calibri" pitchFamily="34" charset="-122"/>
                <a:cs typeface="Calibri" pitchFamily="34" charset="-120"/>
              </a:rPr>
              <a:t>IT IS</a:t>
            </a:r>
            <a:endParaRPr lang="en-US" sz="1050" dirty="0"/>
          </a:p>
          <a:p>
            <a:pPr marL="342900" indent="-342900">
              <a:buSzPct val="100000"/>
              <a:buChar char="•"/>
            </a:pPr>
            <a:r>
              <a:rPr lang="en-US" sz="1300" dirty="0">
                <a:solidFill>
                  <a:srgbClr val="EEF1F7"/>
                </a:solidFill>
                <a:latin typeface="Calibri" pitchFamily="34" charset="0"/>
                <a:ea typeface="Calibri" pitchFamily="34" charset="-122"/>
                <a:cs typeface="Calibri" pitchFamily="34" charset="-120"/>
              </a:rPr>
              <a:t>Weather intelligence from existing infrastructure</a:t>
            </a:r>
            <a:endParaRPr lang="en-US" sz="1050" dirty="0"/>
          </a:p>
          <a:p>
            <a:pPr marL="342900" indent="-342900">
              <a:buSzPct val="100000"/>
              <a:buChar char="•"/>
            </a:pPr>
            <a:r>
              <a:rPr lang="en-US" sz="1300" dirty="0">
                <a:solidFill>
                  <a:srgbClr val="EEF1F7"/>
                </a:solidFill>
                <a:latin typeface="Calibri" pitchFamily="34" charset="0"/>
                <a:ea typeface="Calibri" pitchFamily="34" charset="-122"/>
                <a:cs typeface="Calibri" pitchFamily="34" charset="-120"/>
              </a:rPr>
              <a:t>Alerts and data for businesses</a:t>
            </a:r>
            <a:endParaRPr lang="en-US" sz="1050" dirty="0"/>
          </a:p>
          <a:p>
            <a:pPr marL="342900" indent="-342900">
              <a:buSzPct val="100000"/>
              <a:buChar char="•"/>
            </a:pPr>
            <a:r>
              <a:rPr lang="en-US" sz="1300" dirty="0">
                <a:solidFill>
                  <a:srgbClr val="EEF1F7"/>
                </a:solidFill>
                <a:latin typeface="Calibri" pitchFamily="34" charset="0"/>
                <a:ea typeface="Calibri" pitchFamily="34" charset="-122"/>
                <a:cs typeface="Calibri" pitchFamily="34" charset="-120"/>
              </a:rPr>
              <a:t>A trigger for future worker protection</a:t>
            </a:r>
            <a:endParaRPr lang="en-US" sz="1050" dirty="0"/>
          </a:p>
        </p:txBody>
      </p:sp>
      <p:sp>
        <p:nvSpPr>
          <p:cNvPr id="24" name="isntCard"/>
          <p:cNvSpPr/>
          <p:nvPr/>
        </p:nvSpPr>
        <p:spPr>
          <a:xfrm>
            <a:off x="6263640" y="4617720"/>
            <a:ext cx="5376672" cy="1143000"/>
          </a:xfrm>
          <a:prstGeom prst="roundRect">
            <a:avLst>
              <a:gd name="adj" fmla="val 9600"/>
            </a:avLst>
          </a:prstGeom>
          <a:solidFill>
            <a:srgbClr val="141B36"/>
          </a:solidFill>
          <a:ln w="9525">
            <a:solidFill>
              <a:srgbClr val="2A3357"/>
            </a:solidFill>
            <a:prstDash val="solid"/>
          </a:ln>
        </p:spPr>
      </p:sp>
      <p:sp>
        <p:nvSpPr>
          <p:cNvPr id="25" name="isntT"/>
          <p:cNvSpPr txBox="1"/>
          <p:nvPr/>
        </p:nvSpPr>
        <p:spPr>
          <a:xfrm>
            <a:off x="6492240" y="4690872"/>
            <a:ext cx="4983480" cy="1024128"/>
          </a:xfrm>
          <a:prstGeom prst="rect">
            <a:avLst/>
          </a:prstGeom>
          <a:noFill/>
          <a:ln/>
        </p:spPr>
        <p:txBody>
          <a:bodyPr wrap="square" lIns="0" tIns="0" rIns="0" bIns="0" rtlCol="0" anchor="t"/>
          <a:lstStyle/>
          <a:p>
            <a:pPr indent="0" marL="0">
              <a:buNone/>
            </a:pPr>
            <a:r>
              <a:rPr lang="en-US" sz="1050" b="1" spc="200" kern="0" dirty="0">
                <a:solidFill>
                  <a:srgbClr val="FF8A8D"/>
                </a:solidFill>
                <a:latin typeface="Calibri" pitchFamily="34" charset="0"/>
                <a:ea typeface="Calibri" pitchFamily="34" charset="-122"/>
                <a:cs typeface="Calibri" pitchFamily="34" charset="-120"/>
              </a:rPr>
              <a:t>IT ISN’T</a:t>
            </a:r>
            <a:endParaRPr lang="en-US" sz="1050" dirty="0"/>
          </a:p>
          <a:p>
            <a:pPr indent="0" marL="0">
              <a:buNone/>
            </a:pPr>
            <a:r>
              <a:rPr lang="en-US" sz="1300" dirty="0">
                <a:solidFill>
                  <a:srgbClr val="EEF1F7"/>
                </a:solidFill>
                <a:latin typeface="Calibri" pitchFamily="34" charset="0"/>
                <a:ea typeface="Calibri" pitchFamily="34" charset="-122"/>
                <a:cs typeface="Calibri" pitchFamily="34" charset="-120"/>
              </a:rPr>
              <a:t>A new sensor network  ·  A consumer weather app</a:t>
            </a:r>
            <a:endParaRPr lang="en-US" sz="1050" dirty="0"/>
          </a:p>
          <a:p>
            <a:pPr indent="0" marL="0">
              <a:buNone/>
            </a:pPr>
            <a:r>
              <a:rPr lang="en-US" sz="1300" dirty="0">
                <a:solidFill>
                  <a:srgbClr val="EEF1F7"/>
                </a:solidFill>
                <a:latin typeface="Calibri" pitchFamily="34" charset="0"/>
                <a:ea typeface="Calibri" pitchFamily="34" charset="-122"/>
                <a:cs typeface="Calibri" pitchFamily="34" charset="-120"/>
              </a:rPr>
              <a:t>An insurer  ·  Heat sensing from towers</a:t>
            </a:r>
            <a:endParaRPr lang="en-US" sz="1050" dirty="0"/>
          </a:p>
        </p:txBody>
      </p:sp>
      <p:sp>
        <p:nvSpPr>
          <p:cNvPr id="26" name="takeaway"/>
          <p:cNvSpPr txBox="1"/>
          <p:nvPr/>
        </p:nvSpPr>
        <p:spPr>
          <a:xfrm>
            <a:off x="548640" y="5897880"/>
            <a:ext cx="11094415" cy="457200"/>
          </a:xfrm>
          <a:prstGeom prst="rect">
            <a:avLst/>
          </a:prstGeom>
          <a:noFill/>
          <a:ln/>
        </p:spPr>
        <p:txBody>
          <a:bodyPr wrap="square" lIns="0" tIns="0" rIns="0" bIns="0" rtlCol="0" anchor="t"/>
          <a:lstStyle/>
          <a:p>
            <a:pPr indent="0" marL="0">
              <a:buNone/>
            </a:pPr>
            <a:r>
              <a:rPr lang="en-US" sz="1800" b="1" i="1" dirty="0">
                <a:solidFill>
                  <a:srgbClr val="F5A623"/>
                </a:solidFill>
                <a:latin typeface="Cambria" pitchFamily="34" charset="0"/>
                <a:ea typeface="Cambria" pitchFamily="34" charset="-122"/>
                <a:cs typeface="Cambria" pitchFamily="34" charset="-120"/>
              </a:rPr>
              <a:t>Jio may already own the infrastructure for a new weather-sensing layer.</a:t>
            </a:r>
            <a:endParaRPr lang="en-US" sz="18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6"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00"/>
                                        <p:tgtEl>
                                          <p:spTgt spid="4"/>
                                        </p:tgtEl>
                                      </p:cBhvr>
                                    </p:animEffect>
                                  </p:childTnLst>
                                </p:cTn>
                              </p:par>
                              <p:par>
                                <p:cTn id="7" presetID="42" presetClass="entr" presetSubtype="0" fill="hold" grpId="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650"/>
                                        <p:tgtEl>
                                          <p:spTgt spid="5"/>
                                        </p:tgtEl>
                                      </p:cBhvr>
                                    </p:animEffect>
                                    <p:anim calcmode="lin" valueType="num">
                                      <p:cBhvr>
                                        <p:cTn id="10" dur="650" fill="hold"/>
                                        <p:tgtEl>
                                          <p:spTgt spid="5"/>
                                        </p:tgtEl>
                                        <p:attrNameLst>
                                          <p:attrName>ppt_x</p:attrName>
                                        </p:attrNameLst>
                                      </p:cBhvr>
                                      <p:tavLst>
                                        <p:tav tm="0">
                                          <p:val>
                                            <p:strVal val="#ppt_x"/>
                                          </p:val>
                                        </p:tav>
                                        <p:tav tm="100000">
                                          <p:val>
                                            <p:strVal val="#ppt_x"/>
                                          </p:val>
                                        </p:tav>
                                      </p:tavLst>
                                    </p:anim>
                                    <p:anim calcmode="lin" valueType="num">
                                      <p:cBhvr>
                                        <p:cTn id="11" dur="65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750"/>
                            </p:stCondLst>
                            <p:childTnLst>
                              <p:par>
                                <p:cTn id="13" presetID="10" presetClass="entr" presetSubtype="0" fill="hold" grpId="0" nodeType="afterEffect">
                                  <p:stCondLst>
                                    <p:cond delay="5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childTnLst>
                          </p:cTn>
                        </p:par>
                        <p:par>
                          <p:cTn id="19" fill="hold">
                            <p:stCondLst>
                              <p:cond delay="1250"/>
                            </p:stCondLst>
                            <p:childTnLst>
                              <p:par>
                                <p:cTn id="20" presetID="22" presetClass="entr" presetSubtype="8"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600"/>
                                        <p:tgtEl>
                                          <p:spTgt spid="8"/>
                                        </p:tgtEl>
                                      </p:cBhvr>
                                    </p:animEffect>
                                  </p:childTnLst>
                                </p:cTn>
                              </p:par>
                              <p:par>
                                <p:cTn id="23" presetID="10" presetClass="entr" presetSubtype="0" fill="hold" grpId="0" nodeType="withEffect">
                                  <p:stCondLst>
                                    <p:cond delay="1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childTnLst>
                          </p:cTn>
                        </p:par>
                        <p:par>
                          <p:cTn id="26" fill="hold">
                            <p:stCondLst>
                              <p:cond delay="1850"/>
                            </p:stCondLst>
                            <p:childTnLst>
                              <p:par>
                                <p:cTn id="27" presetID="10" presetClass="entr" presetSubtype="0" fill="hold" grpId="0" nodeType="after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50"/>
                                        <p:tgtEl>
                                          <p:spTgt spid="1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50"/>
                                        <p:tgtEl>
                                          <p:spTgt spid="1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45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450"/>
                                        <p:tgtEl>
                                          <p:spTgt spid="1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450"/>
                                        <p:tgtEl>
                                          <p:spTgt spid="1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450"/>
                                        <p:tgtEl>
                                          <p:spTgt spid="1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450"/>
                                        <p:tgtEl>
                                          <p:spTgt spid="18"/>
                                        </p:tgtEl>
                                      </p:cBhvr>
                                    </p:animEffect>
                                  </p:childTnLst>
                                </p:cTn>
                              </p:par>
                            </p:childTnLst>
                          </p:cTn>
                        </p:par>
                        <p:par>
                          <p:cTn id="54" fill="hold">
                            <p:stCondLst>
                              <p:cond delay="2300"/>
                            </p:stCondLst>
                            <p:childTnLst>
                              <p:par>
                                <p:cTn id="55" presetID="53" presetClass="entr" presetSubtype="16" fill="hold" grpId="0" nodeType="afterEffect">
                                  <p:stCondLst>
                                    <p:cond delay="80"/>
                                  </p:stCondLst>
                                  <p:childTnLst>
                                    <p:set>
                                      <p:cBhvr>
                                        <p:cTn id="56" dur="1" fill="hold">
                                          <p:stCondLst>
                                            <p:cond delay="0"/>
                                          </p:stCondLst>
                                        </p:cTn>
                                        <p:tgtEl>
                                          <p:spTgt spid="19"/>
                                        </p:tgtEl>
                                        <p:attrNameLst>
                                          <p:attrName>style.visibility</p:attrName>
                                        </p:attrNameLst>
                                      </p:cBhvr>
                                      <p:to>
                                        <p:strVal val="visible"/>
                                      </p:to>
                                    </p:set>
                                    <p:anim calcmode="lin" valueType="num">
                                      <p:cBhvr>
                                        <p:cTn id="57" dur="550" fill="hold"/>
                                        <p:tgtEl>
                                          <p:spTgt spid="19"/>
                                        </p:tgtEl>
                                        <p:attrNameLst>
                                          <p:attrName>ppt_w</p:attrName>
                                        </p:attrNameLst>
                                      </p:cBhvr>
                                      <p:tavLst>
                                        <p:tav tm="0">
                                          <p:val>
                                            <p:strVal val="#ppt_w*.82"/>
                                          </p:val>
                                        </p:tav>
                                        <p:tav tm="100000">
                                          <p:val>
                                            <p:strVal val="#ppt_w"/>
                                          </p:val>
                                        </p:tav>
                                      </p:tavLst>
                                    </p:anim>
                                    <p:anim calcmode="lin" valueType="num">
                                      <p:cBhvr>
                                        <p:cTn id="58" dur="550" fill="hold"/>
                                        <p:tgtEl>
                                          <p:spTgt spid="19"/>
                                        </p:tgtEl>
                                        <p:attrNameLst>
                                          <p:attrName>ppt_h</p:attrName>
                                        </p:attrNameLst>
                                      </p:cBhvr>
                                      <p:tavLst>
                                        <p:tav tm="0">
                                          <p:val>
                                            <p:strVal val="#ppt_h*.82"/>
                                          </p:val>
                                        </p:tav>
                                        <p:tav tm="100000">
                                          <p:val>
                                            <p:strVal val="#ppt_h"/>
                                          </p:val>
                                        </p:tav>
                                      </p:tavLst>
                                    </p:anim>
                                    <p:animEffect transition="in" filter="fade">
                                      <p:cBhvr>
                                        <p:cTn id="59" dur="550"/>
                                        <p:tgtEl>
                                          <p:spTgt spid="19"/>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 calcmode="lin" valueType="num">
                                      <p:cBhvr>
                                        <p:cTn id="62" dur="550" fill="hold"/>
                                        <p:tgtEl>
                                          <p:spTgt spid="20"/>
                                        </p:tgtEl>
                                        <p:attrNameLst>
                                          <p:attrName>ppt_w</p:attrName>
                                        </p:attrNameLst>
                                      </p:cBhvr>
                                      <p:tavLst>
                                        <p:tav tm="0">
                                          <p:val>
                                            <p:strVal val="#ppt_w*.82"/>
                                          </p:val>
                                        </p:tav>
                                        <p:tav tm="100000">
                                          <p:val>
                                            <p:strVal val="#ppt_w"/>
                                          </p:val>
                                        </p:tav>
                                      </p:tavLst>
                                    </p:anim>
                                    <p:anim calcmode="lin" valueType="num">
                                      <p:cBhvr>
                                        <p:cTn id="63" dur="550" fill="hold"/>
                                        <p:tgtEl>
                                          <p:spTgt spid="20"/>
                                        </p:tgtEl>
                                        <p:attrNameLst>
                                          <p:attrName>ppt_h</p:attrName>
                                        </p:attrNameLst>
                                      </p:cBhvr>
                                      <p:tavLst>
                                        <p:tav tm="0">
                                          <p:val>
                                            <p:strVal val="#ppt_h*.82"/>
                                          </p:val>
                                        </p:tav>
                                        <p:tav tm="100000">
                                          <p:val>
                                            <p:strVal val="#ppt_h"/>
                                          </p:val>
                                        </p:tav>
                                      </p:tavLst>
                                    </p:anim>
                                    <p:animEffect transition="in" filter="fade">
                                      <p:cBhvr>
                                        <p:cTn id="64" dur="550"/>
                                        <p:tgtEl>
                                          <p:spTgt spid="20"/>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 calcmode="lin" valueType="num">
                                      <p:cBhvr>
                                        <p:cTn id="67" dur="550" fill="hold"/>
                                        <p:tgtEl>
                                          <p:spTgt spid="21"/>
                                        </p:tgtEl>
                                        <p:attrNameLst>
                                          <p:attrName>ppt_w</p:attrName>
                                        </p:attrNameLst>
                                      </p:cBhvr>
                                      <p:tavLst>
                                        <p:tav tm="0">
                                          <p:val>
                                            <p:strVal val="#ppt_w*.82"/>
                                          </p:val>
                                        </p:tav>
                                        <p:tav tm="100000">
                                          <p:val>
                                            <p:strVal val="#ppt_w"/>
                                          </p:val>
                                        </p:tav>
                                      </p:tavLst>
                                    </p:anim>
                                    <p:anim calcmode="lin" valueType="num">
                                      <p:cBhvr>
                                        <p:cTn id="68" dur="550" fill="hold"/>
                                        <p:tgtEl>
                                          <p:spTgt spid="21"/>
                                        </p:tgtEl>
                                        <p:attrNameLst>
                                          <p:attrName>ppt_h</p:attrName>
                                        </p:attrNameLst>
                                      </p:cBhvr>
                                      <p:tavLst>
                                        <p:tav tm="0">
                                          <p:val>
                                            <p:strVal val="#ppt_h*.82"/>
                                          </p:val>
                                        </p:tav>
                                        <p:tav tm="100000">
                                          <p:val>
                                            <p:strVal val="#ppt_h"/>
                                          </p:val>
                                        </p:tav>
                                      </p:tavLst>
                                    </p:anim>
                                    <p:animEffect transition="in" filter="fade">
                                      <p:cBhvr>
                                        <p:cTn id="69" dur="550"/>
                                        <p:tgtEl>
                                          <p:spTgt spid="21"/>
                                        </p:tgtEl>
                                      </p:cBhvr>
                                    </p:animEffect>
                                  </p:childTnLst>
                                </p:cTn>
                              </p:par>
                            </p:childTnLst>
                          </p:cTn>
                        </p:par>
                        <p:par>
                          <p:cTn id="70" fill="hold">
                            <p:stCondLst>
                              <p:cond delay="2930"/>
                            </p:stCondLst>
                            <p:childTnLst>
                              <p:par>
                                <p:cTn id="71" presetID="42" presetClass="entr" presetSubtype="0" fill="hold" grpId="0" nodeType="afterEffect">
                                  <p:stCondLst>
                                    <p:cond delay="40"/>
                                  </p:stCondLst>
                                  <p:childTnLst>
                                    <p:set>
                                      <p:cBhvr>
                                        <p:cTn id="72" dur="1" fill="hold">
                                          <p:stCondLst>
                                            <p:cond delay="0"/>
                                          </p:stCondLst>
                                        </p:cTn>
                                        <p:tgtEl>
                                          <p:spTgt spid="22"/>
                                        </p:tgtEl>
                                        <p:attrNameLst>
                                          <p:attrName>style.visibility</p:attrName>
                                        </p:attrNameLst>
                                      </p:cBhvr>
                                      <p:to>
                                        <p:strVal val="visible"/>
                                      </p:to>
                                    </p:set>
                                    <p:animEffect transition="in" filter="fade">
                                      <p:cBhvr>
                                        <p:cTn id="73" dur="400"/>
                                        <p:tgtEl>
                                          <p:spTgt spid="22"/>
                                        </p:tgtEl>
                                      </p:cBhvr>
                                    </p:animEffect>
                                    <p:anim calcmode="lin" valueType="num">
                                      <p:cBhvr>
                                        <p:cTn id="74" dur="400" fill="hold"/>
                                        <p:tgtEl>
                                          <p:spTgt spid="22"/>
                                        </p:tgtEl>
                                        <p:attrNameLst>
                                          <p:attrName>ppt_x</p:attrName>
                                        </p:attrNameLst>
                                      </p:cBhvr>
                                      <p:tavLst>
                                        <p:tav tm="0">
                                          <p:val>
                                            <p:strVal val="#ppt_x"/>
                                          </p:val>
                                        </p:tav>
                                        <p:tav tm="100000">
                                          <p:val>
                                            <p:strVal val="#ppt_x"/>
                                          </p:val>
                                        </p:tav>
                                      </p:tavLst>
                                    </p:anim>
                                    <p:anim calcmode="lin" valueType="num">
                                      <p:cBhvr>
                                        <p:cTn id="75" dur="400" fill="hold"/>
                                        <p:tgtEl>
                                          <p:spTgt spid="22"/>
                                        </p:tgtEl>
                                        <p:attrNameLst>
                                          <p:attrName>ppt_y</p:attrName>
                                        </p:attrNameLst>
                                      </p:cBhvr>
                                      <p:tavLst>
                                        <p:tav tm="0">
                                          <p:val>
                                            <p:strVal val="#ppt_y+.06"/>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23"/>
                                        </p:tgtEl>
                                        <p:attrNameLst>
                                          <p:attrName>style.visibility</p:attrName>
                                        </p:attrNameLst>
                                      </p:cBhvr>
                                      <p:to>
                                        <p:strVal val="visible"/>
                                      </p:to>
                                    </p:set>
                                    <p:animEffect transition="in" filter="fade">
                                      <p:cBhvr>
                                        <p:cTn id="78" dur="400"/>
                                        <p:tgtEl>
                                          <p:spTgt spid="23"/>
                                        </p:tgtEl>
                                      </p:cBhvr>
                                    </p:animEffect>
                                    <p:anim calcmode="lin" valueType="num">
                                      <p:cBhvr>
                                        <p:cTn id="79" dur="400" fill="hold"/>
                                        <p:tgtEl>
                                          <p:spTgt spid="23"/>
                                        </p:tgtEl>
                                        <p:attrNameLst>
                                          <p:attrName>ppt_x</p:attrName>
                                        </p:attrNameLst>
                                      </p:cBhvr>
                                      <p:tavLst>
                                        <p:tav tm="0">
                                          <p:val>
                                            <p:strVal val="#ppt_x"/>
                                          </p:val>
                                        </p:tav>
                                        <p:tav tm="100000">
                                          <p:val>
                                            <p:strVal val="#ppt_x"/>
                                          </p:val>
                                        </p:tav>
                                      </p:tavLst>
                                    </p:anim>
                                    <p:anim calcmode="lin" valueType="num">
                                      <p:cBhvr>
                                        <p:cTn id="80" dur="400" fill="hold"/>
                                        <p:tgtEl>
                                          <p:spTgt spid="23"/>
                                        </p:tgtEl>
                                        <p:attrNameLst>
                                          <p:attrName>ppt_y</p:attrName>
                                        </p:attrNameLst>
                                      </p:cBhvr>
                                      <p:tavLst>
                                        <p:tav tm="0">
                                          <p:val>
                                            <p:strVal val="#ppt_y+.06"/>
                                          </p:val>
                                        </p:tav>
                                        <p:tav tm="100000">
                                          <p:val>
                                            <p:strVal val="#ppt_y"/>
                                          </p:val>
                                        </p:tav>
                                      </p:tavLst>
                                    </p:anim>
                                  </p:childTnLst>
                                </p:cTn>
                              </p:par>
                            </p:childTnLst>
                          </p:cTn>
                        </p:par>
                        <p:par>
                          <p:cTn id="81" fill="hold">
                            <p:stCondLst>
                              <p:cond delay="3370"/>
                            </p:stCondLst>
                            <p:childTnLst>
                              <p:par>
                                <p:cTn id="82" presetID="42" presetClass="entr" presetSubtype="0" fill="hold" grpId="0" nodeType="afterEffect">
                                  <p:stCondLst>
                                    <p:cond delay="40"/>
                                  </p:stCondLst>
                                  <p:childTnLst>
                                    <p:set>
                                      <p:cBhvr>
                                        <p:cTn id="83" dur="1" fill="hold">
                                          <p:stCondLst>
                                            <p:cond delay="0"/>
                                          </p:stCondLst>
                                        </p:cTn>
                                        <p:tgtEl>
                                          <p:spTgt spid="24"/>
                                        </p:tgtEl>
                                        <p:attrNameLst>
                                          <p:attrName>style.visibility</p:attrName>
                                        </p:attrNameLst>
                                      </p:cBhvr>
                                      <p:to>
                                        <p:strVal val="visible"/>
                                      </p:to>
                                    </p:set>
                                    <p:animEffect transition="in" filter="fade">
                                      <p:cBhvr>
                                        <p:cTn id="84" dur="400"/>
                                        <p:tgtEl>
                                          <p:spTgt spid="24"/>
                                        </p:tgtEl>
                                      </p:cBhvr>
                                    </p:animEffect>
                                    <p:anim calcmode="lin" valueType="num">
                                      <p:cBhvr>
                                        <p:cTn id="85" dur="400" fill="hold"/>
                                        <p:tgtEl>
                                          <p:spTgt spid="24"/>
                                        </p:tgtEl>
                                        <p:attrNameLst>
                                          <p:attrName>ppt_x</p:attrName>
                                        </p:attrNameLst>
                                      </p:cBhvr>
                                      <p:tavLst>
                                        <p:tav tm="0">
                                          <p:val>
                                            <p:strVal val="#ppt_x"/>
                                          </p:val>
                                        </p:tav>
                                        <p:tav tm="100000">
                                          <p:val>
                                            <p:strVal val="#ppt_x"/>
                                          </p:val>
                                        </p:tav>
                                      </p:tavLst>
                                    </p:anim>
                                    <p:anim calcmode="lin" valueType="num">
                                      <p:cBhvr>
                                        <p:cTn id="86" dur="400" fill="hold"/>
                                        <p:tgtEl>
                                          <p:spTgt spid="24"/>
                                        </p:tgtEl>
                                        <p:attrNameLst>
                                          <p:attrName>ppt_y</p:attrName>
                                        </p:attrNameLst>
                                      </p:cBhvr>
                                      <p:tavLst>
                                        <p:tav tm="0">
                                          <p:val>
                                            <p:strVal val="#ppt_y+.06"/>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25"/>
                                        </p:tgtEl>
                                        <p:attrNameLst>
                                          <p:attrName>style.visibility</p:attrName>
                                        </p:attrNameLst>
                                      </p:cBhvr>
                                      <p:to>
                                        <p:strVal val="visible"/>
                                      </p:to>
                                    </p:set>
                                    <p:animEffect transition="in" filter="fade">
                                      <p:cBhvr>
                                        <p:cTn id="89" dur="400"/>
                                        <p:tgtEl>
                                          <p:spTgt spid="25"/>
                                        </p:tgtEl>
                                      </p:cBhvr>
                                    </p:animEffect>
                                    <p:anim calcmode="lin" valueType="num">
                                      <p:cBhvr>
                                        <p:cTn id="90" dur="400" fill="hold"/>
                                        <p:tgtEl>
                                          <p:spTgt spid="25"/>
                                        </p:tgtEl>
                                        <p:attrNameLst>
                                          <p:attrName>ppt_x</p:attrName>
                                        </p:attrNameLst>
                                      </p:cBhvr>
                                      <p:tavLst>
                                        <p:tav tm="0">
                                          <p:val>
                                            <p:strVal val="#ppt_x"/>
                                          </p:val>
                                        </p:tav>
                                        <p:tav tm="100000">
                                          <p:val>
                                            <p:strVal val="#ppt_x"/>
                                          </p:val>
                                        </p:tav>
                                      </p:tavLst>
                                    </p:anim>
                                    <p:anim calcmode="lin" valueType="num">
                                      <p:cBhvr>
                                        <p:cTn id="91" dur="400" fill="hold"/>
                                        <p:tgtEl>
                                          <p:spTgt spid="25"/>
                                        </p:tgtEl>
                                        <p:attrNameLst>
                                          <p:attrName>ppt_y</p:attrName>
                                        </p:attrNameLst>
                                      </p:cBhvr>
                                      <p:tavLst>
                                        <p:tav tm="0">
                                          <p:val>
                                            <p:strVal val="#ppt_y+.06"/>
                                          </p:val>
                                        </p:tav>
                                        <p:tav tm="100000">
                                          <p:val>
                                            <p:strVal val="#ppt_y"/>
                                          </p:val>
                                        </p:tav>
                                      </p:tavLst>
                                    </p:anim>
                                  </p:childTnLst>
                                </p:cTn>
                              </p:par>
                            </p:childTnLst>
                          </p:cTn>
                        </p:par>
                        <p:par>
                          <p:cTn id="92" fill="hold">
                            <p:stCondLst>
                              <p:cond delay="3810"/>
                            </p:stCondLst>
                            <p:childTnLst>
                              <p:par>
                                <p:cTn id="93" presetID="10" presetClass="entr" presetSubtype="0" fill="hold" grpId="0" nodeType="afterEffect">
                                  <p:stCondLst>
                                    <p:cond delay="120"/>
                                  </p:stCondLst>
                                  <p:childTnLst>
                                    <p:set>
                                      <p:cBhvr>
                                        <p:cTn id="94" dur="1" fill="hold">
                                          <p:stCondLst>
                                            <p:cond delay="0"/>
                                          </p:stCondLst>
                                        </p:cTn>
                                        <p:tgtEl>
                                          <p:spTgt spid="26"/>
                                        </p:tgtEl>
                                        <p:attrNameLst>
                                          <p:attrName>style.visibility</p:attrName>
                                        </p:attrNameLst>
                                      </p:cBhvr>
                                      <p:to>
                                        <p:strVal val="visible"/>
                                      </p:to>
                                    </p:set>
                                    <p:animEffect transition="in" filter="fade">
                                      <p:cBhvr>
                                        <p:cTn id="9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8" grpId="0" animBg="1"/>
      <p:bldP spid="9" grpId="0"/>
      <p:bldP spid="18" grpId="0"/>
      <p:bldP spid="19" grpId="0" animBg="1"/>
      <p:bldP spid="20" grpId="0"/>
      <p:bldP spid="21" grpId="0"/>
      <p:bldP spid="22" grpId="0" animBg="1"/>
      <p:bldP spid="23" grpId="0"/>
      <p:bldP spid="24" grpId="0" animBg="1"/>
      <p:bldP spid="25" grpId="0"/>
      <p:bldP spid="26" grpId="0"/>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t"/>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2/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9144000" cy="274320"/>
          </a:xfrm>
          <a:prstGeom prst="rect">
            <a:avLst/>
          </a:prstGeom>
          <a:noFill/>
          <a:ln/>
        </p:spPr>
        <p:txBody>
          <a:bodyPr wrap="square" lIns="0" tIns="0" rIns="0" bIns="0" rtlCol="0" anchor="t"/>
          <a:lstStyle/>
          <a:p>
            <a:pPr indent="0" marL="0">
              <a:buNone/>
            </a:pPr>
            <a:r>
              <a:rPr lang="en-US" sz="1100" b="1" spc="300" kern="0" dirty="0">
                <a:solidFill>
                  <a:srgbClr val="F5A623"/>
                </a:solidFill>
                <a:latin typeface="Calibri" pitchFamily="34" charset="0"/>
                <a:ea typeface="Calibri" pitchFamily="34" charset="-122"/>
                <a:cs typeface="Calibri" pitchFamily="34" charset="-120"/>
              </a:rPr>
              <a:t>WHAT’S PROVEN · WHAT WE CHECKED · WHAT ISN’T</a:t>
            </a:r>
            <a:endParaRPr lang="en-US" sz="1100" dirty="0"/>
          </a:p>
        </p:txBody>
      </p:sp>
      <p:sp>
        <p:nvSpPr>
          <p:cNvPr id="5" name="title"/>
          <p:cNvSpPr txBox="1"/>
          <p:nvPr/>
        </p:nvSpPr>
        <p:spPr>
          <a:xfrm>
            <a:off x="548640" y="1170432"/>
            <a:ext cx="11094415"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Links alone are promising, but fall short of our bar</a:t>
            </a:r>
            <a:endParaRPr lang="en-US" sz="3200" dirty="0"/>
          </a:p>
        </p:txBody>
      </p:sp>
      <p:sp>
        <p:nvSpPr>
          <p:cNvPr id="6" name="pf0"/>
          <p:cNvSpPr/>
          <p:nvPr/>
        </p:nvSpPr>
        <p:spPr>
          <a:xfrm>
            <a:off x="548640" y="2057400"/>
            <a:ext cx="3611880" cy="1188720"/>
          </a:xfrm>
          <a:prstGeom prst="roundRect">
            <a:avLst>
              <a:gd name="adj" fmla="val 9231"/>
            </a:avLst>
          </a:prstGeom>
          <a:solidFill>
            <a:srgbClr val="141B36"/>
          </a:solidFill>
          <a:ln w="12700">
            <a:solidFill>
              <a:srgbClr val="1BAF7A"/>
            </a:solidFill>
            <a:prstDash val="solid"/>
          </a:ln>
        </p:spPr>
      </p:sp>
      <p:pic>
        <p:nvPicPr>
          <p:cNvPr id="7" name="pfI0" descr="preencoded.png">    </p:cNvPr>
          <p:cNvPicPr>
            <a:picLocks noChangeAspect="1"/>
          </p:cNvPicPr>
          <p:nvPr/>
        </p:nvPicPr>
        <p:blipFill>
          <a:blip r:embed="rId2"/>
          <a:stretch>
            <a:fillRect/>
          </a:stretch>
        </p:blipFill>
        <p:spPr>
          <a:xfrm>
            <a:off x="731520" y="2194560"/>
            <a:ext cx="274320" cy="274320"/>
          </a:xfrm>
          <a:prstGeom prst="rect">
            <a:avLst/>
          </a:prstGeom>
        </p:spPr>
      </p:pic>
      <p:sp>
        <p:nvSpPr>
          <p:cNvPr id="8" name="pfK0"/>
          <p:cNvSpPr txBox="1"/>
          <p:nvPr/>
        </p:nvSpPr>
        <p:spPr>
          <a:xfrm>
            <a:off x="1115568" y="2194560"/>
            <a:ext cx="2880360" cy="274320"/>
          </a:xfrm>
          <a:prstGeom prst="rect">
            <a:avLst/>
          </a:prstGeom>
          <a:noFill/>
          <a:ln/>
        </p:spPr>
        <p:txBody>
          <a:bodyPr wrap="square" lIns="0" tIns="0" rIns="0" bIns="0" rtlCol="0" anchor="ctr"/>
          <a:lstStyle/>
          <a:p>
            <a:pPr indent="0" marL="0">
              <a:buNone/>
            </a:pPr>
            <a:r>
              <a:rPr lang="en-US" sz="1050" b="1" spc="200" kern="0" dirty="0">
                <a:solidFill>
                  <a:srgbClr val="1BAF7A"/>
                </a:solidFill>
                <a:latin typeface="Calibri" pitchFamily="34" charset="0"/>
                <a:ea typeface="Calibri" pitchFamily="34" charset="-122"/>
                <a:cs typeface="Calibri" pitchFamily="34" charset="-120"/>
              </a:rPr>
              <a:t>PROVEN · PUBLISHED</a:t>
            </a:r>
            <a:endParaRPr lang="en-US" sz="1050" dirty="0"/>
          </a:p>
        </p:txBody>
      </p:sp>
      <p:sp>
        <p:nvSpPr>
          <p:cNvPr id="9" name="pfT0"/>
          <p:cNvSpPr txBox="1"/>
          <p:nvPr/>
        </p:nvSpPr>
        <p:spPr>
          <a:xfrm>
            <a:off x="731520" y="2514600"/>
            <a:ext cx="3291840" cy="658368"/>
          </a:xfrm>
          <a:prstGeom prst="rect">
            <a:avLst/>
          </a:prstGeom>
          <a:noFill/>
          <a:ln/>
        </p:spPr>
        <p:txBody>
          <a:bodyPr wrap="square" lIns="0" tIns="0" rIns="0" bIns="0" rtlCol="0" anchor="t"/>
          <a:lstStyle/>
          <a:p>
            <a:pPr indent="0" marL="0">
              <a:buNone/>
            </a:pPr>
            <a:r>
              <a:rPr lang="en-US" sz="1250" dirty="0">
                <a:solidFill>
                  <a:srgbClr val="EEF1F7"/>
                </a:solidFill>
                <a:latin typeface="Calibri" pitchFamily="34" charset="0"/>
                <a:ea typeface="Calibri" pitchFamily="34" charset="-122"/>
                <a:cs typeface="Calibri" pitchFamily="34" charset="-120"/>
              </a:rPr>
              <a:t>Physics: rain weakens microwave signals</a:t>
            </a:r>
            <a:endParaRPr lang="en-US" sz="1250" dirty="0"/>
          </a:p>
          <a:p>
            <a:pPr indent="0" marL="0">
              <a:buNone/>
            </a:pPr>
            <a:r>
              <a:rPr lang="en-US" sz="1250" dirty="0">
                <a:solidFill>
                  <a:srgbClr val="EEF1F7"/>
                </a:solidFill>
                <a:latin typeface="Calibri" pitchFamily="34" charset="0"/>
                <a:ea typeface="Calibri" pitchFamily="34" charset="-122"/>
                <a:cs typeface="Calibri" pitchFamily="34" charset="-120"/>
              </a:rPr>
              <a:t>Method: Science 2006 · PNAS 2013</a:t>
            </a:r>
            <a:endParaRPr lang="en-US" sz="1250" dirty="0"/>
          </a:p>
          <a:p>
            <a:pPr indent="0" marL="0">
              <a:buNone/>
            </a:pPr>
            <a:r>
              <a:rPr lang="en-US" sz="1250" dirty="0">
                <a:solidFill>
                  <a:srgbClr val="EEF1F7"/>
                </a:solidFill>
                <a:latin typeface="Calibri" pitchFamily="34" charset="0"/>
                <a:ea typeface="Calibri" pitchFamily="34" charset="-122"/>
                <a:cs typeface="Calibri" pitchFamily="34" charset="-120"/>
              </a:rPr>
              <a:t>Rain mapped across a whole country</a:t>
            </a:r>
            <a:endParaRPr lang="en-US" sz="1250" dirty="0"/>
          </a:p>
        </p:txBody>
      </p:sp>
      <p:sp>
        <p:nvSpPr>
          <p:cNvPr id="10" name="pf1"/>
          <p:cNvSpPr/>
          <p:nvPr/>
        </p:nvSpPr>
        <p:spPr>
          <a:xfrm>
            <a:off x="548640" y="3337560"/>
            <a:ext cx="3611880" cy="1097280"/>
          </a:xfrm>
          <a:prstGeom prst="roundRect">
            <a:avLst>
              <a:gd name="adj" fmla="val 10000"/>
            </a:avLst>
          </a:prstGeom>
          <a:solidFill>
            <a:srgbClr val="2B2208"/>
          </a:solidFill>
          <a:ln w="12700">
            <a:solidFill>
              <a:srgbClr val="F5A623"/>
            </a:solidFill>
            <a:prstDash val="solid"/>
          </a:ln>
        </p:spPr>
      </p:sp>
      <p:pic>
        <p:nvPicPr>
          <p:cNvPr id="11" name="pfI1" descr="preencoded.png">    </p:cNvPr>
          <p:cNvPicPr>
            <a:picLocks noChangeAspect="1"/>
          </p:cNvPicPr>
          <p:nvPr/>
        </p:nvPicPr>
        <p:blipFill>
          <a:blip r:embed="rId3"/>
          <a:stretch>
            <a:fillRect/>
          </a:stretch>
        </p:blipFill>
        <p:spPr>
          <a:xfrm>
            <a:off x="731520" y="3474720"/>
            <a:ext cx="274320" cy="274320"/>
          </a:xfrm>
          <a:prstGeom prst="rect">
            <a:avLst/>
          </a:prstGeom>
        </p:spPr>
      </p:pic>
      <p:sp>
        <p:nvSpPr>
          <p:cNvPr id="12" name="pfK1"/>
          <p:cNvSpPr txBox="1"/>
          <p:nvPr/>
        </p:nvSpPr>
        <p:spPr>
          <a:xfrm>
            <a:off x="1115568" y="3474720"/>
            <a:ext cx="2880360" cy="274320"/>
          </a:xfrm>
          <a:prstGeom prst="rect">
            <a:avLst/>
          </a:prstGeom>
          <a:noFill/>
          <a:ln/>
        </p:spPr>
        <p:txBody>
          <a:bodyPr wrap="square" lIns="0" tIns="0" rIns="0" bIns="0" rtlCol="0" anchor="ctr"/>
          <a:lstStyle/>
          <a:p>
            <a:pPr indent="0" marL="0">
              <a:buNone/>
            </a:pPr>
            <a:r>
              <a:rPr lang="en-US" sz="1050" b="1" spc="200" kern="0" dirty="0">
                <a:solidFill>
                  <a:srgbClr val="F5A623"/>
                </a:solidFill>
                <a:latin typeface="Calibri" pitchFamily="34" charset="0"/>
                <a:ea typeface="Calibri" pitchFamily="34" charset="-122"/>
                <a:cs typeface="Calibri" pitchFamily="34" charset="-120"/>
              </a:rPr>
              <a:t>OUR CHECK · PUBLIC DATA</a:t>
            </a:r>
            <a:endParaRPr lang="en-US" sz="1050" dirty="0"/>
          </a:p>
        </p:txBody>
      </p:sp>
      <p:sp>
        <p:nvSpPr>
          <p:cNvPr id="13" name="pfT1"/>
          <p:cNvSpPr txBox="1"/>
          <p:nvPr/>
        </p:nvSpPr>
        <p:spPr>
          <a:xfrm>
            <a:off x="731520" y="3794760"/>
            <a:ext cx="3291840" cy="566928"/>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We ran the open-source method ourselves on 500 real links, with radar as the reference</a:t>
            </a:r>
            <a:endParaRPr lang="en-US" sz="1250" dirty="0"/>
          </a:p>
        </p:txBody>
      </p:sp>
      <p:sp>
        <p:nvSpPr>
          <p:cNvPr id="14" name="pf2"/>
          <p:cNvSpPr/>
          <p:nvPr/>
        </p:nvSpPr>
        <p:spPr>
          <a:xfrm>
            <a:off x="548640" y="4526280"/>
            <a:ext cx="3611880" cy="1234440"/>
          </a:xfrm>
          <a:prstGeom prst="roundRect">
            <a:avLst>
              <a:gd name="adj" fmla="val 8889"/>
            </a:avLst>
          </a:prstGeom>
          <a:solidFill>
            <a:srgbClr val="2A1622"/>
          </a:solidFill>
          <a:ln w="12700">
            <a:solidFill>
              <a:srgbClr val="E5484D"/>
            </a:solidFill>
            <a:prstDash val="dash"/>
          </a:ln>
        </p:spPr>
      </p:sp>
      <p:pic>
        <p:nvPicPr>
          <p:cNvPr id="15" name="pfI2" descr="preencoded.png">    </p:cNvPr>
          <p:cNvPicPr>
            <a:picLocks noChangeAspect="1"/>
          </p:cNvPicPr>
          <p:nvPr/>
        </p:nvPicPr>
        <p:blipFill>
          <a:blip r:embed="rId4"/>
          <a:stretch>
            <a:fillRect/>
          </a:stretch>
        </p:blipFill>
        <p:spPr>
          <a:xfrm>
            <a:off x="731520" y="4663440"/>
            <a:ext cx="274320" cy="274320"/>
          </a:xfrm>
          <a:prstGeom prst="rect">
            <a:avLst/>
          </a:prstGeom>
        </p:spPr>
      </p:pic>
      <p:sp>
        <p:nvSpPr>
          <p:cNvPr id="16" name="pfK2"/>
          <p:cNvSpPr txBox="1"/>
          <p:nvPr/>
        </p:nvSpPr>
        <p:spPr>
          <a:xfrm>
            <a:off x="1115568" y="4663440"/>
            <a:ext cx="2880360" cy="274320"/>
          </a:xfrm>
          <a:prstGeom prst="rect">
            <a:avLst/>
          </a:prstGeom>
          <a:noFill/>
          <a:ln/>
        </p:spPr>
        <p:txBody>
          <a:bodyPr wrap="square" lIns="0" tIns="0" rIns="0" bIns="0" rtlCol="0" anchor="ctr"/>
          <a:lstStyle/>
          <a:p>
            <a:pPr indent="0" marL="0">
              <a:buNone/>
            </a:pPr>
            <a:r>
              <a:rPr lang="en-US" sz="1050" b="1" spc="200" kern="0" dirty="0">
                <a:solidFill>
                  <a:srgbClr val="FF8A8D"/>
                </a:solidFill>
                <a:latin typeface="Calibri" pitchFamily="34" charset="0"/>
                <a:ea typeface="Calibri" pitchFamily="34" charset="-122"/>
                <a:cs typeface="Calibri" pitchFamily="34" charset="-120"/>
              </a:rPr>
              <a:t>NOT YET PROVEN · THE PILOT</a:t>
            </a:r>
            <a:endParaRPr lang="en-US" sz="1050" dirty="0"/>
          </a:p>
        </p:txBody>
      </p:sp>
      <p:sp>
        <p:nvSpPr>
          <p:cNvPr id="17" name="pfT2"/>
          <p:cNvSpPr txBox="1"/>
          <p:nvPr/>
        </p:nvSpPr>
        <p:spPr>
          <a:xfrm>
            <a:off x="731520" y="4983480"/>
            <a:ext cx="3291840" cy="704088"/>
          </a:xfrm>
          <a:prstGeom prst="rect">
            <a:avLst/>
          </a:prstGeom>
          <a:noFill/>
          <a:ln/>
        </p:spPr>
        <p:txBody>
          <a:bodyPr wrap="square" lIns="0" tIns="0" rIns="0" bIns="0" rtlCol="0" anchor="t"/>
          <a:lstStyle/>
          <a:p>
            <a:pPr indent="0" marL="0">
              <a:buNone/>
            </a:pPr>
            <a:r>
              <a:rPr lang="en-US" sz="1250" dirty="0">
                <a:solidFill>
                  <a:srgbClr val="EEF1F7"/>
                </a:solidFill>
                <a:latin typeface="Calibri" pitchFamily="34" charset="0"/>
                <a:ea typeface="Calibri" pitchFamily="34" charset="-122"/>
                <a:cs typeface="Calibri" pitchFamily="34" charset="-120"/>
              </a:rPr>
              <a:t>Jio’s coverage, Indian accuracy, business value, who pays, insurance-grade triggers</a:t>
            </a:r>
            <a:endParaRPr lang="en-US" sz="1250" dirty="0"/>
          </a:p>
        </p:txBody>
      </p:sp>
      <p:sp>
        <p:nvSpPr>
          <p:cNvPr id="18" name="banner"/>
          <p:cNvSpPr/>
          <p:nvPr/>
        </p:nvSpPr>
        <p:spPr>
          <a:xfrm>
            <a:off x="4389120" y="2057400"/>
            <a:ext cx="7253935" cy="384048"/>
          </a:xfrm>
          <a:prstGeom prst="roundRect">
            <a:avLst>
              <a:gd name="adj" fmla="val 28571"/>
            </a:avLst>
          </a:prstGeom>
          <a:solidFill>
            <a:srgbClr val="2B2208"/>
          </a:solidFill>
          <a:ln w="9525">
            <a:solidFill>
              <a:srgbClr val="F5A623"/>
            </a:solidFill>
            <a:prstDash val="solid"/>
          </a:ln>
        </p:spPr>
      </p:sp>
      <p:sp>
        <p:nvSpPr>
          <p:cNvPr id="19" name="bannerT"/>
          <p:cNvSpPr txBox="1"/>
          <p:nvPr/>
        </p:nvSpPr>
        <p:spPr>
          <a:xfrm>
            <a:off x="4389120" y="2057400"/>
            <a:ext cx="7253935" cy="384048"/>
          </a:xfrm>
          <a:prstGeom prst="rect">
            <a:avLst/>
          </a:prstGeom>
          <a:noFill/>
          <a:ln/>
        </p:spPr>
        <p:txBody>
          <a:bodyPr wrap="square" lIns="0" tIns="0" rIns="0" bIns="0" rtlCol="0" anchor="ctr"/>
          <a:lstStyle/>
          <a:p>
            <a:pPr algn="ctr" indent="0" marL="0">
              <a:buNone/>
            </a:pPr>
            <a:r>
              <a:rPr lang="en-US" sz="1150" b="1" spc="100" kern="0" dirty="0">
                <a:solidFill>
                  <a:srgbClr val="F5A623"/>
                </a:solidFill>
                <a:latin typeface="Calibri" pitchFamily="34" charset="0"/>
                <a:ea typeface="Calibri" pitchFamily="34" charset="-122"/>
                <a:cs typeface="Calibri" pitchFamily="34" charset="-120"/>
              </a:rPr>
              <a:t>OUR CHECK  ·  500 REAL LINKS  ·  PUBLIC RESEARCH DATA, GERMANY  ·  NOT JIO DATA</a:t>
            </a:r>
            <a:endParaRPr lang="en-US" sz="1150" dirty="0"/>
          </a:p>
        </p:txBody>
      </p:sp>
      <p:sp>
        <p:nvSpPr>
          <p:cNvPr id="20" name="res"/>
          <p:cNvSpPr/>
          <p:nvPr/>
        </p:nvSpPr>
        <p:spPr>
          <a:xfrm>
            <a:off x="4389120" y="2606040"/>
            <a:ext cx="7253935" cy="1463040"/>
          </a:xfrm>
          <a:prstGeom prst="roundRect">
            <a:avLst>
              <a:gd name="adj" fmla="val 7500"/>
            </a:avLst>
          </a:prstGeom>
          <a:solidFill>
            <a:srgbClr val="2A1622"/>
          </a:solidFill>
          <a:ln w="12700">
            <a:solidFill>
              <a:srgbClr val="E5484D"/>
            </a:solidFill>
            <a:prstDash val="solid"/>
          </a:ln>
        </p:spPr>
      </p:sp>
      <p:sp>
        <p:nvSpPr>
          <p:cNvPr id="21" name="resN"/>
          <p:cNvSpPr txBox="1"/>
          <p:nvPr/>
        </p:nvSpPr>
        <p:spPr>
          <a:xfrm>
            <a:off x="4617720" y="2697480"/>
            <a:ext cx="1828800" cy="73152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68%</a:t>
            </a:r>
            <a:endParaRPr lang="en-US" sz="4600" dirty="0"/>
          </a:p>
        </p:txBody>
      </p:sp>
      <p:sp>
        <p:nvSpPr>
          <p:cNvPr id="22" name="resL"/>
          <p:cNvSpPr txBox="1"/>
          <p:nvPr/>
        </p:nvSpPr>
        <p:spPr>
          <a:xfrm>
            <a:off x="4636008" y="3410712"/>
            <a:ext cx="2286000" cy="457200"/>
          </a:xfrm>
          <a:prstGeom prst="rect">
            <a:avLst/>
          </a:prstGeom>
          <a:noFill/>
          <a:ln/>
        </p:spPr>
        <p:txBody>
          <a:bodyPr wrap="square" lIns="0" tIns="0" rIns="0" bIns="0" rtlCol="0" anchor="t"/>
          <a:lstStyle/>
          <a:p>
            <a:pPr indent="0" marL="0">
              <a:buNone/>
            </a:pPr>
            <a:r>
              <a:rPr lang="en-US" sz="1300" dirty="0">
                <a:solidFill>
                  <a:srgbClr val="EEF1F7"/>
                </a:solidFill>
                <a:latin typeface="Calibri" pitchFamily="34" charset="0"/>
                <a:ea typeface="Calibri" pitchFamily="34" charset="-122"/>
                <a:cs typeface="Calibri" pitchFamily="34" charset="-120"/>
              </a:rPr>
              <a:t>of rain events caught by links alone</a:t>
            </a:r>
            <a:endParaRPr lang="en-US" sz="1300" dirty="0"/>
          </a:p>
        </p:txBody>
      </p:sp>
      <p:sp>
        <p:nvSpPr>
          <p:cNvPr id="23" name="resB"/>
          <p:cNvSpPr/>
          <p:nvPr/>
        </p:nvSpPr>
        <p:spPr>
          <a:xfrm>
            <a:off x="7132320" y="2990088"/>
            <a:ext cx="4236415" cy="329184"/>
          </a:xfrm>
          <a:prstGeom prst="roundRect">
            <a:avLst>
              <a:gd name="adj" fmla="val 16667"/>
            </a:avLst>
          </a:prstGeom>
          <a:solidFill>
            <a:srgbClr val="10162C"/>
          </a:solidFill>
          <a:ln w="9525">
            <a:solidFill>
              <a:srgbClr val="3A4570"/>
            </a:solidFill>
            <a:prstDash val="solid"/>
          </a:ln>
        </p:spPr>
      </p:sp>
      <p:sp>
        <p:nvSpPr>
          <p:cNvPr id="24" name="resF"/>
          <p:cNvSpPr/>
          <p:nvPr/>
        </p:nvSpPr>
        <p:spPr>
          <a:xfrm>
            <a:off x="7132320" y="2990088"/>
            <a:ext cx="2880762" cy="329184"/>
          </a:xfrm>
          <a:prstGeom prst="roundRect">
            <a:avLst>
              <a:gd name="adj" fmla="val 16667"/>
            </a:avLst>
          </a:prstGeom>
          <a:solidFill>
            <a:srgbClr val="3987E5"/>
          </a:solidFill>
          <a:ln w="12700">
            <a:solidFill>
              <a:srgbClr val="3987E5"/>
            </a:solidFill>
            <a:prstDash val="solid"/>
          </a:ln>
        </p:spPr>
      </p:sp>
      <p:sp>
        <p:nvSpPr>
          <p:cNvPr id="25" name="resFT"/>
          <p:cNvSpPr txBox="1"/>
          <p:nvPr/>
        </p:nvSpPr>
        <p:spPr>
          <a:xfrm>
            <a:off x="7242048" y="2990088"/>
            <a:ext cx="2697882" cy="32918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links alone: 68%</a:t>
            </a:r>
            <a:endParaRPr lang="en-US" sz="1150" dirty="0"/>
          </a:p>
        </p:txBody>
      </p:sp>
      <p:sp>
        <p:nvSpPr>
          <p:cNvPr id="26" name="resG"/>
          <p:cNvSpPr/>
          <p:nvPr/>
        </p:nvSpPr>
        <p:spPr>
          <a:xfrm>
            <a:off x="10521452" y="2788920"/>
            <a:ext cx="0" cy="731520"/>
          </a:xfrm>
          <a:prstGeom prst="line">
            <a:avLst/>
          </a:prstGeom>
          <a:noFill/>
          <a:ln w="22225">
            <a:solidFill>
              <a:srgbClr val="1BAF7A"/>
            </a:solidFill>
            <a:prstDash val="dash"/>
          </a:ln>
        </p:spPr>
      </p:sp>
      <p:sp>
        <p:nvSpPr>
          <p:cNvPr id="27" name="resGT"/>
          <p:cNvSpPr txBox="1"/>
          <p:nvPr/>
        </p:nvSpPr>
        <p:spPr>
          <a:xfrm>
            <a:off x="9835652" y="2660904"/>
            <a:ext cx="1371600" cy="201168"/>
          </a:xfrm>
          <a:prstGeom prst="rect">
            <a:avLst/>
          </a:prstGeom>
          <a:noFill/>
          <a:ln/>
        </p:spPr>
        <p:txBody>
          <a:bodyPr wrap="square" lIns="0" tIns="0" rIns="0" bIns="0" rtlCol="0" anchor="t"/>
          <a:lstStyle/>
          <a:p>
            <a:pPr algn="ctr" indent="0" marL="0">
              <a:buNone/>
            </a:pPr>
            <a:r>
              <a:rPr lang="en-US" sz="1100" b="1" dirty="0">
                <a:solidFill>
                  <a:srgbClr val="1BAF7A"/>
                </a:solidFill>
                <a:latin typeface="Calibri" pitchFamily="34" charset="0"/>
                <a:ea typeface="Calibri" pitchFamily="34" charset="-122"/>
                <a:cs typeface="Calibri" pitchFamily="34" charset="-120"/>
              </a:rPr>
              <a:t>our bar: 80%</a:t>
            </a:r>
            <a:endParaRPr lang="en-US" sz="1100" dirty="0"/>
          </a:p>
        </p:txBody>
      </p:sp>
      <p:sp>
        <p:nvSpPr>
          <p:cNvPr id="28" name="resS"/>
          <p:cNvSpPr txBox="1"/>
          <p:nvPr/>
        </p:nvSpPr>
        <p:spPr>
          <a:xfrm>
            <a:off x="7132320" y="3410712"/>
            <a:ext cx="4236415" cy="274320"/>
          </a:xfrm>
          <a:prstGeom prst="rect">
            <a:avLst/>
          </a:prstGeom>
          <a:noFill/>
          <a:ln/>
        </p:spPr>
        <p:txBody>
          <a:bodyPr wrap="square" lIns="0" tIns="0" rIns="0" bIns="0" rtlCol="0" anchor="t"/>
          <a:lstStyle/>
          <a:p>
            <a:pPr indent="0" marL="0">
              <a:buNone/>
            </a:pPr>
            <a:r>
              <a:rPr lang="en-US" sz="1300" b="1" dirty="0">
                <a:solidFill>
                  <a:srgbClr val="FF9A9C"/>
                </a:solidFill>
                <a:latin typeface="Calibri" pitchFamily="34" charset="0"/>
                <a:ea typeface="Calibri" pitchFamily="34" charset="-122"/>
                <a:cs typeface="Calibri" pitchFamily="34" charset="-120"/>
              </a:rPr>
              <a:t>Below our bar, so we never use links alone.</a:t>
            </a:r>
            <a:endParaRPr lang="en-US" sz="1300" dirty="0"/>
          </a:p>
        </p:txBody>
      </p:sp>
      <p:sp>
        <p:nvSpPr>
          <p:cNvPr id="29" name="resE"/>
          <p:cNvSpPr txBox="1"/>
          <p:nvPr/>
        </p:nvSpPr>
        <p:spPr>
          <a:xfrm>
            <a:off x="7132320" y="3721608"/>
            <a:ext cx="4236415" cy="256032"/>
          </a:xfrm>
          <a:prstGeom prst="rect">
            <a:avLst/>
          </a:prstGeom>
          <a:noFill/>
          <a:ln/>
        </p:spPr>
        <p:txBody>
          <a:bodyPr wrap="square" lIns="0" tIns="0" rIns="0" bIns="0" rtlCol="0" anchor="t"/>
          <a:lstStyle/>
          <a:p>
            <a:pPr indent="0" marL="0">
              <a:buNone/>
            </a:pPr>
            <a:r>
              <a:rPr lang="en-US" sz="1100" dirty="0">
                <a:solidFill>
                  <a:srgbClr val="98A2C0"/>
                </a:solidFill>
                <a:latin typeface="Calibri" pitchFamily="34" charset="0"/>
                <a:ea typeface="Calibri" pitchFamily="34" charset="-122"/>
                <a:cs typeface="Calibri" pitchFamily="34" charset="-120"/>
              </a:rPr>
              <a:t>Event = 10 mm+ of rain in 3 hours in a ~4 km zone  ·  8 unseen test days</a:t>
            </a:r>
            <a:endParaRPr lang="en-US" sz="1100" dirty="0"/>
          </a:p>
        </p:txBody>
      </p:sp>
      <p:graphicFrame>
        <p:nvGraphicFramePr>
          <p:cNvPr id="30" name="chart" descr=""/>
          <p:cNvGraphicFramePr/>
          <p:nvPr/>
        </p:nvGraphicFramePr>
        <p:xfrm>
          <a:off x="4297680" y="4133088"/>
          <a:ext cx="7391095" cy="1645920"/>
        </p:xfrm>
        <a:graphic xmlns:a="http://schemas.openxmlformats.org/drawingml/2006/main">
          <a:graphicData uri="http://schemas.openxmlformats.org/drawingml/2006/chart">
            <c:chart xmlns:c="http://schemas.openxmlformats.org/drawingml/2006/chart" r:id="rId5"/>
          </a:graphicData>
        </a:graphic>
      </p:graphicFrame>
      <p:sp>
        <p:nvSpPr>
          <p:cNvPr id="31" name="takeaway"/>
          <p:cNvSpPr txBox="1"/>
          <p:nvPr/>
        </p:nvSpPr>
        <p:spPr>
          <a:xfrm>
            <a:off x="548640" y="5852160"/>
            <a:ext cx="11094415" cy="457200"/>
          </a:xfrm>
          <a:prstGeom prst="rect">
            <a:avLst/>
          </a:prstGeom>
          <a:noFill/>
          <a:ln/>
        </p:spPr>
        <p:txBody>
          <a:bodyPr wrap="square" lIns="0" tIns="0" rIns="0" bIns="0" rtlCol="0" anchor="t"/>
          <a:lstStyle/>
          <a:p>
            <a:pPr indent="0" marL="0">
              <a:buNone/>
            </a:pPr>
            <a:r>
              <a:rPr lang="en-US" sz="1800" b="1" i="1" dirty="0">
                <a:solidFill>
                  <a:srgbClr val="F5A623"/>
                </a:solidFill>
                <a:latin typeface="Cambria" pitchFamily="34" charset="0"/>
                <a:ea typeface="Cambria" pitchFamily="34" charset="-122"/>
                <a:cs typeface="Cambria" pitchFamily="34" charset="-120"/>
              </a:rPr>
              <a:t>We didn’t invent the science. We checked it, found where it fails, and built around it.</a:t>
            </a:r>
            <a:endParaRPr lang="en-US" sz="1800" dirty="0"/>
          </a:p>
        </p:txBody>
      </p:sp>
      <p:sp>
        <p:nvSpPr>
          <p:cNvPr id="32" name="source"/>
          <p:cNvSpPr txBox="1"/>
          <p:nvPr/>
        </p:nvSpPr>
        <p:spPr>
          <a:xfrm>
            <a:off x="548640" y="6419088"/>
            <a:ext cx="11094415" cy="274320"/>
          </a:xfrm>
          <a:prstGeom prst="rect">
            <a:avLst/>
          </a:prstGeom>
          <a:noFill/>
          <a:ln/>
        </p:spPr>
        <p:txBody>
          <a:bodyPr wrap="square" lIns="0" tIns="0" rIns="0" bIns="0" rtlCol="0" anchor="t"/>
          <a:lstStyle/>
          <a:p>
            <a:pPr indent="0" marL="0">
              <a:buNone/>
            </a:pPr>
            <a:r>
              <a:rPr lang="en-US" sz="1000" dirty="0">
                <a:solidFill>
                  <a:srgbClr val="7A85A8"/>
                </a:solidFill>
                <a:latin typeface="Calibri" pitchFamily="34" charset="0"/>
                <a:ea typeface="Calibri" pitchFamily="34" charset="-122"/>
                <a:cs typeface="Calibri" pitchFamily="34" charset="-120"/>
              </a:rPr>
              <a:t>Messer et al., Science 2006 · Overeem et al., PNAS 2013 · Our check: public pycomlink dataset (KIT), 10–20 May 2018, German Weather Service radar as reference. Not Jio data.</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34"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00"/>
                                        <p:tgtEl>
                                          <p:spTgt spid="4"/>
                                        </p:tgtEl>
                                      </p:cBhvr>
                                    </p:animEffect>
                                  </p:childTnLst>
                                </p:cTn>
                              </p:par>
                              <p:par>
                                <p:cTn id="7" presetID="42" presetClass="entr" presetSubtype="0" fill="hold" grpId="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650"/>
                                        <p:tgtEl>
                                          <p:spTgt spid="5"/>
                                        </p:tgtEl>
                                      </p:cBhvr>
                                    </p:animEffect>
                                    <p:anim calcmode="lin" valueType="num">
                                      <p:cBhvr>
                                        <p:cTn id="10" dur="650" fill="hold"/>
                                        <p:tgtEl>
                                          <p:spTgt spid="5"/>
                                        </p:tgtEl>
                                        <p:attrNameLst>
                                          <p:attrName>ppt_x</p:attrName>
                                        </p:attrNameLst>
                                      </p:cBhvr>
                                      <p:tavLst>
                                        <p:tav tm="0">
                                          <p:val>
                                            <p:strVal val="#ppt_x"/>
                                          </p:val>
                                        </p:tav>
                                        <p:tav tm="100000">
                                          <p:val>
                                            <p:strVal val="#ppt_x"/>
                                          </p:val>
                                        </p:tav>
                                      </p:tavLst>
                                    </p:anim>
                                    <p:anim calcmode="lin" valueType="num">
                                      <p:cBhvr>
                                        <p:cTn id="11" dur="65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750"/>
                            </p:stCondLst>
                            <p:childTnLst>
                              <p:par>
                                <p:cTn id="13" presetID="42" presetClass="entr" presetSubtype="0" fill="hold" grpId="0" nodeType="afterEffect">
                                  <p:stCondLst>
                                    <p:cond delay="4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20"/>
                                        <p:tgtEl>
                                          <p:spTgt spid="6"/>
                                        </p:tgtEl>
                                      </p:cBhvr>
                                    </p:animEffect>
                                    <p:anim calcmode="lin" valueType="num">
                                      <p:cBhvr>
                                        <p:cTn id="16" dur="420" fill="hold"/>
                                        <p:tgtEl>
                                          <p:spTgt spid="6"/>
                                        </p:tgtEl>
                                        <p:attrNameLst>
                                          <p:attrName>ppt_x</p:attrName>
                                        </p:attrNameLst>
                                      </p:cBhvr>
                                      <p:tavLst>
                                        <p:tav tm="0">
                                          <p:val>
                                            <p:strVal val="#ppt_x"/>
                                          </p:val>
                                        </p:tav>
                                        <p:tav tm="100000">
                                          <p:val>
                                            <p:strVal val="#ppt_x"/>
                                          </p:val>
                                        </p:tav>
                                      </p:tavLst>
                                    </p:anim>
                                    <p:anim calcmode="lin" valueType="num">
                                      <p:cBhvr>
                                        <p:cTn id="17" dur="420" fill="hold"/>
                                        <p:tgtEl>
                                          <p:spTgt spid="6"/>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20"/>
                                        <p:tgtEl>
                                          <p:spTgt spid="7"/>
                                        </p:tgtEl>
                                      </p:cBhvr>
                                    </p:animEffect>
                                    <p:anim calcmode="lin" valueType="num">
                                      <p:cBhvr>
                                        <p:cTn id="21" dur="420" fill="hold"/>
                                        <p:tgtEl>
                                          <p:spTgt spid="7"/>
                                        </p:tgtEl>
                                        <p:attrNameLst>
                                          <p:attrName>ppt_x</p:attrName>
                                        </p:attrNameLst>
                                      </p:cBhvr>
                                      <p:tavLst>
                                        <p:tav tm="0">
                                          <p:val>
                                            <p:strVal val="#ppt_x"/>
                                          </p:val>
                                        </p:tav>
                                        <p:tav tm="100000">
                                          <p:val>
                                            <p:strVal val="#ppt_x"/>
                                          </p:val>
                                        </p:tav>
                                      </p:tavLst>
                                    </p:anim>
                                    <p:anim calcmode="lin" valueType="num">
                                      <p:cBhvr>
                                        <p:cTn id="22" dur="420" fill="hold"/>
                                        <p:tgtEl>
                                          <p:spTgt spid="7"/>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20"/>
                                        <p:tgtEl>
                                          <p:spTgt spid="8"/>
                                        </p:tgtEl>
                                      </p:cBhvr>
                                    </p:animEffect>
                                    <p:anim calcmode="lin" valueType="num">
                                      <p:cBhvr>
                                        <p:cTn id="26" dur="420" fill="hold"/>
                                        <p:tgtEl>
                                          <p:spTgt spid="8"/>
                                        </p:tgtEl>
                                        <p:attrNameLst>
                                          <p:attrName>ppt_x</p:attrName>
                                        </p:attrNameLst>
                                      </p:cBhvr>
                                      <p:tavLst>
                                        <p:tav tm="0">
                                          <p:val>
                                            <p:strVal val="#ppt_x"/>
                                          </p:val>
                                        </p:tav>
                                        <p:tav tm="100000">
                                          <p:val>
                                            <p:strVal val="#ppt_x"/>
                                          </p:val>
                                        </p:tav>
                                      </p:tavLst>
                                    </p:anim>
                                    <p:anim calcmode="lin" valueType="num">
                                      <p:cBhvr>
                                        <p:cTn id="27" dur="420" fill="hold"/>
                                        <p:tgtEl>
                                          <p:spTgt spid="8"/>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420"/>
                                        <p:tgtEl>
                                          <p:spTgt spid="9"/>
                                        </p:tgtEl>
                                      </p:cBhvr>
                                    </p:animEffect>
                                    <p:anim calcmode="lin" valueType="num">
                                      <p:cBhvr>
                                        <p:cTn id="31" dur="420" fill="hold"/>
                                        <p:tgtEl>
                                          <p:spTgt spid="9"/>
                                        </p:tgtEl>
                                        <p:attrNameLst>
                                          <p:attrName>ppt_x</p:attrName>
                                        </p:attrNameLst>
                                      </p:cBhvr>
                                      <p:tavLst>
                                        <p:tav tm="0">
                                          <p:val>
                                            <p:strVal val="#ppt_x"/>
                                          </p:val>
                                        </p:tav>
                                        <p:tav tm="100000">
                                          <p:val>
                                            <p:strVal val="#ppt_x"/>
                                          </p:val>
                                        </p:tav>
                                      </p:tavLst>
                                    </p:anim>
                                    <p:anim calcmode="lin" valueType="num">
                                      <p:cBhvr>
                                        <p:cTn id="32" dur="420" fill="hold"/>
                                        <p:tgtEl>
                                          <p:spTgt spid="9"/>
                                        </p:tgtEl>
                                        <p:attrNameLst>
                                          <p:attrName>ppt_y</p:attrName>
                                        </p:attrNameLst>
                                      </p:cBhvr>
                                      <p:tavLst>
                                        <p:tav tm="0">
                                          <p:val>
                                            <p:strVal val="#ppt_y+.06"/>
                                          </p:val>
                                        </p:tav>
                                        <p:tav tm="100000">
                                          <p:val>
                                            <p:strVal val="#ppt_y"/>
                                          </p:val>
                                        </p:tav>
                                      </p:tavLst>
                                    </p:anim>
                                  </p:childTnLst>
                                </p:cTn>
                              </p:par>
                            </p:childTnLst>
                          </p:cTn>
                        </p:par>
                        <p:par>
                          <p:cTn id="33" fill="hold">
                            <p:stCondLst>
                              <p:cond delay="1210"/>
                            </p:stCondLst>
                            <p:childTnLst>
                              <p:par>
                                <p:cTn id="34" presetID="42" presetClass="entr" presetSubtype="0" fill="hold" grpId="0" nodeType="afterEffect">
                                  <p:stCondLst>
                                    <p:cond delay="4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420"/>
                                        <p:tgtEl>
                                          <p:spTgt spid="10"/>
                                        </p:tgtEl>
                                      </p:cBhvr>
                                    </p:animEffect>
                                    <p:anim calcmode="lin" valueType="num">
                                      <p:cBhvr>
                                        <p:cTn id="37" dur="420" fill="hold"/>
                                        <p:tgtEl>
                                          <p:spTgt spid="10"/>
                                        </p:tgtEl>
                                        <p:attrNameLst>
                                          <p:attrName>ppt_x</p:attrName>
                                        </p:attrNameLst>
                                      </p:cBhvr>
                                      <p:tavLst>
                                        <p:tav tm="0">
                                          <p:val>
                                            <p:strVal val="#ppt_x"/>
                                          </p:val>
                                        </p:tav>
                                        <p:tav tm="100000">
                                          <p:val>
                                            <p:strVal val="#ppt_x"/>
                                          </p:val>
                                        </p:tav>
                                      </p:tavLst>
                                    </p:anim>
                                    <p:anim calcmode="lin" valueType="num">
                                      <p:cBhvr>
                                        <p:cTn id="38" dur="420" fill="hold"/>
                                        <p:tgtEl>
                                          <p:spTgt spid="10"/>
                                        </p:tgtEl>
                                        <p:attrNameLst>
                                          <p:attrName>ppt_y</p:attrName>
                                        </p:attrNameLst>
                                      </p:cBhvr>
                                      <p:tavLst>
                                        <p:tav tm="0">
                                          <p:val>
                                            <p:strVal val="#ppt_y+.06"/>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420"/>
                                        <p:tgtEl>
                                          <p:spTgt spid="11"/>
                                        </p:tgtEl>
                                      </p:cBhvr>
                                    </p:animEffect>
                                    <p:anim calcmode="lin" valueType="num">
                                      <p:cBhvr>
                                        <p:cTn id="42" dur="420" fill="hold"/>
                                        <p:tgtEl>
                                          <p:spTgt spid="11"/>
                                        </p:tgtEl>
                                        <p:attrNameLst>
                                          <p:attrName>ppt_x</p:attrName>
                                        </p:attrNameLst>
                                      </p:cBhvr>
                                      <p:tavLst>
                                        <p:tav tm="0">
                                          <p:val>
                                            <p:strVal val="#ppt_x"/>
                                          </p:val>
                                        </p:tav>
                                        <p:tav tm="100000">
                                          <p:val>
                                            <p:strVal val="#ppt_x"/>
                                          </p:val>
                                        </p:tav>
                                      </p:tavLst>
                                    </p:anim>
                                    <p:anim calcmode="lin" valueType="num">
                                      <p:cBhvr>
                                        <p:cTn id="43" dur="420" fill="hold"/>
                                        <p:tgtEl>
                                          <p:spTgt spid="11"/>
                                        </p:tgtEl>
                                        <p:attrNameLst>
                                          <p:attrName>ppt_y</p:attrName>
                                        </p:attrNameLst>
                                      </p:cBhvr>
                                      <p:tavLst>
                                        <p:tav tm="0">
                                          <p:val>
                                            <p:strVal val="#ppt_y+.06"/>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420"/>
                                        <p:tgtEl>
                                          <p:spTgt spid="12"/>
                                        </p:tgtEl>
                                      </p:cBhvr>
                                    </p:animEffect>
                                    <p:anim calcmode="lin" valueType="num">
                                      <p:cBhvr>
                                        <p:cTn id="47" dur="420" fill="hold"/>
                                        <p:tgtEl>
                                          <p:spTgt spid="12"/>
                                        </p:tgtEl>
                                        <p:attrNameLst>
                                          <p:attrName>ppt_x</p:attrName>
                                        </p:attrNameLst>
                                      </p:cBhvr>
                                      <p:tavLst>
                                        <p:tav tm="0">
                                          <p:val>
                                            <p:strVal val="#ppt_x"/>
                                          </p:val>
                                        </p:tav>
                                        <p:tav tm="100000">
                                          <p:val>
                                            <p:strVal val="#ppt_x"/>
                                          </p:val>
                                        </p:tav>
                                      </p:tavLst>
                                    </p:anim>
                                    <p:anim calcmode="lin" valueType="num">
                                      <p:cBhvr>
                                        <p:cTn id="48" dur="420" fill="hold"/>
                                        <p:tgtEl>
                                          <p:spTgt spid="12"/>
                                        </p:tgtEl>
                                        <p:attrNameLst>
                                          <p:attrName>ppt_y</p:attrName>
                                        </p:attrNameLst>
                                      </p:cBhvr>
                                      <p:tavLst>
                                        <p:tav tm="0">
                                          <p:val>
                                            <p:strVal val="#ppt_y+.06"/>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420"/>
                                        <p:tgtEl>
                                          <p:spTgt spid="13"/>
                                        </p:tgtEl>
                                      </p:cBhvr>
                                    </p:animEffect>
                                    <p:anim calcmode="lin" valueType="num">
                                      <p:cBhvr>
                                        <p:cTn id="52" dur="420" fill="hold"/>
                                        <p:tgtEl>
                                          <p:spTgt spid="13"/>
                                        </p:tgtEl>
                                        <p:attrNameLst>
                                          <p:attrName>ppt_x</p:attrName>
                                        </p:attrNameLst>
                                      </p:cBhvr>
                                      <p:tavLst>
                                        <p:tav tm="0">
                                          <p:val>
                                            <p:strVal val="#ppt_x"/>
                                          </p:val>
                                        </p:tav>
                                        <p:tav tm="100000">
                                          <p:val>
                                            <p:strVal val="#ppt_x"/>
                                          </p:val>
                                        </p:tav>
                                      </p:tavLst>
                                    </p:anim>
                                    <p:anim calcmode="lin" valueType="num">
                                      <p:cBhvr>
                                        <p:cTn id="53" dur="420" fill="hold"/>
                                        <p:tgtEl>
                                          <p:spTgt spid="13"/>
                                        </p:tgtEl>
                                        <p:attrNameLst>
                                          <p:attrName>ppt_y</p:attrName>
                                        </p:attrNameLst>
                                      </p:cBhvr>
                                      <p:tavLst>
                                        <p:tav tm="0">
                                          <p:val>
                                            <p:strVal val="#ppt_y+.06"/>
                                          </p:val>
                                        </p:tav>
                                        <p:tav tm="100000">
                                          <p:val>
                                            <p:strVal val="#ppt_y"/>
                                          </p:val>
                                        </p:tav>
                                      </p:tavLst>
                                    </p:anim>
                                  </p:childTnLst>
                                </p:cTn>
                              </p:par>
                            </p:childTnLst>
                          </p:cTn>
                        </p:par>
                        <p:par>
                          <p:cTn id="54" fill="hold">
                            <p:stCondLst>
                              <p:cond delay="1670"/>
                            </p:stCondLst>
                            <p:childTnLst>
                              <p:par>
                                <p:cTn id="55" presetID="42" presetClass="entr" presetSubtype="0" fill="hold" grpId="0" nodeType="afterEffect">
                                  <p:stCondLst>
                                    <p:cond delay="4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420"/>
                                        <p:tgtEl>
                                          <p:spTgt spid="14"/>
                                        </p:tgtEl>
                                      </p:cBhvr>
                                    </p:animEffect>
                                    <p:anim calcmode="lin" valueType="num">
                                      <p:cBhvr>
                                        <p:cTn id="58" dur="420" fill="hold"/>
                                        <p:tgtEl>
                                          <p:spTgt spid="14"/>
                                        </p:tgtEl>
                                        <p:attrNameLst>
                                          <p:attrName>ppt_x</p:attrName>
                                        </p:attrNameLst>
                                      </p:cBhvr>
                                      <p:tavLst>
                                        <p:tav tm="0">
                                          <p:val>
                                            <p:strVal val="#ppt_x"/>
                                          </p:val>
                                        </p:tav>
                                        <p:tav tm="100000">
                                          <p:val>
                                            <p:strVal val="#ppt_x"/>
                                          </p:val>
                                        </p:tav>
                                      </p:tavLst>
                                    </p:anim>
                                    <p:anim calcmode="lin" valueType="num">
                                      <p:cBhvr>
                                        <p:cTn id="59" dur="420" fill="hold"/>
                                        <p:tgtEl>
                                          <p:spTgt spid="14"/>
                                        </p:tgtEl>
                                        <p:attrNameLst>
                                          <p:attrName>ppt_y</p:attrName>
                                        </p:attrNameLst>
                                      </p:cBhvr>
                                      <p:tavLst>
                                        <p:tav tm="0">
                                          <p:val>
                                            <p:strVal val="#ppt_y+.06"/>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420"/>
                                        <p:tgtEl>
                                          <p:spTgt spid="15"/>
                                        </p:tgtEl>
                                      </p:cBhvr>
                                    </p:animEffect>
                                    <p:anim calcmode="lin" valueType="num">
                                      <p:cBhvr>
                                        <p:cTn id="63" dur="420" fill="hold"/>
                                        <p:tgtEl>
                                          <p:spTgt spid="15"/>
                                        </p:tgtEl>
                                        <p:attrNameLst>
                                          <p:attrName>ppt_x</p:attrName>
                                        </p:attrNameLst>
                                      </p:cBhvr>
                                      <p:tavLst>
                                        <p:tav tm="0">
                                          <p:val>
                                            <p:strVal val="#ppt_x"/>
                                          </p:val>
                                        </p:tav>
                                        <p:tav tm="100000">
                                          <p:val>
                                            <p:strVal val="#ppt_x"/>
                                          </p:val>
                                        </p:tav>
                                      </p:tavLst>
                                    </p:anim>
                                    <p:anim calcmode="lin" valueType="num">
                                      <p:cBhvr>
                                        <p:cTn id="64" dur="420" fill="hold"/>
                                        <p:tgtEl>
                                          <p:spTgt spid="15"/>
                                        </p:tgtEl>
                                        <p:attrNameLst>
                                          <p:attrName>ppt_y</p:attrName>
                                        </p:attrNameLst>
                                      </p:cBhvr>
                                      <p:tavLst>
                                        <p:tav tm="0">
                                          <p:val>
                                            <p:strVal val="#ppt_y+.06"/>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420"/>
                                        <p:tgtEl>
                                          <p:spTgt spid="16"/>
                                        </p:tgtEl>
                                      </p:cBhvr>
                                    </p:animEffect>
                                    <p:anim calcmode="lin" valueType="num">
                                      <p:cBhvr>
                                        <p:cTn id="68" dur="420" fill="hold"/>
                                        <p:tgtEl>
                                          <p:spTgt spid="16"/>
                                        </p:tgtEl>
                                        <p:attrNameLst>
                                          <p:attrName>ppt_x</p:attrName>
                                        </p:attrNameLst>
                                      </p:cBhvr>
                                      <p:tavLst>
                                        <p:tav tm="0">
                                          <p:val>
                                            <p:strVal val="#ppt_x"/>
                                          </p:val>
                                        </p:tav>
                                        <p:tav tm="100000">
                                          <p:val>
                                            <p:strVal val="#ppt_x"/>
                                          </p:val>
                                        </p:tav>
                                      </p:tavLst>
                                    </p:anim>
                                    <p:anim calcmode="lin" valueType="num">
                                      <p:cBhvr>
                                        <p:cTn id="69" dur="420" fill="hold"/>
                                        <p:tgtEl>
                                          <p:spTgt spid="16"/>
                                        </p:tgtEl>
                                        <p:attrNameLst>
                                          <p:attrName>ppt_y</p:attrName>
                                        </p:attrNameLst>
                                      </p:cBhvr>
                                      <p:tavLst>
                                        <p:tav tm="0">
                                          <p:val>
                                            <p:strVal val="#ppt_y+.06"/>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420"/>
                                        <p:tgtEl>
                                          <p:spTgt spid="17"/>
                                        </p:tgtEl>
                                      </p:cBhvr>
                                    </p:animEffect>
                                    <p:anim calcmode="lin" valueType="num">
                                      <p:cBhvr>
                                        <p:cTn id="73" dur="420" fill="hold"/>
                                        <p:tgtEl>
                                          <p:spTgt spid="17"/>
                                        </p:tgtEl>
                                        <p:attrNameLst>
                                          <p:attrName>ppt_x</p:attrName>
                                        </p:attrNameLst>
                                      </p:cBhvr>
                                      <p:tavLst>
                                        <p:tav tm="0">
                                          <p:val>
                                            <p:strVal val="#ppt_x"/>
                                          </p:val>
                                        </p:tav>
                                        <p:tav tm="100000">
                                          <p:val>
                                            <p:strVal val="#ppt_x"/>
                                          </p:val>
                                        </p:tav>
                                      </p:tavLst>
                                    </p:anim>
                                    <p:anim calcmode="lin" valueType="num">
                                      <p:cBhvr>
                                        <p:cTn id="74" dur="420" fill="hold"/>
                                        <p:tgtEl>
                                          <p:spTgt spid="17"/>
                                        </p:tgtEl>
                                        <p:attrNameLst>
                                          <p:attrName>ppt_y</p:attrName>
                                        </p:attrNameLst>
                                      </p:cBhvr>
                                      <p:tavLst>
                                        <p:tav tm="0">
                                          <p:val>
                                            <p:strVal val="#ppt_y+.06"/>
                                          </p:val>
                                        </p:tav>
                                        <p:tav tm="100000">
                                          <p:val>
                                            <p:strVal val="#ppt_y"/>
                                          </p:val>
                                        </p:tav>
                                      </p:tavLst>
                                    </p:anim>
                                  </p:childTnLst>
                                </p:cTn>
                              </p:par>
                            </p:childTnLst>
                          </p:cTn>
                        </p:par>
                        <p:par>
                          <p:cTn id="75" fill="hold">
                            <p:stCondLst>
                              <p:cond delay="2130"/>
                            </p:stCondLst>
                            <p:childTnLst>
                              <p:par>
                                <p:cTn id="76" presetID="10" presetClass="entr" presetSubtype="0" fill="hold" grpId="0" nodeType="afterEffect">
                                  <p:stCondLst>
                                    <p:cond delay="8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400"/>
                                        <p:tgtEl>
                                          <p:spTgt spid="18"/>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19"/>
                                        </p:tgtEl>
                                        <p:attrNameLst>
                                          <p:attrName>style.visibility</p:attrName>
                                        </p:attrNameLst>
                                      </p:cBhvr>
                                      <p:to>
                                        <p:strVal val="visible"/>
                                      </p:to>
                                    </p:set>
                                    <p:animEffect transition="in" filter="fade">
                                      <p:cBhvr>
                                        <p:cTn id="81" dur="400"/>
                                        <p:tgtEl>
                                          <p:spTgt spid="19"/>
                                        </p:tgtEl>
                                      </p:cBhvr>
                                    </p:animEffect>
                                  </p:childTnLst>
                                </p:cTn>
                              </p:par>
                            </p:childTnLst>
                          </p:cTn>
                        </p:par>
                        <p:par>
                          <p:cTn id="82" fill="hold">
                            <p:stCondLst>
                              <p:cond delay="2610"/>
                            </p:stCondLst>
                            <p:childTnLst>
                              <p:par>
                                <p:cTn id="83" presetID="53" presetClass="entr" presetSubtype="16" fill="hold" grpId="0" nodeType="afterEffect">
                                  <p:stCondLst>
                                    <p:cond delay="100"/>
                                  </p:stCondLst>
                                  <p:childTnLst>
                                    <p:set>
                                      <p:cBhvr>
                                        <p:cTn id="84" dur="1" fill="hold">
                                          <p:stCondLst>
                                            <p:cond delay="0"/>
                                          </p:stCondLst>
                                        </p:cTn>
                                        <p:tgtEl>
                                          <p:spTgt spid="20"/>
                                        </p:tgtEl>
                                        <p:attrNameLst>
                                          <p:attrName>style.visibility</p:attrName>
                                        </p:attrNameLst>
                                      </p:cBhvr>
                                      <p:to>
                                        <p:strVal val="visible"/>
                                      </p:to>
                                    </p:set>
                                    <p:anim calcmode="lin" valueType="num">
                                      <p:cBhvr>
                                        <p:cTn id="85" dur="500" fill="hold"/>
                                        <p:tgtEl>
                                          <p:spTgt spid="20"/>
                                        </p:tgtEl>
                                        <p:attrNameLst>
                                          <p:attrName>ppt_w</p:attrName>
                                        </p:attrNameLst>
                                      </p:cBhvr>
                                      <p:tavLst>
                                        <p:tav tm="0">
                                          <p:val>
                                            <p:strVal val="#ppt_w*.82"/>
                                          </p:val>
                                        </p:tav>
                                        <p:tav tm="100000">
                                          <p:val>
                                            <p:strVal val="#ppt_w"/>
                                          </p:val>
                                        </p:tav>
                                      </p:tavLst>
                                    </p:anim>
                                    <p:anim calcmode="lin" valueType="num">
                                      <p:cBhvr>
                                        <p:cTn id="86" dur="500" fill="hold"/>
                                        <p:tgtEl>
                                          <p:spTgt spid="20"/>
                                        </p:tgtEl>
                                        <p:attrNameLst>
                                          <p:attrName>ppt_h</p:attrName>
                                        </p:attrNameLst>
                                      </p:cBhvr>
                                      <p:tavLst>
                                        <p:tav tm="0">
                                          <p:val>
                                            <p:strVal val="#ppt_h*.82"/>
                                          </p:val>
                                        </p:tav>
                                        <p:tav tm="100000">
                                          <p:val>
                                            <p:strVal val="#ppt_h"/>
                                          </p:val>
                                        </p:tav>
                                      </p:tavLst>
                                    </p:anim>
                                    <p:animEffect transition="in" filter="fade">
                                      <p:cBhvr>
                                        <p:cTn id="87" dur="500"/>
                                        <p:tgtEl>
                                          <p:spTgt spid="20"/>
                                        </p:tgtEl>
                                      </p:cBhvr>
                                    </p:animEffect>
                                  </p:childTnLst>
                                </p:cTn>
                              </p:par>
                              <p:par>
                                <p:cTn id="88" presetID="53" presetClass="entr" presetSubtype="16" fill="hold" grpId="0" nodeType="withEffect">
                                  <p:stCondLst>
                                    <p:cond delay="0"/>
                                  </p:stCondLst>
                                  <p:childTnLst>
                                    <p:set>
                                      <p:cBhvr>
                                        <p:cTn id="89" dur="1" fill="hold">
                                          <p:stCondLst>
                                            <p:cond delay="0"/>
                                          </p:stCondLst>
                                        </p:cTn>
                                        <p:tgtEl>
                                          <p:spTgt spid="21"/>
                                        </p:tgtEl>
                                        <p:attrNameLst>
                                          <p:attrName>style.visibility</p:attrName>
                                        </p:attrNameLst>
                                      </p:cBhvr>
                                      <p:to>
                                        <p:strVal val="visible"/>
                                      </p:to>
                                    </p:set>
                                    <p:anim calcmode="lin" valueType="num">
                                      <p:cBhvr>
                                        <p:cTn id="90" dur="500" fill="hold"/>
                                        <p:tgtEl>
                                          <p:spTgt spid="21"/>
                                        </p:tgtEl>
                                        <p:attrNameLst>
                                          <p:attrName>ppt_w</p:attrName>
                                        </p:attrNameLst>
                                      </p:cBhvr>
                                      <p:tavLst>
                                        <p:tav tm="0">
                                          <p:val>
                                            <p:strVal val="#ppt_w*.82"/>
                                          </p:val>
                                        </p:tav>
                                        <p:tav tm="100000">
                                          <p:val>
                                            <p:strVal val="#ppt_w"/>
                                          </p:val>
                                        </p:tav>
                                      </p:tavLst>
                                    </p:anim>
                                    <p:anim calcmode="lin" valueType="num">
                                      <p:cBhvr>
                                        <p:cTn id="91" dur="500" fill="hold"/>
                                        <p:tgtEl>
                                          <p:spTgt spid="21"/>
                                        </p:tgtEl>
                                        <p:attrNameLst>
                                          <p:attrName>ppt_h</p:attrName>
                                        </p:attrNameLst>
                                      </p:cBhvr>
                                      <p:tavLst>
                                        <p:tav tm="0">
                                          <p:val>
                                            <p:strVal val="#ppt_h*.82"/>
                                          </p:val>
                                        </p:tav>
                                        <p:tav tm="100000">
                                          <p:val>
                                            <p:strVal val="#ppt_h"/>
                                          </p:val>
                                        </p:tav>
                                      </p:tavLst>
                                    </p:anim>
                                    <p:animEffect transition="in" filter="fade">
                                      <p:cBhvr>
                                        <p:cTn id="92" dur="500"/>
                                        <p:tgtEl>
                                          <p:spTgt spid="21"/>
                                        </p:tgtEl>
                                      </p:cBhvr>
                                    </p:animEffect>
                                  </p:childTnLst>
                                </p:cTn>
                              </p:par>
                              <p:par>
                                <p:cTn id="93" presetID="53" presetClass="entr" presetSubtype="16" fill="hold" grpId="0" nodeType="withEffect">
                                  <p:stCondLst>
                                    <p:cond delay="0"/>
                                  </p:stCondLst>
                                  <p:childTnLst>
                                    <p:set>
                                      <p:cBhvr>
                                        <p:cTn id="94" dur="1" fill="hold">
                                          <p:stCondLst>
                                            <p:cond delay="0"/>
                                          </p:stCondLst>
                                        </p:cTn>
                                        <p:tgtEl>
                                          <p:spTgt spid="22"/>
                                        </p:tgtEl>
                                        <p:attrNameLst>
                                          <p:attrName>style.visibility</p:attrName>
                                        </p:attrNameLst>
                                      </p:cBhvr>
                                      <p:to>
                                        <p:strVal val="visible"/>
                                      </p:to>
                                    </p:set>
                                    <p:anim calcmode="lin" valueType="num">
                                      <p:cBhvr>
                                        <p:cTn id="95" dur="500" fill="hold"/>
                                        <p:tgtEl>
                                          <p:spTgt spid="22"/>
                                        </p:tgtEl>
                                        <p:attrNameLst>
                                          <p:attrName>ppt_w</p:attrName>
                                        </p:attrNameLst>
                                      </p:cBhvr>
                                      <p:tavLst>
                                        <p:tav tm="0">
                                          <p:val>
                                            <p:strVal val="#ppt_w*.82"/>
                                          </p:val>
                                        </p:tav>
                                        <p:tav tm="100000">
                                          <p:val>
                                            <p:strVal val="#ppt_w"/>
                                          </p:val>
                                        </p:tav>
                                      </p:tavLst>
                                    </p:anim>
                                    <p:anim calcmode="lin" valueType="num">
                                      <p:cBhvr>
                                        <p:cTn id="96" dur="500" fill="hold"/>
                                        <p:tgtEl>
                                          <p:spTgt spid="22"/>
                                        </p:tgtEl>
                                        <p:attrNameLst>
                                          <p:attrName>ppt_h</p:attrName>
                                        </p:attrNameLst>
                                      </p:cBhvr>
                                      <p:tavLst>
                                        <p:tav tm="0">
                                          <p:val>
                                            <p:strVal val="#ppt_h*.82"/>
                                          </p:val>
                                        </p:tav>
                                        <p:tav tm="100000">
                                          <p:val>
                                            <p:strVal val="#ppt_h"/>
                                          </p:val>
                                        </p:tav>
                                      </p:tavLst>
                                    </p:anim>
                                    <p:animEffect transition="in" filter="fade">
                                      <p:cBhvr>
                                        <p:cTn id="97" dur="500"/>
                                        <p:tgtEl>
                                          <p:spTgt spid="22"/>
                                        </p:tgtEl>
                                      </p:cBhvr>
                                    </p:animEffect>
                                  </p:childTnLst>
                                </p:cTn>
                              </p:par>
                            </p:childTnLst>
                          </p:cTn>
                        </p:par>
                        <p:par>
                          <p:cTn id="98" fill="hold">
                            <p:stCondLst>
                              <p:cond delay="3210"/>
                            </p:stCondLst>
                            <p:childTnLst>
                              <p:par>
                                <p:cTn id="99" presetID="10" presetClass="entr" presetSubtype="0" fill="hold" grpId="0" nodeType="afterEffect">
                                  <p:stCondLst>
                                    <p:cond delay="0"/>
                                  </p:stCondLst>
                                  <p:childTnLst>
                                    <p:set>
                                      <p:cBhvr>
                                        <p:cTn id="100" dur="1" fill="hold">
                                          <p:stCondLst>
                                            <p:cond delay="0"/>
                                          </p:stCondLst>
                                        </p:cTn>
                                        <p:tgtEl>
                                          <p:spTgt spid="23"/>
                                        </p:tgtEl>
                                        <p:attrNameLst>
                                          <p:attrName>style.visibility</p:attrName>
                                        </p:attrNameLst>
                                      </p:cBhvr>
                                      <p:to>
                                        <p:strVal val="visible"/>
                                      </p:to>
                                    </p:set>
                                    <p:animEffect transition="in" filter="fade">
                                      <p:cBhvr>
                                        <p:cTn id="101" dur="250"/>
                                        <p:tgtEl>
                                          <p:spTgt spid="23"/>
                                        </p:tgtEl>
                                      </p:cBhvr>
                                    </p:animEffect>
                                  </p:childTnLst>
                                </p:cTn>
                              </p:par>
                            </p:childTnLst>
                          </p:cTn>
                        </p:par>
                        <p:par>
                          <p:cTn id="102" fill="hold">
                            <p:stCondLst>
                              <p:cond delay="3460"/>
                            </p:stCondLst>
                            <p:childTnLst>
                              <p:par>
                                <p:cTn id="103" presetID="22" presetClass="entr" presetSubtype="8" fill="hold" grpId="0" nodeType="afterEffect">
                                  <p:stCondLst>
                                    <p:cond delay="0"/>
                                  </p:stCondLst>
                                  <p:childTnLst>
                                    <p:set>
                                      <p:cBhvr>
                                        <p:cTn id="104" dur="1" fill="hold">
                                          <p:stCondLst>
                                            <p:cond delay="0"/>
                                          </p:stCondLst>
                                        </p:cTn>
                                        <p:tgtEl>
                                          <p:spTgt spid="24"/>
                                        </p:tgtEl>
                                        <p:attrNameLst>
                                          <p:attrName>style.visibility</p:attrName>
                                        </p:attrNameLst>
                                      </p:cBhvr>
                                      <p:to>
                                        <p:strVal val="visible"/>
                                      </p:to>
                                    </p:set>
                                    <p:animEffect transition="in" filter="wipe(left)">
                                      <p:cBhvr>
                                        <p:cTn id="105" dur="700"/>
                                        <p:tgtEl>
                                          <p:spTgt spid="24"/>
                                        </p:tgtEl>
                                      </p:cBhvr>
                                    </p:animEffect>
                                  </p:childTnLst>
                                </p:cTn>
                              </p:par>
                              <p:par>
                                <p:cTn id="106" presetID="10" presetClass="entr" presetSubtype="0" fill="hold" grpId="0" nodeType="withEffect">
                                  <p:stCondLst>
                                    <p:cond delay="350"/>
                                  </p:stCondLst>
                                  <p:childTnLst>
                                    <p:set>
                                      <p:cBhvr>
                                        <p:cTn id="107" dur="1" fill="hold">
                                          <p:stCondLst>
                                            <p:cond delay="0"/>
                                          </p:stCondLst>
                                        </p:cTn>
                                        <p:tgtEl>
                                          <p:spTgt spid="25"/>
                                        </p:tgtEl>
                                        <p:attrNameLst>
                                          <p:attrName>style.visibility</p:attrName>
                                        </p:attrNameLst>
                                      </p:cBhvr>
                                      <p:to>
                                        <p:strVal val="visible"/>
                                      </p:to>
                                    </p:set>
                                    <p:animEffect transition="in" filter="fade">
                                      <p:cBhvr>
                                        <p:cTn id="108" dur="300"/>
                                        <p:tgtEl>
                                          <p:spTgt spid="25"/>
                                        </p:tgtEl>
                                      </p:cBhvr>
                                    </p:animEffect>
                                  </p:childTnLst>
                                </p:cTn>
                              </p:par>
                            </p:childTnLst>
                          </p:cTn>
                        </p:par>
                        <p:par>
                          <p:cTn id="109" fill="hold">
                            <p:stCondLst>
                              <p:cond delay="4160"/>
                            </p:stCondLst>
                            <p:childTnLst>
                              <p:par>
                                <p:cTn id="110" presetID="10" presetClass="entr" presetSubtype="0" fill="hold" grpId="0" nodeType="afterEffect">
                                  <p:stCondLst>
                                    <p:cond delay="60"/>
                                  </p:stCondLst>
                                  <p:childTnLst>
                                    <p:set>
                                      <p:cBhvr>
                                        <p:cTn id="111" dur="1" fill="hold">
                                          <p:stCondLst>
                                            <p:cond delay="0"/>
                                          </p:stCondLst>
                                        </p:cTn>
                                        <p:tgtEl>
                                          <p:spTgt spid="26"/>
                                        </p:tgtEl>
                                        <p:attrNameLst>
                                          <p:attrName>style.visibility</p:attrName>
                                        </p:attrNameLst>
                                      </p:cBhvr>
                                      <p:to>
                                        <p:strVal val="visible"/>
                                      </p:to>
                                    </p:set>
                                    <p:animEffect transition="in" filter="fade">
                                      <p:cBhvr>
                                        <p:cTn id="112" dur="400"/>
                                        <p:tgtEl>
                                          <p:spTgt spid="26"/>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27"/>
                                        </p:tgtEl>
                                        <p:attrNameLst>
                                          <p:attrName>style.visibility</p:attrName>
                                        </p:attrNameLst>
                                      </p:cBhvr>
                                      <p:to>
                                        <p:strVal val="visible"/>
                                      </p:to>
                                    </p:set>
                                    <p:animEffect transition="in" filter="fade">
                                      <p:cBhvr>
                                        <p:cTn id="115" dur="400"/>
                                        <p:tgtEl>
                                          <p:spTgt spid="27"/>
                                        </p:tgtEl>
                                      </p:cBhvr>
                                    </p:animEffect>
                                  </p:childTnLst>
                                </p:cTn>
                              </p:par>
                            </p:childTnLst>
                          </p:cTn>
                        </p:par>
                        <p:par>
                          <p:cTn id="116" fill="hold">
                            <p:stCondLst>
                              <p:cond delay="4620"/>
                            </p:stCondLst>
                            <p:childTnLst>
                              <p:par>
                                <p:cTn id="117" presetID="10" presetClass="entr" presetSubtype="0" fill="hold" grpId="0" nodeType="afterEffect">
                                  <p:stCondLst>
                                    <p:cond delay="60"/>
                                  </p:stCondLst>
                                  <p:childTnLst>
                                    <p:set>
                                      <p:cBhvr>
                                        <p:cTn id="118" dur="1" fill="hold">
                                          <p:stCondLst>
                                            <p:cond delay="0"/>
                                          </p:stCondLst>
                                        </p:cTn>
                                        <p:tgtEl>
                                          <p:spTgt spid="28"/>
                                        </p:tgtEl>
                                        <p:attrNameLst>
                                          <p:attrName>style.visibility</p:attrName>
                                        </p:attrNameLst>
                                      </p:cBhvr>
                                      <p:to>
                                        <p:strVal val="visible"/>
                                      </p:to>
                                    </p:set>
                                    <p:animEffect transition="in" filter="fade">
                                      <p:cBhvr>
                                        <p:cTn id="119" dur="400"/>
                                        <p:tgtEl>
                                          <p:spTgt spid="28"/>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29"/>
                                        </p:tgtEl>
                                        <p:attrNameLst>
                                          <p:attrName>style.visibility</p:attrName>
                                        </p:attrNameLst>
                                      </p:cBhvr>
                                      <p:to>
                                        <p:strVal val="visible"/>
                                      </p:to>
                                    </p:set>
                                    <p:animEffect transition="in" filter="fade">
                                      <p:cBhvr>
                                        <p:cTn id="122" dur="400"/>
                                        <p:tgtEl>
                                          <p:spTgt spid="29"/>
                                        </p:tgtEl>
                                      </p:cBhvr>
                                    </p:animEffect>
                                  </p:childTnLst>
                                </p:cTn>
                              </p:par>
                            </p:childTnLst>
                          </p:cTn>
                        </p:par>
                        <p:par>
                          <p:cTn id="123" fill="hold">
                            <p:stCondLst>
                              <p:cond delay="5080"/>
                            </p:stCondLst>
                            <p:childTnLst>
                              <p:par>
                                <p:cTn id="124" presetID="22" presetClass="entr" presetSubtype="8" fill="hold" grpId="0" nodeType="afterEffect">
                                  <p:stCondLst>
                                    <p:cond delay="50"/>
                                  </p:stCondLst>
                                  <p:childTnLst>
                                    <p:set>
                                      <p:cBhvr>
                                        <p:cTn id="125" dur="1" fill="hold">
                                          <p:stCondLst>
                                            <p:cond delay="0"/>
                                          </p:stCondLst>
                                        </p:cTn>
                                        <p:tgtEl>
                                          <p:spTgt spid="30"/>
                                        </p:tgtEl>
                                        <p:attrNameLst>
                                          <p:attrName>style.visibility</p:attrName>
                                        </p:attrNameLst>
                                      </p:cBhvr>
                                      <p:to>
                                        <p:strVal val="visible"/>
                                      </p:to>
                                    </p:set>
                                    <p:animEffect transition="in" filter="wipe(left)">
                                      <p:cBhvr>
                                        <p:cTn id="126" dur="1100"/>
                                        <p:tgtEl>
                                          <p:spTgt spid="30"/>
                                        </p:tgtEl>
                                      </p:cBhvr>
                                    </p:animEffect>
                                  </p:childTnLst>
                                </p:cTn>
                              </p:par>
                            </p:childTnLst>
                          </p:cTn>
                        </p:par>
                        <p:par>
                          <p:cTn id="127" fill="hold">
                            <p:stCondLst>
                              <p:cond delay="6230"/>
                            </p:stCondLst>
                            <p:childTnLst>
                              <p:par>
                                <p:cTn id="128" presetID="10" presetClass="entr" presetSubtype="0" fill="hold" grpId="0" nodeType="afterEffect">
                                  <p:stCondLst>
                                    <p:cond delay="120"/>
                                  </p:stCondLst>
                                  <p:childTnLst>
                                    <p:set>
                                      <p:cBhvr>
                                        <p:cTn id="129" dur="1" fill="hold">
                                          <p:stCondLst>
                                            <p:cond delay="0"/>
                                          </p:stCondLst>
                                        </p:cTn>
                                        <p:tgtEl>
                                          <p:spTgt spid="31"/>
                                        </p:tgtEl>
                                        <p:attrNameLst>
                                          <p:attrName>style.visibility</p:attrName>
                                        </p:attrNameLst>
                                      </p:cBhvr>
                                      <p:to>
                                        <p:strVal val="visible"/>
                                      </p:to>
                                    </p:set>
                                    <p:animEffect transition="in" filter="fade">
                                      <p:cBhvr>
                                        <p:cTn id="130" dur="500"/>
                                        <p:tgtEl>
                                          <p:spTgt spid="31"/>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32"/>
                                        </p:tgtEl>
                                        <p:attrNameLst>
                                          <p:attrName>style.visibility</p:attrName>
                                        </p:attrNameLst>
                                      </p:cBhvr>
                                      <p:to>
                                        <p:strVal val="visible"/>
                                      </p:to>
                                    </p:set>
                                    <p:animEffect transition="in" filter="fade">
                                      <p:cBhvr>
                                        <p:cTn id="133"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8" grpId="0"/>
      <p:bldP spid="9" grpId="0"/>
      <p:bldP spid="10" grpId="0" animBg="1"/>
      <p:bldP spid="12" grpId="0"/>
      <p:bldP spid="13" grpId="0"/>
      <p:bldP spid="14" grpId="0" animBg="1"/>
      <p:bldP spid="16" grpId="0"/>
      <p:bldP spid="17" grpId="0"/>
      <p:bldP spid="18" grpId="0" animBg="1"/>
      <p:bldP spid="19" grpId="0"/>
      <p:bldP spid="20" grpId="0" animBg="1"/>
      <p:bldP spid="21" grpId="0"/>
      <p:bldP spid="22" grpId="0"/>
      <p:bldP spid="23" grpId="0" animBg="1"/>
      <p:bldP spid="24" grpId="0" animBg="1"/>
      <p:bldP spid="25" grpId="0"/>
      <p:bldP spid="26" grpId="0" animBg="1"/>
      <p:bldP spid="27" grpId="0"/>
      <p:bldP spid="28" grpId="0"/>
      <p:bldP spid="29" grpId="0"/>
      <p:bldGraphic spid="30" grpId="0">
        <p:bldAsOne/>
      </p:bldGraphic>
      <p:bldP spid="31" grpId="0"/>
      <p:bldP spid="32" grpId="0"/>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t"/>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2/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9144000" cy="274320"/>
          </a:xfrm>
          <a:prstGeom prst="rect">
            <a:avLst/>
          </a:prstGeom>
          <a:noFill/>
          <a:ln/>
        </p:spPr>
        <p:txBody>
          <a:bodyPr wrap="square" lIns="0" tIns="0" rIns="0" bIns="0" rtlCol="0" anchor="t"/>
          <a:lstStyle/>
          <a:p>
            <a:pPr indent="0" marL="0">
              <a:buNone/>
            </a:pPr>
            <a:r>
              <a:rPr lang="en-US" sz="1100" b="1" spc="300" kern="0" dirty="0">
                <a:solidFill>
                  <a:srgbClr val="F5A623"/>
                </a:solidFill>
                <a:latin typeface="Calibri" pitchFamily="34" charset="0"/>
                <a:ea typeface="Calibri" pitchFamily="34" charset="-122"/>
                <a:cs typeface="Calibri" pitchFamily="34" charset="-120"/>
              </a:rPr>
              <a:t>RAISING ACCURACY</a:t>
            </a:r>
            <a:endParaRPr lang="en-US" sz="1100" dirty="0"/>
          </a:p>
        </p:txBody>
      </p:sp>
      <p:sp>
        <p:nvSpPr>
          <p:cNvPr id="5" name="title"/>
          <p:cNvSpPr txBox="1"/>
          <p:nvPr/>
        </p:nvSpPr>
        <p:spPr>
          <a:xfrm>
            <a:off x="548640" y="1170432"/>
            <a:ext cx="11094415"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Let accuracy determine the mix</a:t>
            </a:r>
            <a:endParaRPr lang="en-US" sz="3200" dirty="0"/>
          </a:p>
        </p:txBody>
      </p:sp>
      <p:sp>
        <p:nvSpPr>
          <p:cNvPr id="6" name="srcCard"/>
          <p:cNvSpPr/>
          <p:nvPr/>
        </p:nvSpPr>
        <p:spPr>
          <a:xfrm>
            <a:off x="548640" y="2057400"/>
            <a:ext cx="5257800" cy="3611880"/>
          </a:xfrm>
          <a:prstGeom prst="roundRect">
            <a:avLst>
              <a:gd name="adj" fmla="val 3038"/>
            </a:avLst>
          </a:prstGeom>
          <a:solidFill>
            <a:srgbClr val="141B36"/>
          </a:solidFill>
          <a:ln w="9525">
            <a:solidFill>
              <a:srgbClr val="2A3357"/>
            </a:solidFill>
            <a:prstDash val="solid"/>
          </a:ln>
        </p:spPr>
      </p:sp>
      <p:sp>
        <p:nvSpPr>
          <p:cNvPr id="7" name="srcK"/>
          <p:cNvSpPr txBox="1"/>
          <p:nvPr/>
        </p:nvSpPr>
        <p:spPr>
          <a:xfrm>
            <a:off x="777240" y="2194560"/>
            <a:ext cx="4846320" cy="274320"/>
          </a:xfrm>
          <a:prstGeom prst="rect">
            <a:avLst/>
          </a:prstGeom>
          <a:noFill/>
          <a:ln/>
        </p:spPr>
        <p:txBody>
          <a:bodyPr wrap="square" lIns="0" tIns="0" rIns="0" bIns="0" rtlCol="0" anchor="t"/>
          <a:lstStyle/>
          <a:p>
            <a:pPr indent="0" marL="0">
              <a:buNone/>
            </a:pPr>
            <a:r>
              <a:rPr lang="en-US" sz="1050" b="1" spc="200" kern="0" dirty="0">
                <a:solidFill>
                  <a:srgbClr val="F5A623"/>
                </a:solidFill>
                <a:latin typeface="Calibri" pitchFamily="34" charset="0"/>
                <a:ea typeface="Calibri" pitchFamily="34" charset="-122"/>
                <a:cs typeface="Calibri" pitchFamily="34" charset="-120"/>
              </a:rPr>
              <a:t>CANDIDATE SOURCES AND WHO PROVIDES THEM</a:t>
            </a:r>
            <a:endParaRPr lang="en-US" sz="1050" dirty="0"/>
          </a:p>
        </p:txBody>
      </p:sp>
      <p:pic>
        <p:nvPicPr>
          <p:cNvPr id="8" name="srcI0" descr="preencoded.png">    </p:cNvPr>
          <p:cNvPicPr>
            <a:picLocks noChangeAspect="1"/>
          </p:cNvPicPr>
          <p:nvPr/>
        </p:nvPicPr>
        <p:blipFill>
          <a:blip r:embed="rId2"/>
          <a:stretch>
            <a:fillRect/>
          </a:stretch>
        </p:blipFill>
        <p:spPr>
          <a:xfrm>
            <a:off x="777240" y="2606040"/>
            <a:ext cx="274320" cy="274320"/>
          </a:xfrm>
          <a:prstGeom prst="rect">
            <a:avLst/>
          </a:prstGeom>
        </p:spPr>
      </p:pic>
      <p:sp>
        <p:nvSpPr>
          <p:cNvPr id="9" name="srcT0"/>
          <p:cNvSpPr txBox="1"/>
          <p:nvPr/>
        </p:nvSpPr>
        <p:spPr>
          <a:xfrm>
            <a:off x="1207008" y="2542032"/>
            <a:ext cx="3310128" cy="40233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Jio microwave links</a:t>
            </a:r>
            <a:endParaRPr lang="en-US" sz="1300" dirty="0"/>
          </a:p>
        </p:txBody>
      </p:sp>
      <p:sp>
        <p:nvSpPr>
          <p:cNvPr id="10" name="srcP0"/>
          <p:cNvSpPr/>
          <p:nvPr/>
        </p:nvSpPr>
        <p:spPr>
          <a:xfrm>
            <a:off x="4572000" y="2596896"/>
            <a:ext cx="1051560" cy="292608"/>
          </a:xfrm>
          <a:prstGeom prst="roundRect">
            <a:avLst>
              <a:gd name="adj" fmla="val 25000"/>
            </a:avLst>
          </a:prstGeom>
          <a:solidFill>
            <a:srgbClr val="13253A"/>
          </a:solidFill>
          <a:ln w="9525">
            <a:solidFill>
              <a:srgbClr val="6FB3FF"/>
            </a:solidFill>
            <a:prstDash val="solid"/>
          </a:ln>
        </p:spPr>
      </p:sp>
      <p:sp>
        <p:nvSpPr>
          <p:cNvPr id="11" name="srcP0T"/>
          <p:cNvSpPr txBox="1"/>
          <p:nvPr/>
        </p:nvSpPr>
        <p:spPr>
          <a:xfrm>
            <a:off x="4572000" y="2596896"/>
            <a:ext cx="1051560" cy="292608"/>
          </a:xfrm>
          <a:prstGeom prst="rect">
            <a:avLst/>
          </a:prstGeom>
          <a:noFill/>
          <a:ln/>
        </p:spPr>
        <p:txBody>
          <a:bodyPr wrap="square" lIns="0" tIns="0" rIns="0" bIns="0" rtlCol="0" anchor="ctr"/>
          <a:lstStyle/>
          <a:p>
            <a:pPr algn="ctr" indent="0" marL="0">
              <a:buNone/>
            </a:pPr>
            <a:r>
              <a:rPr lang="en-US" sz="1050" b="1" dirty="0">
                <a:solidFill>
                  <a:srgbClr val="6FB3FF"/>
                </a:solidFill>
                <a:latin typeface="Calibri" pitchFamily="34" charset="0"/>
                <a:ea typeface="Calibri" pitchFamily="34" charset="-122"/>
                <a:cs typeface="Calibri" pitchFamily="34" charset="-120"/>
              </a:rPr>
              <a:t>Jio-owned</a:t>
            </a:r>
            <a:endParaRPr lang="en-US" sz="1050" dirty="0"/>
          </a:p>
        </p:txBody>
      </p:sp>
      <p:pic>
        <p:nvPicPr>
          <p:cNvPr id="12" name="srcI1" descr="preencoded.png">    </p:cNvPr>
          <p:cNvPicPr>
            <a:picLocks noChangeAspect="1"/>
          </p:cNvPicPr>
          <p:nvPr/>
        </p:nvPicPr>
        <p:blipFill>
          <a:blip r:embed="rId3"/>
          <a:stretch>
            <a:fillRect/>
          </a:stretch>
        </p:blipFill>
        <p:spPr>
          <a:xfrm>
            <a:off x="777240" y="3035808"/>
            <a:ext cx="274320" cy="274320"/>
          </a:xfrm>
          <a:prstGeom prst="rect">
            <a:avLst/>
          </a:prstGeom>
        </p:spPr>
      </p:pic>
      <p:sp>
        <p:nvSpPr>
          <p:cNvPr id="13" name="srcT1"/>
          <p:cNvSpPr txBox="1"/>
          <p:nvPr/>
        </p:nvSpPr>
        <p:spPr>
          <a:xfrm>
            <a:off x="1207008" y="2971800"/>
            <a:ext cx="3310128" cy="402336"/>
          </a:xfrm>
          <a:prstGeom prst="rect">
            <a:avLst/>
          </a:prstGeom>
          <a:noFill/>
          <a:ln/>
        </p:spPr>
        <p:txBody>
          <a:bodyPr wrap="square" lIns="0" tIns="0" rIns="0" bIns="0" rtlCol="0" anchor="ctr"/>
          <a:lstStyle/>
          <a:p>
            <a:pPr indent="0" marL="0">
              <a:buNone/>
            </a:pPr>
            <a:r>
              <a:rPr lang="en-US" sz="1300" dirty="0">
                <a:solidFill>
                  <a:srgbClr val="EEF1F7"/>
                </a:solidFill>
                <a:latin typeface="Calibri" pitchFamily="34" charset="0"/>
                <a:ea typeface="Calibri" pitchFamily="34" charset="-122"/>
                <a:cs typeface="Calibri" pitchFamily="34" charset="-120"/>
              </a:rPr>
              <a:t>Network health: faults, outages, maintenance</a:t>
            </a:r>
            <a:endParaRPr lang="en-US" sz="1300" dirty="0"/>
          </a:p>
        </p:txBody>
      </p:sp>
      <p:sp>
        <p:nvSpPr>
          <p:cNvPr id="14" name="srcP1"/>
          <p:cNvSpPr/>
          <p:nvPr/>
        </p:nvSpPr>
        <p:spPr>
          <a:xfrm>
            <a:off x="4572000" y="3026664"/>
            <a:ext cx="1051560" cy="292608"/>
          </a:xfrm>
          <a:prstGeom prst="roundRect">
            <a:avLst>
              <a:gd name="adj" fmla="val 25000"/>
            </a:avLst>
          </a:prstGeom>
          <a:solidFill>
            <a:srgbClr val="13253A"/>
          </a:solidFill>
          <a:ln w="9525">
            <a:solidFill>
              <a:srgbClr val="6FB3FF"/>
            </a:solidFill>
            <a:prstDash val="solid"/>
          </a:ln>
        </p:spPr>
      </p:sp>
      <p:sp>
        <p:nvSpPr>
          <p:cNvPr id="15" name="srcP1T"/>
          <p:cNvSpPr txBox="1"/>
          <p:nvPr/>
        </p:nvSpPr>
        <p:spPr>
          <a:xfrm>
            <a:off x="4572000" y="3026664"/>
            <a:ext cx="1051560" cy="292608"/>
          </a:xfrm>
          <a:prstGeom prst="rect">
            <a:avLst/>
          </a:prstGeom>
          <a:noFill/>
          <a:ln/>
        </p:spPr>
        <p:txBody>
          <a:bodyPr wrap="square" lIns="0" tIns="0" rIns="0" bIns="0" rtlCol="0" anchor="ctr"/>
          <a:lstStyle/>
          <a:p>
            <a:pPr algn="ctr" indent="0" marL="0">
              <a:buNone/>
            </a:pPr>
            <a:r>
              <a:rPr lang="en-US" sz="1050" b="1" dirty="0">
                <a:solidFill>
                  <a:srgbClr val="6FB3FF"/>
                </a:solidFill>
                <a:latin typeface="Calibri" pitchFamily="34" charset="0"/>
                <a:ea typeface="Calibri" pitchFamily="34" charset="-122"/>
                <a:cs typeface="Calibri" pitchFamily="34" charset="-120"/>
              </a:rPr>
              <a:t>Jio-owned</a:t>
            </a:r>
            <a:endParaRPr lang="en-US" sz="1050" dirty="0"/>
          </a:p>
        </p:txBody>
      </p:sp>
      <p:pic>
        <p:nvPicPr>
          <p:cNvPr id="16" name="srcI2" descr="preencoded.png">    </p:cNvPr>
          <p:cNvPicPr>
            <a:picLocks noChangeAspect="1"/>
          </p:cNvPicPr>
          <p:nvPr/>
        </p:nvPicPr>
        <p:blipFill>
          <a:blip r:embed="rId4"/>
          <a:stretch>
            <a:fillRect/>
          </a:stretch>
        </p:blipFill>
        <p:spPr>
          <a:xfrm>
            <a:off x="777240" y="3465576"/>
            <a:ext cx="274320" cy="274320"/>
          </a:xfrm>
          <a:prstGeom prst="rect">
            <a:avLst/>
          </a:prstGeom>
        </p:spPr>
      </p:pic>
      <p:sp>
        <p:nvSpPr>
          <p:cNvPr id="17" name="srcT2"/>
          <p:cNvSpPr txBox="1"/>
          <p:nvPr/>
        </p:nvSpPr>
        <p:spPr>
          <a:xfrm>
            <a:off x="1207008" y="3401568"/>
            <a:ext cx="3310128" cy="402336"/>
          </a:xfrm>
          <a:prstGeom prst="rect">
            <a:avLst/>
          </a:prstGeom>
          <a:noFill/>
          <a:ln/>
        </p:spPr>
        <p:txBody>
          <a:bodyPr wrap="square" lIns="0" tIns="0" rIns="0" bIns="0" rtlCol="0" anchor="ctr"/>
          <a:lstStyle/>
          <a:p>
            <a:pPr indent="0" marL="0">
              <a:buNone/>
            </a:pPr>
            <a:r>
              <a:rPr lang="en-US" sz="1300" dirty="0">
                <a:solidFill>
                  <a:srgbClr val="EEF1F7"/>
                </a:solidFill>
                <a:latin typeface="Calibri" pitchFamily="34" charset="0"/>
                <a:ea typeface="Calibri" pitchFamily="34" charset="-122"/>
                <a:cs typeface="Calibri" pitchFamily="34" charset="-120"/>
              </a:rPr>
              <a:t>Doppler radar: spatial check</a:t>
            </a:r>
            <a:endParaRPr lang="en-US" sz="1300" dirty="0"/>
          </a:p>
        </p:txBody>
      </p:sp>
      <p:sp>
        <p:nvSpPr>
          <p:cNvPr id="18" name="srcP2"/>
          <p:cNvSpPr/>
          <p:nvPr/>
        </p:nvSpPr>
        <p:spPr>
          <a:xfrm>
            <a:off x="4572000" y="3456432"/>
            <a:ext cx="1051560" cy="292608"/>
          </a:xfrm>
          <a:prstGeom prst="roundRect">
            <a:avLst>
              <a:gd name="adj" fmla="val 25000"/>
            </a:avLst>
          </a:prstGeom>
          <a:solidFill>
            <a:srgbClr val="13253A"/>
          </a:solidFill>
          <a:ln w="9525">
            <a:solidFill>
              <a:srgbClr val="6FB3FF"/>
            </a:solidFill>
            <a:prstDash val="solid"/>
          </a:ln>
        </p:spPr>
      </p:sp>
      <p:sp>
        <p:nvSpPr>
          <p:cNvPr id="19" name="srcP2T"/>
          <p:cNvSpPr txBox="1"/>
          <p:nvPr/>
        </p:nvSpPr>
        <p:spPr>
          <a:xfrm>
            <a:off x="4572000" y="3456432"/>
            <a:ext cx="1051560" cy="292608"/>
          </a:xfrm>
          <a:prstGeom prst="rect">
            <a:avLst/>
          </a:prstGeom>
          <a:noFill/>
          <a:ln/>
        </p:spPr>
        <p:txBody>
          <a:bodyPr wrap="square" lIns="0" tIns="0" rIns="0" bIns="0" rtlCol="0" anchor="ctr"/>
          <a:lstStyle/>
          <a:p>
            <a:pPr algn="ctr" indent="0" marL="0">
              <a:buNone/>
            </a:pPr>
            <a:r>
              <a:rPr lang="en-US" sz="1050" b="1" dirty="0">
                <a:solidFill>
                  <a:srgbClr val="6FB3FF"/>
                </a:solidFill>
                <a:latin typeface="Calibri" pitchFamily="34" charset="0"/>
                <a:ea typeface="Calibri" pitchFamily="34" charset="-122"/>
                <a:cs typeface="Calibri" pitchFamily="34" charset="-120"/>
              </a:rPr>
              <a:t>IMD (govt)</a:t>
            </a:r>
            <a:endParaRPr lang="en-US" sz="1050" dirty="0"/>
          </a:p>
        </p:txBody>
      </p:sp>
      <p:pic>
        <p:nvPicPr>
          <p:cNvPr id="20" name="srcI3" descr="preencoded.png">    </p:cNvPr>
          <p:cNvPicPr>
            <a:picLocks noChangeAspect="1"/>
          </p:cNvPicPr>
          <p:nvPr/>
        </p:nvPicPr>
        <p:blipFill>
          <a:blip r:embed="rId5"/>
          <a:stretch>
            <a:fillRect/>
          </a:stretch>
        </p:blipFill>
        <p:spPr>
          <a:xfrm>
            <a:off x="777240" y="3895344"/>
            <a:ext cx="274320" cy="274320"/>
          </a:xfrm>
          <a:prstGeom prst="rect">
            <a:avLst/>
          </a:prstGeom>
        </p:spPr>
      </p:pic>
      <p:sp>
        <p:nvSpPr>
          <p:cNvPr id="21" name="srcT3"/>
          <p:cNvSpPr txBox="1"/>
          <p:nvPr/>
        </p:nvSpPr>
        <p:spPr>
          <a:xfrm>
            <a:off x="1207008" y="3831336"/>
            <a:ext cx="3310128" cy="402336"/>
          </a:xfrm>
          <a:prstGeom prst="rect">
            <a:avLst/>
          </a:prstGeom>
          <a:noFill/>
          <a:ln/>
        </p:spPr>
        <p:txBody>
          <a:bodyPr wrap="square" lIns="0" tIns="0" rIns="0" bIns="0" rtlCol="0" anchor="ctr"/>
          <a:lstStyle/>
          <a:p>
            <a:pPr indent="0" marL="0">
              <a:buNone/>
            </a:pPr>
            <a:r>
              <a:rPr lang="en-US" sz="1300" dirty="0">
                <a:solidFill>
                  <a:srgbClr val="EEF1F7"/>
                </a:solidFill>
                <a:latin typeface="Calibri" pitchFamily="34" charset="0"/>
                <a:ea typeface="Calibri" pitchFamily="34" charset="-122"/>
                <a:cs typeface="Calibri" pitchFamily="34" charset="-120"/>
              </a:rPr>
              <a:t>Rain gauges: ground truth</a:t>
            </a:r>
            <a:endParaRPr lang="en-US" sz="1300" dirty="0"/>
          </a:p>
        </p:txBody>
      </p:sp>
      <p:sp>
        <p:nvSpPr>
          <p:cNvPr id="22" name="srcP3"/>
          <p:cNvSpPr/>
          <p:nvPr/>
        </p:nvSpPr>
        <p:spPr>
          <a:xfrm>
            <a:off x="4572000" y="3886200"/>
            <a:ext cx="1051560" cy="292608"/>
          </a:xfrm>
          <a:prstGeom prst="roundRect">
            <a:avLst>
              <a:gd name="adj" fmla="val 25000"/>
            </a:avLst>
          </a:prstGeom>
          <a:solidFill>
            <a:srgbClr val="13253A"/>
          </a:solidFill>
          <a:ln w="9525">
            <a:solidFill>
              <a:srgbClr val="6FB3FF"/>
            </a:solidFill>
            <a:prstDash val="solid"/>
          </a:ln>
        </p:spPr>
      </p:sp>
      <p:sp>
        <p:nvSpPr>
          <p:cNvPr id="23" name="srcP3T"/>
          <p:cNvSpPr txBox="1"/>
          <p:nvPr/>
        </p:nvSpPr>
        <p:spPr>
          <a:xfrm>
            <a:off x="4572000" y="3886200"/>
            <a:ext cx="1051560" cy="292608"/>
          </a:xfrm>
          <a:prstGeom prst="rect">
            <a:avLst/>
          </a:prstGeom>
          <a:noFill/>
          <a:ln/>
        </p:spPr>
        <p:txBody>
          <a:bodyPr wrap="square" lIns="0" tIns="0" rIns="0" bIns="0" rtlCol="0" anchor="ctr"/>
          <a:lstStyle/>
          <a:p>
            <a:pPr algn="ctr" indent="0" marL="0">
              <a:buNone/>
            </a:pPr>
            <a:r>
              <a:rPr lang="en-US" sz="1050" b="1" dirty="0">
                <a:solidFill>
                  <a:srgbClr val="6FB3FF"/>
                </a:solidFill>
                <a:latin typeface="Calibri" pitchFamily="34" charset="0"/>
                <a:ea typeface="Calibri" pitchFamily="34" charset="-122"/>
                <a:cs typeface="Calibri" pitchFamily="34" charset="-120"/>
              </a:rPr>
              <a:t>IMD · BMC</a:t>
            </a:r>
            <a:endParaRPr lang="en-US" sz="1050" dirty="0"/>
          </a:p>
        </p:txBody>
      </p:sp>
      <p:pic>
        <p:nvPicPr>
          <p:cNvPr id="24" name="srcI4" descr="preencoded.png">    </p:cNvPr>
          <p:cNvPicPr>
            <a:picLocks noChangeAspect="1"/>
          </p:cNvPicPr>
          <p:nvPr/>
        </p:nvPicPr>
        <p:blipFill>
          <a:blip r:embed="rId6"/>
          <a:stretch>
            <a:fillRect/>
          </a:stretch>
        </p:blipFill>
        <p:spPr>
          <a:xfrm>
            <a:off x="777240" y="4325112"/>
            <a:ext cx="274320" cy="274320"/>
          </a:xfrm>
          <a:prstGeom prst="rect">
            <a:avLst/>
          </a:prstGeom>
        </p:spPr>
      </p:pic>
      <p:sp>
        <p:nvSpPr>
          <p:cNvPr id="25" name="srcT4"/>
          <p:cNvSpPr txBox="1"/>
          <p:nvPr/>
        </p:nvSpPr>
        <p:spPr>
          <a:xfrm>
            <a:off x="1207008" y="4261104"/>
            <a:ext cx="3310128" cy="402336"/>
          </a:xfrm>
          <a:prstGeom prst="rect">
            <a:avLst/>
          </a:prstGeom>
          <a:noFill/>
          <a:ln/>
        </p:spPr>
        <p:txBody>
          <a:bodyPr wrap="square" lIns="0" tIns="0" rIns="0" bIns="0" rtlCol="0" anchor="ctr"/>
          <a:lstStyle/>
          <a:p>
            <a:pPr indent="0" marL="0">
              <a:buNone/>
            </a:pPr>
            <a:r>
              <a:rPr lang="en-US" sz="1300" dirty="0">
                <a:solidFill>
                  <a:srgbClr val="EEF1F7"/>
                </a:solidFill>
                <a:latin typeface="Calibri" pitchFamily="34" charset="0"/>
                <a:ea typeface="Calibri" pitchFamily="34" charset="-122"/>
                <a:cs typeface="Calibri" pitchFamily="34" charset="-120"/>
              </a:rPr>
              <a:t>Satellite: coverage fallback</a:t>
            </a:r>
            <a:endParaRPr lang="en-US" sz="1300" dirty="0"/>
          </a:p>
        </p:txBody>
      </p:sp>
      <p:sp>
        <p:nvSpPr>
          <p:cNvPr id="26" name="srcP4"/>
          <p:cNvSpPr/>
          <p:nvPr/>
        </p:nvSpPr>
        <p:spPr>
          <a:xfrm>
            <a:off x="4572000" y="4315968"/>
            <a:ext cx="1051560" cy="292608"/>
          </a:xfrm>
          <a:prstGeom prst="roundRect">
            <a:avLst>
              <a:gd name="adj" fmla="val 25000"/>
            </a:avLst>
          </a:prstGeom>
          <a:solidFill>
            <a:srgbClr val="13253A"/>
          </a:solidFill>
          <a:ln w="9525">
            <a:solidFill>
              <a:srgbClr val="6FB3FF"/>
            </a:solidFill>
            <a:prstDash val="solid"/>
          </a:ln>
        </p:spPr>
      </p:sp>
      <p:sp>
        <p:nvSpPr>
          <p:cNvPr id="27" name="srcP4T"/>
          <p:cNvSpPr txBox="1"/>
          <p:nvPr/>
        </p:nvSpPr>
        <p:spPr>
          <a:xfrm>
            <a:off x="4572000" y="4315968"/>
            <a:ext cx="1051560" cy="292608"/>
          </a:xfrm>
          <a:prstGeom prst="rect">
            <a:avLst/>
          </a:prstGeom>
          <a:noFill/>
          <a:ln/>
        </p:spPr>
        <p:txBody>
          <a:bodyPr wrap="square" lIns="0" tIns="0" rIns="0" bIns="0" rtlCol="0" anchor="ctr"/>
          <a:lstStyle/>
          <a:p>
            <a:pPr algn="ctr" indent="0" marL="0">
              <a:buNone/>
            </a:pPr>
            <a:r>
              <a:rPr lang="en-US" sz="1050" b="1" dirty="0">
                <a:solidFill>
                  <a:srgbClr val="6FB3FF"/>
                </a:solidFill>
                <a:latin typeface="Calibri" pitchFamily="34" charset="0"/>
                <a:ea typeface="Calibri" pitchFamily="34" charset="-122"/>
                <a:cs typeface="Calibri" pitchFamily="34" charset="-120"/>
              </a:rPr>
              <a:t>External</a:t>
            </a:r>
            <a:endParaRPr lang="en-US" sz="1050" dirty="0"/>
          </a:p>
        </p:txBody>
      </p:sp>
      <p:pic>
        <p:nvPicPr>
          <p:cNvPr id="28" name="srcI5" descr="preencoded.png">    </p:cNvPr>
          <p:cNvPicPr>
            <a:picLocks noChangeAspect="1"/>
          </p:cNvPicPr>
          <p:nvPr/>
        </p:nvPicPr>
        <p:blipFill>
          <a:blip r:embed="rId7"/>
          <a:stretch>
            <a:fillRect/>
          </a:stretch>
        </p:blipFill>
        <p:spPr>
          <a:xfrm>
            <a:off x="777240" y="4754880"/>
            <a:ext cx="274320" cy="274320"/>
          </a:xfrm>
          <a:prstGeom prst="rect">
            <a:avLst/>
          </a:prstGeom>
        </p:spPr>
      </p:pic>
      <p:sp>
        <p:nvSpPr>
          <p:cNvPr id="29" name="srcT5"/>
          <p:cNvSpPr txBox="1"/>
          <p:nvPr/>
        </p:nvSpPr>
        <p:spPr>
          <a:xfrm>
            <a:off x="1207008" y="4690872"/>
            <a:ext cx="3310128" cy="402336"/>
          </a:xfrm>
          <a:prstGeom prst="rect">
            <a:avLst/>
          </a:prstGeom>
          <a:noFill/>
          <a:ln/>
        </p:spPr>
        <p:txBody>
          <a:bodyPr wrap="square" lIns="0" tIns="0" rIns="0" bIns="0" rtlCol="0" anchor="ctr"/>
          <a:lstStyle/>
          <a:p>
            <a:pPr indent="0" marL="0">
              <a:buNone/>
            </a:pPr>
            <a:r>
              <a:rPr lang="en-US" sz="1300" dirty="0">
                <a:solidFill>
                  <a:srgbClr val="EEF1F7"/>
                </a:solidFill>
                <a:latin typeface="Calibri" pitchFamily="34" charset="0"/>
                <a:ea typeface="Calibri" pitchFamily="34" charset="-122"/>
                <a:cs typeface="Calibri" pitchFamily="34" charset="-120"/>
              </a:rPr>
              <a:t>New gauges on Jio sites, where links are thin</a:t>
            </a:r>
            <a:endParaRPr lang="en-US" sz="1300" dirty="0"/>
          </a:p>
        </p:txBody>
      </p:sp>
      <p:sp>
        <p:nvSpPr>
          <p:cNvPr id="30" name="srcP5"/>
          <p:cNvSpPr/>
          <p:nvPr/>
        </p:nvSpPr>
        <p:spPr>
          <a:xfrm>
            <a:off x="4572000" y="4745736"/>
            <a:ext cx="1051560" cy="292608"/>
          </a:xfrm>
          <a:prstGeom prst="roundRect">
            <a:avLst>
              <a:gd name="adj" fmla="val 25000"/>
            </a:avLst>
          </a:prstGeom>
          <a:solidFill>
            <a:srgbClr val="2B2208"/>
          </a:solidFill>
          <a:ln w="9525">
            <a:solidFill>
              <a:srgbClr val="F5A623"/>
            </a:solidFill>
            <a:prstDash val="solid"/>
          </a:ln>
        </p:spPr>
      </p:sp>
      <p:sp>
        <p:nvSpPr>
          <p:cNvPr id="31" name="srcP5T"/>
          <p:cNvSpPr txBox="1"/>
          <p:nvPr/>
        </p:nvSpPr>
        <p:spPr>
          <a:xfrm>
            <a:off x="4572000" y="4745736"/>
            <a:ext cx="1051560" cy="292608"/>
          </a:xfrm>
          <a:prstGeom prst="rect">
            <a:avLst/>
          </a:prstGeom>
          <a:noFill/>
          <a:ln/>
        </p:spPr>
        <p:txBody>
          <a:bodyPr wrap="square" lIns="0" tIns="0" rIns="0" bIns="0" rtlCol="0" anchor="ctr"/>
          <a:lstStyle/>
          <a:p>
            <a:pPr algn="ctr" indent="0" marL="0">
              <a:buNone/>
            </a:pPr>
            <a:r>
              <a:rPr lang="en-US" sz="1050" b="1" dirty="0">
                <a:solidFill>
                  <a:srgbClr val="F5A623"/>
                </a:solidFill>
                <a:latin typeface="Calibri" pitchFamily="34" charset="0"/>
                <a:ea typeface="Calibri" pitchFamily="34" charset="-122"/>
                <a:cs typeface="Calibri" pitchFamily="34" charset="-120"/>
              </a:rPr>
              <a:t>New install</a:t>
            </a:r>
            <a:endParaRPr lang="en-US" sz="1050" dirty="0"/>
          </a:p>
        </p:txBody>
      </p:sp>
      <p:pic>
        <p:nvPicPr>
          <p:cNvPr id="32" name="srcI6" descr="preencoded.png">    </p:cNvPr>
          <p:cNvPicPr>
            <a:picLocks noChangeAspect="1"/>
          </p:cNvPicPr>
          <p:nvPr/>
        </p:nvPicPr>
        <p:blipFill>
          <a:blip r:embed="rId8"/>
          <a:stretch>
            <a:fillRect/>
          </a:stretch>
        </p:blipFill>
        <p:spPr>
          <a:xfrm>
            <a:off x="777240" y="5184648"/>
            <a:ext cx="274320" cy="274320"/>
          </a:xfrm>
          <a:prstGeom prst="rect">
            <a:avLst/>
          </a:prstGeom>
        </p:spPr>
      </p:pic>
      <p:sp>
        <p:nvSpPr>
          <p:cNvPr id="33" name="srcT6"/>
          <p:cNvSpPr txBox="1"/>
          <p:nvPr/>
        </p:nvSpPr>
        <p:spPr>
          <a:xfrm>
            <a:off x="1207008" y="5120640"/>
            <a:ext cx="3310128" cy="402336"/>
          </a:xfrm>
          <a:prstGeom prst="rect">
            <a:avLst/>
          </a:prstGeom>
          <a:noFill/>
          <a:ln/>
        </p:spPr>
        <p:txBody>
          <a:bodyPr wrap="square" lIns="0" tIns="0" rIns="0" bIns="0" rtlCol="0" anchor="ctr"/>
          <a:lstStyle/>
          <a:p>
            <a:pPr indent="0" marL="0">
              <a:buNone/>
            </a:pPr>
            <a:r>
              <a:rPr lang="en-US" sz="1300" dirty="0">
                <a:solidFill>
                  <a:srgbClr val="EEF1F7"/>
                </a:solidFill>
                <a:latin typeface="Calibri" pitchFamily="34" charset="0"/>
                <a:ea typeface="Calibri" pitchFamily="34" charset="-122"/>
                <a:cs typeface="Calibri" pitchFamily="34" charset="-120"/>
              </a:rPr>
              <a:t>Commercial data, only if it lifts accuracy</a:t>
            </a:r>
            <a:endParaRPr lang="en-US" sz="1300" dirty="0"/>
          </a:p>
        </p:txBody>
      </p:sp>
      <p:sp>
        <p:nvSpPr>
          <p:cNvPr id="34" name="srcP6"/>
          <p:cNvSpPr/>
          <p:nvPr/>
        </p:nvSpPr>
        <p:spPr>
          <a:xfrm>
            <a:off x="4572000" y="5175504"/>
            <a:ext cx="1051560" cy="292608"/>
          </a:xfrm>
          <a:prstGeom prst="roundRect">
            <a:avLst>
              <a:gd name="adj" fmla="val 25000"/>
            </a:avLst>
          </a:prstGeom>
          <a:solidFill>
            <a:srgbClr val="2B2208"/>
          </a:solidFill>
          <a:ln w="9525">
            <a:solidFill>
              <a:srgbClr val="F5A623"/>
            </a:solidFill>
            <a:prstDash val="solid"/>
          </a:ln>
        </p:spPr>
      </p:sp>
      <p:sp>
        <p:nvSpPr>
          <p:cNvPr id="35" name="srcP6T"/>
          <p:cNvSpPr txBox="1"/>
          <p:nvPr/>
        </p:nvSpPr>
        <p:spPr>
          <a:xfrm>
            <a:off x="4572000" y="5175504"/>
            <a:ext cx="1051560" cy="292608"/>
          </a:xfrm>
          <a:prstGeom prst="rect">
            <a:avLst/>
          </a:prstGeom>
          <a:noFill/>
          <a:ln/>
        </p:spPr>
        <p:txBody>
          <a:bodyPr wrap="square" lIns="0" tIns="0" rIns="0" bIns="0" rtlCol="0" anchor="ctr"/>
          <a:lstStyle/>
          <a:p>
            <a:pPr algn="ctr" indent="0" marL="0">
              <a:buNone/>
            </a:pPr>
            <a:r>
              <a:rPr lang="en-US" sz="1050" b="1" dirty="0">
                <a:solidFill>
                  <a:srgbClr val="F5A623"/>
                </a:solidFill>
                <a:latin typeface="Calibri" pitchFamily="34" charset="0"/>
                <a:ea typeface="Calibri" pitchFamily="34" charset="-122"/>
                <a:cs typeface="Calibri" pitchFamily="34" charset="-120"/>
              </a:rPr>
              <a:t>Commercial</a:t>
            </a:r>
            <a:endParaRPr lang="en-US" sz="1050" dirty="0"/>
          </a:p>
        </p:txBody>
      </p:sp>
      <p:sp>
        <p:nvSpPr>
          <p:cNvPr id="36" name="mixCard"/>
          <p:cNvSpPr/>
          <p:nvPr/>
        </p:nvSpPr>
        <p:spPr>
          <a:xfrm>
            <a:off x="6080760" y="2057400"/>
            <a:ext cx="5562295" cy="3611880"/>
          </a:xfrm>
          <a:prstGeom prst="roundRect">
            <a:avLst>
              <a:gd name="adj" fmla="val 3038"/>
            </a:avLst>
          </a:prstGeom>
          <a:solidFill>
            <a:srgbClr val="1C2447"/>
          </a:solidFill>
          <a:ln w="15875">
            <a:solidFill>
              <a:srgbClr val="F5A623"/>
            </a:solidFill>
            <a:prstDash val="solid"/>
          </a:ln>
        </p:spPr>
      </p:sp>
      <p:sp>
        <p:nvSpPr>
          <p:cNvPr id="37" name="mixK"/>
          <p:cNvSpPr txBox="1"/>
          <p:nvPr/>
        </p:nvSpPr>
        <p:spPr>
          <a:xfrm>
            <a:off x="6309360" y="2194560"/>
            <a:ext cx="5105095" cy="274320"/>
          </a:xfrm>
          <a:prstGeom prst="rect">
            <a:avLst/>
          </a:prstGeom>
          <a:noFill/>
          <a:ln/>
        </p:spPr>
        <p:txBody>
          <a:bodyPr wrap="square" lIns="0" tIns="0" rIns="0" bIns="0" rtlCol="0" anchor="t"/>
          <a:lstStyle/>
          <a:p>
            <a:pPr indent="0" marL="0">
              <a:buNone/>
            </a:pPr>
            <a:r>
              <a:rPr lang="en-US" sz="1050" b="1" spc="200" kern="0" dirty="0">
                <a:solidFill>
                  <a:srgbClr val="F5A623"/>
                </a:solidFill>
                <a:latin typeface="Calibri" pitchFamily="34" charset="0"/>
                <a:ea typeface="Calibri" pitchFamily="34" charset="-122"/>
                <a:cs typeface="Calibri" pitchFamily="34" charset="-120"/>
              </a:rPr>
              <a:t>THE PILOT SCORES EVERY MIX AGAINST HELD-OUT RAIN GAUGES</a:t>
            </a:r>
            <a:endParaRPr lang="en-US" sz="1050" dirty="0"/>
          </a:p>
        </p:txBody>
      </p:sp>
      <p:sp>
        <p:nvSpPr>
          <p:cNvPr id="38" name="mixL0"/>
          <p:cNvSpPr txBox="1"/>
          <p:nvPr/>
        </p:nvSpPr>
        <p:spPr>
          <a:xfrm>
            <a:off x="6309360" y="2606040"/>
            <a:ext cx="1783080" cy="384048"/>
          </a:xfrm>
          <a:prstGeom prst="rect">
            <a:avLst/>
          </a:prstGeom>
          <a:noFill/>
          <a:ln/>
        </p:spPr>
        <p:txBody>
          <a:bodyPr wrap="square" lIns="0" tIns="0" rIns="0" bIns="0" rtlCol="0" anchor="ctr"/>
          <a:lstStyle/>
          <a:p>
            <a:pPr indent="0" marL="0">
              <a:buNone/>
            </a:pPr>
            <a:r>
              <a:rPr lang="en-US" sz="1300" dirty="0">
                <a:solidFill>
                  <a:srgbClr val="EEF1F7"/>
                </a:solidFill>
                <a:latin typeface="Calibri" pitchFamily="34" charset="0"/>
                <a:ea typeface="Calibri" pitchFamily="34" charset="-122"/>
                <a:cs typeface="Calibri" pitchFamily="34" charset="-120"/>
              </a:rPr>
              <a:t>Links only</a:t>
            </a:r>
            <a:endParaRPr lang="en-US" sz="1300" dirty="0"/>
          </a:p>
        </p:txBody>
      </p:sp>
      <p:sp>
        <p:nvSpPr>
          <p:cNvPr id="39" name="mixB0"/>
          <p:cNvSpPr/>
          <p:nvPr/>
        </p:nvSpPr>
        <p:spPr>
          <a:xfrm>
            <a:off x="8138160" y="2670048"/>
            <a:ext cx="3230575" cy="256032"/>
          </a:xfrm>
          <a:prstGeom prst="roundRect">
            <a:avLst>
              <a:gd name="adj" fmla="val 21429"/>
            </a:avLst>
          </a:prstGeom>
          <a:solidFill>
            <a:srgbClr val="10162C"/>
          </a:solidFill>
          <a:ln w="9525">
            <a:solidFill>
              <a:srgbClr val="3A4570"/>
            </a:solidFill>
            <a:prstDash val="solid"/>
          </a:ln>
        </p:spPr>
      </p:sp>
      <p:sp>
        <p:nvSpPr>
          <p:cNvPr id="40" name="mixF0"/>
          <p:cNvSpPr/>
          <p:nvPr/>
        </p:nvSpPr>
        <p:spPr>
          <a:xfrm>
            <a:off x="8138160" y="2670048"/>
            <a:ext cx="2196791" cy="256032"/>
          </a:xfrm>
          <a:prstGeom prst="roundRect">
            <a:avLst>
              <a:gd name="adj" fmla="val 21429"/>
            </a:avLst>
          </a:prstGeom>
          <a:solidFill>
            <a:srgbClr val="3987E5"/>
          </a:solidFill>
          <a:ln w="12700">
            <a:solidFill>
              <a:srgbClr val="3987E5"/>
            </a:solidFill>
            <a:prstDash val="solid"/>
          </a:ln>
        </p:spPr>
      </p:sp>
      <p:sp>
        <p:nvSpPr>
          <p:cNvPr id="41" name="mixV0"/>
          <p:cNvSpPr txBox="1"/>
          <p:nvPr/>
        </p:nvSpPr>
        <p:spPr>
          <a:xfrm>
            <a:off x="8247888" y="2670048"/>
            <a:ext cx="3047695"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Our check: 68%</a:t>
            </a:r>
            <a:endParaRPr lang="en-US" sz="1100" dirty="0"/>
          </a:p>
        </p:txBody>
      </p:sp>
      <p:sp>
        <p:nvSpPr>
          <p:cNvPr id="42" name="mixL1"/>
          <p:cNvSpPr txBox="1"/>
          <p:nvPr/>
        </p:nvSpPr>
        <p:spPr>
          <a:xfrm>
            <a:off x="6309360" y="3136392"/>
            <a:ext cx="1783080" cy="384048"/>
          </a:xfrm>
          <a:prstGeom prst="rect">
            <a:avLst/>
          </a:prstGeom>
          <a:noFill/>
          <a:ln/>
        </p:spPr>
        <p:txBody>
          <a:bodyPr wrap="square" lIns="0" tIns="0" rIns="0" bIns="0" rtlCol="0" anchor="ctr"/>
          <a:lstStyle/>
          <a:p>
            <a:pPr indent="0" marL="0">
              <a:buNone/>
            </a:pPr>
            <a:r>
              <a:rPr lang="en-US" sz="1300" dirty="0">
                <a:solidFill>
                  <a:srgbClr val="EEF1F7"/>
                </a:solidFill>
                <a:latin typeface="Calibri" pitchFamily="34" charset="0"/>
                <a:ea typeface="Calibri" pitchFamily="34" charset="-122"/>
                <a:cs typeface="Calibri" pitchFamily="34" charset="-120"/>
              </a:rPr>
              <a:t>Links + radar</a:t>
            </a:r>
            <a:endParaRPr lang="en-US" sz="1300" dirty="0"/>
          </a:p>
        </p:txBody>
      </p:sp>
      <p:sp>
        <p:nvSpPr>
          <p:cNvPr id="43" name="mixB1"/>
          <p:cNvSpPr/>
          <p:nvPr/>
        </p:nvSpPr>
        <p:spPr>
          <a:xfrm>
            <a:off x="8138160" y="3200400"/>
            <a:ext cx="3230575" cy="256032"/>
          </a:xfrm>
          <a:prstGeom prst="roundRect">
            <a:avLst>
              <a:gd name="adj" fmla="val 21429"/>
            </a:avLst>
          </a:prstGeom>
          <a:solidFill>
            <a:srgbClr val="10162C"/>
          </a:solidFill>
          <a:ln w="9525">
            <a:solidFill>
              <a:srgbClr val="3A4570"/>
            </a:solidFill>
            <a:prstDash val="dash"/>
          </a:ln>
        </p:spPr>
      </p:sp>
      <p:sp>
        <p:nvSpPr>
          <p:cNvPr id="44" name="mixV1"/>
          <p:cNvSpPr txBox="1"/>
          <p:nvPr/>
        </p:nvSpPr>
        <p:spPr>
          <a:xfrm>
            <a:off x="8247888" y="3200400"/>
            <a:ext cx="3047695" cy="256032"/>
          </a:xfrm>
          <a:prstGeom prst="rect">
            <a:avLst/>
          </a:prstGeom>
          <a:noFill/>
          <a:ln/>
        </p:spPr>
        <p:txBody>
          <a:bodyPr wrap="square" lIns="0" tIns="0" rIns="0" bIns="0" rtlCol="0" anchor="ctr"/>
          <a:lstStyle/>
          <a:p>
            <a:pPr indent="0" marL="0">
              <a:buNone/>
            </a:pPr>
            <a:r>
              <a:rPr lang="en-US" sz="1100" dirty="0">
                <a:solidFill>
                  <a:srgbClr val="98A2C0"/>
                </a:solidFill>
                <a:latin typeface="Calibri" pitchFamily="34" charset="0"/>
                <a:ea typeface="Calibri" pitchFamily="34" charset="-122"/>
                <a:cs typeface="Calibri" pitchFamily="34" charset="-120"/>
              </a:rPr>
              <a:t>measured in the pilot</a:t>
            </a:r>
            <a:endParaRPr lang="en-US" sz="1100" dirty="0"/>
          </a:p>
        </p:txBody>
      </p:sp>
      <p:sp>
        <p:nvSpPr>
          <p:cNvPr id="45" name="mixL2"/>
          <p:cNvSpPr txBox="1"/>
          <p:nvPr/>
        </p:nvSpPr>
        <p:spPr>
          <a:xfrm>
            <a:off x="6309360" y="3666744"/>
            <a:ext cx="1783080" cy="384048"/>
          </a:xfrm>
          <a:prstGeom prst="rect">
            <a:avLst/>
          </a:prstGeom>
          <a:noFill/>
          <a:ln/>
        </p:spPr>
        <p:txBody>
          <a:bodyPr wrap="square" lIns="0" tIns="0" rIns="0" bIns="0" rtlCol="0" anchor="ctr"/>
          <a:lstStyle/>
          <a:p>
            <a:pPr indent="0" marL="0">
              <a:buNone/>
            </a:pPr>
            <a:r>
              <a:rPr lang="en-US" sz="1300" dirty="0">
                <a:solidFill>
                  <a:srgbClr val="EEF1F7"/>
                </a:solidFill>
                <a:latin typeface="Calibri" pitchFamily="34" charset="0"/>
                <a:ea typeface="Calibri" pitchFamily="34" charset="-122"/>
                <a:cs typeface="Calibri" pitchFamily="34" charset="-120"/>
              </a:rPr>
              <a:t>Links + radar + gauges</a:t>
            </a:r>
            <a:endParaRPr lang="en-US" sz="1300" dirty="0"/>
          </a:p>
        </p:txBody>
      </p:sp>
      <p:sp>
        <p:nvSpPr>
          <p:cNvPr id="46" name="mixB2"/>
          <p:cNvSpPr/>
          <p:nvPr/>
        </p:nvSpPr>
        <p:spPr>
          <a:xfrm>
            <a:off x="8138160" y="3730752"/>
            <a:ext cx="3230575" cy="256032"/>
          </a:xfrm>
          <a:prstGeom prst="roundRect">
            <a:avLst>
              <a:gd name="adj" fmla="val 21429"/>
            </a:avLst>
          </a:prstGeom>
          <a:solidFill>
            <a:srgbClr val="10162C"/>
          </a:solidFill>
          <a:ln w="9525">
            <a:solidFill>
              <a:srgbClr val="3A4570"/>
            </a:solidFill>
            <a:prstDash val="dash"/>
          </a:ln>
        </p:spPr>
      </p:sp>
      <p:sp>
        <p:nvSpPr>
          <p:cNvPr id="47" name="mixV2"/>
          <p:cNvSpPr txBox="1"/>
          <p:nvPr/>
        </p:nvSpPr>
        <p:spPr>
          <a:xfrm>
            <a:off x="8247888" y="3730752"/>
            <a:ext cx="3047695" cy="256032"/>
          </a:xfrm>
          <a:prstGeom prst="rect">
            <a:avLst/>
          </a:prstGeom>
          <a:noFill/>
          <a:ln/>
        </p:spPr>
        <p:txBody>
          <a:bodyPr wrap="square" lIns="0" tIns="0" rIns="0" bIns="0" rtlCol="0" anchor="ctr"/>
          <a:lstStyle/>
          <a:p>
            <a:pPr indent="0" marL="0">
              <a:buNone/>
            </a:pPr>
            <a:r>
              <a:rPr lang="en-US" sz="1100" dirty="0">
                <a:solidFill>
                  <a:srgbClr val="98A2C0"/>
                </a:solidFill>
                <a:latin typeface="Calibri" pitchFamily="34" charset="0"/>
                <a:ea typeface="Calibri" pitchFamily="34" charset="-122"/>
                <a:cs typeface="Calibri" pitchFamily="34" charset="-120"/>
              </a:rPr>
              <a:t>measured in the pilot</a:t>
            </a:r>
            <a:endParaRPr lang="en-US" sz="1100" dirty="0"/>
          </a:p>
        </p:txBody>
      </p:sp>
      <p:sp>
        <p:nvSpPr>
          <p:cNvPr id="48" name="mixL3"/>
          <p:cNvSpPr txBox="1"/>
          <p:nvPr/>
        </p:nvSpPr>
        <p:spPr>
          <a:xfrm>
            <a:off x="6309360" y="4197096"/>
            <a:ext cx="1783080" cy="384048"/>
          </a:xfrm>
          <a:prstGeom prst="rect">
            <a:avLst/>
          </a:prstGeom>
          <a:noFill/>
          <a:ln/>
        </p:spPr>
        <p:txBody>
          <a:bodyPr wrap="square" lIns="0" tIns="0" rIns="0" bIns="0"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Radar + gauges, no links</a:t>
            </a:r>
            <a:endParaRPr lang="en-US" sz="1300" dirty="0"/>
          </a:p>
        </p:txBody>
      </p:sp>
      <p:sp>
        <p:nvSpPr>
          <p:cNvPr id="49" name="mixB3"/>
          <p:cNvSpPr/>
          <p:nvPr/>
        </p:nvSpPr>
        <p:spPr>
          <a:xfrm>
            <a:off x="8138160" y="4261104"/>
            <a:ext cx="3230575" cy="256032"/>
          </a:xfrm>
          <a:prstGeom prst="roundRect">
            <a:avLst>
              <a:gd name="adj" fmla="val 21429"/>
            </a:avLst>
          </a:prstGeom>
          <a:solidFill>
            <a:srgbClr val="10162C"/>
          </a:solidFill>
          <a:ln w="9525">
            <a:solidFill>
              <a:srgbClr val="3A4570"/>
            </a:solidFill>
            <a:prstDash val="dash"/>
          </a:ln>
        </p:spPr>
      </p:sp>
      <p:sp>
        <p:nvSpPr>
          <p:cNvPr id="50" name="mixV3"/>
          <p:cNvSpPr txBox="1"/>
          <p:nvPr/>
        </p:nvSpPr>
        <p:spPr>
          <a:xfrm>
            <a:off x="8247888" y="4261104"/>
            <a:ext cx="3047695" cy="256032"/>
          </a:xfrm>
          <a:prstGeom prst="rect">
            <a:avLst/>
          </a:prstGeom>
          <a:noFill/>
          <a:ln/>
        </p:spPr>
        <p:txBody>
          <a:bodyPr wrap="square" lIns="0" tIns="0" rIns="0" bIns="0" rtlCol="0" anchor="ctr"/>
          <a:lstStyle/>
          <a:p>
            <a:pPr indent="0" marL="0">
              <a:buNone/>
            </a:pPr>
            <a:r>
              <a:rPr lang="en-US" sz="1100" dirty="0">
                <a:solidFill>
                  <a:srgbClr val="98A2C0"/>
                </a:solidFill>
                <a:latin typeface="Calibri" pitchFamily="34" charset="0"/>
                <a:ea typeface="Calibri" pitchFamily="34" charset="-122"/>
                <a:cs typeface="Calibri" pitchFamily="34" charset="-120"/>
              </a:rPr>
              <a:t>shows what Jio adds</a:t>
            </a:r>
            <a:endParaRPr lang="en-US" sz="1100" dirty="0"/>
          </a:p>
        </p:txBody>
      </p:sp>
      <p:sp>
        <p:nvSpPr>
          <p:cNvPr id="51" name="mixL4"/>
          <p:cNvSpPr txBox="1"/>
          <p:nvPr/>
        </p:nvSpPr>
        <p:spPr>
          <a:xfrm>
            <a:off x="6309360" y="4727448"/>
            <a:ext cx="1783080" cy="384048"/>
          </a:xfrm>
          <a:prstGeom prst="rect">
            <a:avLst/>
          </a:prstGeom>
          <a:noFill/>
          <a:ln/>
        </p:spPr>
        <p:txBody>
          <a:bodyPr wrap="square" lIns="0" tIns="0" rIns="0" bIns="0" rtlCol="0" anchor="ctr"/>
          <a:lstStyle/>
          <a:p>
            <a:pPr indent="0" marL="0">
              <a:buNone/>
            </a:pPr>
            <a:r>
              <a:rPr lang="en-US" sz="1300" dirty="0">
                <a:solidFill>
                  <a:srgbClr val="EEF1F7"/>
                </a:solidFill>
                <a:latin typeface="Calibri" pitchFamily="34" charset="0"/>
                <a:ea typeface="Calibri" pitchFamily="34" charset="-122"/>
                <a:cs typeface="Calibri" pitchFamily="34" charset="-120"/>
              </a:rPr>
              <a:t>+ paid data</a:t>
            </a:r>
            <a:endParaRPr lang="en-US" sz="1300" dirty="0"/>
          </a:p>
        </p:txBody>
      </p:sp>
      <p:sp>
        <p:nvSpPr>
          <p:cNvPr id="52" name="mixB4"/>
          <p:cNvSpPr/>
          <p:nvPr/>
        </p:nvSpPr>
        <p:spPr>
          <a:xfrm>
            <a:off x="8138160" y="4791456"/>
            <a:ext cx="3230575" cy="256032"/>
          </a:xfrm>
          <a:prstGeom prst="roundRect">
            <a:avLst>
              <a:gd name="adj" fmla="val 21429"/>
            </a:avLst>
          </a:prstGeom>
          <a:solidFill>
            <a:srgbClr val="10162C"/>
          </a:solidFill>
          <a:ln w="9525">
            <a:solidFill>
              <a:srgbClr val="3A4570"/>
            </a:solidFill>
            <a:prstDash val="dash"/>
          </a:ln>
        </p:spPr>
      </p:sp>
      <p:sp>
        <p:nvSpPr>
          <p:cNvPr id="53" name="mixV4"/>
          <p:cNvSpPr txBox="1"/>
          <p:nvPr/>
        </p:nvSpPr>
        <p:spPr>
          <a:xfrm>
            <a:off x="8247888" y="4791456"/>
            <a:ext cx="3047695" cy="256032"/>
          </a:xfrm>
          <a:prstGeom prst="rect">
            <a:avLst/>
          </a:prstGeom>
          <a:noFill/>
          <a:ln/>
        </p:spPr>
        <p:txBody>
          <a:bodyPr wrap="square" lIns="0" tIns="0" rIns="0" bIns="0" rtlCol="0" anchor="ctr"/>
          <a:lstStyle/>
          <a:p>
            <a:pPr indent="0" marL="0">
              <a:buNone/>
            </a:pPr>
            <a:r>
              <a:rPr lang="en-US" sz="1100" dirty="0">
                <a:solidFill>
                  <a:srgbClr val="98A2C0"/>
                </a:solidFill>
                <a:latin typeface="Calibri" pitchFamily="34" charset="0"/>
                <a:ea typeface="Calibri" pitchFamily="34" charset="-122"/>
                <a:cs typeface="Calibri" pitchFamily="34" charset="-120"/>
              </a:rPr>
              <a:t>measured in the pilot</a:t>
            </a:r>
            <a:endParaRPr lang="en-US" sz="1100" dirty="0"/>
          </a:p>
        </p:txBody>
      </p:sp>
      <p:sp>
        <p:nvSpPr>
          <p:cNvPr id="54" name="tgtLine"/>
          <p:cNvSpPr/>
          <p:nvPr/>
        </p:nvSpPr>
        <p:spPr>
          <a:xfrm>
            <a:off x="10722620" y="2560320"/>
            <a:ext cx="0" cy="2651760"/>
          </a:xfrm>
          <a:prstGeom prst="line">
            <a:avLst/>
          </a:prstGeom>
          <a:noFill/>
          <a:ln w="22225">
            <a:solidFill>
              <a:srgbClr val="1BAF7A"/>
            </a:solidFill>
            <a:prstDash val="dash"/>
          </a:ln>
        </p:spPr>
      </p:sp>
      <p:sp>
        <p:nvSpPr>
          <p:cNvPr id="55" name="tgtLab"/>
          <p:cNvSpPr txBox="1"/>
          <p:nvPr/>
        </p:nvSpPr>
        <p:spPr>
          <a:xfrm>
            <a:off x="9625340" y="5212080"/>
            <a:ext cx="2194560" cy="256032"/>
          </a:xfrm>
          <a:prstGeom prst="rect">
            <a:avLst/>
          </a:prstGeom>
          <a:noFill/>
          <a:ln/>
        </p:spPr>
        <p:txBody>
          <a:bodyPr wrap="square" lIns="0" tIns="0" rIns="0" bIns="0" rtlCol="0" anchor="t"/>
          <a:lstStyle/>
          <a:p>
            <a:pPr algn="ctr" indent="0" marL="0">
              <a:buNone/>
            </a:pPr>
            <a:r>
              <a:rPr lang="en-US" sz="1150" b="1" dirty="0">
                <a:solidFill>
                  <a:srgbClr val="1BAF7A"/>
                </a:solidFill>
                <a:latin typeface="Calibri" pitchFamily="34" charset="0"/>
                <a:ea typeface="Calibri" pitchFamily="34" charset="-122"/>
                <a:cs typeface="Calibri" pitchFamily="34" charset="-120"/>
              </a:rPr>
              <a:t>our bar: 80% of events</a:t>
            </a:r>
            <a:endParaRPr lang="en-US" sz="1150" dirty="0"/>
          </a:p>
        </p:txBody>
      </p:sp>
      <p:sp>
        <p:nvSpPr>
          <p:cNvPr id="56" name="rule"/>
          <p:cNvSpPr txBox="1"/>
          <p:nvPr/>
        </p:nvSpPr>
        <p:spPr>
          <a:xfrm>
            <a:off x="548640" y="5760720"/>
            <a:ext cx="11094415" cy="32004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Rule: </a:t>
            </a:r>
            <a:pPr indent="0" marL="0">
              <a:buNone/>
            </a:pPr>
            <a:r>
              <a:rPr lang="en-US" sz="1350" dirty="0">
                <a:solidFill>
                  <a:srgbClr val="B9C2D8"/>
                </a:solidFill>
                <a:latin typeface="Calibri" pitchFamily="34" charset="0"/>
                <a:ea typeface="Calibri" pitchFamily="34" charset="-122"/>
                <a:cs typeface="Calibri" pitchFamily="34" charset="-120"/>
              </a:rPr>
              <a:t>pick the lowest-cost mix that clears every accuracy gate: ≥80% of predefined trigger events, totals within ±10%, under 15% unconfirmed.</a:t>
            </a:r>
            <a:endParaRPr lang="en-US" sz="1350" dirty="0"/>
          </a:p>
        </p:txBody>
      </p:sp>
      <p:sp>
        <p:nvSpPr>
          <p:cNvPr id="57" name="takeaway"/>
          <p:cNvSpPr txBox="1"/>
          <p:nvPr/>
        </p:nvSpPr>
        <p:spPr>
          <a:xfrm>
            <a:off x="548640" y="6108192"/>
            <a:ext cx="11094415" cy="457200"/>
          </a:xfrm>
          <a:prstGeom prst="rect">
            <a:avLst/>
          </a:prstGeom>
          <a:noFill/>
          <a:ln/>
        </p:spPr>
        <p:txBody>
          <a:bodyPr wrap="square" lIns="0" tIns="0" rIns="0" bIns="0" rtlCol="0" anchor="t"/>
          <a:lstStyle/>
          <a:p>
            <a:pPr indent="0" marL="0">
              <a:buNone/>
            </a:pPr>
            <a:r>
              <a:rPr lang="en-US" sz="1800" b="1" i="1" dirty="0">
                <a:solidFill>
                  <a:srgbClr val="F5A623"/>
                </a:solidFill>
                <a:latin typeface="Cambria" pitchFamily="34" charset="0"/>
                <a:ea typeface="Cambria" pitchFamily="34" charset="-122"/>
                <a:cs typeface="Cambria" pitchFamily="34" charset="-120"/>
              </a:rPr>
              <a:t>The pilot ends with a cost-versus-accuracy answer: exactly what to scale.</a:t>
            </a:r>
            <a:endParaRPr lang="en-US" sz="18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242"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00"/>
                                        <p:tgtEl>
                                          <p:spTgt spid="4"/>
                                        </p:tgtEl>
                                      </p:cBhvr>
                                    </p:animEffect>
                                  </p:childTnLst>
                                </p:cTn>
                              </p:par>
                              <p:par>
                                <p:cTn id="7" presetID="42" presetClass="entr" presetSubtype="0" fill="hold" grpId="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650"/>
                                        <p:tgtEl>
                                          <p:spTgt spid="5"/>
                                        </p:tgtEl>
                                      </p:cBhvr>
                                    </p:animEffect>
                                    <p:anim calcmode="lin" valueType="num">
                                      <p:cBhvr>
                                        <p:cTn id="10" dur="650" fill="hold"/>
                                        <p:tgtEl>
                                          <p:spTgt spid="5"/>
                                        </p:tgtEl>
                                        <p:attrNameLst>
                                          <p:attrName>ppt_x</p:attrName>
                                        </p:attrNameLst>
                                      </p:cBhvr>
                                      <p:tavLst>
                                        <p:tav tm="0">
                                          <p:val>
                                            <p:strVal val="#ppt_x"/>
                                          </p:val>
                                        </p:tav>
                                        <p:tav tm="100000">
                                          <p:val>
                                            <p:strVal val="#ppt_x"/>
                                          </p:val>
                                        </p:tav>
                                      </p:tavLst>
                                    </p:anim>
                                    <p:anim calcmode="lin" valueType="num">
                                      <p:cBhvr>
                                        <p:cTn id="11" dur="65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750"/>
                            </p:stCondLst>
                            <p:childTnLst>
                              <p:par>
                                <p:cTn id="13" presetID="10" presetClass="entr" presetSubtype="0" fill="hold" grpId="0" nodeType="afterEffect">
                                  <p:stCondLst>
                                    <p:cond delay="5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00"/>
                                        <p:tgtEl>
                                          <p:spTgt spid="7"/>
                                        </p:tgtEl>
                                      </p:cBhvr>
                                    </p:animEffect>
                                  </p:childTnLst>
                                </p:cTn>
                              </p:par>
                            </p:childTnLst>
                          </p:cTn>
                        </p:par>
                        <p:par>
                          <p:cTn id="19" fill="hold">
                            <p:stCondLst>
                              <p:cond delay="1200"/>
                            </p:stCondLst>
                            <p:childTnLst>
                              <p:par>
                                <p:cTn id="20" presetID="42" presetClass="entr" presetSubtype="0" fill="hold" grpId="0" nodeType="afterEffect">
                                  <p:stCondLst>
                                    <p:cond delay="2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80"/>
                                        <p:tgtEl>
                                          <p:spTgt spid="8"/>
                                        </p:tgtEl>
                                      </p:cBhvr>
                                    </p:animEffect>
                                    <p:anim calcmode="lin" valueType="num">
                                      <p:cBhvr>
                                        <p:cTn id="23" dur="280" fill="hold"/>
                                        <p:tgtEl>
                                          <p:spTgt spid="8"/>
                                        </p:tgtEl>
                                        <p:attrNameLst>
                                          <p:attrName>ppt_x</p:attrName>
                                        </p:attrNameLst>
                                      </p:cBhvr>
                                      <p:tavLst>
                                        <p:tav tm="0">
                                          <p:val>
                                            <p:strVal val="#ppt_x"/>
                                          </p:val>
                                        </p:tav>
                                        <p:tav tm="100000">
                                          <p:val>
                                            <p:strVal val="#ppt_x"/>
                                          </p:val>
                                        </p:tav>
                                      </p:tavLst>
                                    </p:anim>
                                    <p:anim calcmode="lin" valueType="num">
                                      <p:cBhvr>
                                        <p:cTn id="24" dur="280" fill="hold"/>
                                        <p:tgtEl>
                                          <p:spTgt spid="8"/>
                                        </p:tgtEl>
                                        <p:attrNameLst>
                                          <p:attrName>ppt_y</p:attrName>
                                        </p:attrNameLst>
                                      </p:cBhvr>
                                      <p:tavLst>
                                        <p:tav tm="0">
                                          <p:val>
                                            <p:strVal val="#ppt_y+.06"/>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280"/>
                                        <p:tgtEl>
                                          <p:spTgt spid="9"/>
                                        </p:tgtEl>
                                      </p:cBhvr>
                                    </p:animEffect>
                                    <p:anim calcmode="lin" valueType="num">
                                      <p:cBhvr>
                                        <p:cTn id="28" dur="280" fill="hold"/>
                                        <p:tgtEl>
                                          <p:spTgt spid="9"/>
                                        </p:tgtEl>
                                        <p:attrNameLst>
                                          <p:attrName>ppt_x</p:attrName>
                                        </p:attrNameLst>
                                      </p:cBhvr>
                                      <p:tavLst>
                                        <p:tav tm="0">
                                          <p:val>
                                            <p:strVal val="#ppt_x"/>
                                          </p:val>
                                        </p:tav>
                                        <p:tav tm="100000">
                                          <p:val>
                                            <p:strVal val="#ppt_x"/>
                                          </p:val>
                                        </p:tav>
                                      </p:tavLst>
                                    </p:anim>
                                    <p:anim calcmode="lin" valueType="num">
                                      <p:cBhvr>
                                        <p:cTn id="29" dur="280" fill="hold"/>
                                        <p:tgtEl>
                                          <p:spTgt spid="9"/>
                                        </p:tgtEl>
                                        <p:attrNameLst>
                                          <p:attrName>ppt_y</p:attrName>
                                        </p:attrNameLst>
                                      </p:cBhvr>
                                      <p:tavLst>
                                        <p:tav tm="0">
                                          <p:val>
                                            <p:strVal val="#ppt_y+.06"/>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280"/>
                                        <p:tgtEl>
                                          <p:spTgt spid="10"/>
                                        </p:tgtEl>
                                      </p:cBhvr>
                                    </p:animEffect>
                                    <p:anim calcmode="lin" valueType="num">
                                      <p:cBhvr>
                                        <p:cTn id="33" dur="280" fill="hold"/>
                                        <p:tgtEl>
                                          <p:spTgt spid="10"/>
                                        </p:tgtEl>
                                        <p:attrNameLst>
                                          <p:attrName>ppt_x</p:attrName>
                                        </p:attrNameLst>
                                      </p:cBhvr>
                                      <p:tavLst>
                                        <p:tav tm="0">
                                          <p:val>
                                            <p:strVal val="#ppt_x"/>
                                          </p:val>
                                        </p:tav>
                                        <p:tav tm="100000">
                                          <p:val>
                                            <p:strVal val="#ppt_x"/>
                                          </p:val>
                                        </p:tav>
                                      </p:tavLst>
                                    </p:anim>
                                    <p:anim calcmode="lin" valueType="num">
                                      <p:cBhvr>
                                        <p:cTn id="34" dur="280" fill="hold"/>
                                        <p:tgtEl>
                                          <p:spTgt spid="10"/>
                                        </p:tgtEl>
                                        <p:attrNameLst>
                                          <p:attrName>ppt_y</p:attrName>
                                        </p:attrNameLst>
                                      </p:cBhvr>
                                      <p:tavLst>
                                        <p:tav tm="0">
                                          <p:val>
                                            <p:strVal val="#ppt_y+.06"/>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280"/>
                                        <p:tgtEl>
                                          <p:spTgt spid="11"/>
                                        </p:tgtEl>
                                      </p:cBhvr>
                                    </p:animEffect>
                                    <p:anim calcmode="lin" valueType="num">
                                      <p:cBhvr>
                                        <p:cTn id="38" dur="280" fill="hold"/>
                                        <p:tgtEl>
                                          <p:spTgt spid="11"/>
                                        </p:tgtEl>
                                        <p:attrNameLst>
                                          <p:attrName>ppt_x</p:attrName>
                                        </p:attrNameLst>
                                      </p:cBhvr>
                                      <p:tavLst>
                                        <p:tav tm="0">
                                          <p:val>
                                            <p:strVal val="#ppt_x"/>
                                          </p:val>
                                        </p:tav>
                                        <p:tav tm="100000">
                                          <p:val>
                                            <p:strVal val="#ppt_x"/>
                                          </p:val>
                                        </p:tav>
                                      </p:tavLst>
                                    </p:anim>
                                    <p:anim calcmode="lin" valueType="num">
                                      <p:cBhvr>
                                        <p:cTn id="39" dur="280" fill="hold"/>
                                        <p:tgtEl>
                                          <p:spTgt spid="11"/>
                                        </p:tgtEl>
                                        <p:attrNameLst>
                                          <p:attrName>ppt_y</p:attrName>
                                        </p:attrNameLst>
                                      </p:cBhvr>
                                      <p:tavLst>
                                        <p:tav tm="0">
                                          <p:val>
                                            <p:strVal val="#ppt_y+.06"/>
                                          </p:val>
                                        </p:tav>
                                        <p:tav tm="100000">
                                          <p:val>
                                            <p:strVal val="#ppt_y"/>
                                          </p:val>
                                        </p:tav>
                                      </p:tavLst>
                                    </p:anim>
                                  </p:childTnLst>
                                </p:cTn>
                              </p:par>
                            </p:childTnLst>
                          </p:cTn>
                        </p:par>
                        <p:par>
                          <p:cTn id="40" fill="hold">
                            <p:stCondLst>
                              <p:cond delay="1500"/>
                            </p:stCondLst>
                            <p:childTnLst>
                              <p:par>
                                <p:cTn id="41" presetID="42" presetClass="entr" presetSubtype="0" fill="hold" grpId="0" nodeType="afterEffect">
                                  <p:stCondLst>
                                    <p:cond delay="2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280"/>
                                        <p:tgtEl>
                                          <p:spTgt spid="12"/>
                                        </p:tgtEl>
                                      </p:cBhvr>
                                    </p:animEffect>
                                    <p:anim calcmode="lin" valueType="num">
                                      <p:cBhvr>
                                        <p:cTn id="44" dur="280" fill="hold"/>
                                        <p:tgtEl>
                                          <p:spTgt spid="12"/>
                                        </p:tgtEl>
                                        <p:attrNameLst>
                                          <p:attrName>ppt_x</p:attrName>
                                        </p:attrNameLst>
                                      </p:cBhvr>
                                      <p:tavLst>
                                        <p:tav tm="0">
                                          <p:val>
                                            <p:strVal val="#ppt_x"/>
                                          </p:val>
                                        </p:tav>
                                        <p:tav tm="100000">
                                          <p:val>
                                            <p:strVal val="#ppt_x"/>
                                          </p:val>
                                        </p:tav>
                                      </p:tavLst>
                                    </p:anim>
                                    <p:anim calcmode="lin" valueType="num">
                                      <p:cBhvr>
                                        <p:cTn id="45" dur="280" fill="hold"/>
                                        <p:tgtEl>
                                          <p:spTgt spid="12"/>
                                        </p:tgtEl>
                                        <p:attrNameLst>
                                          <p:attrName>ppt_y</p:attrName>
                                        </p:attrNameLst>
                                      </p:cBhvr>
                                      <p:tavLst>
                                        <p:tav tm="0">
                                          <p:val>
                                            <p:strVal val="#ppt_y+.06"/>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280"/>
                                        <p:tgtEl>
                                          <p:spTgt spid="13"/>
                                        </p:tgtEl>
                                      </p:cBhvr>
                                    </p:animEffect>
                                    <p:anim calcmode="lin" valueType="num">
                                      <p:cBhvr>
                                        <p:cTn id="49" dur="280" fill="hold"/>
                                        <p:tgtEl>
                                          <p:spTgt spid="13"/>
                                        </p:tgtEl>
                                        <p:attrNameLst>
                                          <p:attrName>ppt_x</p:attrName>
                                        </p:attrNameLst>
                                      </p:cBhvr>
                                      <p:tavLst>
                                        <p:tav tm="0">
                                          <p:val>
                                            <p:strVal val="#ppt_x"/>
                                          </p:val>
                                        </p:tav>
                                        <p:tav tm="100000">
                                          <p:val>
                                            <p:strVal val="#ppt_x"/>
                                          </p:val>
                                        </p:tav>
                                      </p:tavLst>
                                    </p:anim>
                                    <p:anim calcmode="lin" valueType="num">
                                      <p:cBhvr>
                                        <p:cTn id="50" dur="280" fill="hold"/>
                                        <p:tgtEl>
                                          <p:spTgt spid="13"/>
                                        </p:tgtEl>
                                        <p:attrNameLst>
                                          <p:attrName>ppt_y</p:attrName>
                                        </p:attrNameLst>
                                      </p:cBhvr>
                                      <p:tavLst>
                                        <p:tav tm="0">
                                          <p:val>
                                            <p:strVal val="#ppt_y+.06"/>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280"/>
                                        <p:tgtEl>
                                          <p:spTgt spid="14"/>
                                        </p:tgtEl>
                                      </p:cBhvr>
                                    </p:animEffect>
                                    <p:anim calcmode="lin" valueType="num">
                                      <p:cBhvr>
                                        <p:cTn id="54" dur="280" fill="hold"/>
                                        <p:tgtEl>
                                          <p:spTgt spid="14"/>
                                        </p:tgtEl>
                                        <p:attrNameLst>
                                          <p:attrName>ppt_x</p:attrName>
                                        </p:attrNameLst>
                                      </p:cBhvr>
                                      <p:tavLst>
                                        <p:tav tm="0">
                                          <p:val>
                                            <p:strVal val="#ppt_x"/>
                                          </p:val>
                                        </p:tav>
                                        <p:tav tm="100000">
                                          <p:val>
                                            <p:strVal val="#ppt_x"/>
                                          </p:val>
                                        </p:tav>
                                      </p:tavLst>
                                    </p:anim>
                                    <p:anim calcmode="lin" valueType="num">
                                      <p:cBhvr>
                                        <p:cTn id="55" dur="280" fill="hold"/>
                                        <p:tgtEl>
                                          <p:spTgt spid="14"/>
                                        </p:tgtEl>
                                        <p:attrNameLst>
                                          <p:attrName>ppt_y</p:attrName>
                                        </p:attrNameLst>
                                      </p:cBhvr>
                                      <p:tavLst>
                                        <p:tav tm="0">
                                          <p:val>
                                            <p:strVal val="#ppt_y+.06"/>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280"/>
                                        <p:tgtEl>
                                          <p:spTgt spid="15"/>
                                        </p:tgtEl>
                                      </p:cBhvr>
                                    </p:animEffect>
                                    <p:anim calcmode="lin" valueType="num">
                                      <p:cBhvr>
                                        <p:cTn id="59" dur="280" fill="hold"/>
                                        <p:tgtEl>
                                          <p:spTgt spid="15"/>
                                        </p:tgtEl>
                                        <p:attrNameLst>
                                          <p:attrName>ppt_x</p:attrName>
                                        </p:attrNameLst>
                                      </p:cBhvr>
                                      <p:tavLst>
                                        <p:tav tm="0">
                                          <p:val>
                                            <p:strVal val="#ppt_x"/>
                                          </p:val>
                                        </p:tav>
                                        <p:tav tm="100000">
                                          <p:val>
                                            <p:strVal val="#ppt_x"/>
                                          </p:val>
                                        </p:tav>
                                      </p:tavLst>
                                    </p:anim>
                                    <p:anim calcmode="lin" valueType="num">
                                      <p:cBhvr>
                                        <p:cTn id="60" dur="280" fill="hold"/>
                                        <p:tgtEl>
                                          <p:spTgt spid="15"/>
                                        </p:tgtEl>
                                        <p:attrNameLst>
                                          <p:attrName>ppt_y</p:attrName>
                                        </p:attrNameLst>
                                      </p:cBhvr>
                                      <p:tavLst>
                                        <p:tav tm="0">
                                          <p:val>
                                            <p:strVal val="#ppt_y+.06"/>
                                          </p:val>
                                        </p:tav>
                                        <p:tav tm="100000">
                                          <p:val>
                                            <p:strVal val="#ppt_y"/>
                                          </p:val>
                                        </p:tav>
                                      </p:tavLst>
                                    </p:anim>
                                  </p:childTnLst>
                                </p:cTn>
                              </p:par>
                            </p:childTnLst>
                          </p:cTn>
                        </p:par>
                        <p:par>
                          <p:cTn id="61" fill="hold">
                            <p:stCondLst>
                              <p:cond delay="1800"/>
                            </p:stCondLst>
                            <p:childTnLst>
                              <p:par>
                                <p:cTn id="62" presetID="42" presetClass="entr" presetSubtype="0" fill="hold" grpId="0" nodeType="afterEffect">
                                  <p:stCondLst>
                                    <p:cond delay="20"/>
                                  </p:stCondLst>
                                  <p:childTnLst>
                                    <p:set>
                                      <p:cBhvr>
                                        <p:cTn id="63" dur="1" fill="hold">
                                          <p:stCondLst>
                                            <p:cond delay="0"/>
                                          </p:stCondLst>
                                        </p:cTn>
                                        <p:tgtEl>
                                          <p:spTgt spid="16"/>
                                        </p:tgtEl>
                                        <p:attrNameLst>
                                          <p:attrName>style.visibility</p:attrName>
                                        </p:attrNameLst>
                                      </p:cBhvr>
                                      <p:to>
                                        <p:strVal val="visible"/>
                                      </p:to>
                                    </p:set>
                                    <p:animEffect transition="in" filter="fade">
                                      <p:cBhvr>
                                        <p:cTn id="64" dur="280"/>
                                        <p:tgtEl>
                                          <p:spTgt spid="16"/>
                                        </p:tgtEl>
                                      </p:cBhvr>
                                    </p:animEffect>
                                    <p:anim calcmode="lin" valueType="num">
                                      <p:cBhvr>
                                        <p:cTn id="65" dur="280" fill="hold"/>
                                        <p:tgtEl>
                                          <p:spTgt spid="16"/>
                                        </p:tgtEl>
                                        <p:attrNameLst>
                                          <p:attrName>ppt_x</p:attrName>
                                        </p:attrNameLst>
                                      </p:cBhvr>
                                      <p:tavLst>
                                        <p:tav tm="0">
                                          <p:val>
                                            <p:strVal val="#ppt_x"/>
                                          </p:val>
                                        </p:tav>
                                        <p:tav tm="100000">
                                          <p:val>
                                            <p:strVal val="#ppt_x"/>
                                          </p:val>
                                        </p:tav>
                                      </p:tavLst>
                                    </p:anim>
                                    <p:anim calcmode="lin" valueType="num">
                                      <p:cBhvr>
                                        <p:cTn id="66" dur="280" fill="hold"/>
                                        <p:tgtEl>
                                          <p:spTgt spid="16"/>
                                        </p:tgtEl>
                                        <p:attrNameLst>
                                          <p:attrName>ppt_y</p:attrName>
                                        </p:attrNameLst>
                                      </p:cBhvr>
                                      <p:tavLst>
                                        <p:tav tm="0">
                                          <p:val>
                                            <p:strVal val="#ppt_y+.06"/>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17"/>
                                        </p:tgtEl>
                                        <p:attrNameLst>
                                          <p:attrName>style.visibility</p:attrName>
                                        </p:attrNameLst>
                                      </p:cBhvr>
                                      <p:to>
                                        <p:strVal val="visible"/>
                                      </p:to>
                                    </p:set>
                                    <p:animEffect transition="in" filter="fade">
                                      <p:cBhvr>
                                        <p:cTn id="69" dur="280"/>
                                        <p:tgtEl>
                                          <p:spTgt spid="17"/>
                                        </p:tgtEl>
                                      </p:cBhvr>
                                    </p:animEffect>
                                    <p:anim calcmode="lin" valueType="num">
                                      <p:cBhvr>
                                        <p:cTn id="70" dur="280" fill="hold"/>
                                        <p:tgtEl>
                                          <p:spTgt spid="17"/>
                                        </p:tgtEl>
                                        <p:attrNameLst>
                                          <p:attrName>ppt_x</p:attrName>
                                        </p:attrNameLst>
                                      </p:cBhvr>
                                      <p:tavLst>
                                        <p:tav tm="0">
                                          <p:val>
                                            <p:strVal val="#ppt_x"/>
                                          </p:val>
                                        </p:tav>
                                        <p:tav tm="100000">
                                          <p:val>
                                            <p:strVal val="#ppt_x"/>
                                          </p:val>
                                        </p:tav>
                                      </p:tavLst>
                                    </p:anim>
                                    <p:anim calcmode="lin" valueType="num">
                                      <p:cBhvr>
                                        <p:cTn id="71" dur="280" fill="hold"/>
                                        <p:tgtEl>
                                          <p:spTgt spid="17"/>
                                        </p:tgtEl>
                                        <p:attrNameLst>
                                          <p:attrName>ppt_y</p:attrName>
                                        </p:attrNameLst>
                                      </p:cBhvr>
                                      <p:tavLst>
                                        <p:tav tm="0">
                                          <p:val>
                                            <p:strVal val="#ppt_y+.06"/>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18"/>
                                        </p:tgtEl>
                                        <p:attrNameLst>
                                          <p:attrName>style.visibility</p:attrName>
                                        </p:attrNameLst>
                                      </p:cBhvr>
                                      <p:to>
                                        <p:strVal val="visible"/>
                                      </p:to>
                                    </p:set>
                                    <p:animEffect transition="in" filter="fade">
                                      <p:cBhvr>
                                        <p:cTn id="74" dur="280"/>
                                        <p:tgtEl>
                                          <p:spTgt spid="18"/>
                                        </p:tgtEl>
                                      </p:cBhvr>
                                    </p:animEffect>
                                    <p:anim calcmode="lin" valueType="num">
                                      <p:cBhvr>
                                        <p:cTn id="75" dur="280" fill="hold"/>
                                        <p:tgtEl>
                                          <p:spTgt spid="18"/>
                                        </p:tgtEl>
                                        <p:attrNameLst>
                                          <p:attrName>ppt_x</p:attrName>
                                        </p:attrNameLst>
                                      </p:cBhvr>
                                      <p:tavLst>
                                        <p:tav tm="0">
                                          <p:val>
                                            <p:strVal val="#ppt_x"/>
                                          </p:val>
                                        </p:tav>
                                        <p:tav tm="100000">
                                          <p:val>
                                            <p:strVal val="#ppt_x"/>
                                          </p:val>
                                        </p:tav>
                                      </p:tavLst>
                                    </p:anim>
                                    <p:anim calcmode="lin" valueType="num">
                                      <p:cBhvr>
                                        <p:cTn id="76" dur="280" fill="hold"/>
                                        <p:tgtEl>
                                          <p:spTgt spid="18"/>
                                        </p:tgtEl>
                                        <p:attrNameLst>
                                          <p:attrName>ppt_y</p:attrName>
                                        </p:attrNameLst>
                                      </p:cBhvr>
                                      <p:tavLst>
                                        <p:tav tm="0">
                                          <p:val>
                                            <p:strVal val="#ppt_y+.06"/>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19"/>
                                        </p:tgtEl>
                                        <p:attrNameLst>
                                          <p:attrName>style.visibility</p:attrName>
                                        </p:attrNameLst>
                                      </p:cBhvr>
                                      <p:to>
                                        <p:strVal val="visible"/>
                                      </p:to>
                                    </p:set>
                                    <p:animEffect transition="in" filter="fade">
                                      <p:cBhvr>
                                        <p:cTn id="79" dur="280"/>
                                        <p:tgtEl>
                                          <p:spTgt spid="19"/>
                                        </p:tgtEl>
                                      </p:cBhvr>
                                    </p:animEffect>
                                    <p:anim calcmode="lin" valueType="num">
                                      <p:cBhvr>
                                        <p:cTn id="80" dur="280" fill="hold"/>
                                        <p:tgtEl>
                                          <p:spTgt spid="19"/>
                                        </p:tgtEl>
                                        <p:attrNameLst>
                                          <p:attrName>ppt_x</p:attrName>
                                        </p:attrNameLst>
                                      </p:cBhvr>
                                      <p:tavLst>
                                        <p:tav tm="0">
                                          <p:val>
                                            <p:strVal val="#ppt_x"/>
                                          </p:val>
                                        </p:tav>
                                        <p:tav tm="100000">
                                          <p:val>
                                            <p:strVal val="#ppt_x"/>
                                          </p:val>
                                        </p:tav>
                                      </p:tavLst>
                                    </p:anim>
                                    <p:anim calcmode="lin" valueType="num">
                                      <p:cBhvr>
                                        <p:cTn id="81" dur="280" fill="hold"/>
                                        <p:tgtEl>
                                          <p:spTgt spid="19"/>
                                        </p:tgtEl>
                                        <p:attrNameLst>
                                          <p:attrName>ppt_y</p:attrName>
                                        </p:attrNameLst>
                                      </p:cBhvr>
                                      <p:tavLst>
                                        <p:tav tm="0">
                                          <p:val>
                                            <p:strVal val="#ppt_y+.06"/>
                                          </p:val>
                                        </p:tav>
                                        <p:tav tm="100000">
                                          <p:val>
                                            <p:strVal val="#ppt_y"/>
                                          </p:val>
                                        </p:tav>
                                      </p:tavLst>
                                    </p:anim>
                                  </p:childTnLst>
                                </p:cTn>
                              </p:par>
                            </p:childTnLst>
                          </p:cTn>
                        </p:par>
                        <p:par>
                          <p:cTn id="82" fill="hold">
                            <p:stCondLst>
                              <p:cond delay="2100"/>
                            </p:stCondLst>
                            <p:childTnLst>
                              <p:par>
                                <p:cTn id="83" presetID="42" presetClass="entr" presetSubtype="0" fill="hold" grpId="0" nodeType="afterEffect">
                                  <p:stCondLst>
                                    <p:cond delay="20"/>
                                  </p:stCondLst>
                                  <p:childTnLst>
                                    <p:set>
                                      <p:cBhvr>
                                        <p:cTn id="84" dur="1" fill="hold">
                                          <p:stCondLst>
                                            <p:cond delay="0"/>
                                          </p:stCondLst>
                                        </p:cTn>
                                        <p:tgtEl>
                                          <p:spTgt spid="20"/>
                                        </p:tgtEl>
                                        <p:attrNameLst>
                                          <p:attrName>style.visibility</p:attrName>
                                        </p:attrNameLst>
                                      </p:cBhvr>
                                      <p:to>
                                        <p:strVal val="visible"/>
                                      </p:to>
                                    </p:set>
                                    <p:animEffect transition="in" filter="fade">
                                      <p:cBhvr>
                                        <p:cTn id="85" dur="280"/>
                                        <p:tgtEl>
                                          <p:spTgt spid="20"/>
                                        </p:tgtEl>
                                      </p:cBhvr>
                                    </p:animEffect>
                                    <p:anim calcmode="lin" valueType="num">
                                      <p:cBhvr>
                                        <p:cTn id="86" dur="280" fill="hold"/>
                                        <p:tgtEl>
                                          <p:spTgt spid="20"/>
                                        </p:tgtEl>
                                        <p:attrNameLst>
                                          <p:attrName>ppt_x</p:attrName>
                                        </p:attrNameLst>
                                      </p:cBhvr>
                                      <p:tavLst>
                                        <p:tav tm="0">
                                          <p:val>
                                            <p:strVal val="#ppt_x"/>
                                          </p:val>
                                        </p:tav>
                                        <p:tav tm="100000">
                                          <p:val>
                                            <p:strVal val="#ppt_x"/>
                                          </p:val>
                                        </p:tav>
                                      </p:tavLst>
                                    </p:anim>
                                    <p:anim calcmode="lin" valueType="num">
                                      <p:cBhvr>
                                        <p:cTn id="87" dur="280" fill="hold"/>
                                        <p:tgtEl>
                                          <p:spTgt spid="20"/>
                                        </p:tgtEl>
                                        <p:attrNameLst>
                                          <p:attrName>ppt_y</p:attrName>
                                        </p:attrNameLst>
                                      </p:cBhvr>
                                      <p:tavLst>
                                        <p:tav tm="0">
                                          <p:val>
                                            <p:strVal val="#ppt_y+.06"/>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21"/>
                                        </p:tgtEl>
                                        <p:attrNameLst>
                                          <p:attrName>style.visibility</p:attrName>
                                        </p:attrNameLst>
                                      </p:cBhvr>
                                      <p:to>
                                        <p:strVal val="visible"/>
                                      </p:to>
                                    </p:set>
                                    <p:animEffect transition="in" filter="fade">
                                      <p:cBhvr>
                                        <p:cTn id="90" dur="280"/>
                                        <p:tgtEl>
                                          <p:spTgt spid="21"/>
                                        </p:tgtEl>
                                      </p:cBhvr>
                                    </p:animEffect>
                                    <p:anim calcmode="lin" valueType="num">
                                      <p:cBhvr>
                                        <p:cTn id="91" dur="280" fill="hold"/>
                                        <p:tgtEl>
                                          <p:spTgt spid="21"/>
                                        </p:tgtEl>
                                        <p:attrNameLst>
                                          <p:attrName>ppt_x</p:attrName>
                                        </p:attrNameLst>
                                      </p:cBhvr>
                                      <p:tavLst>
                                        <p:tav tm="0">
                                          <p:val>
                                            <p:strVal val="#ppt_x"/>
                                          </p:val>
                                        </p:tav>
                                        <p:tav tm="100000">
                                          <p:val>
                                            <p:strVal val="#ppt_x"/>
                                          </p:val>
                                        </p:tav>
                                      </p:tavLst>
                                    </p:anim>
                                    <p:anim calcmode="lin" valueType="num">
                                      <p:cBhvr>
                                        <p:cTn id="92" dur="280" fill="hold"/>
                                        <p:tgtEl>
                                          <p:spTgt spid="21"/>
                                        </p:tgtEl>
                                        <p:attrNameLst>
                                          <p:attrName>ppt_y</p:attrName>
                                        </p:attrNameLst>
                                      </p:cBhvr>
                                      <p:tavLst>
                                        <p:tav tm="0">
                                          <p:val>
                                            <p:strVal val="#ppt_y+.06"/>
                                          </p:val>
                                        </p:tav>
                                        <p:tav tm="100000">
                                          <p:val>
                                            <p:strVal val="#ppt_y"/>
                                          </p:val>
                                        </p:tav>
                                      </p:tavLst>
                                    </p:anim>
                                  </p:childTnLst>
                                </p:cTn>
                              </p:par>
                              <p:par>
                                <p:cTn id="93" presetID="42" presetClass="entr" presetSubtype="0" fill="hold" grpId="0" nodeType="withEffect">
                                  <p:stCondLst>
                                    <p:cond delay="0"/>
                                  </p:stCondLst>
                                  <p:childTnLst>
                                    <p:set>
                                      <p:cBhvr>
                                        <p:cTn id="94" dur="1" fill="hold">
                                          <p:stCondLst>
                                            <p:cond delay="0"/>
                                          </p:stCondLst>
                                        </p:cTn>
                                        <p:tgtEl>
                                          <p:spTgt spid="22"/>
                                        </p:tgtEl>
                                        <p:attrNameLst>
                                          <p:attrName>style.visibility</p:attrName>
                                        </p:attrNameLst>
                                      </p:cBhvr>
                                      <p:to>
                                        <p:strVal val="visible"/>
                                      </p:to>
                                    </p:set>
                                    <p:animEffect transition="in" filter="fade">
                                      <p:cBhvr>
                                        <p:cTn id="95" dur="280"/>
                                        <p:tgtEl>
                                          <p:spTgt spid="22"/>
                                        </p:tgtEl>
                                      </p:cBhvr>
                                    </p:animEffect>
                                    <p:anim calcmode="lin" valueType="num">
                                      <p:cBhvr>
                                        <p:cTn id="96" dur="280" fill="hold"/>
                                        <p:tgtEl>
                                          <p:spTgt spid="22"/>
                                        </p:tgtEl>
                                        <p:attrNameLst>
                                          <p:attrName>ppt_x</p:attrName>
                                        </p:attrNameLst>
                                      </p:cBhvr>
                                      <p:tavLst>
                                        <p:tav tm="0">
                                          <p:val>
                                            <p:strVal val="#ppt_x"/>
                                          </p:val>
                                        </p:tav>
                                        <p:tav tm="100000">
                                          <p:val>
                                            <p:strVal val="#ppt_x"/>
                                          </p:val>
                                        </p:tav>
                                      </p:tavLst>
                                    </p:anim>
                                    <p:anim calcmode="lin" valueType="num">
                                      <p:cBhvr>
                                        <p:cTn id="97" dur="280" fill="hold"/>
                                        <p:tgtEl>
                                          <p:spTgt spid="22"/>
                                        </p:tgtEl>
                                        <p:attrNameLst>
                                          <p:attrName>ppt_y</p:attrName>
                                        </p:attrNameLst>
                                      </p:cBhvr>
                                      <p:tavLst>
                                        <p:tav tm="0">
                                          <p:val>
                                            <p:strVal val="#ppt_y+.06"/>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23"/>
                                        </p:tgtEl>
                                        <p:attrNameLst>
                                          <p:attrName>style.visibility</p:attrName>
                                        </p:attrNameLst>
                                      </p:cBhvr>
                                      <p:to>
                                        <p:strVal val="visible"/>
                                      </p:to>
                                    </p:set>
                                    <p:animEffect transition="in" filter="fade">
                                      <p:cBhvr>
                                        <p:cTn id="100" dur="280"/>
                                        <p:tgtEl>
                                          <p:spTgt spid="23"/>
                                        </p:tgtEl>
                                      </p:cBhvr>
                                    </p:animEffect>
                                    <p:anim calcmode="lin" valueType="num">
                                      <p:cBhvr>
                                        <p:cTn id="101" dur="280" fill="hold"/>
                                        <p:tgtEl>
                                          <p:spTgt spid="23"/>
                                        </p:tgtEl>
                                        <p:attrNameLst>
                                          <p:attrName>ppt_x</p:attrName>
                                        </p:attrNameLst>
                                      </p:cBhvr>
                                      <p:tavLst>
                                        <p:tav tm="0">
                                          <p:val>
                                            <p:strVal val="#ppt_x"/>
                                          </p:val>
                                        </p:tav>
                                        <p:tav tm="100000">
                                          <p:val>
                                            <p:strVal val="#ppt_x"/>
                                          </p:val>
                                        </p:tav>
                                      </p:tavLst>
                                    </p:anim>
                                    <p:anim calcmode="lin" valueType="num">
                                      <p:cBhvr>
                                        <p:cTn id="102" dur="280" fill="hold"/>
                                        <p:tgtEl>
                                          <p:spTgt spid="23"/>
                                        </p:tgtEl>
                                        <p:attrNameLst>
                                          <p:attrName>ppt_y</p:attrName>
                                        </p:attrNameLst>
                                      </p:cBhvr>
                                      <p:tavLst>
                                        <p:tav tm="0">
                                          <p:val>
                                            <p:strVal val="#ppt_y+.06"/>
                                          </p:val>
                                        </p:tav>
                                        <p:tav tm="100000">
                                          <p:val>
                                            <p:strVal val="#ppt_y"/>
                                          </p:val>
                                        </p:tav>
                                      </p:tavLst>
                                    </p:anim>
                                  </p:childTnLst>
                                </p:cTn>
                              </p:par>
                            </p:childTnLst>
                          </p:cTn>
                        </p:par>
                        <p:par>
                          <p:cTn id="103" fill="hold">
                            <p:stCondLst>
                              <p:cond delay="2400"/>
                            </p:stCondLst>
                            <p:childTnLst>
                              <p:par>
                                <p:cTn id="104" presetID="42" presetClass="entr" presetSubtype="0" fill="hold" grpId="0" nodeType="afterEffect">
                                  <p:stCondLst>
                                    <p:cond delay="20"/>
                                  </p:stCondLst>
                                  <p:childTnLst>
                                    <p:set>
                                      <p:cBhvr>
                                        <p:cTn id="105" dur="1" fill="hold">
                                          <p:stCondLst>
                                            <p:cond delay="0"/>
                                          </p:stCondLst>
                                        </p:cTn>
                                        <p:tgtEl>
                                          <p:spTgt spid="24"/>
                                        </p:tgtEl>
                                        <p:attrNameLst>
                                          <p:attrName>style.visibility</p:attrName>
                                        </p:attrNameLst>
                                      </p:cBhvr>
                                      <p:to>
                                        <p:strVal val="visible"/>
                                      </p:to>
                                    </p:set>
                                    <p:animEffect transition="in" filter="fade">
                                      <p:cBhvr>
                                        <p:cTn id="106" dur="280"/>
                                        <p:tgtEl>
                                          <p:spTgt spid="24"/>
                                        </p:tgtEl>
                                      </p:cBhvr>
                                    </p:animEffect>
                                    <p:anim calcmode="lin" valueType="num">
                                      <p:cBhvr>
                                        <p:cTn id="107" dur="280" fill="hold"/>
                                        <p:tgtEl>
                                          <p:spTgt spid="24"/>
                                        </p:tgtEl>
                                        <p:attrNameLst>
                                          <p:attrName>ppt_x</p:attrName>
                                        </p:attrNameLst>
                                      </p:cBhvr>
                                      <p:tavLst>
                                        <p:tav tm="0">
                                          <p:val>
                                            <p:strVal val="#ppt_x"/>
                                          </p:val>
                                        </p:tav>
                                        <p:tav tm="100000">
                                          <p:val>
                                            <p:strVal val="#ppt_x"/>
                                          </p:val>
                                        </p:tav>
                                      </p:tavLst>
                                    </p:anim>
                                    <p:anim calcmode="lin" valueType="num">
                                      <p:cBhvr>
                                        <p:cTn id="108" dur="280" fill="hold"/>
                                        <p:tgtEl>
                                          <p:spTgt spid="24"/>
                                        </p:tgtEl>
                                        <p:attrNameLst>
                                          <p:attrName>ppt_y</p:attrName>
                                        </p:attrNameLst>
                                      </p:cBhvr>
                                      <p:tavLst>
                                        <p:tav tm="0">
                                          <p:val>
                                            <p:strVal val="#ppt_y+.06"/>
                                          </p:val>
                                        </p:tav>
                                        <p:tav tm="100000">
                                          <p:val>
                                            <p:strVal val="#ppt_y"/>
                                          </p:val>
                                        </p:tav>
                                      </p:tavLst>
                                    </p:anim>
                                  </p:childTnLst>
                                </p:cTn>
                              </p:par>
                              <p:par>
                                <p:cTn id="109" presetID="42" presetClass="entr" presetSubtype="0" fill="hold" grpId="0" nodeType="withEffect">
                                  <p:stCondLst>
                                    <p:cond delay="0"/>
                                  </p:stCondLst>
                                  <p:childTnLst>
                                    <p:set>
                                      <p:cBhvr>
                                        <p:cTn id="110" dur="1" fill="hold">
                                          <p:stCondLst>
                                            <p:cond delay="0"/>
                                          </p:stCondLst>
                                        </p:cTn>
                                        <p:tgtEl>
                                          <p:spTgt spid="25"/>
                                        </p:tgtEl>
                                        <p:attrNameLst>
                                          <p:attrName>style.visibility</p:attrName>
                                        </p:attrNameLst>
                                      </p:cBhvr>
                                      <p:to>
                                        <p:strVal val="visible"/>
                                      </p:to>
                                    </p:set>
                                    <p:animEffect transition="in" filter="fade">
                                      <p:cBhvr>
                                        <p:cTn id="111" dur="280"/>
                                        <p:tgtEl>
                                          <p:spTgt spid="25"/>
                                        </p:tgtEl>
                                      </p:cBhvr>
                                    </p:animEffect>
                                    <p:anim calcmode="lin" valueType="num">
                                      <p:cBhvr>
                                        <p:cTn id="112" dur="280" fill="hold"/>
                                        <p:tgtEl>
                                          <p:spTgt spid="25"/>
                                        </p:tgtEl>
                                        <p:attrNameLst>
                                          <p:attrName>ppt_x</p:attrName>
                                        </p:attrNameLst>
                                      </p:cBhvr>
                                      <p:tavLst>
                                        <p:tav tm="0">
                                          <p:val>
                                            <p:strVal val="#ppt_x"/>
                                          </p:val>
                                        </p:tav>
                                        <p:tav tm="100000">
                                          <p:val>
                                            <p:strVal val="#ppt_x"/>
                                          </p:val>
                                        </p:tav>
                                      </p:tavLst>
                                    </p:anim>
                                    <p:anim calcmode="lin" valueType="num">
                                      <p:cBhvr>
                                        <p:cTn id="113" dur="280" fill="hold"/>
                                        <p:tgtEl>
                                          <p:spTgt spid="25"/>
                                        </p:tgtEl>
                                        <p:attrNameLst>
                                          <p:attrName>ppt_y</p:attrName>
                                        </p:attrNameLst>
                                      </p:cBhvr>
                                      <p:tavLst>
                                        <p:tav tm="0">
                                          <p:val>
                                            <p:strVal val="#ppt_y+.06"/>
                                          </p:val>
                                        </p:tav>
                                        <p:tav tm="100000">
                                          <p:val>
                                            <p:strVal val="#ppt_y"/>
                                          </p:val>
                                        </p:tav>
                                      </p:tavLst>
                                    </p:anim>
                                  </p:childTnLst>
                                </p:cTn>
                              </p:par>
                              <p:par>
                                <p:cTn id="114" presetID="42" presetClass="entr" presetSubtype="0" fill="hold" grpId="0" nodeType="withEffect">
                                  <p:stCondLst>
                                    <p:cond delay="0"/>
                                  </p:stCondLst>
                                  <p:childTnLst>
                                    <p:set>
                                      <p:cBhvr>
                                        <p:cTn id="115" dur="1" fill="hold">
                                          <p:stCondLst>
                                            <p:cond delay="0"/>
                                          </p:stCondLst>
                                        </p:cTn>
                                        <p:tgtEl>
                                          <p:spTgt spid="26"/>
                                        </p:tgtEl>
                                        <p:attrNameLst>
                                          <p:attrName>style.visibility</p:attrName>
                                        </p:attrNameLst>
                                      </p:cBhvr>
                                      <p:to>
                                        <p:strVal val="visible"/>
                                      </p:to>
                                    </p:set>
                                    <p:animEffect transition="in" filter="fade">
                                      <p:cBhvr>
                                        <p:cTn id="116" dur="280"/>
                                        <p:tgtEl>
                                          <p:spTgt spid="26"/>
                                        </p:tgtEl>
                                      </p:cBhvr>
                                    </p:animEffect>
                                    <p:anim calcmode="lin" valueType="num">
                                      <p:cBhvr>
                                        <p:cTn id="117" dur="280" fill="hold"/>
                                        <p:tgtEl>
                                          <p:spTgt spid="26"/>
                                        </p:tgtEl>
                                        <p:attrNameLst>
                                          <p:attrName>ppt_x</p:attrName>
                                        </p:attrNameLst>
                                      </p:cBhvr>
                                      <p:tavLst>
                                        <p:tav tm="0">
                                          <p:val>
                                            <p:strVal val="#ppt_x"/>
                                          </p:val>
                                        </p:tav>
                                        <p:tav tm="100000">
                                          <p:val>
                                            <p:strVal val="#ppt_x"/>
                                          </p:val>
                                        </p:tav>
                                      </p:tavLst>
                                    </p:anim>
                                    <p:anim calcmode="lin" valueType="num">
                                      <p:cBhvr>
                                        <p:cTn id="118" dur="280" fill="hold"/>
                                        <p:tgtEl>
                                          <p:spTgt spid="26"/>
                                        </p:tgtEl>
                                        <p:attrNameLst>
                                          <p:attrName>ppt_y</p:attrName>
                                        </p:attrNameLst>
                                      </p:cBhvr>
                                      <p:tavLst>
                                        <p:tav tm="0">
                                          <p:val>
                                            <p:strVal val="#ppt_y+.06"/>
                                          </p:val>
                                        </p:tav>
                                        <p:tav tm="100000">
                                          <p:val>
                                            <p:strVal val="#ppt_y"/>
                                          </p:val>
                                        </p:tav>
                                      </p:tavLst>
                                    </p:anim>
                                  </p:childTnLst>
                                </p:cTn>
                              </p:par>
                              <p:par>
                                <p:cTn id="119" presetID="42" presetClass="entr" presetSubtype="0" fill="hold" grpId="0" nodeType="withEffect">
                                  <p:stCondLst>
                                    <p:cond delay="0"/>
                                  </p:stCondLst>
                                  <p:childTnLst>
                                    <p:set>
                                      <p:cBhvr>
                                        <p:cTn id="120" dur="1" fill="hold">
                                          <p:stCondLst>
                                            <p:cond delay="0"/>
                                          </p:stCondLst>
                                        </p:cTn>
                                        <p:tgtEl>
                                          <p:spTgt spid="27"/>
                                        </p:tgtEl>
                                        <p:attrNameLst>
                                          <p:attrName>style.visibility</p:attrName>
                                        </p:attrNameLst>
                                      </p:cBhvr>
                                      <p:to>
                                        <p:strVal val="visible"/>
                                      </p:to>
                                    </p:set>
                                    <p:animEffect transition="in" filter="fade">
                                      <p:cBhvr>
                                        <p:cTn id="121" dur="280"/>
                                        <p:tgtEl>
                                          <p:spTgt spid="27"/>
                                        </p:tgtEl>
                                      </p:cBhvr>
                                    </p:animEffect>
                                    <p:anim calcmode="lin" valueType="num">
                                      <p:cBhvr>
                                        <p:cTn id="122" dur="280" fill="hold"/>
                                        <p:tgtEl>
                                          <p:spTgt spid="27"/>
                                        </p:tgtEl>
                                        <p:attrNameLst>
                                          <p:attrName>ppt_x</p:attrName>
                                        </p:attrNameLst>
                                      </p:cBhvr>
                                      <p:tavLst>
                                        <p:tav tm="0">
                                          <p:val>
                                            <p:strVal val="#ppt_x"/>
                                          </p:val>
                                        </p:tav>
                                        <p:tav tm="100000">
                                          <p:val>
                                            <p:strVal val="#ppt_x"/>
                                          </p:val>
                                        </p:tav>
                                      </p:tavLst>
                                    </p:anim>
                                    <p:anim calcmode="lin" valueType="num">
                                      <p:cBhvr>
                                        <p:cTn id="123" dur="280" fill="hold"/>
                                        <p:tgtEl>
                                          <p:spTgt spid="27"/>
                                        </p:tgtEl>
                                        <p:attrNameLst>
                                          <p:attrName>ppt_y</p:attrName>
                                        </p:attrNameLst>
                                      </p:cBhvr>
                                      <p:tavLst>
                                        <p:tav tm="0">
                                          <p:val>
                                            <p:strVal val="#ppt_y+.06"/>
                                          </p:val>
                                        </p:tav>
                                        <p:tav tm="100000">
                                          <p:val>
                                            <p:strVal val="#ppt_y"/>
                                          </p:val>
                                        </p:tav>
                                      </p:tavLst>
                                    </p:anim>
                                  </p:childTnLst>
                                </p:cTn>
                              </p:par>
                            </p:childTnLst>
                          </p:cTn>
                        </p:par>
                        <p:par>
                          <p:cTn id="124" fill="hold">
                            <p:stCondLst>
                              <p:cond delay="2700"/>
                            </p:stCondLst>
                            <p:childTnLst>
                              <p:par>
                                <p:cTn id="125" presetID="42" presetClass="entr" presetSubtype="0" fill="hold" grpId="0" nodeType="afterEffect">
                                  <p:stCondLst>
                                    <p:cond delay="20"/>
                                  </p:stCondLst>
                                  <p:childTnLst>
                                    <p:set>
                                      <p:cBhvr>
                                        <p:cTn id="126" dur="1" fill="hold">
                                          <p:stCondLst>
                                            <p:cond delay="0"/>
                                          </p:stCondLst>
                                        </p:cTn>
                                        <p:tgtEl>
                                          <p:spTgt spid="28"/>
                                        </p:tgtEl>
                                        <p:attrNameLst>
                                          <p:attrName>style.visibility</p:attrName>
                                        </p:attrNameLst>
                                      </p:cBhvr>
                                      <p:to>
                                        <p:strVal val="visible"/>
                                      </p:to>
                                    </p:set>
                                    <p:animEffect transition="in" filter="fade">
                                      <p:cBhvr>
                                        <p:cTn id="127" dur="280"/>
                                        <p:tgtEl>
                                          <p:spTgt spid="28"/>
                                        </p:tgtEl>
                                      </p:cBhvr>
                                    </p:animEffect>
                                    <p:anim calcmode="lin" valueType="num">
                                      <p:cBhvr>
                                        <p:cTn id="128" dur="280" fill="hold"/>
                                        <p:tgtEl>
                                          <p:spTgt spid="28"/>
                                        </p:tgtEl>
                                        <p:attrNameLst>
                                          <p:attrName>ppt_x</p:attrName>
                                        </p:attrNameLst>
                                      </p:cBhvr>
                                      <p:tavLst>
                                        <p:tav tm="0">
                                          <p:val>
                                            <p:strVal val="#ppt_x"/>
                                          </p:val>
                                        </p:tav>
                                        <p:tav tm="100000">
                                          <p:val>
                                            <p:strVal val="#ppt_x"/>
                                          </p:val>
                                        </p:tav>
                                      </p:tavLst>
                                    </p:anim>
                                    <p:anim calcmode="lin" valueType="num">
                                      <p:cBhvr>
                                        <p:cTn id="129" dur="280" fill="hold"/>
                                        <p:tgtEl>
                                          <p:spTgt spid="28"/>
                                        </p:tgtEl>
                                        <p:attrNameLst>
                                          <p:attrName>ppt_y</p:attrName>
                                        </p:attrNameLst>
                                      </p:cBhvr>
                                      <p:tavLst>
                                        <p:tav tm="0">
                                          <p:val>
                                            <p:strVal val="#ppt_y+.06"/>
                                          </p:val>
                                        </p:tav>
                                        <p:tav tm="100000">
                                          <p:val>
                                            <p:strVal val="#ppt_y"/>
                                          </p:val>
                                        </p:tav>
                                      </p:tavLst>
                                    </p:anim>
                                  </p:childTnLst>
                                </p:cTn>
                              </p:par>
                              <p:par>
                                <p:cTn id="130" presetID="42" presetClass="entr" presetSubtype="0" fill="hold" grpId="0" nodeType="withEffect">
                                  <p:stCondLst>
                                    <p:cond delay="0"/>
                                  </p:stCondLst>
                                  <p:childTnLst>
                                    <p:set>
                                      <p:cBhvr>
                                        <p:cTn id="131" dur="1" fill="hold">
                                          <p:stCondLst>
                                            <p:cond delay="0"/>
                                          </p:stCondLst>
                                        </p:cTn>
                                        <p:tgtEl>
                                          <p:spTgt spid="29"/>
                                        </p:tgtEl>
                                        <p:attrNameLst>
                                          <p:attrName>style.visibility</p:attrName>
                                        </p:attrNameLst>
                                      </p:cBhvr>
                                      <p:to>
                                        <p:strVal val="visible"/>
                                      </p:to>
                                    </p:set>
                                    <p:animEffect transition="in" filter="fade">
                                      <p:cBhvr>
                                        <p:cTn id="132" dur="280"/>
                                        <p:tgtEl>
                                          <p:spTgt spid="29"/>
                                        </p:tgtEl>
                                      </p:cBhvr>
                                    </p:animEffect>
                                    <p:anim calcmode="lin" valueType="num">
                                      <p:cBhvr>
                                        <p:cTn id="133" dur="280" fill="hold"/>
                                        <p:tgtEl>
                                          <p:spTgt spid="29"/>
                                        </p:tgtEl>
                                        <p:attrNameLst>
                                          <p:attrName>ppt_x</p:attrName>
                                        </p:attrNameLst>
                                      </p:cBhvr>
                                      <p:tavLst>
                                        <p:tav tm="0">
                                          <p:val>
                                            <p:strVal val="#ppt_x"/>
                                          </p:val>
                                        </p:tav>
                                        <p:tav tm="100000">
                                          <p:val>
                                            <p:strVal val="#ppt_x"/>
                                          </p:val>
                                        </p:tav>
                                      </p:tavLst>
                                    </p:anim>
                                    <p:anim calcmode="lin" valueType="num">
                                      <p:cBhvr>
                                        <p:cTn id="134" dur="280" fill="hold"/>
                                        <p:tgtEl>
                                          <p:spTgt spid="29"/>
                                        </p:tgtEl>
                                        <p:attrNameLst>
                                          <p:attrName>ppt_y</p:attrName>
                                        </p:attrNameLst>
                                      </p:cBhvr>
                                      <p:tavLst>
                                        <p:tav tm="0">
                                          <p:val>
                                            <p:strVal val="#ppt_y+.06"/>
                                          </p:val>
                                        </p:tav>
                                        <p:tav tm="100000">
                                          <p:val>
                                            <p:strVal val="#ppt_y"/>
                                          </p:val>
                                        </p:tav>
                                      </p:tavLst>
                                    </p:anim>
                                  </p:childTnLst>
                                </p:cTn>
                              </p:par>
                              <p:par>
                                <p:cTn id="135" presetID="42" presetClass="entr" presetSubtype="0" fill="hold" grpId="0" nodeType="withEffect">
                                  <p:stCondLst>
                                    <p:cond delay="0"/>
                                  </p:stCondLst>
                                  <p:childTnLst>
                                    <p:set>
                                      <p:cBhvr>
                                        <p:cTn id="136" dur="1" fill="hold">
                                          <p:stCondLst>
                                            <p:cond delay="0"/>
                                          </p:stCondLst>
                                        </p:cTn>
                                        <p:tgtEl>
                                          <p:spTgt spid="30"/>
                                        </p:tgtEl>
                                        <p:attrNameLst>
                                          <p:attrName>style.visibility</p:attrName>
                                        </p:attrNameLst>
                                      </p:cBhvr>
                                      <p:to>
                                        <p:strVal val="visible"/>
                                      </p:to>
                                    </p:set>
                                    <p:animEffect transition="in" filter="fade">
                                      <p:cBhvr>
                                        <p:cTn id="137" dur="280"/>
                                        <p:tgtEl>
                                          <p:spTgt spid="30"/>
                                        </p:tgtEl>
                                      </p:cBhvr>
                                    </p:animEffect>
                                    <p:anim calcmode="lin" valueType="num">
                                      <p:cBhvr>
                                        <p:cTn id="138" dur="280" fill="hold"/>
                                        <p:tgtEl>
                                          <p:spTgt spid="30"/>
                                        </p:tgtEl>
                                        <p:attrNameLst>
                                          <p:attrName>ppt_x</p:attrName>
                                        </p:attrNameLst>
                                      </p:cBhvr>
                                      <p:tavLst>
                                        <p:tav tm="0">
                                          <p:val>
                                            <p:strVal val="#ppt_x"/>
                                          </p:val>
                                        </p:tav>
                                        <p:tav tm="100000">
                                          <p:val>
                                            <p:strVal val="#ppt_x"/>
                                          </p:val>
                                        </p:tav>
                                      </p:tavLst>
                                    </p:anim>
                                    <p:anim calcmode="lin" valueType="num">
                                      <p:cBhvr>
                                        <p:cTn id="139" dur="280" fill="hold"/>
                                        <p:tgtEl>
                                          <p:spTgt spid="30"/>
                                        </p:tgtEl>
                                        <p:attrNameLst>
                                          <p:attrName>ppt_y</p:attrName>
                                        </p:attrNameLst>
                                      </p:cBhvr>
                                      <p:tavLst>
                                        <p:tav tm="0">
                                          <p:val>
                                            <p:strVal val="#ppt_y+.06"/>
                                          </p:val>
                                        </p:tav>
                                        <p:tav tm="100000">
                                          <p:val>
                                            <p:strVal val="#ppt_y"/>
                                          </p:val>
                                        </p:tav>
                                      </p:tavLst>
                                    </p:anim>
                                  </p:childTnLst>
                                </p:cTn>
                              </p:par>
                              <p:par>
                                <p:cTn id="140" presetID="42" presetClass="entr" presetSubtype="0" fill="hold" grpId="0" nodeType="withEffect">
                                  <p:stCondLst>
                                    <p:cond delay="0"/>
                                  </p:stCondLst>
                                  <p:childTnLst>
                                    <p:set>
                                      <p:cBhvr>
                                        <p:cTn id="141" dur="1" fill="hold">
                                          <p:stCondLst>
                                            <p:cond delay="0"/>
                                          </p:stCondLst>
                                        </p:cTn>
                                        <p:tgtEl>
                                          <p:spTgt spid="31"/>
                                        </p:tgtEl>
                                        <p:attrNameLst>
                                          <p:attrName>style.visibility</p:attrName>
                                        </p:attrNameLst>
                                      </p:cBhvr>
                                      <p:to>
                                        <p:strVal val="visible"/>
                                      </p:to>
                                    </p:set>
                                    <p:animEffect transition="in" filter="fade">
                                      <p:cBhvr>
                                        <p:cTn id="142" dur="280"/>
                                        <p:tgtEl>
                                          <p:spTgt spid="31"/>
                                        </p:tgtEl>
                                      </p:cBhvr>
                                    </p:animEffect>
                                    <p:anim calcmode="lin" valueType="num">
                                      <p:cBhvr>
                                        <p:cTn id="143" dur="280" fill="hold"/>
                                        <p:tgtEl>
                                          <p:spTgt spid="31"/>
                                        </p:tgtEl>
                                        <p:attrNameLst>
                                          <p:attrName>ppt_x</p:attrName>
                                        </p:attrNameLst>
                                      </p:cBhvr>
                                      <p:tavLst>
                                        <p:tav tm="0">
                                          <p:val>
                                            <p:strVal val="#ppt_x"/>
                                          </p:val>
                                        </p:tav>
                                        <p:tav tm="100000">
                                          <p:val>
                                            <p:strVal val="#ppt_x"/>
                                          </p:val>
                                        </p:tav>
                                      </p:tavLst>
                                    </p:anim>
                                    <p:anim calcmode="lin" valueType="num">
                                      <p:cBhvr>
                                        <p:cTn id="144" dur="280" fill="hold"/>
                                        <p:tgtEl>
                                          <p:spTgt spid="31"/>
                                        </p:tgtEl>
                                        <p:attrNameLst>
                                          <p:attrName>ppt_y</p:attrName>
                                        </p:attrNameLst>
                                      </p:cBhvr>
                                      <p:tavLst>
                                        <p:tav tm="0">
                                          <p:val>
                                            <p:strVal val="#ppt_y+.06"/>
                                          </p:val>
                                        </p:tav>
                                        <p:tav tm="100000">
                                          <p:val>
                                            <p:strVal val="#ppt_y"/>
                                          </p:val>
                                        </p:tav>
                                      </p:tavLst>
                                    </p:anim>
                                  </p:childTnLst>
                                </p:cTn>
                              </p:par>
                            </p:childTnLst>
                          </p:cTn>
                        </p:par>
                        <p:par>
                          <p:cTn id="145" fill="hold">
                            <p:stCondLst>
                              <p:cond delay="3000"/>
                            </p:stCondLst>
                            <p:childTnLst>
                              <p:par>
                                <p:cTn id="146" presetID="42" presetClass="entr" presetSubtype="0" fill="hold" grpId="0" nodeType="afterEffect">
                                  <p:stCondLst>
                                    <p:cond delay="20"/>
                                  </p:stCondLst>
                                  <p:childTnLst>
                                    <p:set>
                                      <p:cBhvr>
                                        <p:cTn id="147" dur="1" fill="hold">
                                          <p:stCondLst>
                                            <p:cond delay="0"/>
                                          </p:stCondLst>
                                        </p:cTn>
                                        <p:tgtEl>
                                          <p:spTgt spid="32"/>
                                        </p:tgtEl>
                                        <p:attrNameLst>
                                          <p:attrName>style.visibility</p:attrName>
                                        </p:attrNameLst>
                                      </p:cBhvr>
                                      <p:to>
                                        <p:strVal val="visible"/>
                                      </p:to>
                                    </p:set>
                                    <p:animEffect transition="in" filter="fade">
                                      <p:cBhvr>
                                        <p:cTn id="148" dur="280"/>
                                        <p:tgtEl>
                                          <p:spTgt spid="32"/>
                                        </p:tgtEl>
                                      </p:cBhvr>
                                    </p:animEffect>
                                    <p:anim calcmode="lin" valueType="num">
                                      <p:cBhvr>
                                        <p:cTn id="149" dur="280" fill="hold"/>
                                        <p:tgtEl>
                                          <p:spTgt spid="32"/>
                                        </p:tgtEl>
                                        <p:attrNameLst>
                                          <p:attrName>ppt_x</p:attrName>
                                        </p:attrNameLst>
                                      </p:cBhvr>
                                      <p:tavLst>
                                        <p:tav tm="0">
                                          <p:val>
                                            <p:strVal val="#ppt_x"/>
                                          </p:val>
                                        </p:tav>
                                        <p:tav tm="100000">
                                          <p:val>
                                            <p:strVal val="#ppt_x"/>
                                          </p:val>
                                        </p:tav>
                                      </p:tavLst>
                                    </p:anim>
                                    <p:anim calcmode="lin" valueType="num">
                                      <p:cBhvr>
                                        <p:cTn id="150" dur="280" fill="hold"/>
                                        <p:tgtEl>
                                          <p:spTgt spid="32"/>
                                        </p:tgtEl>
                                        <p:attrNameLst>
                                          <p:attrName>ppt_y</p:attrName>
                                        </p:attrNameLst>
                                      </p:cBhvr>
                                      <p:tavLst>
                                        <p:tav tm="0">
                                          <p:val>
                                            <p:strVal val="#ppt_y+.06"/>
                                          </p:val>
                                        </p:tav>
                                        <p:tav tm="100000">
                                          <p:val>
                                            <p:strVal val="#ppt_y"/>
                                          </p:val>
                                        </p:tav>
                                      </p:tavLst>
                                    </p:anim>
                                  </p:childTnLst>
                                </p:cTn>
                              </p:par>
                              <p:par>
                                <p:cTn id="151" presetID="42" presetClass="entr" presetSubtype="0" fill="hold" grpId="0" nodeType="withEffect">
                                  <p:stCondLst>
                                    <p:cond delay="0"/>
                                  </p:stCondLst>
                                  <p:childTnLst>
                                    <p:set>
                                      <p:cBhvr>
                                        <p:cTn id="152" dur="1" fill="hold">
                                          <p:stCondLst>
                                            <p:cond delay="0"/>
                                          </p:stCondLst>
                                        </p:cTn>
                                        <p:tgtEl>
                                          <p:spTgt spid="33"/>
                                        </p:tgtEl>
                                        <p:attrNameLst>
                                          <p:attrName>style.visibility</p:attrName>
                                        </p:attrNameLst>
                                      </p:cBhvr>
                                      <p:to>
                                        <p:strVal val="visible"/>
                                      </p:to>
                                    </p:set>
                                    <p:animEffect transition="in" filter="fade">
                                      <p:cBhvr>
                                        <p:cTn id="153" dur="280"/>
                                        <p:tgtEl>
                                          <p:spTgt spid="33"/>
                                        </p:tgtEl>
                                      </p:cBhvr>
                                    </p:animEffect>
                                    <p:anim calcmode="lin" valueType="num">
                                      <p:cBhvr>
                                        <p:cTn id="154" dur="280" fill="hold"/>
                                        <p:tgtEl>
                                          <p:spTgt spid="33"/>
                                        </p:tgtEl>
                                        <p:attrNameLst>
                                          <p:attrName>ppt_x</p:attrName>
                                        </p:attrNameLst>
                                      </p:cBhvr>
                                      <p:tavLst>
                                        <p:tav tm="0">
                                          <p:val>
                                            <p:strVal val="#ppt_x"/>
                                          </p:val>
                                        </p:tav>
                                        <p:tav tm="100000">
                                          <p:val>
                                            <p:strVal val="#ppt_x"/>
                                          </p:val>
                                        </p:tav>
                                      </p:tavLst>
                                    </p:anim>
                                    <p:anim calcmode="lin" valueType="num">
                                      <p:cBhvr>
                                        <p:cTn id="155" dur="280" fill="hold"/>
                                        <p:tgtEl>
                                          <p:spTgt spid="33"/>
                                        </p:tgtEl>
                                        <p:attrNameLst>
                                          <p:attrName>ppt_y</p:attrName>
                                        </p:attrNameLst>
                                      </p:cBhvr>
                                      <p:tavLst>
                                        <p:tav tm="0">
                                          <p:val>
                                            <p:strVal val="#ppt_y+.06"/>
                                          </p:val>
                                        </p:tav>
                                        <p:tav tm="100000">
                                          <p:val>
                                            <p:strVal val="#ppt_y"/>
                                          </p:val>
                                        </p:tav>
                                      </p:tavLst>
                                    </p:anim>
                                  </p:childTnLst>
                                </p:cTn>
                              </p:par>
                              <p:par>
                                <p:cTn id="156" presetID="42" presetClass="entr" presetSubtype="0" fill="hold" grpId="0" nodeType="withEffect">
                                  <p:stCondLst>
                                    <p:cond delay="0"/>
                                  </p:stCondLst>
                                  <p:childTnLst>
                                    <p:set>
                                      <p:cBhvr>
                                        <p:cTn id="157" dur="1" fill="hold">
                                          <p:stCondLst>
                                            <p:cond delay="0"/>
                                          </p:stCondLst>
                                        </p:cTn>
                                        <p:tgtEl>
                                          <p:spTgt spid="34"/>
                                        </p:tgtEl>
                                        <p:attrNameLst>
                                          <p:attrName>style.visibility</p:attrName>
                                        </p:attrNameLst>
                                      </p:cBhvr>
                                      <p:to>
                                        <p:strVal val="visible"/>
                                      </p:to>
                                    </p:set>
                                    <p:animEffect transition="in" filter="fade">
                                      <p:cBhvr>
                                        <p:cTn id="158" dur="280"/>
                                        <p:tgtEl>
                                          <p:spTgt spid="34"/>
                                        </p:tgtEl>
                                      </p:cBhvr>
                                    </p:animEffect>
                                    <p:anim calcmode="lin" valueType="num">
                                      <p:cBhvr>
                                        <p:cTn id="159" dur="280" fill="hold"/>
                                        <p:tgtEl>
                                          <p:spTgt spid="34"/>
                                        </p:tgtEl>
                                        <p:attrNameLst>
                                          <p:attrName>ppt_x</p:attrName>
                                        </p:attrNameLst>
                                      </p:cBhvr>
                                      <p:tavLst>
                                        <p:tav tm="0">
                                          <p:val>
                                            <p:strVal val="#ppt_x"/>
                                          </p:val>
                                        </p:tav>
                                        <p:tav tm="100000">
                                          <p:val>
                                            <p:strVal val="#ppt_x"/>
                                          </p:val>
                                        </p:tav>
                                      </p:tavLst>
                                    </p:anim>
                                    <p:anim calcmode="lin" valueType="num">
                                      <p:cBhvr>
                                        <p:cTn id="160" dur="280" fill="hold"/>
                                        <p:tgtEl>
                                          <p:spTgt spid="34"/>
                                        </p:tgtEl>
                                        <p:attrNameLst>
                                          <p:attrName>ppt_y</p:attrName>
                                        </p:attrNameLst>
                                      </p:cBhvr>
                                      <p:tavLst>
                                        <p:tav tm="0">
                                          <p:val>
                                            <p:strVal val="#ppt_y+.06"/>
                                          </p:val>
                                        </p:tav>
                                        <p:tav tm="100000">
                                          <p:val>
                                            <p:strVal val="#ppt_y"/>
                                          </p:val>
                                        </p:tav>
                                      </p:tavLst>
                                    </p:anim>
                                  </p:childTnLst>
                                </p:cTn>
                              </p:par>
                              <p:par>
                                <p:cTn id="161" presetID="42" presetClass="entr" presetSubtype="0" fill="hold" grpId="0" nodeType="withEffect">
                                  <p:stCondLst>
                                    <p:cond delay="0"/>
                                  </p:stCondLst>
                                  <p:childTnLst>
                                    <p:set>
                                      <p:cBhvr>
                                        <p:cTn id="162" dur="1" fill="hold">
                                          <p:stCondLst>
                                            <p:cond delay="0"/>
                                          </p:stCondLst>
                                        </p:cTn>
                                        <p:tgtEl>
                                          <p:spTgt spid="35"/>
                                        </p:tgtEl>
                                        <p:attrNameLst>
                                          <p:attrName>style.visibility</p:attrName>
                                        </p:attrNameLst>
                                      </p:cBhvr>
                                      <p:to>
                                        <p:strVal val="visible"/>
                                      </p:to>
                                    </p:set>
                                    <p:animEffect transition="in" filter="fade">
                                      <p:cBhvr>
                                        <p:cTn id="163" dur="280"/>
                                        <p:tgtEl>
                                          <p:spTgt spid="35"/>
                                        </p:tgtEl>
                                      </p:cBhvr>
                                    </p:animEffect>
                                    <p:anim calcmode="lin" valueType="num">
                                      <p:cBhvr>
                                        <p:cTn id="164" dur="280" fill="hold"/>
                                        <p:tgtEl>
                                          <p:spTgt spid="35"/>
                                        </p:tgtEl>
                                        <p:attrNameLst>
                                          <p:attrName>ppt_x</p:attrName>
                                        </p:attrNameLst>
                                      </p:cBhvr>
                                      <p:tavLst>
                                        <p:tav tm="0">
                                          <p:val>
                                            <p:strVal val="#ppt_x"/>
                                          </p:val>
                                        </p:tav>
                                        <p:tav tm="100000">
                                          <p:val>
                                            <p:strVal val="#ppt_x"/>
                                          </p:val>
                                        </p:tav>
                                      </p:tavLst>
                                    </p:anim>
                                    <p:anim calcmode="lin" valueType="num">
                                      <p:cBhvr>
                                        <p:cTn id="165" dur="280" fill="hold"/>
                                        <p:tgtEl>
                                          <p:spTgt spid="35"/>
                                        </p:tgtEl>
                                        <p:attrNameLst>
                                          <p:attrName>ppt_y</p:attrName>
                                        </p:attrNameLst>
                                      </p:cBhvr>
                                      <p:tavLst>
                                        <p:tav tm="0">
                                          <p:val>
                                            <p:strVal val="#ppt_y+.06"/>
                                          </p:val>
                                        </p:tav>
                                        <p:tav tm="100000">
                                          <p:val>
                                            <p:strVal val="#ppt_y"/>
                                          </p:val>
                                        </p:tav>
                                      </p:tavLst>
                                    </p:anim>
                                  </p:childTnLst>
                                </p:cTn>
                              </p:par>
                            </p:childTnLst>
                          </p:cTn>
                        </p:par>
                        <p:par>
                          <p:cTn id="166" fill="hold">
                            <p:stCondLst>
                              <p:cond delay="3300"/>
                            </p:stCondLst>
                            <p:childTnLst>
                              <p:par>
                                <p:cTn id="167" presetID="10" presetClass="entr" presetSubtype="0" fill="hold" grpId="0" nodeType="afterEffect">
                                  <p:stCondLst>
                                    <p:cond delay="80"/>
                                  </p:stCondLst>
                                  <p:childTnLst>
                                    <p:set>
                                      <p:cBhvr>
                                        <p:cTn id="168" dur="1" fill="hold">
                                          <p:stCondLst>
                                            <p:cond delay="0"/>
                                          </p:stCondLst>
                                        </p:cTn>
                                        <p:tgtEl>
                                          <p:spTgt spid="36"/>
                                        </p:tgtEl>
                                        <p:attrNameLst>
                                          <p:attrName>style.visibility</p:attrName>
                                        </p:attrNameLst>
                                      </p:cBhvr>
                                      <p:to>
                                        <p:strVal val="visible"/>
                                      </p:to>
                                    </p:set>
                                    <p:animEffect transition="in" filter="fade">
                                      <p:cBhvr>
                                        <p:cTn id="169" dur="450"/>
                                        <p:tgtEl>
                                          <p:spTgt spid="36"/>
                                        </p:tgtEl>
                                      </p:cBhvr>
                                    </p:animEffect>
                                  </p:childTnLst>
                                </p:cTn>
                              </p:par>
                              <p:par>
                                <p:cTn id="170" presetID="10" presetClass="entr" presetSubtype="0" fill="hold" grpId="0" nodeType="withEffect">
                                  <p:stCondLst>
                                    <p:cond delay="0"/>
                                  </p:stCondLst>
                                  <p:childTnLst>
                                    <p:set>
                                      <p:cBhvr>
                                        <p:cTn id="171" dur="1" fill="hold">
                                          <p:stCondLst>
                                            <p:cond delay="0"/>
                                          </p:stCondLst>
                                        </p:cTn>
                                        <p:tgtEl>
                                          <p:spTgt spid="37"/>
                                        </p:tgtEl>
                                        <p:attrNameLst>
                                          <p:attrName>style.visibility</p:attrName>
                                        </p:attrNameLst>
                                      </p:cBhvr>
                                      <p:to>
                                        <p:strVal val="visible"/>
                                      </p:to>
                                    </p:set>
                                    <p:animEffect transition="in" filter="fade">
                                      <p:cBhvr>
                                        <p:cTn id="172" dur="450"/>
                                        <p:tgtEl>
                                          <p:spTgt spid="37"/>
                                        </p:tgtEl>
                                      </p:cBhvr>
                                    </p:animEffect>
                                  </p:childTnLst>
                                </p:cTn>
                              </p:par>
                            </p:childTnLst>
                          </p:cTn>
                        </p:par>
                        <p:par>
                          <p:cTn id="173" fill="hold">
                            <p:stCondLst>
                              <p:cond delay="3830"/>
                            </p:stCondLst>
                            <p:childTnLst>
                              <p:par>
                                <p:cTn id="174" presetID="10" presetClass="entr" presetSubtype="0" fill="hold" grpId="0" nodeType="afterEffect">
                                  <p:stCondLst>
                                    <p:cond delay="0"/>
                                  </p:stCondLst>
                                  <p:childTnLst>
                                    <p:set>
                                      <p:cBhvr>
                                        <p:cTn id="175" dur="1" fill="hold">
                                          <p:stCondLst>
                                            <p:cond delay="0"/>
                                          </p:stCondLst>
                                        </p:cTn>
                                        <p:tgtEl>
                                          <p:spTgt spid="38"/>
                                        </p:tgtEl>
                                        <p:attrNameLst>
                                          <p:attrName>style.visibility</p:attrName>
                                        </p:attrNameLst>
                                      </p:cBhvr>
                                      <p:to>
                                        <p:strVal val="visible"/>
                                      </p:to>
                                    </p:set>
                                    <p:animEffect transition="in" filter="fade">
                                      <p:cBhvr>
                                        <p:cTn id="176" dur="300"/>
                                        <p:tgtEl>
                                          <p:spTgt spid="38"/>
                                        </p:tgtEl>
                                      </p:cBhvr>
                                    </p:animEffect>
                                  </p:childTnLst>
                                </p:cTn>
                              </p:par>
                              <p:par>
                                <p:cTn id="177" presetID="10" presetClass="entr" presetSubtype="0" fill="hold" grpId="0" nodeType="withEffect">
                                  <p:stCondLst>
                                    <p:cond delay="0"/>
                                  </p:stCondLst>
                                  <p:childTnLst>
                                    <p:set>
                                      <p:cBhvr>
                                        <p:cTn id="178" dur="1" fill="hold">
                                          <p:stCondLst>
                                            <p:cond delay="0"/>
                                          </p:stCondLst>
                                        </p:cTn>
                                        <p:tgtEl>
                                          <p:spTgt spid="39"/>
                                        </p:tgtEl>
                                        <p:attrNameLst>
                                          <p:attrName>style.visibility</p:attrName>
                                        </p:attrNameLst>
                                      </p:cBhvr>
                                      <p:to>
                                        <p:strVal val="visible"/>
                                      </p:to>
                                    </p:set>
                                    <p:animEffect transition="in" filter="fade">
                                      <p:cBhvr>
                                        <p:cTn id="179" dur="300"/>
                                        <p:tgtEl>
                                          <p:spTgt spid="39"/>
                                        </p:tgtEl>
                                      </p:cBhvr>
                                    </p:animEffect>
                                  </p:childTnLst>
                                </p:cTn>
                              </p:par>
                            </p:childTnLst>
                          </p:cTn>
                        </p:par>
                        <p:par>
                          <p:cTn id="180" fill="hold">
                            <p:stCondLst>
                              <p:cond delay="4130"/>
                            </p:stCondLst>
                            <p:childTnLst>
                              <p:par>
                                <p:cTn id="181" presetID="22" presetClass="entr" presetSubtype="8" fill="hold" grpId="0" nodeType="afterEffect">
                                  <p:stCondLst>
                                    <p:cond delay="0"/>
                                  </p:stCondLst>
                                  <p:childTnLst>
                                    <p:set>
                                      <p:cBhvr>
                                        <p:cTn id="182" dur="1" fill="hold">
                                          <p:stCondLst>
                                            <p:cond delay="0"/>
                                          </p:stCondLst>
                                        </p:cTn>
                                        <p:tgtEl>
                                          <p:spTgt spid="40"/>
                                        </p:tgtEl>
                                        <p:attrNameLst>
                                          <p:attrName>style.visibility</p:attrName>
                                        </p:attrNameLst>
                                      </p:cBhvr>
                                      <p:to>
                                        <p:strVal val="visible"/>
                                      </p:to>
                                    </p:set>
                                    <p:animEffect transition="in" filter="wipe(left)">
                                      <p:cBhvr>
                                        <p:cTn id="183" dur="600"/>
                                        <p:tgtEl>
                                          <p:spTgt spid="40"/>
                                        </p:tgtEl>
                                      </p:cBhvr>
                                    </p:animEffect>
                                  </p:childTnLst>
                                </p:cTn>
                              </p:par>
                              <p:par>
                                <p:cTn id="184" presetID="10" presetClass="entr" presetSubtype="0" fill="hold" grpId="0" nodeType="withEffect">
                                  <p:stCondLst>
                                    <p:cond delay="300"/>
                                  </p:stCondLst>
                                  <p:childTnLst>
                                    <p:set>
                                      <p:cBhvr>
                                        <p:cTn id="185" dur="1" fill="hold">
                                          <p:stCondLst>
                                            <p:cond delay="0"/>
                                          </p:stCondLst>
                                        </p:cTn>
                                        <p:tgtEl>
                                          <p:spTgt spid="41"/>
                                        </p:tgtEl>
                                        <p:attrNameLst>
                                          <p:attrName>style.visibility</p:attrName>
                                        </p:attrNameLst>
                                      </p:cBhvr>
                                      <p:to>
                                        <p:strVal val="visible"/>
                                      </p:to>
                                    </p:set>
                                    <p:animEffect transition="in" filter="fade">
                                      <p:cBhvr>
                                        <p:cTn id="186" dur="300"/>
                                        <p:tgtEl>
                                          <p:spTgt spid="41"/>
                                        </p:tgtEl>
                                      </p:cBhvr>
                                    </p:animEffect>
                                  </p:childTnLst>
                                </p:cTn>
                              </p:par>
                            </p:childTnLst>
                          </p:cTn>
                        </p:par>
                        <p:par>
                          <p:cTn id="187" fill="hold">
                            <p:stCondLst>
                              <p:cond delay="4730"/>
                            </p:stCondLst>
                            <p:childTnLst>
                              <p:par>
                                <p:cTn id="188" presetID="10" presetClass="entr" presetSubtype="0" fill="hold" grpId="0" nodeType="afterEffect">
                                  <p:stCondLst>
                                    <p:cond delay="20"/>
                                  </p:stCondLst>
                                  <p:childTnLst>
                                    <p:set>
                                      <p:cBhvr>
                                        <p:cTn id="189" dur="1" fill="hold">
                                          <p:stCondLst>
                                            <p:cond delay="0"/>
                                          </p:stCondLst>
                                        </p:cTn>
                                        <p:tgtEl>
                                          <p:spTgt spid="42"/>
                                        </p:tgtEl>
                                        <p:attrNameLst>
                                          <p:attrName>style.visibility</p:attrName>
                                        </p:attrNameLst>
                                      </p:cBhvr>
                                      <p:to>
                                        <p:strVal val="visible"/>
                                      </p:to>
                                    </p:set>
                                    <p:animEffect transition="in" filter="fade">
                                      <p:cBhvr>
                                        <p:cTn id="190" dur="300"/>
                                        <p:tgtEl>
                                          <p:spTgt spid="42"/>
                                        </p:tgtEl>
                                      </p:cBhvr>
                                    </p:animEffect>
                                  </p:childTnLst>
                                </p:cTn>
                              </p:par>
                              <p:par>
                                <p:cTn id="191" presetID="10" presetClass="entr" presetSubtype="0" fill="hold" grpId="0" nodeType="withEffect">
                                  <p:stCondLst>
                                    <p:cond delay="0"/>
                                  </p:stCondLst>
                                  <p:childTnLst>
                                    <p:set>
                                      <p:cBhvr>
                                        <p:cTn id="192" dur="1" fill="hold">
                                          <p:stCondLst>
                                            <p:cond delay="0"/>
                                          </p:stCondLst>
                                        </p:cTn>
                                        <p:tgtEl>
                                          <p:spTgt spid="43"/>
                                        </p:tgtEl>
                                        <p:attrNameLst>
                                          <p:attrName>style.visibility</p:attrName>
                                        </p:attrNameLst>
                                      </p:cBhvr>
                                      <p:to>
                                        <p:strVal val="visible"/>
                                      </p:to>
                                    </p:set>
                                    <p:animEffect transition="in" filter="fade">
                                      <p:cBhvr>
                                        <p:cTn id="193" dur="300"/>
                                        <p:tgtEl>
                                          <p:spTgt spid="43"/>
                                        </p:tgtEl>
                                      </p:cBhvr>
                                    </p:animEffect>
                                  </p:childTnLst>
                                </p:cTn>
                              </p:par>
                              <p:par>
                                <p:cTn id="194" presetID="10" presetClass="entr" presetSubtype="0" fill="hold" grpId="0" nodeType="withEffect">
                                  <p:stCondLst>
                                    <p:cond delay="0"/>
                                  </p:stCondLst>
                                  <p:childTnLst>
                                    <p:set>
                                      <p:cBhvr>
                                        <p:cTn id="195" dur="1" fill="hold">
                                          <p:stCondLst>
                                            <p:cond delay="0"/>
                                          </p:stCondLst>
                                        </p:cTn>
                                        <p:tgtEl>
                                          <p:spTgt spid="44"/>
                                        </p:tgtEl>
                                        <p:attrNameLst>
                                          <p:attrName>style.visibility</p:attrName>
                                        </p:attrNameLst>
                                      </p:cBhvr>
                                      <p:to>
                                        <p:strVal val="visible"/>
                                      </p:to>
                                    </p:set>
                                    <p:animEffect transition="in" filter="fade">
                                      <p:cBhvr>
                                        <p:cTn id="196" dur="300"/>
                                        <p:tgtEl>
                                          <p:spTgt spid="44"/>
                                        </p:tgtEl>
                                      </p:cBhvr>
                                    </p:animEffect>
                                  </p:childTnLst>
                                </p:cTn>
                              </p:par>
                            </p:childTnLst>
                          </p:cTn>
                        </p:par>
                        <p:par>
                          <p:cTn id="197" fill="hold">
                            <p:stCondLst>
                              <p:cond delay="5050"/>
                            </p:stCondLst>
                            <p:childTnLst>
                              <p:par>
                                <p:cTn id="198" presetID="10" presetClass="entr" presetSubtype="0" fill="hold" grpId="0" nodeType="afterEffect">
                                  <p:stCondLst>
                                    <p:cond delay="20"/>
                                  </p:stCondLst>
                                  <p:childTnLst>
                                    <p:set>
                                      <p:cBhvr>
                                        <p:cTn id="199" dur="1" fill="hold">
                                          <p:stCondLst>
                                            <p:cond delay="0"/>
                                          </p:stCondLst>
                                        </p:cTn>
                                        <p:tgtEl>
                                          <p:spTgt spid="45"/>
                                        </p:tgtEl>
                                        <p:attrNameLst>
                                          <p:attrName>style.visibility</p:attrName>
                                        </p:attrNameLst>
                                      </p:cBhvr>
                                      <p:to>
                                        <p:strVal val="visible"/>
                                      </p:to>
                                    </p:set>
                                    <p:animEffect transition="in" filter="fade">
                                      <p:cBhvr>
                                        <p:cTn id="200" dur="300"/>
                                        <p:tgtEl>
                                          <p:spTgt spid="45"/>
                                        </p:tgtEl>
                                      </p:cBhvr>
                                    </p:animEffect>
                                  </p:childTnLst>
                                </p:cTn>
                              </p:par>
                              <p:par>
                                <p:cTn id="201" presetID="10" presetClass="entr" presetSubtype="0" fill="hold" grpId="0" nodeType="withEffect">
                                  <p:stCondLst>
                                    <p:cond delay="0"/>
                                  </p:stCondLst>
                                  <p:childTnLst>
                                    <p:set>
                                      <p:cBhvr>
                                        <p:cTn id="202" dur="1" fill="hold">
                                          <p:stCondLst>
                                            <p:cond delay="0"/>
                                          </p:stCondLst>
                                        </p:cTn>
                                        <p:tgtEl>
                                          <p:spTgt spid="46"/>
                                        </p:tgtEl>
                                        <p:attrNameLst>
                                          <p:attrName>style.visibility</p:attrName>
                                        </p:attrNameLst>
                                      </p:cBhvr>
                                      <p:to>
                                        <p:strVal val="visible"/>
                                      </p:to>
                                    </p:set>
                                    <p:animEffect transition="in" filter="fade">
                                      <p:cBhvr>
                                        <p:cTn id="203" dur="300"/>
                                        <p:tgtEl>
                                          <p:spTgt spid="46"/>
                                        </p:tgtEl>
                                      </p:cBhvr>
                                    </p:animEffect>
                                  </p:childTnLst>
                                </p:cTn>
                              </p:par>
                              <p:par>
                                <p:cTn id="204" presetID="10" presetClass="entr" presetSubtype="0" fill="hold" grpId="0" nodeType="withEffect">
                                  <p:stCondLst>
                                    <p:cond delay="0"/>
                                  </p:stCondLst>
                                  <p:childTnLst>
                                    <p:set>
                                      <p:cBhvr>
                                        <p:cTn id="205" dur="1" fill="hold">
                                          <p:stCondLst>
                                            <p:cond delay="0"/>
                                          </p:stCondLst>
                                        </p:cTn>
                                        <p:tgtEl>
                                          <p:spTgt spid="47"/>
                                        </p:tgtEl>
                                        <p:attrNameLst>
                                          <p:attrName>style.visibility</p:attrName>
                                        </p:attrNameLst>
                                      </p:cBhvr>
                                      <p:to>
                                        <p:strVal val="visible"/>
                                      </p:to>
                                    </p:set>
                                    <p:animEffect transition="in" filter="fade">
                                      <p:cBhvr>
                                        <p:cTn id="206" dur="300"/>
                                        <p:tgtEl>
                                          <p:spTgt spid="47"/>
                                        </p:tgtEl>
                                      </p:cBhvr>
                                    </p:animEffect>
                                  </p:childTnLst>
                                </p:cTn>
                              </p:par>
                            </p:childTnLst>
                          </p:cTn>
                        </p:par>
                        <p:par>
                          <p:cTn id="207" fill="hold">
                            <p:stCondLst>
                              <p:cond delay="5370"/>
                            </p:stCondLst>
                            <p:childTnLst>
                              <p:par>
                                <p:cTn id="208" presetID="10" presetClass="entr" presetSubtype="0" fill="hold" grpId="0" nodeType="afterEffect">
                                  <p:stCondLst>
                                    <p:cond delay="20"/>
                                  </p:stCondLst>
                                  <p:childTnLst>
                                    <p:set>
                                      <p:cBhvr>
                                        <p:cTn id="209" dur="1" fill="hold">
                                          <p:stCondLst>
                                            <p:cond delay="0"/>
                                          </p:stCondLst>
                                        </p:cTn>
                                        <p:tgtEl>
                                          <p:spTgt spid="48"/>
                                        </p:tgtEl>
                                        <p:attrNameLst>
                                          <p:attrName>style.visibility</p:attrName>
                                        </p:attrNameLst>
                                      </p:cBhvr>
                                      <p:to>
                                        <p:strVal val="visible"/>
                                      </p:to>
                                    </p:set>
                                    <p:animEffect transition="in" filter="fade">
                                      <p:cBhvr>
                                        <p:cTn id="210" dur="300"/>
                                        <p:tgtEl>
                                          <p:spTgt spid="48"/>
                                        </p:tgtEl>
                                      </p:cBhvr>
                                    </p:animEffect>
                                  </p:childTnLst>
                                </p:cTn>
                              </p:par>
                              <p:par>
                                <p:cTn id="211" presetID="10" presetClass="entr" presetSubtype="0" fill="hold" grpId="0" nodeType="withEffect">
                                  <p:stCondLst>
                                    <p:cond delay="0"/>
                                  </p:stCondLst>
                                  <p:childTnLst>
                                    <p:set>
                                      <p:cBhvr>
                                        <p:cTn id="212" dur="1" fill="hold">
                                          <p:stCondLst>
                                            <p:cond delay="0"/>
                                          </p:stCondLst>
                                        </p:cTn>
                                        <p:tgtEl>
                                          <p:spTgt spid="49"/>
                                        </p:tgtEl>
                                        <p:attrNameLst>
                                          <p:attrName>style.visibility</p:attrName>
                                        </p:attrNameLst>
                                      </p:cBhvr>
                                      <p:to>
                                        <p:strVal val="visible"/>
                                      </p:to>
                                    </p:set>
                                    <p:animEffect transition="in" filter="fade">
                                      <p:cBhvr>
                                        <p:cTn id="213" dur="300"/>
                                        <p:tgtEl>
                                          <p:spTgt spid="49"/>
                                        </p:tgtEl>
                                      </p:cBhvr>
                                    </p:animEffect>
                                  </p:childTnLst>
                                </p:cTn>
                              </p:par>
                              <p:par>
                                <p:cTn id="214" presetID="10" presetClass="entr" presetSubtype="0" fill="hold" grpId="0" nodeType="withEffect">
                                  <p:stCondLst>
                                    <p:cond delay="0"/>
                                  </p:stCondLst>
                                  <p:childTnLst>
                                    <p:set>
                                      <p:cBhvr>
                                        <p:cTn id="215" dur="1" fill="hold">
                                          <p:stCondLst>
                                            <p:cond delay="0"/>
                                          </p:stCondLst>
                                        </p:cTn>
                                        <p:tgtEl>
                                          <p:spTgt spid="50"/>
                                        </p:tgtEl>
                                        <p:attrNameLst>
                                          <p:attrName>style.visibility</p:attrName>
                                        </p:attrNameLst>
                                      </p:cBhvr>
                                      <p:to>
                                        <p:strVal val="visible"/>
                                      </p:to>
                                    </p:set>
                                    <p:animEffect transition="in" filter="fade">
                                      <p:cBhvr>
                                        <p:cTn id="216" dur="300"/>
                                        <p:tgtEl>
                                          <p:spTgt spid="50"/>
                                        </p:tgtEl>
                                      </p:cBhvr>
                                    </p:animEffect>
                                  </p:childTnLst>
                                </p:cTn>
                              </p:par>
                            </p:childTnLst>
                          </p:cTn>
                        </p:par>
                        <p:par>
                          <p:cTn id="217" fill="hold">
                            <p:stCondLst>
                              <p:cond delay="5690"/>
                            </p:stCondLst>
                            <p:childTnLst>
                              <p:par>
                                <p:cTn id="218" presetID="10" presetClass="entr" presetSubtype="0" fill="hold" grpId="0" nodeType="afterEffect">
                                  <p:stCondLst>
                                    <p:cond delay="20"/>
                                  </p:stCondLst>
                                  <p:childTnLst>
                                    <p:set>
                                      <p:cBhvr>
                                        <p:cTn id="219" dur="1" fill="hold">
                                          <p:stCondLst>
                                            <p:cond delay="0"/>
                                          </p:stCondLst>
                                        </p:cTn>
                                        <p:tgtEl>
                                          <p:spTgt spid="51"/>
                                        </p:tgtEl>
                                        <p:attrNameLst>
                                          <p:attrName>style.visibility</p:attrName>
                                        </p:attrNameLst>
                                      </p:cBhvr>
                                      <p:to>
                                        <p:strVal val="visible"/>
                                      </p:to>
                                    </p:set>
                                    <p:animEffect transition="in" filter="fade">
                                      <p:cBhvr>
                                        <p:cTn id="220" dur="300"/>
                                        <p:tgtEl>
                                          <p:spTgt spid="51"/>
                                        </p:tgtEl>
                                      </p:cBhvr>
                                    </p:animEffect>
                                  </p:childTnLst>
                                </p:cTn>
                              </p:par>
                              <p:par>
                                <p:cTn id="221" presetID="10" presetClass="entr" presetSubtype="0" fill="hold" grpId="0" nodeType="withEffect">
                                  <p:stCondLst>
                                    <p:cond delay="0"/>
                                  </p:stCondLst>
                                  <p:childTnLst>
                                    <p:set>
                                      <p:cBhvr>
                                        <p:cTn id="222" dur="1" fill="hold">
                                          <p:stCondLst>
                                            <p:cond delay="0"/>
                                          </p:stCondLst>
                                        </p:cTn>
                                        <p:tgtEl>
                                          <p:spTgt spid="52"/>
                                        </p:tgtEl>
                                        <p:attrNameLst>
                                          <p:attrName>style.visibility</p:attrName>
                                        </p:attrNameLst>
                                      </p:cBhvr>
                                      <p:to>
                                        <p:strVal val="visible"/>
                                      </p:to>
                                    </p:set>
                                    <p:animEffect transition="in" filter="fade">
                                      <p:cBhvr>
                                        <p:cTn id="223" dur="300"/>
                                        <p:tgtEl>
                                          <p:spTgt spid="52"/>
                                        </p:tgtEl>
                                      </p:cBhvr>
                                    </p:animEffect>
                                  </p:childTnLst>
                                </p:cTn>
                              </p:par>
                              <p:par>
                                <p:cTn id="224" presetID="10" presetClass="entr" presetSubtype="0" fill="hold" grpId="0" nodeType="withEffect">
                                  <p:stCondLst>
                                    <p:cond delay="0"/>
                                  </p:stCondLst>
                                  <p:childTnLst>
                                    <p:set>
                                      <p:cBhvr>
                                        <p:cTn id="225" dur="1" fill="hold">
                                          <p:stCondLst>
                                            <p:cond delay="0"/>
                                          </p:stCondLst>
                                        </p:cTn>
                                        <p:tgtEl>
                                          <p:spTgt spid="53"/>
                                        </p:tgtEl>
                                        <p:attrNameLst>
                                          <p:attrName>style.visibility</p:attrName>
                                        </p:attrNameLst>
                                      </p:cBhvr>
                                      <p:to>
                                        <p:strVal val="visible"/>
                                      </p:to>
                                    </p:set>
                                    <p:animEffect transition="in" filter="fade">
                                      <p:cBhvr>
                                        <p:cTn id="226" dur="300"/>
                                        <p:tgtEl>
                                          <p:spTgt spid="53"/>
                                        </p:tgtEl>
                                      </p:cBhvr>
                                    </p:animEffect>
                                  </p:childTnLst>
                                </p:cTn>
                              </p:par>
                            </p:childTnLst>
                          </p:cTn>
                        </p:par>
                        <p:par>
                          <p:cTn id="227" fill="hold">
                            <p:stCondLst>
                              <p:cond delay="6010"/>
                            </p:stCondLst>
                            <p:childTnLst>
                              <p:par>
                                <p:cTn id="228" presetID="10" presetClass="entr" presetSubtype="0" fill="hold" grpId="0" nodeType="afterEffect">
                                  <p:stCondLst>
                                    <p:cond delay="80"/>
                                  </p:stCondLst>
                                  <p:childTnLst>
                                    <p:set>
                                      <p:cBhvr>
                                        <p:cTn id="229" dur="1" fill="hold">
                                          <p:stCondLst>
                                            <p:cond delay="0"/>
                                          </p:stCondLst>
                                        </p:cTn>
                                        <p:tgtEl>
                                          <p:spTgt spid="54"/>
                                        </p:tgtEl>
                                        <p:attrNameLst>
                                          <p:attrName>style.visibility</p:attrName>
                                        </p:attrNameLst>
                                      </p:cBhvr>
                                      <p:to>
                                        <p:strVal val="visible"/>
                                      </p:to>
                                    </p:set>
                                    <p:animEffect transition="in" filter="fade">
                                      <p:cBhvr>
                                        <p:cTn id="230" dur="450"/>
                                        <p:tgtEl>
                                          <p:spTgt spid="54"/>
                                        </p:tgtEl>
                                      </p:cBhvr>
                                    </p:animEffect>
                                  </p:childTnLst>
                                </p:cTn>
                              </p:par>
                              <p:par>
                                <p:cTn id="231" presetID="10" presetClass="entr" presetSubtype="0" fill="hold" grpId="0" nodeType="withEffect">
                                  <p:stCondLst>
                                    <p:cond delay="0"/>
                                  </p:stCondLst>
                                  <p:childTnLst>
                                    <p:set>
                                      <p:cBhvr>
                                        <p:cTn id="232" dur="1" fill="hold">
                                          <p:stCondLst>
                                            <p:cond delay="0"/>
                                          </p:stCondLst>
                                        </p:cTn>
                                        <p:tgtEl>
                                          <p:spTgt spid="55"/>
                                        </p:tgtEl>
                                        <p:attrNameLst>
                                          <p:attrName>style.visibility</p:attrName>
                                        </p:attrNameLst>
                                      </p:cBhvr>
                                      <p:to>
                                        <p:strVal val="visible"/>
                                      </p:to>
                                    </p:set>
                                    <p:animEffect transition="in" filter="fade">
                                      <p:cBhvr>
                                        <p:cTn id="233" dur="450"/>
                                        <p:tgtEl>
                                          <p:spTgt spid="55"/>
                                        </p:tgtEl>
                                      </p:cBhvr>
                                    </p:animEffect>
                                  </p:childTnLst>
                                </p:cTn>
                              </p:par>
                            </p:childTnLst>
                          </p:cTn>
                        </p:par>
                        <p:par>
                          <p:cTn id="234" fill="hold">
                            <p:stCondLst>
                              <p:cond delay="6540"/>
                            </p:stCondLst>
                            <p:childTnLst>
                              <p:par>
                                <p:cTn id="235" presetID="10" presetClass="entr" presetSubtype="0" fill="hold" grpId="0" nodeType="afterEffect">
                                  <p:stCondLst>
                                    <p:cond delay="60"/>
                                  </p:stCondLst>
                                  <p:childTnLst>
                                    <p:set>
                                      <p:cBhvr>
                                        <p:cTn id="236" dur="1" fill="hold">
                                          <p:stCondLst>
                                            <p:cond delay="0"/>
                                          </p:stCondLst>
                                        </p:cTn>
                                        <p:tgtEl>
                                          <p:spTgt spid="56"/>
                                        </p:tgtEl>
                                        <p:attrNameLst>
                                          <p:attrName>style.visibility</p:attrName>
                                        </p:attrNameLst>
                                      </p:cBhvr>
                                      <p:to>
                                        <p:strVal val="visible"/>
                                      </p:to>
                                    </p:set>
                                    <p:animEffect transition="in" filter="fade">
                                      <p:cBhvr>
                                        <p:cTn id="237" dur="400"/>
                                        <p:tgtEl>
                                          <p:spTgt spid="56"/>
                                        </p:tgtEl>
                                      </p:cBhvr>
                                    </p:animEffect>
                                  </p:childTnLst>
                                </p:cTn>
                              </p:par>
                            </p:childTnLst>
                          </p:cTn>
                        </p:par>
                        <p:par>
                          <p:cTn id="238" fill="hold">
                            <p:stCondLst>
                              <p:cond delay="7000"/>
                            </p:stCondLst>
                            <p:childTnLst>
                              <p:par>
                                <p:cTn id="239" presetID="10" presetClass="entr" presetSubtype="0" fill="hold" grpId="0" nodeType="afterEffect">
                                  <p:stCondLst>
                                    <p:cond delay="120"/>
                                  </p:stCondLst>
                                  <p:childTnLst>
                                    <p:set>
                                      <p:cBhvr>
                                        <p:cTn id="240" dur="1" fill="hold">
                                          <p:stCondLst>
                                            <p:cond delay="0"/>
                                          </p:stCondLst>
                                        </p:cTn>
                                        <p:tgtEl>
                                          <p:spTgt spid="57"/>
                                        </p:tgtEl>
                                        <p:attrNameLst>
                                          <p:attrName>style.visibility</p:attrName>
                                        </p:attrNameLst>
                                      </p:cBhvr>
                                      <p:to>
                                        <p:strVal val="visible"/>
                                      </p:to>
                                    </p:set>
                                    <p:animEffect transition="in" filter="fade">
                                      <p:cBhvr>
                                        <p:cTn id="241"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9" grpId="0"/>
      <p:bldP spid="10" grpId="0" animBg="1"/>
      <p:bldP spid="11" grpId="0"/>
      <p:bldP spid="13" grpId="0"/>
      <p:bldP spid="14" grpId="0" animBg="1"/>
      <p:bldP spid="15" grpId="0"/>
      <p:bldP spid="17" grpId="0"/>
      <p:bldP spid="18" grpId="0" animBg="1"/>
      <p:bldP spid="19" grpId="0"/>
      <p:bldP spid="21" grpId="0"/>
      <p:bldP spid="22" grpId="0" animBg="1"/>
      <p:bldP spid="23" grpId="0"/>
      <p:bldP spid="25" grpId="0"/>
      <p:bldP spid="26" grpId="0" animBg="1"/>
      <p:bldP spid="27" grpId="0"/>
      <p:bldP spid="29" grpId="0"/>
      <p:bldP spid="30" grpId="0" animBg="1"/>
      <p:bldP spid="31" grpId="0"/>
      <p:bldP spid="33" grpId="0"/>
      <p:bldP spid="34" grpId="0" animBg="1"/>
      <p:bldP spid="35" grpId="0"/>
      <p:bldP spid="36" grpId="0" animBg="1"/>
      <p:bldP spid="37" grpId="0"/>
      <p:bldP spid="38" grpId="0"/>
      <p:bldP spid="39" grpId="0" animBg="1"/>
      <p:bldP spid="40" grpId="0" animBg="1"/>
      <p:bldP spid="41" grpId="0"/>
      <p:bldP spid="42" grpId="0"/>
      <p:bldP spid="43" grpId="0" animBg="1"/>
      <p:bldP spid="44" grpId="0"/>
      <p:bldP spid="45" grpId="0"/>
      <p:bldP spid="46" grpId="0" animBg="1"/>
      <p:bldP spid="47" grpId="0"/>
      <p:bldP spid="48" grpId="0"/>
      <p:bldP spid="49" grpId="0" animBg="1"/>
      <p:bldP spid="50" grpId="0"/>
      <p:bldP spid="51" grpId="0"/>
      <p:bldP spid="52" grpId="0" animBg="1"/>
      <p:bldP spid="53" grpId="0"/>
      <p:bldP spid="54" grpId="0" animBg="1"/>
      <p:bldP spid="55" grpId="0"/>
      <p:bldP spid="56" grpId="0"/>
      <p:bldP spid="57" grpId="0"/>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t"/>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2/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9144000" cy="274320"/>
          </a:xfrm>
          <a:prstGeom prst="rect">
            <a:avLst/>
          </a:prstGeom>
          <a:noFill/>
          <a:ln/>
        </p:spPr>
        <p:txBody>
          <a:bodyPr wrap="square" lIns="0" tIns="0" rIns="0" bIns="0" rtlCol="0" anchor="t"/>
          <a:lstStyle/>
          <a:p>
            <a:pPr indent="0" marL="0">
              <a:buNone/>
            </a:pPr>
            <a:r>
              <a:rPr lang="en-US" sz="1100" b="1" spc="300" kern="0" dirty="0">
                <a:solidFill>
                  <a:srgbClr val="F5A623"/>
                </a:solidFill>
                <a:latin typeface="Calibri" pitchFamily="34" charset="0"/>
                <a:ea typeface="Calibri" pitchFamily="34" charset="-122"/>
                <a:cs typeface="Calibri" pitchFamily="34" charset="-120"/>
              </a:rPr>
              <a:t>COMMERCIAL USE · INSIDE RELIANCE</a:t>
            </a:r>
            <a:endParaRPr lang="en-US" sz="1100" dirty="0"/>
          </a:p>
        </p:txBody>
      </p:sp>
      <p:sp>
        <p:nvSpPr>
          <p:cNvPr id="5" name="title"/>
          <p:cNvSpPr txBox="1"/>
          <p:nvPr/>
        </p:nvSpPr>
        <p:spPr>
          <a:xfrm>
            <a:off x="548640" y="1170432"/>
            <a:ext cx="11094415"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Reliance is the first proving ground</a:t>
            </a:r>
            <a:endParaRPr lang="en-US" sz="3200" dirty="0"/>
          </a:p>
        </p:txBody>
      </p:sp>
      <p:sp>
        <p:nvSpPr>
          <p:cNvPr id="6" name="hero"/>
          <p:cNvSpPr/>
          <p:nvPr/>
        </p:nvSpPr>
        <p:spPr>
          <a:xfrm>
            <a:off x="548640" y="2057400"/>
            <a:ext cx="6172200" cy="3520440"/>
          </a:xfrm>
          <a:prstGeom prst="roundRect">
            <a:avLst>
              <a:gd name="adj" fmla="val 3117"/>
            </a:avLst>
          </a:prstGeom>
          <a:solidFill>
            <a:srgbClr val="1C2447"/>
          </a:solidFill>
          <a:ln w="19050">
            <a:solidFill>
              <a:srgbClr val="F5A623"/>
            </a:solidFill>
            <a:prstDash val="solid"/>
          </a:ln>
        </p:spPr>
      </p:sp>
      <p:pic>
        <p:nvPicPr>
          <p:cNvPr id="7" name="heroI" descr="preencoded.png">    </p:cNvPr>
          <p:cNvPicPr>
            <a:picLocks noChangeAspect="1"/>
          </p:cNvPicPr>
          <p:nvPr/>
        </p:nvPicPr>
        <p:blipFill>
          <a:blip r:embed="rId2"/>
          <a:stretch>
            <a:fillRect/>
          </a:stretch>
        </p:blipFill>
        <p:spPr>
          <a:xfrm>
            <a:off x="822960" y="2286000"/>
            <a:ext cx="548640" cy="548640"/>
          </a:xfrm>
          <a:prstGeom prst="rect">
            <a:avLst/>
          </a:prstGeom>
        </p:spPr>
      </p:pic>
      <p:sp>
        <p:nvSpPr>
          <p:cNvPr id="8" name="heroH"/>
          <p:cNvSpPr txBox="1"/>
          <p:nvPr/>
        </p:nvSpPr>
        <p:spPr>
          <a:xfrm>
            <a:off x="1554480" y="2231136"/>
            <a:ext cx="4983480" cy="731520"/>
          </a:xfrm>
          <a:prstGeom prst="rect">
            <a:avLst/>
          </a:prstGeom>
          <a:noFill/>
          <a:ln/>
        </p:spPr>
        <p:txBody>
          <a:bodyPr wrap="square" lIns="0" tIns="0" rIns="0" bIns="0" rtlCol="0" anchor="t"/>
          <a:lstStyle/>
          <a:p>
            <a:pPr indent="0" marL="0">
              <a:buNone/>
            </a:pPr>
            <a:r>
              <a:rPr lang="en-US" sz="1050" b="1" spc="200" kern="0" dirty="0">
                <a:solidFill>
                  <a:srgbClr val="F5A623"/>
                </a:solidFill>
                <a:latin typeface="Calibri" pitchFamily="34" charset="0"/>
                <a:ea typeface="Calibri" pitchFamily="34" charset="-122"/>
                <a:cs typeface="Calibri" pitchFamily="34" charset="-120"/>
              </a:rPr>
              <a:t>THE HERO USE CASE</a:t>
            </a:r>
            <a:endParaRPr lang="en-US" sz="1050" dirty="0"/>
          </a:p>
          <a:p>
            <a:pPr indent="0" marL="0">
              <a:buNone/>
            </a:pPr>
            <a:r>
              <a:rPr lang="en-US" sz="2300" b="1" dirty="0">
                <a:solidFill>
                  <a:srgbClr val="FFFFFF"/>
                </a:solidFill>
                <a:latin typeface="Cambria" pitchFamily="34" charset="0"/>
                <a:ea typeface="Cambria" pitchFamily="34" charset="-122"/>
                <a:cs typeface="Cambria" pitchFamily="34" charset="-120"/>
              </a:rPr>
              <a:t>Jio network operations</a:t>
            </a:r>
            <a:endParaRPr lang="en-US" sz="1050" dirty="0"/>
          </a:p>
        </p:txBody>
      </p:sp>
      <p:sp>
        <p:nvSpPr>
          <p:cNvPr id="9" name="heroT"/>
          <p:cNvSpPr txBox="1"/>
          <p:nvPr/>
        </p:nvSpPr>
        <p:spPr>
          <a:xfrm>
            <a:off x="868680" y="3108960"/>
            <a:ext cx="5577840" cy="13258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EEF1F7"/>
                </a:solidFill>
                <a:latin typeface="Calibri" pitchFamily="34" charset="0"/>
                <a:ea typeface="Calibri" pitchFamily="34" charset="-122"/>
                <a:cs typeface="Calibri" pitchFamily="34" charset="-120"/>
              </a:rPr>
              <a:t>Can we tell rain-related signal loss from equipment faults before sending a crew?</a:t>
            </a:r>
            <a:endParaRPr lang="en-US" sz="1500" dirty="0"/>
          </a:p>
          <a:p>
            <a:pPr marL="342900" indent="-342900">
              <a:spcAft>
                <a:spcPts val="600"/>
              </a:spcAft>
              <a:buSzPct val="100000"/>
              <a:buChar char="•"/>
            </a:pPr>
            <a:r>
              <a:rPr lang="en-US" sz="1500" dirty="0">
                <a:solidFill>
                  <a:srgbClr val="EEF1F7"/>
                </a:solidFill>
                <a:latin typeface="Calibri" pitchFamily="34" charset="0"/>
                <a:ea typeface="Calibri" pitchFamily="34" charset="-122"/>
                <a:cs typeface="Calibri" pitchFamily="34" charset="-120"/>
              </a:rPr>
              <a:t>Potentially fewer wasted visits and earlier flood alerts.</a:t>
            </a:r>
            <a:endParaRPr lang="en-US" sz="1500" dirty="0"/>
          </a:p>
          <a:p>
            <a:pPr marL="342900" indent="-342900">
              <a:spcAft>
                <a:spcPts val="600"/>
              </a:spcAft>
              <a:buSzPct val="100000"/>
              <a:buChar char="•"/>
            </a:pPr>
            <a:r>
              <a:rPr lang="en-US" sz="1500" dirty="0">
                <a:solidFill>
                  <a:srgbClr val="EEF1F7"/>
                </a:solidFill>
                <a:latin typeface="Calibri" pitchFamily="34" charset="0"/>
                <a:ea typeface="Calibri" pitchFamily="34" charset="-122"/>
                <a:cs typeface="Calibri" pitchFamily="34" charset="-120"/>
              </a:rPr>
              <a:t>Jio owns the network data and controls the operational decision.</a:t>
            </a:r>
            <a:endParaRPr lang="en-US" sz="1500" dirty="0"/>
          </a:p>
        </p:txBody>
      </p:sp>
      <p:sp>
        <p:nvSpPr>
          <p:cNvPr id="10" name="heroQ"/>
          <p:cNvSpPr txBox="1"/>
          <p:nvPr/>
        </p:nvSpPr>
        <p:spPr>
          <a:xfrm>
            <a:off x="868680" y="4434840"/>
            <a:ext cx="5577840" cy="502920"/>
          </a:xfrm>
          <a:prstGeom prst="rect">
            <a:avLst/>
          </a:prstGeom>
          <a:noFill/>
          <a:ln/>
        </p:spPr>
        <p:txBody>
          <a:bodyPr wrap="square" lIns="0" tIns="0" rIns="0" bIns="0" rtlCol="0" anchor="t"/>
          <a:lstStyle/>
          <a:p>
            <a:pPr indent="0" marL="0">
              <a:buNone/>
            </a:pPr>
            <a:r>
              <a:rPr lang="en-US" sz="1400" i="1" dirty="0">
                <a:solidFill>
                  <a:srgbClr val="F5A623"/>
                </a:solidFill>
                <a:latin typeface="Cambria" pitchFamily="34" charset="0"/>
                <a:ea typeface="Cambria" pitchFamily="34" charset="-122"/>
                <a:cs typeface="Cambria" pitchFamily="34" charset="-120"/>
              </a:rPr>
              <a:t>“Before Jio sells weather intelligence to anyone, it uses it to understand its own network.”</a:t>
            </a:r>
            <a:endParaRPr lang="en-US" sz="1400" dirty="0"/>
          </a:p>
        </p:txBody>
      </p:sp>
      <p:sp>
        <p:nvSpPr>
          <p:cNvPr id="11" name="heroP"/>
          <p:cNvSpPr/>
          <p:nvPr/>
        </p:nvSpPr>
        <p:spPr>
          <a:xfrm>
            <a:off x="868680" y="5074920"/>
            <a:ext cx="3291840" cy="292608"/>
          </a:xfrm>
          <a:prstGeom prst="roundRect">
            <a:avLst>
              <a:gd name="adj" fmla="val 25000"/>
            </a:avLst>
          </a:prstGeom>
          <a:solidFill>
            <a:srgbClr val="2B2208"/>
          </a:solidFill>
          <a:ln w="9525">
            <a:solidFill>
              <a:srgbClr val="F5A623"/>
            </a:solidFill>
            <a:prstDash val="solid"/>
          </a:ln>
        </p:spPr>
      </p:sp>
      <p:sp>
        <p:nvSpPr>
          <p:cNvPr id="12" name="heroPT"/>
          <p:cNvSpPr txBox="1"/>
          <p:nvPr/>
        </p:nvSpPr>
        <p:spPr>
          <a:xfrm>
            <a:off x="868680" y="5074920"/>
            <a:ext cx="3291840" cy="292608"/>
          </a:xfrm>
          <a:prstGeom prst="rect">
            <a:avLst/>
          </a:prstGeom>
          <a:noFill/>
          <a:ln/>
        </p:spPr>
        <p:txBody>
          <a:bodyPr wrap="square" lIns="0" tIns="0" rIns="0" bIns="0" rtlCol="0" anchor="ctr"/>
          <a:lstStyle/>
          <a:p>
            <a:pPr algn="ctr" indent="0" marL="0">
              <a:buNone/>
            </a:pPr>
            <a:r>
              <a:rPr lang="en-US" sz="1050" b="1" dirty="0">
                <a:solidFill>
                  <a:srgbClr val="F5A623"/>
                </a:solidFill>
                <a:latin typeface="Calibri" pitchFamily="34" charset="0"/>
                <a:ea typeface="Calibri" pitchFamily="34" charset="-122"/>
                <a:cs typeface="Calibri" pitchFamily="34" charset="-120"/>
              </a:rPr>
              <a:t>Tests accuracy and savings</a:t>
            </a:r>
            <a:endParaRPr lang="en-US" sz="1050" dirty="0"/>
          </a:p>
        </p:txBody>
      </p:sp>
      <p:sp>
        <p:nvSpPr>
          <p:cNvPr id="13" name="use0"/>
          <p:cNvSpPr/>
          <p:nvPr/>
        </p:nvSpPr>
        <p:spPr>
          <a:xfrm>
            <a:off x="6949440" y="2057400"/>
            <a:ext cx="4693615" cy="1691640"/>
          </a:xfrm>
          <a:prstGeom prst="roundRect">
            <a:avLst>
              <a:gd name="adj" fmla="val 6486"/>
            </a:avLst>
          </a:prstGeom>
          <a:solidFill>
            <a:srgbClr val="141B36"/>
          </a:solidFill>
          <a:ln w="9525">
            <a:solidFill>
              <a:srgbClr val="2A3357"/>
            </a:solidFill>
            <a:prstDash val="solid"/>
          </a:ln>
        </p:spPr>
      </p:sp>
      <p:pic>
        <p:nvPicPr>
          <p:cNvPr id="14" name="useI0" descr="preencoded.png">    </p:cNvPr>
          <p:cNvPicPr>
            <a:picLocks noChangeAspect="1"/>
          </p:cNvPicPr>
          <p:nvPr/>
        </p:nvPicPr>
        <p:blipFill>
          <a:blip r:embed="rId3"/>
          <a:stretch>
            <a:fillRect/>
          </a:stretch>
        </p:blipFill>
        <p:spPr>
          <a:xfrm>
            <a:off x="7150608" y="2240280"/>
            <a:ext cx="347472" cy="347472"/>
          </a:xfrm>
          <a:prstGeom prst="rect">
            <a:avLst/>
          </a:prstGeom>
        </p:spPr>
      </p:pic>
      <p:sp>
        <p:nvSpPr>
          <p:cNvPr id="15" name="useH0"/>
          <p:cNvSpPr txBox="1"/>
          <p:nvPr/>
        </p:nvSpPr>
        <p:spPr>
          <a:xfrm>
            <a:off x="7635240" y="2221992"/>
            <a:ext cx="3824935" cy="38404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JioMart and Reliance Retail</a:t>
            </a:r>
            <a:endParaRPr lang="en-US" sz="1600" dirty="0"/>
          </a:p>
        </p:txBody>
      </p:sp>
      <p:sp>
        <p:nvSpPr>
          <p:cNvPr id="16" name="useT0"/>
          <p:cNvSpPr txBox="1"/>
          <p:nvPr/>
        </p:nvSpPr>
        <p:spPr>
          <a:xfrm>
            <a:off x="7150608" y="2715768"/>
            <a:ext cx="4309567" cy="960120"/>
          </a:xfrm>
          <a:prstGeom prst="rect">
            <a:avLst/>
          </a:prstGeom>
          <a:noFill/>
          <a:ln/>
        </p:spPr>
        <p:txBody>
          <a:bodyPr wrap="square" lIns="0" tIns="0" rIns="0" bIns="0" rtlCol="0" anchor="t"/>
          <a:lstStyle/>
          <a:p>
            <a:pPr indent="0" marL="0">
              <a:spcAft>
                <a:spcPts val="500"/>
              </a:spcAft>
              <a:buNone/>
            </a:pPr>
            <a:r>
              <a:rPr lang="en-US" sz="1350" dirty="0">
                <a:solidFill>
                  <a:srgbClr val="B9C2D8"/>
                </a:solidFill>
                <a:latin typeface="Calibri" pitchFamily="34" charset="0"/>
                <a:ea typeface="Calibri" pitchFamily="34" charset="-122"/>
                <a:cs typeface="Calibri" pitchFamily="34" charset="-120"/>
              </a:rPr>
              <a:t>Rain-aware dispatch, delivery promises and zone pauses.</a:t>
            </a:r>
            <a:endParaRPr lang="en-US" sz="1350" dirty="0"/>
          </a:p>
          <a:p>
            <a:pPr indent="0" marL="0">
              <a:spcAft>
                <a:spcPts val="500"/>
              </a:spcAft>
              <a:buNone/>
            </a:pPr>
            <a:r>
              <a:rPr lang="en-US" sz="1250" b="1" dirty="0">
                <a:solidFill>
                  <a:srgbClr val="F5A623"/>
                </a:solidFill>
                <a:latin typeface="Calibri" pitchFamily="34" charset="0"/>
                <a:ea typeface="Calibri" pitchFamily="34" charset="-122"/>
                <a:cs typeface="Calibri" pitchFamily="34" charset="-120"/>
              </a:rPr>
              <a:t>Tests commercial value</a:t>
            </a:r>
            <a:endParaRPr lang="en-US" sz="1350" dirty="0"/>
          </a:p>
        </p:txBody>
      </p:sp>
      <p:sp>
        <p:nvSpPr>
          <p:cNvPr id="17" name="use1"/>
          <p:cNvSpPr/>
          <p:nvPr/>
        </p:nvSpPr>
        <p:spPr>
          <a:xfrm>
            <a:off x="6949440" y="3886200"/>
            <a:ext cx="4693615" cy="1691640"/>
          </a:xfrm>
          <a:prstGeom prst="roundRect">
            <a:avLst>
              <a:gd name="adj" fmla="val 6486"/>
            </a:avLst>
          </a:prstGeom>
          <a:solidFill>
            <a:srgbClr val="141B36"/>
          </a:solidFill>
          <a:ln w="9525">
            <a:solidFill>
              <a:srgbClr val="2A3357"/>
            </a:solidFill>
            <a:prstDash val="solid"/>
          </a:ln>
        </p:spPr>
      </p:sp>
      <p:pic>
        <p:nvPicPr>
          <p:cNvPr id="18" name="useI1" descr="preencoded.png">    </p:cNvPr>
          <p:cNvPicPr>
            <a:picLocks noChangeAspect="1"/>
          </p:cNvPicPr>
          <p:nvPr/>
        </p:nvPicPr>
        <p:blipFill>
          <a:blip r:embed="rId4"/>
          <a:stretch>
            <a:fillRect/>
          </a:stretch>
        </p:blipFill>
        <p:spPr>
          <a:xfrm>
            <a:off x="7150608" y="4069080"/>
            <a:ext cx="347472" cy="347472"/>
          </a:xfrm>
          <a:prstGeom prst="rect">
            <a:avLst/>
          </a:prstGeom>
        </p:spPr>
      </p:pic>
      <p:sp>
        <p:nvSpPr>
          <p:cNvPr id="19" name="useH1"/>
          <p:cNvSpPr txBox="1"/>
          <p:nvPr/>
        </p:nvSpPr>
        <p:spPr>
          <a:xfrm>
            <a:off x="7635240" y="4050792"/>
            <a:ext cx="3824935" cy="38404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MyJio</a:t>
            </a:r>
            <a:endParaRPr lang="en-US" sz="1600" dirty="0"/>
          </a:p>
        </p:txBody>
      </p:sp>
      <p:sp>
        <p:nvSpPr>
          <p:cNvPr id="20" name="useT1"/>
          <p:cNvSpPr txBox="1"/>
          <p:nvPr/>
        </p:nvSpPr>
        <p:spPr>
          <a:xfrm>
            <a:off x="7150608" y="4544568"/>
            <a:ext cx="4309567" cy="960120"/>
          </a:xfrm>
          <a:prstGeom prst="rect">
            <a:avLst/>
          </a:prstGeom>
          <a:noFill/>
          <a:ln/>
        </p:spPr>
        <p:txBody>
          <a:bodyPr wrap="square" lIns="0" tIns="0" rIns="0" bIns="0" rtlCol="0" anchor="t"/>
          <a:lstStyle/>
          <a:p>
            <a:pPr indent="0" marL="0">
              <a:spcAft>
                <a:spcPts val="500"/>
              </a:spcAft>
              <a:buNone/>
            </a:pPr>
            <a:r>
              <a:rPr lang="en-US" sz="1350" dirty="0">
                <a:solidFill>
                  <a:srgbClr val="B9C2D8"/>
                </a:solidFill>
                <a:latin typeface="Calibri" pitchFamily="34" charset="0"/>
                <a:ea typeface="Calibri" pitchFamily="34" charset="-122"/>
                <a:cs typeface="Calibri" pitchFamily="34" charset="-120"/>
              </a:rPr>
              <a:t>Street-level rain alerts, plus one-tap “is it raining here?” checks.</a:t>
            </a:r>
            <a:endParaRPr lang="en-US" sz="1350" dirty="0"/>
          </a:p>
          <a:p>
            <a:pPr indent="0" marL="0">
              <a:spcAft>
                <a:spcPts val="500"/>
              </a:spcAft>
              <a:buNone/>
            </a:pPr>
            <a:r>
              <a:rPr lang="en-US" sz="1250" b="1" dirty="0">
                <a:solidFill>
                  <a:srgbClr val="F5A623"/>
                </a:solidFill>
                <a:latin typeface="Calibri" pitchFamily="34" charset="0"/>
                <a:ea typeface="Calibri" pitchFamily="34" charset="-122"/>
                <a:cs typeface="Calibri" pitchFamily="34" charset="-120"/>
              </a:rPr>
              <a:t>Tests reach at scale</a:t>
            </a:r>
            <a:endParaRPr lang="en-US" sz="1350" dirty="0"/>
          </a:p>
        </p:txBody>
      </p:sp>
      <p:sp>
        <p:nvSpPr>
          <p:cNvPr id="21" name="takeaway"/>
          <p:cNvSpPr txBox="1"/>
          <p:nvPr/>
        </p:nvSpPr>
        <p:spPr>
          <a:xfrm>
            <a:off x="548640" y="5760720"/>
            <a:ext cx="11094415" cy="457200"/>
          </a:xfrm>
          <a:prstGeom prst="rect">
            <a:avLst/>
          </a:prstGeom>
          <a:noFill/>
          <a:ln/>
        </p:spPr>
        <p:txBody>
          <a:bodyPr wrap="square" lIns="0" tIns="0" rIns="0" bIns="0" rtlCol="0" anchor="t"/>
          <a:lstStyle/>
          <a:p>
            <a:pPr indent="0" marL="0">
              <a:buNone/>
            </a:pPr>
            <a:r>
              <a:rPr lang="en-US" sz="1800" b="1" i="1" dirty="0">
                <a:solidFill>
                  <a:srgbClr val="F5A623"/>
                </a:solidFill>
                <a:latin typeface="Cambria" pitchFamily="34" charset="0"/>
                <a:ea typeface="Cambria" pitchFamily="34" charset="-122"/>
                <a:cs typeface="Cambria" pitchFamily="34" charset="-120"/>
              </a:rPr>
              <a:t>Prove accuracy and value at home before selling outside.</a:t>
            </a:r>
            <a:endParaRPr lang="en-US" sz="18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89"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00"/>
                                        <p:tgtEl>
                                          <p:spTgt spid="4"/>
                                        </p:tgtEl>
                                      </p:cBhvr>
                                    </p:animEffect>
                                  </p:childTnLst>
                                </p:cTn>
                              </p:par>
                              <p:par>
                                <p:cTn id="7" presetID="42" presetClass="entr" presetSubtype="0" fill="hold" grpId="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650"/>
                                        <p:tgtEl>
                                          <p:spTgt spid="5"/>
                                        </p:tgtEl>
                                      </p:cBhvr>
                                    </p:animEffect>
                                    <p:anim calcmode="lin" valueType="num">
                                      <p:cBhvr>
                                        <p:cTn id="10" dur="650" fill="hold"/>
                                        <p:tgtEl>
                                          <p:spTgt spid="5"/>
                                        </p:tgtEl>
                                        <p:attrNameLst>
                                          <p:attrName>ppt_x</p:attrName>
                                        </p:attrNameLst>
                                      </p:cBhvr>
                                      <p:tavLst>
                                        <p:tav tm="0">
                                          <p:val>
                                            <p:strVal val="#ppt_x"/>
                                          </p:val>
                                        </p:tav>
                                        <p:tav tm="100000">
                                          <p:val>
                                            <p:strVal val="#ppt_x"/>
                                          </p:val>
                                        </p:tav>
                                      </p:tavLst>
                                    </p:anim>
                                    <p:anim calcmode="lin" valueType="num">
                                      <p:cBhvr>
                                        <p:cTn id="11" dur="65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750"/>
                            </p:stCondLst>
                            <p:childTnLst>
                              <p:par>
                                <p:cTn id="13" presetID="53" presetClass="entr" presetSubtype="16" fill="hold" grpId="0" nodeType="afterEffect">
                                  <p:stCondLst>
                                    <p:cond delay="60"/>
                                  </p:stCondLst>
                                  <p:childTnLst>
                                    <p:set>
                                      <p:cBhvr>
                                        <p:cTn id="14" dur="1" fill="hold">
                                          <p:stCondLst>
                                            <p:cond delay="0"/>
                                          </p:stCondLst>
                                        </p:cTn>
                                        <p:tgtEl>
                                          <p:spTgt spid="6"/>
                                        </p:tgtEl>
                                        <p:attrNameLst>
                                          <p:attrName>style.visibility</p:attrName>
                                        </p:attrNameLst>
                                      </p:cBhvr>
                                      <p:to>
                                        <p:strVal val="visible"/>
                                      </p:to>
                                    </p:set>
                                    <p:anim calcmode="lin" valueType="num">
                                      <p:cBhvr>
                                        <p:cTn id="15" dur="550" fill="hold"/>
                                        <p:tgtEl>
                                          <p:spTgt spid="6"/>
                                        </p:tgtEl>
                                        <p:attrNameLst>
                                          <p:attrName>ppt_w</p:attrName>
                                        </p:attrNameLst>
                                      </p:cBhvr>
                                      <p:tavLst>
                                        <p:tav tm="0">
                                          <p:val>
                                            <p:strVal val="#ppt_w*.82"/>
                                          </p:val>
                                        </p:tav>
                                        <p:tav tm="100000">
                                          <p:val>
                                            <p:strVal val="#ppt_w"/>
                                          </p:val>
                                        </p:tav>
                                      </p:tavLst>
                                    </p:anim>
                                    <p:anim calcmode="lin" valueType="num">
                                      <p:cBhvr>
                                        <p:cTn id="16" dur="550" fill="hold"/>
                                        <p:tgtEl>
                                          <p:spTgt spid="6"/>
                                        </p:tgtEl>
                                        <p:attrNameLst>
                                          <p:attrName>ppt_h</p:attrName>
                                        </p:attrNameLst>
                                      </p:cBhvr>
                                      <p:tavLst>
                                        <p:tav tm="0">
                                          <p:val>
                                            <p:strVal val="#ppt_h*.82"/>
                                          </p:val>
                                        </p:tav>
                                        <p:tav tm="100000">
                                          <p:val>
                                            <p:strVal val="#ppt_h"/>
                                          </p:val>
                                        </p:tav>
                                      </p:tavLst>
                                    </p:anim>
                                    <p:animEffect transition="in" filter="fade">
                                      <p:cBhvr>
                                        <p:cTn id="17" dur="550"/>
                                        <p:tgtEl>
                                          <p:spTgt spid="6"/>
                                        </p:tgtEl>
                                      </p:cBhvr>
                                    </p:animEffect>
                                  </p:childTnLst>
                                </p:cTn>
                              </p:par>
                              <p:par>
                                <p:cTn id="18" presetID="53" presetClass="entr" presetSubtype="16"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p:cTn id="20" dur="550" fill="hold"/>
                                        <p:tgtEl>
                                          <p:spTgt spid="7"/>
                                        </p:tgtEl>
                                        <p:attrNameLst>
                                          <p:attrName>ppt_w</p:attrName>
                                        </p:attrNameLst>
                                      </p:cBhvr>
                                      <p:tavLst>
                                        <p:tav tm="0">
                                          <p:val>
                                            <p:strVal val="#ppt_w*.82"/>
                                          </p:val>
                                        </p:tav>
                                        <p:tav tm="100000">
                                          <p:val>
                                            <p:strVal val="#ppt_w"/>
                                          </p:val>
                                        </p:tav>
                                      </p:tavLst>
                                    </p:anim>
                                    <p:anim calcmode="lin" valueType="num">
                                      <p:cBhvr>
                                        <p:cTn id="21" dur="550" fill="hold"/>
                                        <p:tgtEl>
                                          <p:spTgt spid="7"/>
                                        </p:tgtEl>
                                        <p:attrNameLst>
                                          <p:attrName>ppt_h</p:attrName>
                                        </p:attrNameLst>
                                      </p:cBhvr>
                                      <p:tavLst>
                                        <p:tav tm="0">
                                          <p:val>
                                            <p:strVal val="#ppt_h*.82"/>
                                          </p:val>
                                        </p:tav>
                                        <p:tav tm="100000">
                                          <p:val>
                                            <p:strVal val="#ppt_h"/>
                                          </p:val>
                                        </p:tav>
                                      </p:tavLst>
                                    </p:anim>
                                    <p:animEffect transition="in" filter="fade">
                                      <p:cBhvr>
                                        <p:cTn id="22" dur="550"/>
                                        <p:tgtEl>
                                          <p:spTgt spid="7"/>
                                        </p:tgtEl>
                                      </p:cBhvr>
                                    </p:animEffect>
                                  </p:childTnLst>
                                </p:cTn>
                              </p:par>
                              <p:par>
                                <p:cTn id="23" presetID="53" presetClass="entr" presetSubtype="16"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p:cTn id="25" dur="550" fill="hold"/>
                                        <p:tgtEl>
                                          <p:spTgt spid="8"/>
                                        </p:tgtEl>
                                        <p:attrNameLst>
                                          <p:attrName>ppt_w</p:attrName>
                                        </p:attrNameLst>
                                      </p:cBhvr>
                                      <p:tavLst>
                                        <p:tav tm="0">
                                          <p:val>
                                            <p:strVal val="#ppt_w*.82"/>
                                          </p:val>
                                        </p:tav>
                                        <p:tav tm="100000">
                                          <p:val>
                                            <p:strVal val="#ppt_w"/>
                                          </p:val>
                                        </p:tav>
                                      </p:tavLst>
                                    </p:anim>
                                    <p:anim calcmode="lin" valueType="num">
                                      <p:cBhvr>
                                        <p:cTn id="26" dur="550" fill="hold"/>
                                        <p:tgtEl>
                                          <p:spTgt spid="8"/>
                                        </p:tgtEl>
                                        <p:attrNameLst>
                                          <p:attrName>ppt_h</p:attrName>
                                        </p:attrNameLst>
                                      </p:cBhvr>
                                      <p:tavLst>
                                        <p:tav tm="0">
                                          <p:val>
                                            <p:strVal val="#ppt_h*.82"/>
                                          </p:val>
                                        </p:tav>
                                        <p:tav tm="100000">
                                          <p:val>
                                            <p:strVal val="#ppt_h"/>
                                          </p:val>
                                        </p:tav>
                                      </p:tavLst>
                                    </p:anim>
                                    <p:animEffect transition="in" filter="fade">
                                      <p:cBhvr>
                                        <p:cTn id="27" dur="550"/>
                                        <p:tgtEl>
                                          <p:spTgt spid="8"/>
                                        </p:tgtEl>
                                      </p:cBhvr>
                                    </p:animEffect>
                                  </p:childTnLst>
                                </p:cTn>
                              </p:par>
                            </p:childTnLst>
                          </p:cTn>
                        </p:par>
                        <p:par>
                          <p:cTn id="28" fill="hold">
                            <p:stCondLst>
                              <p:cond delay="1360"/>
                            </p:stCondLst>
                            <p:childTnLst>
                              <p:par>
                                <p:cTn id="29" presetID="10" presetClass="entr" presetSubtype="0" fill="hold" grpId="0" nodeType="after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par>
                          <p:cTn id="32" fill="hold">
                            <p:stCondLst>
                              <p:cond delay="1860"/>
                            </p:stCondLst>
                            <p:childTnLst>
                              <p:par>
                                <p:cTn id="33" presetID="10" presetClass="entr" presetSubtype="0" fill="hold" grpId="0" nodeType="afterEffect">
                                  <p:stCondLst>
                                    <p:cond delay="6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childTnLst>
                          </p:cTn>
                        </p:par>
                        <p:par>
                          <p:cTn id="36" fill="hold">
                            <p:stCondLst>
                              <p:cond delay="2420"/>
                            </p:stCondLst>
                            <p:childTnLst>
                              <p:par>
                                <p:cTn id="37" presetID="10" presetClass="entr" presetSubtype="0" fill="hold" grpId="0" nodeType="after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400"/>
                                        <p:tgtEl>
                                          <p:spTgt spid="1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400"/>
                                        <p:tgtEl>
                                          <p:spTgt spid="12"/>
                                        </p:tgtEl>
                                      </p:cBhvr>
                                    </p:animEffect>
                                  </p:childTnLst>
                                </p:cTn>
                              </p:par>
                            </p:childTnLst>
                          </p:cTn>
                        </p:par>
                        <p:par>
                          <p:cTn id="43" fill="hold">
                            <p:stCondLst>
                              <p:cond delay="2820"/>
                            </p:stCondLst>
                            <p:childTnLst>
                              <p:par>
                                <p:cTn id="44" presetID="42" presetClass="entr" presetSubtype="0" fill="hold" grpId="0" nodeType="afterEffect">
                                  <p:stCondLst>
                                    <p:cond delay="4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420"/>
                                        <p:tgtEl>
                                          <p:spTgt spid="13"/>
                                        </p:tgtEl>
                                      </p:cBhvr>
                                    </p:animEffect>
                                    <p:anim calcmode="lin" valueType="num">
                                      <p:cBhvr>
                                        <p:cTn id="47" dur="420" fill="hold"/>
                                        <p:tgtEl>
                                          <p:spTgt spid="13"/>
                                        </p:tgtEl>
                                        <p:attrNameLst>
                                          <p:attrName>ppt_x</p:attrName>
                                        </p:attrNameLst>
                                      </p:cBhvr>
                                      <p:tavLst>
                                        <p:tav tm="0">
                                          <p:val>
                                            <p:strVal val="#ppt_x"/>
                                          </p:val>
                                        </p:tav>
                                        <p:tav tm="100000">
                                          <p:val>
                                            <p:strVal val="#ppt_x"/>
                                          </p:val>
                                        </p:tav>
                                      </p:tavLst>
                                    </p:anim>
                                    <p:anim calcmode="lin" valueType="num">
                                      <p:cBhvr>
                                        <p:cTn id="48" dur="420" fill="hold"/>
                                        <p:tgtEl>
                                          <p:spTgt spid="13"/>
                                        </p:tgtEl>
                                        <p:attrNameLst>
                                          <p:attrName>ppt_y</p:attrName>
                                        </p:attrNameLst>
                                      </p:cBhvr>
                                      <p:tavLst>
                                        <p:tav tm="0">
                                          <p:val>
                                            <p:strVal val="#ppt_y+.06"/>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420"/>
                                        <p:tgtEl>
                                          <p:spTgt spid="14"/>
                                        </p:tgtEl>
                                      </p:cBhvr>
                                    </p:animEffect>
                                    <p:anim calcmode="lin" valueType="num">
                                      <p:cBhvr>
                                        <p:cTn id="52" dur="420" fill="hold"/>
                                        <p:tgtEl>
                                          <p:spTgt spid="14"/>
                                        </p:tgtEl>
                                        <p:attrNameLst>
                                          <p:attrName>ppt_x</p:attrName>
                                        </p:attrNameLst>
                                      </p:cBhvr>
                                      <p:tavLst>
                                        <p:tav tm="0">
                                          <p:val>
                                            <p:strVal val="#ppt_x"/>
                                          </p:val>
                                        </p:tav>
                                        <p:tav tm="100000">
                                          <p:val>
                                            <p:strVal val="#ppt_x"/>
                                          </p:val>
                                        </p:tav>
                                      </p:tavLst>
                                    </p:anim>
                                    <p:anim calcmode="lin" valueType="num">
                                      <p:cBhvr>
                                        <p:cTn id="53" dur="420" fill="hold"/>
                                        <p:tgtEl>
                                          <p:spTgt spid="14"/>
                                        </p:tgtEl>
                                        <p:attrNameLst>
                                          <p:attrName>ppt_y</p:attrName>
                                        </p:attrNameLst>
                                      </p:cBhvr>
                                      <p:tavLst>
                                        <p:tav tm="0">
                                          <p:val>
                                            <p:strVal val="#ppt_y+.06"/>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420"/>
                                        <p:tgtEl>
                                          <p:spTgt spid="15"/>
                                        </p:tgtEl>
                                      </p:cBhvr>
                                    </p:animEffect>
                                    <p:anim calcmode="lin" valueType="num">
                                      <p:cBhvr>
                                        <p:cTn id="57" dur="420" fill="hold"/>
                                        <p:tgtEl>
                                          <p:spTgt spid="15"/>
                                        </p:tgtEl>
                                        <p:attrNameLst>
                                          <p:attrName>ppt_x</p:attrName>
                                        </p:attrNameLst>
                                      </p:cBhvr>
                                      <p:tavLst>
                                        <p:tav tm="0">
                                          <p:val>
                                            <p:strVal val="#ppt_x"/>
                                          </p:val>
                                        </p:tav>
                                        <p:tav tm="100000">
                                          <p:val>
                                            <p:strVal val="#ppt_x"/>
                                          </p:val>
                                        </p:tav>
                                      </p:tavLst>
                                    </p:anim>
                                    <p:anim calcmode="lin" valueType="num">
                                      <p:cBhvr>
                                        <p:cTn id="58" dur="420" fill="hold"/>
                                        <p:tgtEl>
                                          <p:spTgt spid="15"/>
                                        </p:tgtEl>
                                        <p:attrNameLst>
                                          <p:attrName>ppt_y</p:attrName>
                                        </p:attrNameLst>
                                      </p:cBhvr>
                                      <p:tavLst>
                                        <p:tav tm="0">
                                          <p:val>
                                            <p:strVal val="#ppt_y+.06"/>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420"/>
                                        <p:tgtEl>
                                          <p:spTgt spid="16"/>
                                        </p:tgtEl>
                                      </p:cBhvr>
                                    </p:animEffect>
                                    <p:anim calcmode="lin" valueType="num">
                                      <p:cBhvr>
                                        <p:cTn id="62" dur="420" fill="hold"/>
                                        <p:tgtEl>
                                          <p:spTgt spid="16"/>
                                        </p:tgtEl>
                                        <p:attrNameLst>
                                          <p:attrName>ppt_x</p:attrName>
                                        </p:attrNameLst>
                                      </p:cBhvr>
                                      <p:tavLst>
                                        <p:tav tm="0">
                                          <p:val>
                                            <p:strVal val="#ppt_x"/>
                                          </p:val>
                                        </p:tav>
                                        <p:tav tm="100000">
                                          <p:val>
                                            <p:strVal val="#ppt_x"/>
                                          </p:val>
                                        </p:tav>
                                      </p:tavLst>
                                    </p:anim>
                                    <p:anim calcmode="lin" valueType="num">
                                      <p:cBhvr>
                                        <p:cTn id="63" dur="420" fill="hold"/>
                                        <p:tgtEl>
                                          <p:spTgt spid="16"/>
                                        </p:tgtEl>
                                        <p:attrNameLst>
                                          <p:attrName>ppt_y</p:attrName>
                                        </p:attrNameLst>
                                      </p:cBhvr>
                                      <p:tavLst>
                                        <p:tav tm="0">
                                          <p:val>
                                            <p:strVal val="#ppt_y+.06"/>
                                          </p:val>
                                        </p:tav>
                                        <p:tav tm="100000">
                                          <p:val>
                                            <p:strVal val="#ppt_y"/>
                                          </p:val>
                                        </p:tav>
                                      </p:tavLst>
                                    </p:anim>
                                  </p:childTnLst>
                                </p:cTn>
                              </p:par>
                            </p:childTnLst>
                          </p:cTn>
                        </p:par>
                        <p:par>
                          <p:cTn id="64" fill="hold">
                            <p:stCondLst>
                              <p:cond delay="3280"/>
                            </p:stCondLst>
                            <p:childTnLst>
                              <p:par>
                                <p:cTn id="65" presetID="42" presetClass="entr" presetSubtype="0" fill="hold" grpId="0" nodeType="afterEffect">
                                  <p:stCondLst>
                                    <p:cond delay="4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420"/>
                                        <p:tgtEl>
                                          <p:spTgt spid="17"/>
                                        </p:tgtEl>
                                      </p:cBhvr>
                                    </p:animEffect>
                                    <p:anim calcmode="lin" valueType="num">
                                      <p:cBhvr>
                                        <p:cTn id="68" dur="420" fill="hold"/>
                                        <p:tgtEl>
                                          <p:spTgt spid="17"/>
                                        </p:tgtEl>
                                        <p:attrNameLst>
                                          <p:attrName>ppt_x</p:attrName>
                                        </p:attrNameLst>
                                      </p:cBhvr>
                                      <p:tavLst>
                                        <p:tav tm="0">
                                          <p:val>
                                            <p:strVal val="#ppt_x"/>
                                          </p:val>
                                        </p:tav>
                                        <p:tav tm="100000">
                                          <p:val>
                                            <p:strVal val="#ppt_x"/>
                                          </p:val>
                                        </p:tav>
                                      </p:tavLst>
                                    </p:anim>
                                    <p:anim calcmode="lin" valueType="num">
                                      <p:cBhvr>
                                        <p:cTn id="69" dur="420" fill="hold"/>
                                        <p:tgtEl>
                                          <p:spTgt spid="17"/>
                                        </p:tgtEl>
                                        <p:attrNameLst>
                                          <p:attrName>ppt_y</p:attrName>
                                        </p:attrNameLst>
                                      </p:cBhvr>
                                      <p:tavLst>
                                        <p:tav tm="0">
                                          <p:val>
                                            <p:strVal val="#ppt_y+.06"/>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420"/>
                                        <p:tgtEl>
                                          <p:spTgt spid="18"/>
                                        </p:tgtEl>
                                      </p:cBhvr>
                                    </p:animEffect>
                                    <p:anim calcmode="lin" valueType="num">
                                      <p:cBhvr>
                                        <p:cTn id="73" dur="420" fill="hold"/>
                                        <p:tgtEl>
                                          <p:spTgt spid="18"/>
                                        </p:tgtEl>
                                        <p:attrNameLst>
                                          <p:attrName>ppt_x</p:attrName>
                                        </p:attrNameLst>
                                      </p:cBhvr>
                                      <p:tavLst>
                                        <p:tav tm="0">
                                          <p:val>
                                            <p:strVal val="#ppt_x"/>
                                          </p:val>
                                        </p:tav>
                                        <p:tav tm="100000">
                                          <p:val>
                                            <p:strVal val="#ppt_x"/>
                                          </p:val>
                                        </p:tav>
                                      </p:tavLst>
                                    </p:anim>
                                    <p:anim calcmode="lin" valueType="num">
                                      <p:cBhvr>
                                        <p:cTn id="74" dur="420" fill="hold"/>
                                        <p:tgtEl>
                                          <p:spTgt spid="18"/>
                                        </p:tgtEl>
                                        <p:attrNameLst>
                                          <p:attrName>ppt_y</p:attrName>
                                        </p:attrNameLst>
                                      </p:cBhvr>
                                      <p:tavLst>
                                        <p:tav tm="0">
                                          <p:val>
                                            <p:strVal val="#ppt_y+.06"/>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420"/>
                                        <p:tgtEl>
                                          <p:spTgt spid="19"/>
                                        </p:tgtEl>
                                      </p:cBhvr>
                                    </p:animEffect>
                                    <p:anim calcmode="lin" valueType="num">
                                      <p:cBhvr>
                                        <p:cTn id="78" dur="420" fill="hold"/>
                                        <p:tgtEl>
                                          <p:spTgt spid="19"/>
                                        </p:tgtEl>
                                        <p:attrNameLst>
                                          <p:attrName>ppt_x</p:attrName>
                                        </p:attrNameLst>
                                      </p:cBhvr>
                                      <p:tavLst>
                                        <p:tav tm="0">
                                          <p:val>
                                            <p:strVal val="#ppt_x"/>
                                          </p:val>
                                        </p:tav>
                                        <p:tav tm="100000">
                                          <p:val>
                                            <p:strVal val="#ppt_x"/>
                                          </p:val>
                                        </p:tav>
                                      </p:tavLst>
                                    </p:anim>
                                    <p:anim calcmode="lin" valueType="num">
                                      <p:cBhvr>
                                        <p:cTn id="79" dur="420" fill="hold"/>
                                        <p:tgtEl>
                                          <p:spTgt spid="19"/>
                                        </p:tgtEl>
                                        <p:attrNameLst>
                                          <p:attrName>ppt_y</p:attrName>
                                        </p:attrNameLst>
                                      </p:cBhvr>
                                      <p:tavLst>
                                        <p:tav tm="0">
                                          <p:val>
                                            <p:strVal val="#ppt_y+.06"/>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420"/>
                                        <p:tgtEl>
                                          <p:spTgt spid="20"/>
                                        </p:tgtEl>
                                      </p:cBhvr>
                                    </p:animEffect>
                                    <p:anim calcmode="lin" valueType="num">
                                      <p:cBhvr>
                                        <p:cTn id="83" dur="420" fill="hold"/>
                                        <p:tgtEl>
                                          <p:spTgt spid="20"/>
                                        </p:tgtEl>
                                        <p:attrNameLst>
                                          <p:attrName>ppt_x</p:attrName>
                                        </p:attrNameLst>
                                      </p:cBhvr>
                                      <p:tavLst>
                                        <p:tav tm="0">
                                          <p:val>
                                            <p:strVal val="#ppt_x"/>
                                          </p:val>
                                        </p:tav>
                                        <p:tav tm="100000">
                                          <p:val>
                                            <p:strVal val="#ppt_x"/>
                                          </p:val>
                                        </p:tav>
                                      </p:tavLst>
                                    </p:anim>
                                    <p:anim calcmode="lin" valueType="num">
                                      <p:cBhvr>
                                        <p:cTn id="84" dur="420" fill="hold"/>
                                        <p:tgtEl>
                                          <p:spTgt spid="20"/>
                                        </p:tgtEl>
                                        <p:attrNameLst>
                                          <p:attrName>ppt_y</p:attrName>
                                        </p:attrNameLst>
                                      </p:cBhvr>
                                      <p:tavLst>
                                        <p:tav tm="0">
                                          <p:val>
                                            <p:strVal val="#ppt_y+.06"/>
                                          </p:val>
                                        </p:tav>
                                        <p:tav tm="100000">
                                          <p:val>
                                            <p:strVal val="#ppt_y"/>
                                          </p:val>
                                        </p:tav>
                                      </p:tavLst>
                                    </p:anim>
                                  </p:childTnLst>
                                </p:cTn>
                              </p:par>
                            </p:childTnLst>
                          </p:cTn>
                        </p:par>
                        <p:par>
                          <p:cTn id="85" fill="hold">
                            <p:stCondLst>
                              <p:cond delay="3740"/>
                            </p:stCondLst>
                            <p:childTnLst>
                              <p:par>
                                <p:cTn id="86" presetID="10" presetClass="entr" presetSubtype="0" fill="hold" grpId="0" nodeType="afterEffect">
                                  <p:stCondLst>
                                    <p:cond delay="120"/>
                                  </p:stCondLst>
                                  <p:childTnLst>
                                    <p:set>
                                      <p:cBhvr>
                                        <p:cTn id="87" dur="1" fill="hold">
                                          <p:stCondLst>
                                            <p:cond delay="0"/>
                                          </p:stCondLst>
                                        </p:cTn>
                                        <p:tgtEl>
                                          <p:spTgt spid="21"/>
                                        </p:tgtEl>
                                        <p:attrNameLst>
                                          <p:attrName>style.visibility</p:attrName>
                                        </p:attrNameLst>
                                      </p:cBhvr>
                                      <p:to>
                                        <p:strVal val="visible"/>
                                      </p:to>
                                    </p:set>
                                    <p:animEffect transition="in" filter="fade">
                                      <p:cBhvr>
                                        <p:cTn id="8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8" grpId="0"/>
      <p:bldP spid="9" grpId="0"/>
      <p:bldP spid="10" grpId="0"/>
      <p:bldP spid="11" grpId="0" animBg="1"/>
      <p:bldP spid="12" grpId="0"/>
      <p:bldP spid="13" grpId="0" animBg="1"/>
      <p:bldP spid="15" grpId="0"/>
      <p:bldP spid="16" grpId="0"/>
      <p:bldP spid="17" grpId="0" animBg="1"/>
      <p:bldP spid="19" grpId="0"/>
      <p:bldP spid="20" grpId="0"/>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t"/>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2/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9144000" cy="274320"/>
          </a:xfrm>
          <a:prstGeom prst="rect">
            <a:avLst/>
          </a:prstGeom>
          <a:noFill/>
          <a:ln/>
        </p:spPr>
        <p:txBody>
          <a:bodyPr wrap="square" lIns="0" tIns="0" rIns="0" bIns="0" rtlCol="0" anchor="t"/>
          <a:lstStyle/>
          <a:p>
            <a:pPr indent="0" marL="0">
              <a:buNone/>
            </a:pPr>
            <a:r>
              <a:rPr lang="en-US" sz="1100" b="1" spc="300" kern="0" dirty="0">
                <a:solidFill>
                  <a:srgbClr val="F5A623"/>
                </a:solidFill>
                <a:latin typeface="Calibri" pitchFamily="34" charset="0"/>
                <a:ea typeface="Calibri" pitchFamily="34" charset="-122"/>
                <a:cs typeface="Calibri" pitchFamily="34" charset="-120"/>
              </a:rPr>
              <a:t>COMMERCIAL USE · THE MARKET</a:t>
            </a:r>
            <a:endParaRPr lang="en-US" sz="1100" dirty="0"/>
          </a:p>
        </p:txBody>
      </p:sp>
      <p:sp>
        <p:nvSpPr>
          <p:cNvPr id="5" name="title"/>
          <p:cNvSpPr txBox="1"/>
          <p:nvPr/>
        </p:nvSpPr>
        <p:spPr>
          <a:xfrm>
            <a:off x="548640" y="1170432"/>
            <a:ext cx="11094415"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Then sell the same intelligence to the market</a:t>
            </a:r>
            <a:endParaRPr lang="en-US" sz="3200" dirty="0"/>
          </a:p>
        </p:txBody>
      </p:sp>
      <p:sp>
        <p:nvSpPr>
          <p:cNvPr id="6" name="mk0"/>
          <p:cNvSpPr/>
          <p:nvPr/>
        </p:nvSpPr>
        <p:spPr>
          <a:xfrm>
            <a:off x="548640" y="2057400"/>
            <a:ext cx="7086600" cy="731520"/>
          </a:xfrm>
          <a:prstGeom prst="roundRect">
            <a:avLst>
              <a:gd name="adj" fmla="val 15000"/>
            </a:avLst>
          </a:prstGeom>
          <a:solidFill>
            <a:srgbClr val="1C2447"/>
          </a:solidFill>
          <a:ln w="15875">
            <a:solidFill>
              <a:srgbClr val="F5A623"/>
            </a:solidFill>
            <a:prstDash val="solid"/>
          </a:ln>
        </p:spPr>
      </p:sp>
      <p:sp>
        <p:nvSpPr>
          <p:cNvPr id="7" name="mkO0"/>
          <p:cNvSpPr/>
          <p:nvPr/>
        </p:nvSpPr>
        <p:spPr>
          <a:xfrm>
            <a:off x="731520" y="2194560"/>
            <a:ext cx="457200" cy="457200"/>
          </a:xfrm>
          <a:prstGeom prst="ellipse">
            <a:avLst/>
          </a:prstGeom>
          <a:solidFill>
            <a:srgbClr val="F5A623"/>
          </a:solidFill>
          <a:ln w="12700">
            <a:solidFill>
              <a:srgbClr val="F5A623"/>
            </a:solidFill>
            <a:prstDash val="solid"/>
          </a:ln>
        </p:spPr>
      </p:sp>
      <p:sp>
        <p:nvSpPr>
          <p:cNvPr id="8" name="mkN0"/>
          <p:cNvSpPr txBox="1"/>
          <p:nvPr/>
        </p:nvSpPr>
        <p:spPr>
          <a:xfrm>
            <a:off x="731520" y="2194560"/>
            <a:ext cx="457200" cy="457200"/>
          </a:xfrm>
          <a:prstGeom prst="rect">
            <a:avLst/>
          </a:prstGeom>
          <a:noFill/>
          <a:ln/>
        </p:spPr>
        <p:txBody>
          <a:bodyPr wrap="square" lIns="0" tIns="0" rIns="0" bIns="0" rtlCol="0" anchor="ctr"/>
          <a:lstStyle/>
          <a:p>
            <a:pPr algn="ctr" indent="0" marL="0">
              <a:buNone/>
            </a:pPr>
            <a:r>
              <a:rPr lang="en-US" sz="1600" b="1" dirty="0">
                <a:solidFill>
                  <a:srgbClr val="1A1200"/>
                </a:solidFill>
                <a:latin typeface="Cambria" pitchFamily="34" charset="0"/>
                <a:ea typeface="Cambria" pitchFamily="34" charset="-122"/>
                <a:cs typeface="Cambria" pitchFamily="34" charset="-120"/>
              </a:rPr>
              <a:t>1</a:t>
            </a:r>
            <a:endParaRPr lang="en-US" sz="1600" dirty="0"/>
          </a:p>
        </p:txBody>
      </p:sp>
      <p:sp>
        <p:nvSpPr>
          <p:cNvPr id="9" name="mkT0"/>
          <p:cNvSpPr txBox="1"/>
          <p:nvPr/>
        </p:nvSpPr>
        <p:spPr>
          <a:xfrm>
            <a:off x="1371600" y="2130552"/>
            <a:ext cx="4526280" cy="58521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Delivery, quick commerce, ride-hailing</a:t>
            </a:r>
            <a:endParaRPr lang="en-US" sz="1500" dirty="0"/>
          </a:p>
          <a:p>
            <a:pPr indent="0" marL="0">
              <a:buNone/>
            </a:pPr>
            <a:r>
              <a:rPr lang="en-US" sz="1250" dirty="0">
                <a:solidFill>
                  <a:srgbClr val="98A2C0"/>
                </a:solidFill>
                <a:latin typeface="Calibri" pitchFamily="34" charset="0"/>
                <a:ea typeface="Calibri" pitchFamily="34" charset="-122"/>
                <a:cs typeface="Calibri" pitchFamily="34" charset="-120"/>
              </a:rPr>
              <a:t>e.g. Swiggy, Zomato, Zepto, Uber, Rapido</a:t>
            </a:r>
            <a:endParaRPr lang="en-US" sz="1500" dirty="0"/>
          </a:p>
        </p:txBody>
      </p:sp>
      <p:sp>
        <p:nvSpPr>
          <p:cNvPr id="10" name="mkP0"/>
          <p:cNvSpPr/>
          <p:nvPr/>
        </p:nvSpPr>
        <p:spPr>
          <a:xfrm>
            <a:off x="6035040" y="2276856"/>
            <a:ext cx="1417320" cy="292608"/>
          </a:xfrm>
          <a:prstGeom prst="roundRect">
            <a:avLst>
              <a:gd name="adj" fmla="val 25000"/>
            </a:avLst>
          </a:prstGeom>
          <a:solidFill>
            <a:srgbClr val="2B2208"/>
          </a:solidFill>
          <a:ln w="9525">
            <a:solidFill>
              <a:srgbClr val="F5A623"/>
            </a:solidFill>
            <a:prstDash val="solid"/>
          </a:ln>
        </p:spPr>
      </p:sp>
      <p:sp>
        <p:nvSpPr>
          <p:cNvPr id="11" name="mkP0T"/>
          <p:cNvSpPr txBox="1"/>
          <p:nvPr/>
        </p:nvSpPr>
        <p:spPr>
          <a:xfrm>
            <a:off x="6035040" y="2276856"/>
            <a:ext cx="1417320" cy="292608"/>
          </a:xfrm>
          <a:prstGeom prst="rect">
            <a:avLst/>
          </a:prstGeom>
          <a:noFill/>
          <a:ln/>
        </p:spPr>
        <p:txBody>
          <a:bodyPr wrap="square" lIns="0" tIns="0" rIns="0" bIns="0" rtlCol="0" anchor="ctr"/>
          <a:lstStyle/>
          <a:p>
            <a:pPr algn="ctr" indent="0" marL="0">
              <a:buNone/>
            </a:pPr>
            <a:r>
              <a:rPr lang="en-US" sz="1050" b="1" dirty="0">
                <a:solidFill>
                  <a:srgbClr val="F5A623"/>
                </a:solidFill>
                <a:latin typeface="Calibri" pitchFamily="34" charset="0"/>
                <a:ea typeface="Calibri" pitchFamily="34" charset="-122"/>
                <a:cs typeface="Calibri" pitchFamily="34" charset="-120"/>
              </a:rPr>
              <a:t>Alerts</a:t>
            </a:r>
            <a:endParaRPr lang="en-US" sz="1050" dirty="0"/>
          </a:p>
        </p:txBody>
      </p:sp>
      <p:sp>
        <p:nvSpPr>
          <p:cNvPr id="12" name="mk1"/>
          <p:cNvSpPr/>
          <p:nvPr/>
        </p:nvSpPr>
        <p:spPr>
          <a:xfrm>
            <a:off x="548640" y="2880360"/>
            <a:ext cx="7086600" cy="731520"/>
          </a:xfrm>
          <a:prstGeom prst="roundRect">
            <a:avLst>
              <a:gd name="adj" fmla="val 15000"/>
            </a:avLst>
          </a:prstGeom>
          <a:solidFill>
            <a:srgbClr val="141B36"/>
          </a:solidFill>
          <a:ln w="9525">
            <a:solidFill>
              <a:srgbClr val="2A3357"/>
            </a:solidFill>
            <a:prstDash val="solid"/>
          </a:ln>
        </p:spPr>
      </p:sp>
      <p:sp>
        <p:nvSpPr>
          <p:cNvPr id="13" name="mkO1"/>
          <p:cNvSpPr/>
          <p:nvPr/>
        </p:nvSpPr>
        <p:spPr>
          <a:xfrm>
            <a:off x="731520" y="3017520"/>
            <a:ext cx="457200" cy="457200"/>
          </a:xfrm>
          <a:prstGeom prst="ellipse">
            <a:avLst/>
          </a:prstGeom>
          <a:solidFill>
            <a:srgbClr val="2A3357"/>
          </a:solidFill>
          <a:ln w="12700">
            <a:solidFill>
              <a:srgbClr val="2A3357"/>
            </a:solidFill>
            <a:prstDash val="solid"/>
          </a:ln>
        </p:spPr>
      </p:sp>
      <p:sp>
        <p:nvSpPr>
          <p:cNvPr id="14" name="mkN1"/>
          <p:cNvSpPr txBox="1"/>
          <p:nvPr/>
        </p:nvSpPr>
        <p:spPr>
          <a:xfrm>
            <a:off x="731520" y="3017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5" name="mkT1"/>
          <p:cNvSpPr txBox="1"/>
          <p:nvPr/>
        </p:nvSpPr>
        <p:spPr>
          <a:xfrm>
            <a:off x="1371600" y="2953512"/>
            <a:ext cx="4526280" cy="58521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Logistics · cities and transport · insurers</a:t>
            </a:r>
            <a:endParaRPr lang="en-US" sz="1500" dirty="0"/>
          </a:p>
          <a:p>
            <a:pPr indent="0" marL="0">
              <a:buNone/>
            </a:pPr>
            <a:r>
              <a:rPr lang="en-US" sz="1250" dirty="0">
                <a:solidFill>
                  <a:srgbClr val="98A2C0"/>
                </a:solidFill>
                <a:latin typeface="Calibri" pitchFamily="34" charset="0"/>
                <a:ea typeface="Calibri" pitchFamily="34" charset="-122"/>
                <a:cs typeface="Calibri" pitchFamily="34" charset="-120"/>
              </a:rPr>
              <a:t>e.g. Delhivery, Porter, BMC, railways, insurers</a:t>
            </a:r>
            <a:endParaRPr lang="en-US" sz="1500" dirty="0"/>
          </a:p>
        </p:txBody>
      </p:sp>
      <p:sp>
        <p:nvSpPr>
          <p:cNvPr id="16" name="mkP1"/>
          <p:cNvSpPr/>
          <p:nvPr/>
        </p:nvSpPr>
        <p:spPr>
          <a:xfrm>
            <a:off x="6035040" y="3099816"/>
            <a:ext cx="1417320" cy="292608"/>
          </a:xfrm>
          <a:prstGeom prst="roundRect">
            <a:avLst>
              <a:gd name="adj" fmla="val 25000"/>
            </a:avLst>
          </a:prstGeom>
          <a:solidFill>
            <a:srgbClr val="2B2208"/>
          </a:solidFill>
          <a:ln w="9525">
            <a:solidFill>
              <a:srgbClr val="F5A623"/>
            </a:solidFill>
            <a:prstDash val="solid"/>
          </a:ln>
        </p:spPr>
      </p:sp>
      <p:sp>
        <p:nvSpPr>
          <p:cNvPr id="17" name="mkP1T"/>
          <p:cNvSpPr txBox="1"/>
          <p:nvPr/>
        </p:nvSpPr>
        <p:spPr>
          <a:xfrm>
            <a:off x="6035040" y="3099816"/>
            <a:ext cx="1417320" cy="292608"/>
          </a:xfrm>
          <a:prstGeom prst="rect">
            <a:avLst/>
          </a:prstGeom>
          <a:noFill/>
          <a:ln/>
        </p:spPr>
        <p:txBody>
          <a:bodyPr wrap="square" lIns="0" tIns="0" rIns="0" bIns="0" rtlCol="0" anchor="ctr"/>
          <a:lstStyle/>
          <a:p>
            <a:pPr algn="ctr" indent="0" marL="0">
              <a:buNone/>
            </a:pPr>
            <a:r>
              <a:rPr lang="en-US" sz="1050" b="1" dirty="0">
                <a:solidFill>
                  <a:srgbClr val="F5A623"/>
                </a:solidFill>
                <a:latin typeface="Calibri" pitchFamily="34" charset="0"/>
                <a:ea typeface="Calibri" pitchFamily="34" charset="-122"/>
                <a:cs typeface="Calibri" pitchFamily="34" charset="-120"/>
              </a:rPr>
              <a:t>Alerts + data</a:t>
            </a:r>
            <a:endParaRPr lang="en-US" sz="1050" dirty="0"/>
          </a:p>
        </p:txBody>
      </p:sp>
      <p:sp>
        <p:nvSpPr>
          <p:cNvPr id="18" name="mk2"/>
          <p:cNvSpPr/>
          <p:nvPr/>
        </p:nvSpPr>
        <p:spPr>
          <a:xfrm>
            <a:off x="548640" y="3703320"/>
            <a:ext cx="7086600" cy="731520"/>
          </a:xfrm>
          <a:prstGeom prst="roundRect">
            <a:avLst>
              <a:gd name="adj" fmla="val 15000"/>
            </a:avLst>
          </a:prstGeom>
          <a:solidFill>
            <a:srgbClr val="141B36"/>
          </a:solidFill>
          <a:ln w="9525">
            <a:solidFill>
              <a:srgbClr val="2A3357"/>
            </a:solidFill>
            <a:prstDash val="solid"/>
          </a:ln>
        </p:spPr>
      </p:sp>
      <p:sp>
        <p:nvSpPr>
          <p:cNvPr id="19" name="mkO2"/>
          <p:cNvSpPr/>
          <p:nvPr/>
        </p:nvSpPr>
        <p:spPr>
          <a:xfrm>
            <a:off x="731520" y="3840480"/>
            <a:ext cx="457200" cy="457200"/>
          </a:xfrm>
          <a:prstGeom prst="ellipse">
            <a:avLst/>
          </a:prstGeom>
          <a:solidFill>
            <a:srgbClr val="2A3357"/>
          </a:solidFill>
          <a:ln w="12700">
            <a:solidFill>
              <a:srgbClr val="2A3357"/>
            </a:solidFill>
            <a:prstDash val="solid"/>
          </a:ln>
        </p:spPr>
      </p:sp>
      <p:sp>
        <p:nvSpPr>
          <p:cNvPr id="20" name="mkN2"/>
          <p:cNvSpPr txBox="1"/>
          <p:nvPr/>
        </p:nvSpPr>
        <p:spPr>
          <a:xfrm>
            <a:off x="731520" y="3840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1" name="mkT2"/>
          <p:cNvSpPr txBox="1"/>
          <p:nvPr/>
        </p:nvSpPr>
        <p:spPr>
          <a:xfrm>
            <a:off x="1371600" y="3776472"/>
            <a:ext cx="4526280" cy="58521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Agriculture · power · construction · retail</a:t>
            </a:r>
            <a:endParaRPr lang="en-US" sz="1500" dirty="0"/>
          </a:p>
          <a:p>
            <a:pPr indent="0" marL="0">
              <a:buNone/>
            </a:pPr>
            <a:r>
              <a:rPr lang="en-US" sz="1250" dirty="0">
                <a:solidFill>
                  <a:srgbClr val="98A2C0"/>
                </a:solidFill>
                <a:latin typeface="Calibri" pitchFamily="34" charset="0"/>
                <a:ea typeface="Calibri" pitchFamily="34" charset="-122"/>
                <a:cs typeface="Calibri" pitchFamily="34" charset="-120"/>
              </a:rPr>
              <a:t>e.g. crop insurance, discoms, metro projects, FMCG</a:t>
            </a:r>
            <a:endParaRPr lang="en-US" sz="1500" dirty="0"/>
          </a:p>
        </p:txBody>
      </p:sp>
      <p:sp>
        <p:nvSpPr>
          <p:cNvPr id="22" name="mkP2"/>
          <p:cNvSpPr/>
          <p:nvPr/>
        </p:nvSpPr>
        <p:spPr>
          <a:xfrm>
            <a:off x="6035040" y="3922776"/>
            <a:ext cx="1417320" cy="292608"/>
          </a:xfrm>
          <a:prstGeom prst="roundRect">
            <a:avLst>
              <a:gd name="adj" fmla="val 25000"/>
            </a:avLst>
          </a:prstGeom>
          <a:solidFill>
            <a:srgbClr val="2B2208"/>
          </a:solidFill>
          <a:ln w="9525">
            <a:solidFill>
              <a:srgbClr val="F5A623"/>
            </a:solidFill>
            <a:prstDash val="solid"/>
          </a:ln>
        </p:spPr>
      </p:sp>
      <p:sp>
        <p:nvSpPr>
          <p:cNvPr id="23" name="mkP2T"/>
          <p:cNvSpPr txBox="1"/>
          <p:nvPr/>
        </p:nvSpPr>
        <p:spPr>
          <a:xfrm>
            <a:off x="6035040" y="3922776"/>
            <a:ext cx="1417320" cy="292608"/>
          </a:xfrm>
          <a:prstGeom prst="rect">
            <a:avLst/>
          </a:prstGeom>
          <a:noFill/>
          <a:ln/>
        </p:spPr>
        <p:txBody>
          <a:bodyPr wrap="square" lIns="0" tIns="0" rIns="0" bIns="0" rtlCol="0" anchor="ctr"/>
          <a:lstStyle/>
          <a:p>
            <a:pPr algn="ctr" indent="0" marL="0">
              <a:buNone/>
            </a:pPr>
            <a:r>
              <a:rPr lang="en-US" sz="1050" b="1" dirty="0">
                <a:solidFill>
                  <a:srgbClr val="F5A623"/>
                </a:solidFill>
                <a:latin typeface="Calibri" pitchFamily="34" charset="0"/>
                <a:ea typeface="Calibri" pitchFamily="34" charset="-122"/>
                <a:cs typeface="Calibri" pitchFamily="34" charset="-120"/>
              </a:rPr>
              <a:t>Data + alerts</a:t>
            </a:r>
            <a:endParaRPr lang="en-US" sz="1050" dirty="0"/>
          </a:p>
        </p:txBody>
      </p:sp>
      <p:sp>
        <p:nvSpPr>
          <p:cNvPr id="24" name="dcCard"/>
          <p:cNvSpPr/>
          <p:nvPr/>
        </p:nvSpPr>
        <p:spPr>
          <a:xfrm>
            <a:off x="548640" y="4544568"/>
            <a:ext cx="7086600" cy="1097280"/>
          </a:xfrm>
          <a:prstGeom prst="roundRect">
            <a:avLst>
              <a:gd name="adj" fmla="val 10000"/>
            </a:avLst>
          </a:prstGeom>
          <a:solidFill>
            <a:srgbClr val="1C2447"/>
          </a:solidFill>
          <a:ln w="9525">
            <a:solidFill>
              <a:srgbClr val="2A3357"/>
            </a:solidFill>
            <a:prstDash val="solid"/>
          </a:ln>
        </p:spPr>
      </p:sp>
      <p:sp>
        <p:nvSpPr>
          <p:cNvPr id="25" name="dcL0"/>
          <p:cNvSpPr txBox="1"/>
          <p:nvPr/>
        </p:nvSpPr>
        <p:spPr>
          <a:xfrm>
            <a:off x="749808" y="4626864"/>
            <a:ext cx="1465326" cy="219456"/>
          </a:xfrm>
          <a:prstGeom prst="rect">
            <a:avLst/>
          </a:prstGeom>
          <a:noFill/>
          <a:ln/>
        </p:spPr>
        <p:txBody>
          <a:bodyPr wrap="square" lIns="0" tIns="0" rIns="0" bIns="0" rtlCol="0" anchor="ctr"/>
          <a:lstStyle/>
          <a:p>
            <a:pPr algn="ctr" indent="0" marL="0">
              <a:buNone/>
            </a:pPr>
            <a:r>
              <a:rPr lang="en-US" sz="950" b="1" spc="150" kern="0" dirty="0">
                <a:solidFill>
                  <a:srgbClr val="9FD0FF"/>
                </a:solidFill>
                <a:latin typeface="Calibri" pitchFamily="34" charset="0"/>
                <a:ea typeface="Calibri" pitchFamily="34" charset="-122"/>
                <a:cs typeface="Calibri" pitchFamily="34" charset="-120"/>
              </a:rPr>
              <a:t>RAIN</a:t>
            </a:r>
            <a:endParaRPr lang="en-US" sz="950" dirty="0"/>
          </a:p>
        </p:txBody>
      </p:sp>
      <p:sp>
        <p:nvSpPr>
          <p:cNvPr id="26" name="dcB0"/>
          <p:cNvSpPr/>
          <p:nvPr/>
        </p:nvSpPr>
        <p:spPr>
          <a:xfrm>
            <a:off x="749808" y="4873752"/>
            <a:ext cx="1465326" cy="658368"/>
          </a:xfrm>
          <a:prstGeom prst="roundRect">
            <a:avLst>
              <a:gd name="adj" fmla="val 11111"/>
            </a:avLst>
          </a:prstGeom>
          <a:solidFill>
            <a:srgbClr val="13253A"/>
          </a:solidFill>
          <a:ln w="9525">
            <a:solidFill>
              <a:srgbClr val="6FB3FF"/>
            </a:solidFill>
            <a:prstDash val="solid"/>
          </a:ln>
        </p:spPr>
      </p:sp>
      <p:sp>
        <p:nvSpPr>
          <p:cNvPr id="27" name="dcT0"/>
          <p:cNvSpPr txBox="1"/>
          <p:nvPr/>
        </p:nvSpPr>
        <p:spPr>
          <a:xfrm>
            <a:off x="804672" y="4873752"/>
            <a:ext cx="1355598" cy="658368"/>
          </a:xfrm>
          <a:prstGeom prst="rect">
            <a:avLst/>
          </a:prstGeom>
          <a:noFill/>
          <a:ln/>
        </p:spPr>
        <p:txBody>
          <a:bodyPr wrap="square" lIns="0" tIns="0" rIns="0" bIns="0" rtlCol="0" anchor="ctr"/>
          <a:lstStyle/>
          <a:p>
            <a:pPr algn="ctr" indent="0" marL="0">
              <a:buNone/>
            </a:pPr>
            <a:r>
              <a:rPr lang="en-US" sz="1150" b="1" dirty="0">
                <a:solidFill>
                  <a:srgbClr val="9FD0FF"/>
                </a:solidFill>
                <a:latin typeface="Calibri" pitchFamily="34" charset="0"/>
                <a:ea typeface="Calibri" pitchFamily="34" charset="-122"/>
                <a:cs typeface="Calibri" pitchFamily="34" charset="-120"/>
              </a:rPr>
              <a:t>Rain hits Zone A</a:t>
            </a:r>
            <a:endParaRPr lang="en-US" sz="1150" dirty="0"/>
          </a:p>
        </p:txBody>
      </p:sp>
      <p:sp>
        <p:nvSpPr>
          <p:cNvPr id="28" name="dcA0"/>
          <p:cNvSpPr/>
          <p:nvPr/>
        </p:nvSpPr>
        <p:spPr>
          <a:xfrm>
            <a:off x="2251710" y="5202936"/>
            <a:ext cx="201168" cy="914"/>
          </a:xfrm>
          <a:prstGeom prst="line">
            <a:avLst/>
          </a:prstGeom>
          <a:noFill/>
          <a:ln w="19050">
            <a:solidFill>
              <a:srgbClr val="5A6690"/>
            </a:solidFill>
            <a:prstDash val="solid"/>
            <a:tailEnd type="triangle"/>
          </a:ln>
        </p:spPr>
      </p:sp>
      <p:sp>
        <p:nvSpPr>
          <p:cNvPr id="29" name="dcL1"/>
          <p:cNvSpPr txBox="1"/>
          <p:nvPr/>
        </p:nvSpPr>
        <p:spPr>
          <a:xfrm>
            <a:off x="2489454" y="4626864"/>
            <a:ext cx="1465326" cy="219456"/>
          </a:xfrm>
          <a:prstGeom prst="rect">
            <a:avLst/>
          </a:prstGeom>
          <a:noFill/>
          <a:ln/>
        </p:spPr>
        <p:txBody>
          <a:bodyPr wrap="square" lIns="0" tIns="0" rIns="0" bIns="0" rtlCol="0" anchor="ctr"/>
          <a:lstStyle/>
          <a:p>
            <a:pPr algn="ctr" indent="0" marL="0">
              <a:buNone/>
            </a:pPr>
            <a:r>
              <a:rPr lang="en-US" sz="950" b="1" spc="150" kern="0" dirty="0">
                <a:solidFill>
                  <a:srgbClr val="F5A623"/>
                </a:solidFill>
                <a:latin typeface="Calibri" pitchFamily="34" charset="0"/>
                <a:ea typeface="Calibri" pitchFamily="34" charset="-122"/>
                <a:cs typeface="Calibri" pitchFamily="34" charset="-120"/>
              </a:rPr>
              <a:t>JIOMAUSAM</a:t>
            </a:r>
            <a:endParaRPr lang="en-US" sz="950" dirty="0"/>
          </a:p>
        </p:txBody>
      </p:sp>
      <p:sp>
        <p:nvSpPr>
          <p:cNvPr id="30" name="dcB1"/>
          <p:cNvSpPr/>
          <p:nvPr/>
        </p:nvSpPr>
        <p:spPr>
          <a:xfrm>
            <a:off x="2489454" y="4873752"/>
            <a:ext cx="1465326" cy="658368"/>
          </a:xfrm>
          <a:prstGeom prst="roundRect">
            <a:avLst>
              <a:gd name="adj" fmla="val 11111"/>
            </a:avLst>
          </a:prstGeom>
          <a:solidFill>
            <a:srgbClr val="2B2208"/>
          </a:solidFill>
          <a:ln w="9525">
            <a:solidFill>
              <a:srgbClr val="F5A623"/>
            </a:solidFill>
            <a:prstDash val="solid"/>
          </a:ln>
        </p:spPr>
      </p:sp>
      <p:sp>
        <p:nvSpPr>
          <p:cNvPr id="31" name="dcT1"/>
          <p:cNvSpPr txBox="1"/>
          <p:nvPr/>
        </p:nvSpPr>
        <p:spPr>
          <a:xfrm>
            <a:off x="2544318" y="4873752"/>
            <a:ext cx="1355598" cy="658368"/>
          </a:xfrm>
          <a:prstGeom prst="rect">
            <a:avLst/>
          </a:prstGeom>
          <a:noFill/>
          <a:ln/>
        </p:spPr>
        <p:txBody>
          <a:bodyPr wrap="square" lIns="0" tIns="0" rIns="0" bIns="0" rtlCol="0" anchor="ctr"/>
          <a:lstStyle/>
          <a:p>
            <a:pPr algn="ctr" indent="0" marL="0">
              <a:buNone/>
            </a:pPr>
            <a:r>
              <a:rPr lang="en-US" sz="1150" b="1" dirty="0">
                <a:solidFill>
                  <a:srgbClr val="F5A623"/>
                </a:solidFill>
                <a:latin typeface="Calibri" pitchFamily="34" charset="0"/>
                <a:ea typeface="Calibri" pitchFamily="34" charset="-122"/>
                <a:cs typeface="Calibri" pitchFamily="34" charset="-120"/>
              </a:rPr>
              <a:t>Zone alert + rain estimate</a:t>
            </a:r>
            <a:endParaRPr lang="en-US" sz="1150" dirty="0"/>
          </a:p>
        </p:txBody>
      </p:sp>
      <p:sp>
        <p:nvSpPr>
          <p:cNvPr id="32" name="dcA1"/>
          <p:cNvSpPr/>
          <p:nvPr/>
        </p:nvSpPr>
        <p:spPr>
          <a:xfrm>
            <a:off x="3991356" y="5202936"/>
            <a:ext cx="201168" cy="914"/>
          </a:xfrm>
          <a:prstGeom prst="line">
            <a:avLst/>
          </a:prstGeom>
          <a:noFill/>
          <a:ln w="19050">
            <a:solidFill>
              <a:srgbClr val="5A6690"/>
            </a:solidFill>
            <a:prstDash val="solid"/>
            <a:tailEnd type="triangle"/>
          </a:ln>
        </p:spPr>
      </p:sp>
      <p:sp>
        <p:nvSpPr>
          <p:cNvPr id="33" name="dcL2"/>
          <p:cNvSpPr txBox="1"/>
          <p:nvPr/>
        </p:nvSpPr>
        <p:spPr>
          <a:xfrm>
            <a:off x="4229100" y="4626864"/>
            <a:ext cx="1465326" cy="219456"/>
          </a:xfrm>
          <a:prstGeom prst="rect">
            <a:avLst/>
          </a:prstGeom>
          <a:noFill/>
          <a:ln/>
        </p:spPr>
        <p:txBody>
          <a:bodyPr wrap="square" lIns="0" tIns="0" rIns="0" bIns="0" rtlCol="0" anchor="ctr"/>
          <a:lstStyle/>
          <a:p>
            <a:pPr algn="ctr" indent="0" marL="0">
              <a:buNone/>
            </a:pPr>
            <a:r>
              <a:rPr lang="en-US" sz="950" b="1" spc="150" kern="0" dirty="0">
                <a:solidFill>
                  <a:srgbClr val="FFFFFF"/>
                </a:solidFill>
                <a:latin typeface="Calibri" pitchFamily="34" charset="0"/>
                <a:ea typeface="Calibri" pitchFamily="34" charset="-122"/>
                <a:cs typeface="Calibri" pitchFamily="34" charset="-120"/>
              </a:rPr>
              <a:t>CUSTOMER DECIDES</a:t>
            </a:r>
            <a:endParaRPr lang="en-US" sz="950" dirty="0"/>
          </a:p>
        </p:txBody>
      </p:sp>
      <p:sp>
        <p:nvSpPr>
          <p:cNvPr id="34" name="dcB2"/>
          <p:cNvSpPr/>
          <p:nvPr/>
        </p:nvSpPr>
        <p:spPr>
          <a:xfrm>
            <a:off x="4229100" y="4873752"/>
            <a:ext cx="1465326" cy="658368"/>
          </a:xfrm>
          <a:prstGeom prst="roundRect">
            <a:avLst>
              <a:gd name="adj" fmla="val 11111"/>
            </a:avLst>
          </a:prstGeom>
          <a:solidFill>
            <a:srgbClr val="141B36"/>
          </a:solidFill>
          <a:ln w="9525">
            <a:solidFill>
              <a:srgbClr val="5A6690"/>
            </a:solidFill>
            <a:prstDash val="solid"/>
          </a:ln>
        </p:spPr>
      </p:sp>
      <p:sp>
        <p:nvSpPr>
          <p:cNvPr id="35" name="dcT2"/>
          <p:cNvSpPr txBox="1"/>
          <p:nvPr/>
        </p:nvSpPr>
        <p:spPr>
          <a:xfrm>
            <a:off x="4283964" y="4873752"/>
            <a:ext cx="1355598" cy="65836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Platform adjusts dispatch, ETAs or incentives</a:t>
            </a:r>
            <a:endParaRPr lang="en-US" sz="1150" dirty="0"/>
          </a:p>
        </p:txBody>
      </p:sp>
      <p:sp>
        <p:nvSpPr>
          <p:cNvPr id="36" name="dcA2"/>
          <p:cNvSpPr/>
          <p:nvPr/>
        </p:nvSpPr>
        <p:spPr>
          <a:xfrm>
            <a:off x="5731002" y="5202936"/>
            <a:ext cx="201168" cy="914"/>
          </a:xfrm>
          <a:prstGeom prst="line">
            <a:avLst/>
          </a:prstGeom>
          <a:noFill/>
          <a:ln w="19050">
            <a:solidFill>
              <a:srgbClr val="5A6690"/>
            </a:solidFill>
            <a:prstDash val="solid"/>
            <a:tailEnd type="triangle"/>
          </a:ln>
        </p:spPr>
      </p:sp>
      <p:sp>
        <p:nvSpPr>
          <p:cNvPr id="37" name="dcL3"/>
          <p:cNvSpPr txBox="1"/>
          <p:nvPr/>
        </p:nvSpPr>
        <p:spPr>
          <a:xfrm>
            <a:off x="5968746" y="4626864"/>
            <a:ext cx="1465326" cy="219456"/>
          </a:xfrm>
          <a:prstGeom prst="rect">
            <a:avLst/>
          </a:prstGeom>
          <a:noFill/>
          <a:ln/>
        </p:spPr>
        <p:txBody>
          <a:bodyPr wrap="square" lIns="0" tIns="0" rIns="0" bIns="0" rtlCol="0" anchor="ctr"/>
          <a:lstStyle/>
          <a:p>
            <a:pPr algn="ctr" indent="0" marL="0">
              <a:buNone/>
            </a:pPr>
            <a:r>
              <a:rPr lang="en-US" sz="950" b="1" spc="150" kern="0" dirty="0">
                <a:solidFill>
                  <a:srgbClr val="5FD3A6"/>
                </a:solidFill>
                <a:latin typeface="Calibri" pitchFamily="34" charset="0"/>
                <a:ea typeface="Calibri" pitchFamily="34" charset="-122"/>
                <a:cs typeface="Calibri" pitchFamily="34" charset="-120"/>
              </a:rPr>
              <a:t>VALUE</a:t>
            </a:r>
            <a:endParaRPr lang="en-US" sz="950" dirty="0"/>
          </a:p>
        </p:txBody>
      </p:sp>
      <p:sp>
        <p:nvSpPr>
          <p:cNvPr id="38" name="dcB3"/>
          <p:cNvSpPr/>
          <p:nvPr/>
        </p:nvSpPr>
        <p:spPr>
          <a:xfrm>
            <a:off x="5968746" y="4873752"/>
            <a:ext cx="1465326" cy="658368"/>
          </a:xfrm>
          <a:prstGeom prst="roundRect">
            <a:avLst>
              <a:gd name="adj" fmla="val 11111"/>
            </a:avLst>
          </a:prstGeom>
          <a:solidFill>
            <a:srgbClr val="0F2A22"/>
          </a:solidFill>
          <a:ln w="9525">
            <a:solidFill>
              <a:srgbClr val="1BAF7A"/>
            </a:solidFill>
            <a:prstDash val="solid"/>
          </a:ln>
        </p:spPr>
      </p:sp>
      <p:sp>
        <p:nvSpPr>
          <p:cNvPr id="39" name="dcT3"/>
          <p:cNvSpPr txBox="1"/>
          <p:nvPr/>
        </p:nvSpPr>
        <p:spPr>
          <a:xfrm>
            <a:off x="6023610" y="4873752"/>
            <a:ext cx="1355598" cy="658368"/>
          </a:xfrm>
          <a:prstGeom prst="rect">
            <a:avLst/>
          </a:prstGeom>
          <a:noFill/>
          <a:ln/>
        </p:spPr>
        <p:txBody>
          <a:bodyPr wrap="square" lIns="0" tIns="0" rIns="0" bIns="0" rtlCol="0" anchor="ctr"/>
          <a:lstStyle/>
          <a:p>
            <a:pPr algn="ctr" indent="0" marL="0">
              <a:buNone/>
            </a:pPr>
            <a:r>
              <a:rPr lang="en-US" sz="1150" b="1" dirty="0">
                <a:solidFill>
                  <a:srgbClr val="5FD3A6"/>
                </a:solidFill>
                <a:latin typeface="Calibri" pitchFamily="34" charset="0"/>
                <a:ea typeface="Calibri" pitchFamily="34" charset="-122"/>
                <a:cs typeface="Calibri" pitchFamily="34" charset="-120"/>
              </a:rPr>
              <a:t>Lower disruption</a:t>
            </a:r>
            <a:endParaRPr lang="en-US" sz="1150" dirty="0"/>
          </a:p>
        </p:txBody>
      </p:sp>
      <p:sp>
        <p:nvSpPr>
          <p:cNvPr id="40" name="whyCard"/>
          <p:cNvSpPr/>
          <p:nvPr/>
        </p:nvSpPr>
        <p:spPr>
          <a:xfrm>
            <a:off x="7863840" y="2057400"/>
            <a:ext cx="3776472" cy="3584448"/>
          </a:xfrm>
          <a:prstGeom prst="roundRect">
            <a:avLst>
              <a:gd name="adj" fmla="val 3061"/>
            </a:avLst>
          </a:prstGeom>
          <a:solidFill>
            <a:srgbClr val="141B36"/>
          </a:solidFill>
          <a:ln w="9525">
            <a:solidFill>
              <a:srgbClr val="2A3357"/>
            </a:solidFill>
            <a:prstDash val="solid"/>
          </a:ln>
        </p:spPr>
      </p:sp>
      <p:sp>
        <p:nvSpPr>
          <p:cNvPr id="41" name="whyT"/>
          <p:cNvSpPr txBox="1"/>
          <p:nvPr/>
        </p:nvSpPr>
        <p:spPr>
          <a:xfrm>
            <a:off x="8092440" y="2194560"/>
            <a:ext cx="3383280" cy="3337560"/>
          </a:xfrm>
          <a:prstGeom prst="rect">
            <a:avLst/>
          </a:prstGeom>
          <a:noFill/>
          <a:ln/>
        </p:spPr>
        <p:txBody>
          <a:bodyPr wrap="square" lIns="0" tIns="0" rIns="0" bIns="0" rtlCol="0" anchor="t"/>
          <a:lstStyle/>
          <a:p>
            <a:pPr indent="0" marL="0">
              <a:spcAft>
                <a:spcPts val="900"/>
              </a:spcAft>
              <a:buNone/>
            </a:pPr>
            <a:r>
              <a:rPr lang="en-US" sz="1050" b="1" spc="200" kern="0" dirty="0">
                <a:solidFill>
                  <a:srgbClr val="F5A623"/>
                </a:solidFill>
                <a:latin typeface="Calibri" pitchFamily="34" charset="0"/>
                <a:ea typeface="Calibri" pitchFamily="34" charset="-122"/>
                <a:cs typeface="Calibri" pitchFamily="34" charset="-120"/>
              </a:rPr>
              <a:t>WHY BUY FROM US</a:t>
            </a:r>
            <a:endParaRPr lang="en-US" sz="1050" dirty="0"/>
          </a:p>
          <a:p>
            <a:pPr marL="342900" indent="-342900">
              <a:spcAft>
                <a:spcPts val="900"/>
              </a:spcAft>
              <a:buSzPct val="100000"/>
              <a:buChar char="•"/>
            </a:pPr>
            <a:r>
              <a:rPr lang="en-US" sz="1350" dirty="0">
                <a:solidFill>
                  <a:srgbClr val="EEF1F7"/>
                </a:solidFill>
                <a:latin typeface="Calibri" pitchFamily="34" charset="0"/>
                <a:ea typeface="Calibri" pitchFamily="34" charset="-122"/>
                <a:cs typeface="Calibri" pitchFamily="34" charset="-120"/>
              </a:rPr>
              <a:t>Dense sensing wherever usable microwave links exist</a:t>
            </a:r>
            <a:endParaRPr lang="en-US" sz="1050" dirty="0"/>
          </a:p>
          <a:p>
            <a:pPr marL="342900" indent="-342900">
              <a:spcAft>
                <a:spcPts val="900"/>
              </a:spcAft>
              <a:buSzPct val="100000"/>
              <a:buChar char="•"/>
            </a:pPr>
            <a:r>
              <a:rPr lang="en-US" sz="1350" dirty="0">
                <a:solidFill>
                  <a:srgbClr val="EEF1F7"/>
                </a:solidFill>
                <a:latin typeface="Calibri" pitchFamily="34" charset="0"/>
                <a:ea typeface="Calibri" pitchFamily="34" charset="-122"/>
                <a:cs typeface="Calibri" pitchFamily="34" charset="-120"/>
              </a:rPr>
              <a:t>Potentially denser than conventional rain gauges</a:t>
            </a:r>
            <a:endParaRPr lang="en-US" sz="1050" dirty="0"/>
          </a:p>
          <a:p>
            <a:pPr marL="342900" indent="-342900">
              <a:spcAft>
                <a:spcPts val="900"/>
              </a:spcAft>
              <a:buSzPct val="100000"/>
              <a:buChar char="•"/>
            </a:pPr>
            <a:r>
              <a:rPr lang="en-US" sz="1350" dirty="0">
                <a:solidFill>
                  <a:srgbClr val="EEF1F7"/>
                </a:solidFill>
                <a:latin typeface="Calibri" pitchFamily="34" charset="0"/>
                <a:ea typeface="Calibri" pitchFamily="34" charset="-122"/>
                <a:cs typeface="Calibri" pitchFamily="34" charset="-120"/>
              </a:rPr>
              <a:t>Near-real-time monitoring</a:t>
            </a:r>
            <a:endParaRPr lang="en-US" sz="1050" dirty="0"/>
          </a:p>
          <a:p>
            <a:pPr marL="342900" indent="-342900">
              <a:spcAft>
                <a:spcPts val="900"/>
              </a:spcAft>
              <a:buSzPct val="100000"/>
              <a:buChar char="•"/>
            </a:pPr>
            <a:r>
              <a:rPr lang="en-US" sz="1350" dirty="0">
                <a:solidFill>
                  <a:srgbClr val="EEF1F7"/>
                </a:solidFill>
                <a:latin typeface="Calibri" pitchFamily="34" charset="0"/>
                <a:ea typeface="Calibri" pitchFamily="34" charset="-122"/>
                <a:cs typeface="Calibri" pitchFamily="34" charset="-120"/>
              </a:rPr>
              <a:t>Potentially valuable wherever microwave backhaul is present</a:t>
            </a:r>
            <a:endParaRPr lang="en-US" sz="1050" dirty="0"/>
          </a:p>
          <a:p>
            <a:pPr marL="342900" indent="-342900">
              <a:spcAft>
                <a:spcPts val="900"/>
              </a:spcAft>
              <a:buSzPct val="100000"/>
              <a:buChar char="•"/>
            </a:pPr>
            <a:r>
              <a:rPr lang="en-US" sz="1350" dirty="0">
                <a:solidFill>
                  <a:srgbClr val="EEF1F7"/>
                </a:solidFill>
                <a:latin typeface="Calibri" pitchFamily="34" charset="0"/>
                <a:ea typeface="Calibri" pitchFamily="34" charset="-122"/>
                <a:cs typeface="Calibri" pitchFamily="34" charset="-120"/>
              </a:rPr>
              <a:t>An auditable weather trigger built on multiple data sources</a:t>
            </a:r>
            <a:endParaRPr lang="en-US" sz="1050" dirty="0"/>
          </a:p>
        </p:txBody>
      </p:sp>
      <p:sp>
        <p:nvSpPr>
          <p:cNvPr id="42" name="takeaway"/>
          <p:cNvSpPr txBox="1"/>
          <p:nvPr/>
        </p:nvSpPr>
        <p:spPr>
          <a:xfrm>
            <a:off x="548640" y="5806440"/>
            <a:ext cx="11094415" cy="457200"/>
          </a:xfrm>
          <a:prstGeom prst="rect">
            <a:avLst/>
          </a:prstGeom>
          <a:noFill/>
          <a:ln/>
        </p:spPr>
        <p:txBody>
          <a:bodyPr wrap="square" lIns="0" tIns="0" rIns="0" bIns="0" rtlCol="0" anchor="t"/>
          <a:lstStyle/>
          <a:p>
            <a:pPr indent="0" marL="0">
              <a:buNone/>
            </a:pPr>
            <a:r>
              <a:rPr lang="en-US" sz="1800" b="1" i="1" dirty="0">
                <a:solidFill>
                  <a:srgbClr val="F5A623"/>
                </a:solidFill>
                <a:latin typeface="Cambria" pitchFamily="34" charset="0"/>
                <a:ea typeface="Cambria" pitchFamily="34" charset="-122"/>
                <a:cs typeface="Cambria" pitchFamily="34" charset="-120"/>
              </a:rPr>
              <a:t>Alerts for those who act in real time. Data for those who need proof.</a:t>
            </a:r>
            <a:endParaRPr lang="en-US" sz="18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69"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00"/>
                                        <p:tgtEl>
                                          <p:spTgt spid="4"/>
                                        </p:tgtEl>
                                      </p:cBhvr>
                                    </p:animEffect>
                                  </p:childTnLst>
                                </p:cTn>
                              </p:par>
                              <p:par>
                                <p:cTn id="7" presetID="42" presetClass="entr" presetSubtype="0" fill="hold" grpId="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650"/>
                                        <p:tgtEl>
                                          <p:spTgt spid="5"/>
                                        </p:tgtEl>
                                      </p:cBhvr>
                                    </p:animEffect>
                                    <p:anim calcmode="lin" valueType="num">
                                      <p:cBhvr>
                                        <p:cTn id="10" dur="650" fill="hold"/>
                                        <p:tgtEl>
                                          <p:spTgt spid="5"/>
                                        </p:tgtEl>
                                        <p:attrNameLst>
                                          <p:attrName>ppt_x</p:attrName>
                                        </p:attrNameLst>
                                      </p:cBhvr>
                                      <p:tavLst>
                                        <p:tav tm="0">
                                          <p:val>
                                            <p:strVal val="#ppt_x"/>
                                          </p:val>
                                        </p:tav>
                                        <p:tav tm="100000">
                                          <p:val>
                                            <p:strVal val="#ppt_x"/>
                                          </p:val>
                                        </p:tav>
                                      </p:tavLst>
                                    </p:anim>
                                    <p:anim calcmode="lin" valueType="num">
                                      <p:cBhvr>
                                        <p:cTn id="11" dur="65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750"/>
                            </p:stCondLst>
                            <p:childTnLst>
                              <p:par>
                                <p:cTn id="13" presetID="42" presetClass="entr" presetSubtype="0" fill="hold" grpId="0" nodeType="afterEffect">
                                  <p:stCondLst>
                                    <p:cond delay="4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anim calcmode="lin" valueType="num">
                                      <p:cBhvr>
                                        <p:cTn id="16" dur="400" fill="hold"/>
                                        <p:tgtEl>
                                          <p:spTgt spid="6"/>
                                        </p:tgtEl>
                                        <p:attrNameLst>
                                          <p:attrName>ppt_x</p:attrName>
                                        </p:attrNameLst>
                                      </p:cBhvr>
                                      <p:tavLst>
                                        <p:tav tm="0">
                                          <p:val>
                                            <p:strVal val="#ppt_x"/>
                                          </p:val>
                                        </p:tav>
                                        <p:tav tm="100000">
                                          <p:val>
                                            <p:strVal val="#ppt_x"/>
                                          </p:val>
                                        </p:tav>
                                      </p:tavLst>
                                    </p:anim>
                                    <p:anim calcmode="lin" valueType="num">
                                      <p:cBhvr>
                                        <p:cTn id="17" dur="400" fill="hold"/>
                                        <p:tgtEl>
                                          <p:spTgt spid="6"/>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00"/>
                                        <p:tgtEl>
                                          <p:spTgt spid="7"/>
                                        </p:tgtEl>
                                      </p:cBhvr>
                                    </p:animEffect>
                                    <p:anim calcmode="lin" valueType="num">
                                      <p:cBhvr>
                                        <p:cTn id="21" dur="400" fill="hold"/>
                                        <p:tgtEl>
                                          <p:spTgt spid="7"/>
                                        </p:tgtEl>
                                        <p:attrNameLst>
                                          <p:attrName>ppt_x</p:attrName>
                                        </p:attrNameLst>
                                      </p:cBhvr>
                                      <p:tavLst>
                                        <p:tav tm="0">
                                          <p:val>
                                            <p:strVal val="#ppt_x"/>
                                          </p:val>
                                        </p:tav>
                                        <p:tav tm="100000">
                                          <p:val>
                                            <p:strVal val="#ppt_x"/>
                                          </p:val>
                                        </p:tav>
                                      </p:tavLst>
                                    </p:anim>
                                    <p:anim calcmode="lin" valueType="num">
                                      <p:cBhvr>
                                        <p:cTn id="22" dur="400" fill="hold"/>
                                        <p:tgtEl>
                                          <p:spTgt spid="7"/>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00"/>
                                        <p:tgtEl>
                                          <p:spTgt spid="8"/>
                                        </p:tgtEl>
                                      </p:cBhvr>
                                    </p:animEffect>
                                    <p:anim calcmode="lin" valueType="num">
                                      <p:cBhvr>
                                        <p:cTn id="26" dur="400" fill="hold"/>
                                        <p:tgtEl>
                                          <p:spTgt spid="8"/>
                                        </p:tgtEl>
                                        <p:attrNameLst>
                                          <p:attrName>ppt_x</p:attrName>
                                        </p:attrNameLst>
                                      </p:cBhvr>
                                      <p:tavLst>
                                        <p:tav tm="0">
                                          <p:val>
                                            <p:strVal val="#ppt_x"/>
                                          </p:val>
                                        </p:tav>
                                        <p:tav tm="100000">
                                          <p:val>
                                            <p:strVal val="#ppt_x"/>
                                          </p:val>
                                        </p:tav>
                                      </p:tavLst>
                                    </p:anim>
                                    <p:anim calcmode="lin" valueType="num">
                                      <p:cBhvr>
                                        <p:cTn id="27" dur="400" fill="hold"/>
                                        <p:tgtEl>
                                          <p:spTgt spid="8"/>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400"/>
                                        <p:tgtEl>
                                          <p:spTgt spid="9"/>
                                        </p:tgtEl>
                                      </p:cBhvr>
                                    </p:animEffect>
                                    <p:anim calcmode="lin" valueType="num">
                                      <p:cBhvr>
                                        <p:cTn id="31" dur="400" fill="hold"/>
                                        <p:tgtEl>
                                          <p:spTgt spid="9"/>
                                        </p:tgtEl>
                                        <p:attrNameLst>
                                          <p:attrName>ppt_x</p:attrName>
                                        </p:attrNameLst>
                                      </p:cBhvr>
                                      <p:tavLst>
                                        <p:tav tm="0">
                                          <p:val>
                                            <p:strVal val="#ppt_x"/>
                                          </p:val>
                                        </p:tav>
                                        <p:tav tm="100000">
                                          <p:val>
                                            <p:strVal val="#ppt_x"/>
                                          </p:val>
                                        </p:tav>
                                      </p:tavLst>
                                    </p:anim>
                                    <p:anim calcmode="lin" valueType="num">
                                      <p:cBhvr>
                                        <p:cTn id="32" dur="400" fill="hold"/>
                                        <p:tgtEl>
                                          <p:spTgt spid="9"/>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400"/>
                                        <p:tgtEl>
                                          <p:spTgt spid="10"/>
                                        </p:tgtEl>
                                      </p:cBhvr>
                                    </p:animEffect>
                                    <p:anim calcmode="lin" valueType="num">
                                      <p:cBhvr>
                                        <p:cTn id="36" dur="400" fill="hold"/>
                                        <p:tgtEl>
                                          <p:spTgt spid="10"/>
                                        </p:tgtEl>
                                        <p:attrNameLst>
                                          <p:attrName>ppt_x</p:attrName>
                                        </p:attrNameLst>
                                      </p:cBhvr>
                                      <p:tavLst>
                                        <p:tav tm="0">
                                          <p:val>
                                            <p:strVal val="#ppt_x"/>
                                          </p:val>
                                        </p:tav>
                                        <p:tav tm="100000">
                                          <p:val>
                                            <p:strVal val="#ppt_x"/>
                                          </p:val>
                                        </p:tav>
                                      </p:tavLst>
                                    </p:anim>
                                    <p:anim calcmode="lin" valueType="num">
                                      <p:cBhvr>
                                        <p:cTn id="37" dur="400" fill="hold"/>
                                        <p:tgtEl>
                                          <p:spTgt spid="10"/>
                                        </p:tgtEl>
                                        <p:attrNameLst>
                                          <p:attrName>ppt_y</p:attrName>
                                        </p:attrNameLst>
                                      </p:cBhvr>
                                      <p:tavLst>
                                        <p:tav tm="0">
                                          <p:val>
                                            <p:strVal val="#ppt_y+.06"/>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400"/>
                                        <p:tgtEl>
                                          <p:spTgt spid="11"/>
                                        </p:tgtEl>
                                      </p:cBhvr>
                                    </p:animEffect>
                                    <p:anim calcmode="lin" valueType="num">
                                      <p:cBhvr>
                                        <p:cTn id="41" dur="400" fill="hold"/>
                                        <p:tgtEl>
                                          <p:spTgt spid="11"/>
                                        </p:tgtEl>
                                        <p:attrNameLst>
                                          <p:attrName>ppt_x</p:attrName>
                                        </p:attrNameLst>
                                      </p:cBhvr>
                                      <p:tavLst>
                                        <p:tav tm="0">
                                          <p:val>
                                            <p:strVal val="#ppt_x"/>
                                          </p:val>
                                        </p:tav>
                                        <p:tav tm="100000">
                                          <p:val>
                                            <p:strVal val="#ppt_x"/>
                                          </p:val>
                                        </p:tav>
                                      </p:tavLst>
                                    </p:anim>
                                    <p:anim calcmode="lin" valueType="num">
                                      <p:cBhvr>
                                        <p:cTn id="42" dur="400" fill="hold"/>
                                        <p:tgtEl>
                                          <p:spTgt spid="11"/>
                                        </p:tgtEl>
                                        <p:attrNameLst>
                                          <p:attrName>ppt_y</p:attrName>
                                        </p:attrNameLst>
                                      </p:cBhvr>
                                      <p:tavLst>
                                        <p:tav tm="0">
                                          <p:val>
                                            <p:strVal val="#ppt_y+.06"/>
                                          </p:val>
                                        </p:tav>
                                        <p:tav tm="100000">
                                          <p:val>
                                            <p:strVal val="#ppt_y"/>
                                          </p:val>
                                        </p:tav>
                                      </p:tavLst>
                                    </p:anim>
                                  </p:childTnLst>
                                </p:cTn>
                              </p:par>
                            </p:childTnLst>
                          </p:cTn>
                        </p:par>
                        <p:par>
                          <p:cTn id="43" fill="hold">
                            <p:stCondLst>
                              <p:cond delay="1190"/>
                            </p:stCondLst>
                            <p:childTnLst>
                              <p:par>
                                <p:cTn id="44" presetID="42" presetClass="entr" presetSubtype="0" fill="hold" grpId="0" nodeType="afterEffect">
                                  <p:stCondLst>
                                    <p:cond delay="4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400"/>
                                        <p:tgtEl>
                                          <p:spTgt spid="12"/>
                                        </p:tgtEl>
                                      </p:cBhvr>
                                    </p:animEffect>
                                    <p:anim calcmode="lin" valueType="num">
                                      <p:cBhvr>
                                        <p:cTn id="47" dur="400" fill="hold"/>
                                        <p:tgtEl>
                                          <p:spTgt spid="12"/>
                                        </p:tgtEl>
                                        <p:attrNameLst>
                                          <p:attrName>ppt_x</p:attrName>
                                        </p:attrNameLst>
                                      </p:cBhvr>
                                      <p:tavLst>
                                        <p:tav tm="0">
                                          <p:val>
                                            <p:strVal val="#ppt_x"/>
                                          </p:val>
                                        </p:tav>
                                        <p:tav tm="100000">
                                          <p:val>
                                            <p:strVal val="#ppt_x"/>
                                          </p:val>
                                        </p:tav>
                                      </p:tavLst>
                                    </p:anim>
                                    <p:anim calcmode="lin" valueType="num">
                                      <p:cBhvr>
                                        <p:cTn id="48" dur="400" fill="hold"/>
                                        <p:tgtEl>
                                          <p:spTgt spid="12"/>
                                        </p:tgtEl>
                                        <p:attrNameLst>
                                          <p:attrName>ppt_y</p:attrName>
                                        </p:attrNameLst>
                                      </p:cBhvr>
                                      <p:tavLst>
                                        <p:tav tm="0">
                                          <p:val>
                                            <p:strVal val="#ppt_y+.06"/>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400"/>
                                        <p:tgtEl>
                                          <p:spTgt spid="13"/>
                                        </p:tgtEl>
                                      </p:cBhvr>
                                    </p:animEffect>
                                    <p:anim calcmode="lin" valueType="num">
                                      <p:cBhvr>
                                        <p:cTn id="52" dur="400" fill="hold"/>
                                        <p:tgtEl>
                                          <p:spTgt spid="13"/>
                                        </p:tgtEl>
                                        <p:attrNameLst>
                                          <p:attrName>ppt_x</p:attrName>
                                        </p:attrNameLst>
                                      </p:cBhvr>
                                      <p:tavLst>
                                        <p:tav tm="0">
                                          <p:val>
                                            <p:strVal val="#ppt_x"/>
                                          </p:val>
                                        </p:tav>
                                        <p:tav tm="100000">
                                          <p:val>
                                            <p:strVal val="#ppt_x"/>
                                          </p:val>
                                        </p:tav>
                                      </p:tavLst>
                                    </p:anim>
                                    <p:anim calcmode="lin" valueType="num">
                                      <p:cBhvr>
                                        <p:cTn id="53" dur="400" fill="hold"/>
                                        <p:tgtEl>
                                          <p:spTgt spid="13"/>
                                        </p:tgtEl>
                                        <p:attrNameLst>
                                          <p:attrName>ppt_y</p:attrName>
                                        </p:attrNameLst>
                                      </p:cBhvr>
                                      <p:tavLst>
                                        <p:tav tm="0">
                                          <p:val>
                                            <p:strVal val="#ppt_y+.06"/>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400"/>
                                        <p:tgtEl>
                                          <p:spTgt spid="14"/>
                                        </p:tgtEl>
                                      </p:cBhvr>
                                    </p:animEffect>
                                    <p:anim calcmode="lin" valueType="num">
                                      <p:cBhvr>
                                        <p:cTn id="57" dur="400" fill="hold"/>
                                        <p:tgtEl>
                                          <p:spTgt spid="14"/>
                                        </p:tgtEl>
                                        <p:attrNameLst>
                                          <p:attrName>ppt_x</p:attrName>
                                        </p:attrNameLst>
                                      </p:cBhvr>
                                      <p:tavLst>
                                        <p:tav tm="0">
                                          <p:val>
                                            <p:strVal val="#ppt_x"/>
                                          </p:val>
                                        </p:tav>
                                        <p:tav tm="100000">
                                          <p:val>
                                            <p:strVal val="#ppt_x"/>
                                          </p:val>
                                        </p:tav>
                                      </p:tavLst>
                                    </p:anim>
                                    <p:anim calcmode="lin" valueType="num">
                                      <p:cBhvr>
                                        <p:cTn id="58" dur="400" fill="hold"/>
                                        <p:tgtEl>
                                          <p:spTgt spid="14"/>
                                        </p:tgtEl>
                                        <p:attrNameLst>
                                          <p:attrName>ppt_y</p:attrName>
                                        </p:attrNameLst>
                                      </p:cBhvr>
                                      <p:tavLst>
                                        <p:tav tm="0">
                                          <p:val>
                                            <p:strVal val="#ppt_y+.06"/>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400"/>
                                        <p:tgtEl>
                                          <p:spTgt spid="15"/>
                                        </p:tgtEl>
                                      </p:cBhvr>
                                    </p:animEffect>
                                    <p:anim calcmode="lin" valueType="num">
                                      <p:cBhvr>
                                        <p:cTn id="62" dur="400" fill="hold"/>
                                        <p:tgtEl>
                                          <p:spTgt spid="15"/>
                                        </p:tgtEl>
                                        <p:attrNameLst>
                                          <p:attrName>ppt_x</p:attrName>
                                        </p:attrNameLst>
                                      </p:cBhvr>
                                      <p:tavLst>
                                        <p:tav tm="0">
                                          <p:val>
                                            <p:strVal val="#ppt_x"/>
                                          </p:val>
                                        </p:tav>
                                        <p:tav tm="100000">
                                          <p:val>
                                            <p:strVal val="#ppt_x"/>
                                          </p:val>
                                        </p:tav>
                                      </p:tavLst>
                                    </p:anim>
                                    <p:anim calcmode="lin" valueType="num">
                                      <p:cBhvr>
                                        <p:cTn id="63" dur="400" fill="hold"/>
                                        <p:tgtEl>
                                          <p:spTgt spid="15"/>
                                        </p:tgtEl>
                                        <p:attrNameLst>
                                          <p:attrName>ppt_y</p:attrName>
                                        </p:attrNameLst>
                                      </p:cBhvr>
                                      <p:tavLst>
                                        <p:tav tm="0">
                                          <p:val>
                                            <p:strVal val="#ppt_y+.06"/>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6"/>
                                        </p:tgtEl>
                                        <p:attrNameLst>
                                          <p:attrName>style.visibility</p:attrName>
                                        </p:attrNameLst>
                                      </p:cBhvr>
                                      <p:to>
                                        <p:strVal val="visible"/>
                                      </p:to>
                                    </p:set>
                                    <p:animEffect transition="in" filter="fade">
                                      <p:cBhvr>
                                        <p:cTn id="66" dur="400"/>
                                        <p:tgtEl>
                                          <p:spTgt spid="16"/>
                                        </p:tgtEl>
                                      </p:cBhvr>
                                    </p:animEffect>
                                    <p:anim calcmode="lin" valueType="num">
                                      <p:cBhvr>
                                        <p:cTn id="67" dur="400" fill="hold"/>
                                        <p:tgtEl>
                                          <p:spTgt spid="16"/>
                                        </p:tgtEl>
                                        <p:attrNameLst>
                                          <p:attrName>ppt_x</p:attrName>
                                        </p:attrNameLst>
                                      </p:cBhvr>
                                      <p:tavLst>
                                        <p:tav tm="0">
                                          <p:val>
                                            <p:strVal val="#ppt_x"/>
                                          </p:val>
                                        </p:tav>
                                        <p:tav tm="100000">
                                          <p:val>
                                            <p:strVal val="#ppt_x"/>
                                          </p:val>
                                        </p:tav>
                                      </p:tavLst>
                                    </p:anim>
                                    <p:anim calcmode="lin" valueType="num">
                                      <p:cBhvr>
                                        <p:cTn id="68" dur="400" fill="hold"/>
                                        <p:tgtEl>
                                          <p:spTgt spid="16"/>
                                        </p:tgtEl>
                                        <p:attrNameLst>
                                          <p:attrName>ppt_y</p:attrName>
                                        </p:attrNameLst>
                                      </p:cBhvr>
                                      <p:tavLst>
                                        <p:tav tm="0">
                                          <p:val>
                                            <p:strVal val="#ppt_y+.06"/>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400"/>
                                        <p:tgtEl>
                                          <p:spTgt spid="17"/>
                                        </p:tgtEl>
                                      </p:cBhvr>
                                    </p:animEffect>
                                    <p:anim calcmode="lin" valueType="num">
                                      <p:cBhvr>
                                        <p:cTn id="72" dur="400" fill="hold"/>
                                        <p:tgtEl>
                                          <p:spTgt spid="17"/>
                                        </p:tgtEl>
                                        <p:attrNameLst>
                                          <p:attrName>ppt_x</p:attrName>
                                        </p:attrNameLst>
                                      </p:cBhvr>
                                      <p:tavLst>
                                        <p:tav tm="0">
                                          <p:val>
                                            <p:strVal val="#ppt_x"/>
                                          </p:val>
                                        </p:tav>
                                        <p:tav tm="100000">
                                          <p:val>
                                            <p:strVal val="#ppt_x"/>
                                          </p:val>
                                        </p:tav>
                                      </p:tavLst>
                                    </p:anim>
                                    <p:anim calcmode="lin" valueType="num">
                                      <p:cBhvr>
                                        <p:cTn id="73" dur="400" fill="hold"/>
                                        <p:tgtEl>
                                          <p:spTgt spid="17"/>
                                        </p:tgtEl>
                                        <p:attrNameLst>
                                          <p:attrName>ppt_y</p:attrName>
                                        </p:attrNameLst>
                                      </p:cBhvr>
                                      <p:tavLst>
                                        <p:tav tm="0">
                                          <p:val>
                                            <p:strVal val="#ppt_y+.06"/>
                                          </p:val>
                                        </p:tav>
                                        <p:tav tm="100000">
                                          <p:val>
                                            <p:strVal val="#ppt_y"/>
                                          </p:val>
                                        </p:tav>
                                      </p:tavLst>
                                    </p:anim>
                                  </p:childTnLst>
                                </p:cTn>
                              </p:par>
                            </p:childTnLst>
                          </p:cTn>
                        </p:par>
                        <p:par>
                          <p:cTn id="74" fill="hold">
                            <p:stCondLst>
                              <p:cond delay="1630"/>
                            </p:stCondLst>
                            <p:childTnLst>
                              <p:par>
                                <p:cTn id="75" presetID="42" presetClass="entr" presetSubtype="0" fill="hold" grpId="0" nodeType="afterEffect">
                                  <p:stCondLst>
                                    <p:cond delay="4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400"/>
                                        <p:tgtEl>
                                          <p:spTgt spid="18"/>
                                        </p:tgtEl>
                                      </p:cBhvr>
                                    </p:animEffect>
                                    <p:anim calcmode="lin" valueType="num">
                                      <p:cBhvr>
                                        <p:cTn id="78" dur="400" fill="hold"/>
                                        <p:tgtEl>
                                          <p:spTgt spid="18"/>
                                        </p:tgtEl>
                                        <p:attrNameLst>
                                          <p:attrName>ppt_x</p:attrName>
                                        </p:attrNameLst>
                                      </p:cBhvr>
                                      <p:tavLst>
                                        <p:tav tm="0">
                                          <p:val>
                                            <p:strVal val="#ppt_x"/>
                                          </p:val>
                                        </p:tav>
                                        <p:tav tm="100000">
                                          <p:val>
                                            <p:strVal val="#ppt_x"/>
                                          </p:val>
                                        </p:tav>
                                      </p:tavLst>
                                    </p:anim>
                                    <p:anim calcmode="lin" valueType="num">
                                      <p:cBhvr>
                                        <p:cTn id="79" dur="400" fill="hold"/>
                                        <p:tgtEl>
                                          <p:spTgt spid="18"/>
                                        </p:tgtEl>
                                        <p:attrNameLst>
                                          <p:attrName>ppt_y</p:attrName>
                                        </p:attrNameLst>
                                      </p:cBhvr>
                                      <p:tavLst>
                                        <p:tav tm="0">
                                          <p:val>
                                            <p:strVal val="#ppt_y+.06"/>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400"/>
                                        <p:tgtEl>
                                          <p:spTgt spid="19"/>
                                        </p:tgtEl>
                                      </p:cBhvr>
                                    </p:animEffect>
                                    <p:anim calcmode="lin" valueType="num">
                                      <p:cBhvr>
                                        <p:cTn id="83" dur="400" fill="hold"/>
                                        <p:tgtEl>
                                          <p:spTgt spid="19"/>
                                        </p:tgtEl>
                                        <p:attrNameLst>
                                          <p:attrName>ppt_x</p:attrName>
                                        </p:attrNameLst>
                                      </p:cBhvr>
                                      <p:tavLst>
                                        <p:tav tm="0">
                                          <p:val>
                                            <p:strVal val="#ppt_x"/>
                                          </p:val>
                                        </p:tav>
                                        <p:tav tm="100000">
                                          <p:val>
                                            <p:strVal val="#ppt_x"/>
                                          </p:val>
                                        </p:tav>
                                      </p:tavLst>
                                    </p:anim>
                                    <p:anim calcmode="lin" valueType="num">
                                      <p:cBhvr>
                                        <p:cTn id="84" dur="400" fill="hold"/>
                                        <p:tgtEl>
                                          <p:spTgt spid="19"/>
                                        </p:tgtEl>
                                        <p:attrNameLst>
                                          <p:attrName>ppt_y</p:attrName>
                                        </p:attrNameLst>
                                      </p:cBhvr>
                                      <p:tavLst>
                                        <p:tav tm="0">
                                          <p:val>
                                            <p:strVal val="#ppt_y+.06"/>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400"/>
                                        <p:tgtEl>
                                          <p:spTgt spid="20"/>
                                        </p:tgtEl>
                                      </p:cBhvr>
                                    </p:animEffect>
                                    <p:anim calcmode="lin" valueType="num">
                                      <p:cBhvr>
                                        <p:cTn id="88" dur="400" fill="hold"/>
                                        <p:tgtEl>
                                          <p:spTgt spid="20"/>
                                        </p:tgtEl>
                                        <p:attrNameLst>
                                          <p:attrName>ppt_x</p:attrName>
                                        </p:attrNameLst>
                                      </p:cBhvr>
                                      <p:tavLst>
                                        <p:tav tm="0">
                                          <p:val>
                                            <p:strVal val="#ppt_x"/>
                                          </p:val>
                                        </p:tav>
                                        <p:tav tm="100000">
                                          <p:val>
                                            <p:strVal val="#ppt_x"/>
                                          </p:val>
                                        </p:tav>
                                      </p:tavLst>
                                    </p:anim>
                                    <p:anim calcmode="lin" valueType="num">
                                      <p:cBhvr>
                                        <p:cTn id="89" dur="400" fill="hold"/>
                                        <p:tgtEl>
                                          <p:spTgt spid="20"/>
                                        </p:tgtEl>
                                        <p:attrNameLst>
                                          <p:attrName>ppt_y</p:attrName>
                                        </p:attrNameLst>
                                      </p:cBhvr>
                                      <p:tavLst>
                                        <p:tav tm="0">
                                          <p:val>
                                            <p:strVal val="#ppt_y+.06"/>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400"/>
                                        <p:tgtEl>
                                          <p:spTgt spid="21"/>
                                        </p:tgtEl>
                                      </p:cBhvr>
                                    </p:animEffect>
                                    <p:anim calcmode="lin" valueType="num">
                                      <p:cBhvr>
                                        <p:cTn id="93" dur="400" fill="hold"/>
                                        <p:tgtEl>
                                          <p:spTgt spid="21"/>
                                        </p:tgtEl>
                                        <p:attrNameLst>
                                          <p:attrName>ppt_x</p:attrName>
                                        </p:attrNameLst>
                                      </p:cBhvr>
                                      <p:tavLst>
                                        <p:tav tm="0">
                                          <p:val>
                                            <p:strVal val="#ppt_x"/>
                                          </p:val>
                                        </p:tav>
                                        <p:tav tm="100000">
                                          <p:val>
                                            <p:strVal val="#ppt_x"/>
                                          </p:val>
                                        </p:tav>
                                      </p:tavLst>
                                    </p:anim>
                                    <p:anim calcmode="lin" valueType="num">
                                      <p:cBhvr>
                                        <p:cTn id="94" dur="400" fill="hold"/>
                                        <p:tgtEl>
                                          <p:spTgt spid="21"/>
                                        </p:tgtEl>
                                        <p:attrNameLst>
                                          <p:attrName>ppt_y</p:attrName>
                                        </p:attrNameLst>
                                      </p:cBhvr>
                                      <p:tavLst>
                                        <p:tav tm="0">
                                          <p:val>
                                            <p:strVal val="#ppt_y+.06"/>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400"/>
                                        <p:tgtEl>
                                          <p:spTgt spid="22"/>
                                        </p:tgtEl>
                                      </p:cBhvr>
                                    </p:animEffect>
                                    <p:anim calcmode="lin" valueType="num">
                                      <p:cBhvr>
                                        <p:cTn id="98" dur="400" fill="hold"/>
                                        <p:tgtEl>
                                          <p:spTgt spid="22"/>
                                        </p:tgtEl>
                                        <p:attrNameLst>
                                          <p:attrName>ppt_x</p:attrName>
                                        </p:attrNameLst>
                                      </p:cBhvr>
                                      <p:tavLst>
                                        <p:tav tm="0">
                                          <p:val>
                                            <p:strVal val="#ppt_x"/>
                                          </p:val>
                                        </p:tav>
                                        <p:tav tm="100000">
                                          <p:val>
                                            <p:strVal val="#ppt_x"/>
                                          </p:val>
                                        </p:tav>
                                      </p:tavLst>
                                    </p:anim>
                                    <p:anim calcmode="lin" valueType="num">
                                      <p:cBhvr>
                                        <p:cTn id="99" dur="400" fill="hold"/>
                                        <p:tgtEl>
                                          <p:spTgt spid="22"/>
                                        </p:tgtEl>
                                        <p:attrNameLst>
                                          <p:attrName>ppt_y</p:attrName>
                                        </p:attrNameLst>
                                      </p:cBhvr>
                                      <p:tavLst>
                                        <p:tav tm="0">
                                          <p:val>
                                            <p:strVal val="#ppt_y+.06"/>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23"/>
                                        </p:tgtEl>
                                        <p:attrNameLst>
                                          <p:attrName>style.visibility</p:attrName>
                                        </p:attrNameLst>
                                      </p:cBhvr>
                                      <p:to>
                                        <p:strVal val="visible"/>
                                      </p:to>
                                    </p:set>
                                    <p:animEffect transition="in" filter="fade">
                                      <p:cBhvr>
                                        <p:cTn id="102" dur="400"/>
                                        <p:tgtEl>
                                          <p:spTgt spid="23"/>
                                        </p:tgtEl>
                                      </p:cBhvr>
                                    </p:animEffect>
                                    <p:anim calcmode="lin" valueType="num">
                                      <p:cBhvr>
                                        <p:cTn id="103" dur="400" fill="hold"/>
                                        <p:tgtEl>
                                          <p:spTgt spid="23"/>
                                        </p:tgtEl>
                                        <p:attrNameLst>
                                          <p:attrName>ppt_x</p:attrName>
                                        </p:attrNameLst>
                                      </p:cBhvr>
                                      <p:tavLst>
                                        <p:tav tm="0">
                                          <p:val>
                                            <p:strVal val="#ppt_x"/>
                                          </p:val>
                                        </p:tav>
                                        <p:tav tm="100000">
                                          <p:val>
                                            <p:strVal val="#ppt_x"/>
                                          </p:val>
                                        </p:tav>
                                      </p:tavLst>
                                    </p:anim>
                                    <p:anim calcmode="lin" valueType="num">
                                      <p:cBhvr>
                                        <p:cTn id="104" dur="400" fill="hold"/>
                                        <p:tgtEl>
                                          <p:spTgt spid="23"/>
                                        </p:tgtEl>
                                        <p:attrNameLst>
                                          <p:attrName>ppt_y</p:attrName>
                                        </p:attrNameLst>
                                      </p:cBhvr>
                                      <p:tavLst>
                                        <p:tav tm="0">
                                          <p:val>
                                            <p:strVal val="#ppt_y+.06"/>
                                          </p:val>
                                        </p:tav>
                                        <p:tav tm="100000">
                                          <p:val>
                                            <p:strVal val="#ppt_y"/>
                                          </p:val>
                                        </p:tav>
                                      </p:tavLst>
                                    </p:anim>
                                  </p:childTnLst>
                                </p:cTn>
                              </p:par>
                            </p:childTnLst>
                          </p:cTn>
                        </p:par>
                        <p:par>
                          <p:cTn id="105" fill="hold">
                            <p:stCondLst>
                              <p:cond delay="2070"/>
                            </p:stCondLst>
                            <p:childTnLst>
                              <p:par>
                                <p:cTn id="106" presetID="10" presetClass="entr" presetSubtype="0" fill="hold" grpId="0" nodeType="afterEffect">
                                  <p:stCondLst>
                                    <p:cond delay="60"/>
                                  </p:stCondLst>
                                  <p:childTnLst>
                                    <p:set>
                                      <p:cBhvr>
                                        <p:cTn id="107" dur="1" fill="hold">
                                          <p:stCondLst>
                                            <p:cond delay="0"/>
                                          </p:stCondLst>
                                        </p:cTn>
                                        <p:tgtEl>
                                          <p:spTgt spid="24"/>
                                        </p:tgtEl>
                                        <p:attrNameLst>
                                          <p:attrName>style.visibility</p:attrName>
                                        </p:attrNameLst>
                                      </p:cBhvr>
                                      <p:to>
                                        <p:strVal val="visible"/>
                                      </p:to>
                                    </p:set>
                                    <p:animEffect transition="in" filter="fade">
                                      <p:cBhvr>
                                        <p:cTn id="108" dur="400"/>
                                        <p:tgtEl>
                                          <p:spTgt spid="24"/>
                                        </p:tgtEl>
                                      </p:cBhvr>
                                    </p:animEffect>
                                  </p:childTnLst>
                                </p:cTn>
                              </p:par>
                            </p:childTnLst>
                          </p:cTn>
                        </p:par>
                        <p:par>
                          <p:cTn id="109" fill="hold">
                            <p:stCondLst>
                              <p:cond delay="2530"/>
                            </p:stCondLst>
                            <p:childTnLst>
                              <p:par>
                                <p:cTn id="110" presetID="22" presetClass="entr" presetSubtype="8" fill="hold" grpId="0" nodeType="afterEffect">
                                  <p:stCondLst>
                                    <p:cond delay="20"/>
                                  </p:stCondLst>
                                  <p:childTnLst>
                                    <p:set>
                                      <p:cBhvr>
                                        <p:cTn id="111" dur="1" fill="hold">
                                          <p:stCondLst>
                                            <p:cond delay="0"/>
                                          </p:stCondLst>
                                        </p:cTn>
                                        <p:tgtEl>
                                          <p:spTgt spid="25"/>
                                        </p:tgtEl>
                                        <p:attrNameLst>
                                          <p:attrName>style.visibility</p:attrName>
                                        </p:attrNameLst>
                                      </p:cBhvr>
                                      <p:to>
                                        <p:strVal val="visible"/>
                                      </p:to>
                                    </p:set>
                                    <p:animEffect transition="in" filter="wipe(left)">
                                      <p:cBhvr>
                                        <p:cTn id="112" dur="350"/>
                                        <p:tgtEl>
                                          <p:spTgt spid="25"/>
                                        </p:tgtEl>
                                      </p:cBhvr>
                                    </p:animEffect>
                                  </p:childTnLst>
                                </p:cTn>
                              </p:par>
                              <p:par>
                                <p:cTn id="113" presetID="22" presetClass="entr" presetSubtype="8" fill="hold" grpId="0" nodeType="withEffect">
                                  <p:stCondLst>
                                    <p:cond delay="0"/>
                                  </p:stCondLst>
                                  <p:childTnLst>
                                    <p:set>
                                      <p:cBhvr>
                                        <p:cTn id="114" dur="1" fill="hold">
                                          <p:stCondLst>
                                            <p:cond delay="0"/>
                                          </p:stCondLst>
                                        </p:cTn>
                                        <p:tgtEl>
                                          <p:spTgt spid="26"/>
                                        </p:tgtEl>
                                        <p:attrNameLst>
                                          <p:attrName>style.visibility</p:attrName>
                                        </p:attrNameLst>
                                      </p:cBhvr>
                                      <p:to>
                                        <p:strVal val="visible"/>
                                      </p:to>
                                    </p:set>
                                    <p:animEffect transition="in" filter="wipe(left)">
                                      <p:cBhvr>
                                        <p:cTn id="115" dur="350"/>
                                        <p:tgtEl>
                                          <p:spTgt spid="26"/>
                                        </p:tgtEl>
                                      </p:cBhvr>
                                    </p:animEffect>
                                  </p:childTnLst>
                                </p:cTn>
                              </p:par>
                              <p:par>
                                <p:cTn id="116" presetID="22" presetClass="entr" presetSubtype="8" fill="hold" grpId="0" nodeType="withEffect">
                                  <p:stCondLst>
                                    <p:cond delay="0"/>
                                  </p:stCondLst>
                                  <p:childTnLst>
                                    <p:set>
                                      <p:cBhvr>
                                        <p:cTn id="117" dur="1" fill="hold">
                                          <p:stCondLst>
                                            <p:cond delay="0"/>
                                          </p:stCondLst>
                                        </p:cTn>
                                        <p:tgtEl>
                                          <p:spTgt spid="27"/>
                                        </p:tgtEl>
                                        <p:attrNameLst>
                                          <p:attrName>style.visibility</p:attrName>
                                        </p:attrNameLst>
                                      </p:cBhvr>
                                      <p:to>
                                        <p:strVal val="visible"/>
                                      </p:to>
                                    </p:set>
                                    <p:animEffect transition="in" filter="wipe(left)">
                                      <p:cBhvr>
                                        <p:cTn id="118" dur="350"/>
                                        <p:tgtEl>
                                          <p:spTgt spid="27"/>
                                        </p:tgtEl>
                                      </p:cBhvr>
                                    </p:animEffect>
                                  </p:childTnLst>
                                </p:cTn>
                              </p:par>
                              <p:par>
                                <p:cTn id="119" presetID="22" presetClass="entr" presetSubtype="8" fill="hold" grpId="0" nodeType="withEffect">
                                  <p:stCondLst>
                                    <p:cond delay="0"/>
                                  </p:stCondLst>
                                  <p:childTnLst>
                                    <p:set>
                                      <p:cBhvr>
                                        <p:cTn id="120" dur="1" fill="hold">
                                          <p:stCondLst>
                                            <p:cond delay="0"/>
                                          </p:stCondLst>
                                        </p:cTn>
                                        <p:tgtEl>
                                          <p:spTgt spid="28"/>
                                        </p:tgtEl>
                                        <p:attrNameLst>
                                          <p:attrName>style.visibility</p:attrName>
                                        </p:attrNameLst>
                                      </p:cBhvr>
                                      <p:to>
                                        <p:strVal val="visible"/>
                                      </p:to>
                                    </p:set>
                                    <p:animEffect transition="in" filter="wipe(left)">
                                      <p:cBhvr>
                                        <p:cTn id="121" dur="350"/>
                                        <p:tgtEl>
                                          <p:spTgt spid="28"/>
                                        </p:tgtEl>
                                      </p:cBhvr>
                                    </p:animEffect>
                                  </p:childTnLst>
                                </p:cTn>
                              </p:par>
                            </p:childTnLst>
                          </p:cTn>
                        </p:par>
                        <p:par>
                          <p:cTn id="122" fill="hold">
                            <p:stCondLst>
                              <p:cond delay="2900"/>
                            </p:stCondLst>
                            <p:childTnLst>
                              <p:par>
                                <p:cTn id="123" presetID="22" presetClass="entr" presetSubtype="8" fill="hold" grpId="0" nodeType="afterEffect">
                                  <p:stCondLst>
                                    <p:cond delay="20"/>
                                  </p:stCondLst>
                                  <p:childTnLst>
                                    <p:set>
                                      <p:cBhvr>
                                        <p:cTn id="124" dur="1" fill="hold">
                                          <p:stCondLst>
                                            <p:cond delay="0"/>
                                          </p:stCondLst>
                                        </p:cTn>
                                        <p:tgtEl>
                                          <p:spTgt spid="29"/>
                                        </p:tgtEl>
                                        <p:attrNameLst>
                                          <p:attrName>style.visibility</p:attrName>
                                        </p:attrNameLst>
                                      </p:cBhvr>
                                      <p:to>
                                        <p:strVal val="visible"/>
                                      </p:to>
                                    </p:set>
                                    <p:animEffect transition="in" filter="wipe(left)">
                                      <p:cBhvr>
                                        <p:cTn id="125" dur="350"/>
                                        <p:tgtEl>
                                          <p:spTgt spid="29"/>
                                        </p:tgtEl>
                                      </p:cBhvr>
                                    </p:animEffect>
                                  </p:childTnLst>
                                </p:cTn>
                              </p:par>
                              <p:par>
                                <p:cTn id="126" presetID="22" presetClass="entr" presetSubtype="8" fill="hold" grpId="0" nodeType="withEffect">
                                  <p:stCondLst>
                                    <p:cond delay="0"/>
                                  </p:stCondLst>
                                  <p:childTnLst>
                                    <p:set>
                                      <p:cBhvr>
                                        <p:cTn id="127" dur="1" fill="hold">
                                          <p:stCondLst>
                                            <p:cond delay="0"/>
                                          </p:stCondLst>
                                        </p:cTn>
                                        <p:tgtEl>
                                          <p:spTgt spid="30"/>
                                        </p:tgtEl>
                                        <p:attrNameLst>
                                          <p:attrName>style.visibility</p:attrName>
                                        </p:attrNameLst>
                                      </p:cBhvr>
                                      <p:to>
                                        <p:strVal val="visible"/>
                                      </p:to>
                                    </p:set>
                                    <p:animEffect transition="in" filter="wipe(left)">
                                      <p:cBhvr>
                                        <p:cTn id="128" dur="350"/>
                                        <p:tgtEl>
                                          <p:spTgt spid="30"/>
                                        </p:tgtEl>
                                      </p:cBhvr>
                                    </p:animEffect>
                                  </p:childTnLst>
                                </p:cTn>
                              </p:par>
                              <p:par>
                                <p:cTn id="129" presetID="22" presetClass="entr" presetSubtype="8" fill="hold" grpId="0" nodeType="withEffect">
                                  <p:stCondLst>
                                    <p:cond delay="0"/>
                                  </p:stCondLst>
                                  <p:childTnLst>
                                    <p:set>
                                      <p:cBhvr>
                                        <p:cTn id="130" dur="1" fill="hold">
                                          <p:stCondLst>
                                            <p:cond delay="0"/>
                                          </p:stCondLst>
                                        </p:cTn>
                                        <p:tgtEl>
                                          <p:spTgt spid="31"/>
                                        </p:tgtEl>
                                        <p:attrNameLst>
                                          <p:attrName>style.visibility</p:attrName>
                                        </p:attrNameLst>
                                      </p:cBhvr>
                                      <p:to>
                                        <p:strVal val="visible"/>
                                      </p:to>
                                    </p:set>
                                    <p:animEffect transition="in" filter="wipe(left)">
                                      <p:cBhvr>
                                        <p:cTn id="131" dur="350"/>
                                        <p:tgtEl>
                                          <p:spTgt spid="31"/>
                                        </p:tgtEl>
                                      </p:cBhvr>
                                    </p:animEffect>
                                  </p:childTnLst>
                                </p:cTn>
                              </p:par>
                              <p:par>
                                <p:cTn id="132" presetID="22" presetClass="entr" presetSubtype="8" fill="hold" grpId="0" nodeType="withEffect">
                                  <p:stCondLst>
                                    <p:cond delay="0"/>
                                  </p:stCondLst>
                                  <p:childTnLst>
                                    <p:set>
                                      <p:cBhvr>
                                        <p:cTn id="133" dur="1" fill="hold">
                                          <p:stCondLst>
                                            <p:cond delay="0"/>
                                          </p:stCondLst>
                                        </p:cTn>
                                        <p:tgtEl>
                                          <p:spTgt spid="32"/>
                                        </p:tgtEl>
                                        <p:attrNameLst>
                                          <p:attrName>style.visibility</p:attrName>
                                        </p:attrNameLst>
                                      </p:cBhvr>
                                      <p:to>
                                        <p:strVal val="visible"/>
                                      </p:to>
                                    </p:set>
                                    <p:animEffect transition="in" filter="wipe(left)">
                                      <p:cBhvr>
                                        <p:cTn id="134" dur="350"/>
                                        <p:tgtEl>
                                          <p:spTgt spid="32"/>
                                        </p:tgtEl>
                                      </p:cBhvr>
                                    </p:animEffect>
                                  </p:childTnLst>
                                </p:cTn>
                              </p:par>
                            </p:childTnLst>
                          </p:cTn>
                        </p:par>
                        <p:par>
                          <p:cTn id="135" fill="hold">
                            <p:stCondLst>
                              <p:cond delay="3270"/>
                            </p:stCondLst>
                            <p:childTnLst>
                              <p:par>
                                <p:cTn id="136" presetID="22" presetClass="entr" presetSubtype="8" fill="hold" grpId="0" nodeType="afterEffect">
                                  <p:stCondLst>
                                    <p:cond delay="20"/>
                                  </p:stCondLst>
                                  <p:childTnLst>
                                    <p:set>
                                      <p:cBhvr>
                                        <p:cTn id="137" dur="1" fill="hold">
                                          <p:stCondLst>
                                            <p:cond delay="0"/>
                                          </p:stCondLst>
                                        </p:cTn>
                                        <p:tgtEl>
                                          <p:spTgt spid="33"/>
                                        </p:tgtEl>
                                        <p:attrNameLst>
                                          <p:attrName>style.visibility</p:attrName>
                                        </p:attrNameLst>
                                      </p:cBhvr>
                                      <p:to>
                                        <p:strVal val="visible"/>
                                      </p:to>
                                    </p:set>
                                    <p:animEffect transition="in" filter="wipe(left)">
                                      <p:cBhvr>
                                        <p:cTn id="138" dur="350"/>
                                        <p:tgtEl>
                                          <p:spTgt spid="33"/>
                                        </p:tgtEl>
                                      </p:cBhvr>
                                    </p:animEffect>
                                  </p:childTnLst>
                                </p:cTn>
                              </p:par>
                              <p:par>
                                <p:cTn id="139" presetID="22" presetClass="entr" presetSubtype="8" fill="hold" grpId="0" nodeType="withEffect">
                                  <p:stCondLst>
                                    <p:cond delay="0"/>
                                  </p:stCondLst>
                                  <p:childTnLst>
                                    <p:set>
                                      <p:cBhvr>
                                        <p:cTn id="140" dur="1" fill="hold">
                                          <p:stCondLst>
                                            <p:cond delay="0"/>
                                          </p:stCondLst>
                                        </p:cTn>
                                        <p:tgtEl>
                                          <p:spTgt spid="34"/>
                                        </p:tgtEl>
                                        <p:attrNameLst>
                                          <p:attrName>style.visibility</p:attrName>
                                        </p:attrNameLst>
                                      </p:cBhvr>
                                      <p:to>
                                        <p:strVal val="visible"/>
                                      </p:to>
                                    </p:set>
                                    <p:animEffect transition="in" filter="wipe(left)">
                                      <p:cBhvr>
                                        <p:cTn id="141" dur="350"/>
                                        <p:tgtEl>
                                          <p:spTgt spid="34"/>
                                        </p:tgtEl>
                                      </p:cBhvr>
                                    </p:animEffect>
                                  </p:childTnLst>
                                </p:cTn>
                              </p:par>
                              <p:par>
                                <p:cTn id="142" presetID="22" presetClass="entr" presetSubtype="8" fill="hold" grpId="0" nodeType="withEffect">
                                  <p:stCondLst>
                                    <p:cond delay="0"/>
                                  </p:stCondLst>
                                  <p:childTnLst>
                                    <p:set>
                                      <p:cBhvr>
                                        <p:cTn id="143" dur="1" fill="hold">
                                          <p:stCondLst>
                                            <p:cond delay="0"/>
                                          </p:stCondLst>
                                        </p:cTn>
                                        <p:tgtEl>
                                          <p:spTgt spid="35"/>
                                        </p:tgtEl>
                                        <p:attrNameLst>
                                          <p:attrName>style.visibility</p:attrName>
                                        </p:attrNameLst>
                                      </p:cBhvr>
                                      <p:to>
                                        <p:strVal val="visible"/>
                                      </p:to>
                                    </p:set>
                                    <p:animEffect transition="in" filter="wipe(left)">
                                      <p:cBhvr>
                                        <p:cTn id="144" dur="350"/>
                                        <p:tgtEl>
                                          <p:spTgt spid="35"/>
                                        </p:tgtEl>
                                      </p:cBhvr>
                                    </p:animEffect>
                                  </p:childTnLst>
                                </p:cTn>
                              </p:par>
                              <p:par>
                                <p:cTn id="145" presetID="22" presetClass="entr" presetSubtype="8" fill="hold" grpId="0" nodeType="withEffect">
                                  <p:stCondLst>
                                    <p:cond delay="0"/>
                                  </p:stCondLst>
                                  <p:childTnLst>
                                    <p:set>
                                      <p:cBhvr>
                                        <p:cTn id="146" dur="1" fill="hold">
                                          <p:stCondLst>
                                            <p:cond delay="0"/>
                                          </p:stCondLst>
                                        </p:cTn>
                                        <p:tgtEl>
                                          <p:spTgt spid="36"/>
                                        </p:tgtEl>
                                        <p:attrNameLst>
                                          <p:attrName>style.visibility</p:attrName>
                                        </p:attrNameLst>
                                      </p:cBhvr>
                                      <p:to>
                                        <p:strVal val="visible"/>
                                      </p:to>
                                    </p:set>
                                    <p:animEffect transition="in" filter="wipe(left)">
                                      <p:cBhvr>
                                        <p:cTn id="147" dur="350"/>
                                        <p:tgtEl>
                                          <p:spTgt spid="36"/>
                                        </p:tgtEl>
                                      </p:cBhvr>
                                    </p:animEffect>
                                  </p:childTnLst>
                                </p:cTn>
                              </p:par>
                            </p:childTnLst>
                          </p:cTn>
                        </p:par>
                        <p:par>
                          <p:cTn id="148" fill="hold">
                            <p:stCondLst>
                              <p:cond delay="3640"/>
                            </p:stCondLst>
                            <p:childTnLst>
                              <p:par>
                                <p:cTn id="149" presetID="22" presetClass="entr" presetSubtype="8" fill="hold" grpId="0" nodeType="afterEffect">
                                  <p:stCondLst>
                                    <p:cond delay="20"/>
                                  </p:stCondLst>
                                  <p:childTnLst>
                                    <p:set>
                                      <p:cBhvr>
                                        <p:cTn id="150" dur="1" fill="hold">
                                          <p:stCondLst>
                                            <p:cond delay="0"/>
                                          </p:stCondLst>
                                        </p:cTn>
                                        <p:tgtEl>
                                          <p:spTgt spid="37"/>
                                        </p:tgtEl>
                                        <p:attrNameLst>
                                          <p:attrName>style.visibility</p:attrName>
                                        </p:attrNameLst>
                                      </p:cBhvr>
                                      <p:to>
                                        <p:strVal val="visible"/>
                                      </p:to>
                                    </p:set>
                                    <p:animEffect transition="in" filter="wipe(left)">
                                      <p:cBhvr>
                                        <p:cTn id="151" dur="350"/>
                                        <p:tgtEl>
                                          <p:spTgt spid="37"/>
                                        </p:tgtEl>
                                      </p:cBhvr>
                                    </p:animEffect>
                                  </p:childTnLst>
                                </p:cTn>
                              </p:par>
                              <p:par>
                                <p:cTn id="152" presetID="22" presetClass="entr" presetSubtype="8" fill="hold" grpId="0" nodeType="withEffect">
                                  <p:stCondLst>
                                    <p:cond delay="0"/>
                                  </p:stCondLst>
                                  <p:childTnLst>
                                    <p:set>
                                      <p:cBhvr>
                                        <p:cTn id="153" dur="1" fill="hold">
                                          <p:stCondLst>
                                            <p:cond delay="0"/>
                                          </p:stCondLst>
                                        </p:cTn>
                                        <p:tgtEl>
                                          <p:spTgt spid="38"/>
                                        </p:tgtEl>
                                        <p:attrNameLst>
                                          <p:attrName>style.visibility</p:attrName>
                                        </p:attrNameLst>
                                      </p:cBhvr>
                                      <p:to>
                                        <p:strVal val="visible"/>
                                      </p:to>
                                    </p:set>
                                    <p:animEffect transition="in" filter="wipe(left)">
                                      <p:cBhvr>
                                        <p:cTn id="154" dur="350"/>
                                        <p:tgtEl>
                                          <p:spTgt spid="38"/>
                                        </p:tgtEl>
                                      </p:cBhvr>
                                    </p:animEffect>
                                  </p:childTnLst>
                                </p:cTn>
                              </p:par>
                              <p:par>
                                <p:cTn id="155" presetID="22" presetClass="entr" presetSubtype="8" fill="hold" grpId="0" nodeType="withEffect">
                                  <p:stCondLst>
                                    <p:cond delay="0"/>
                                  </p:stCondLst>
                                  <p:childTnLst>
                                    <p:set>
                                      <p:cBhvr>
                                        <p:cTn id="156" dur="1" fill="hold">
                                          <p:stCondLst>
                                            <p:cond delay="0"/>
                                          </p:stCondLst>
                                        </p:cTn>
                                        <p:tgtEl>
                                          <p:spTgt spid="39"/>
                                        </p:tgtEl>
                                        <p:attrNameLst>
                                          <p:attrName>style.visibility</p:attrName>
                                        </p:attrNameLst>
                                      </p:cBhvr>
                                      <p:to>
                                        <p:strVal val="visible"/>
                                      </p:to>
                                    </p:set>
                                    <p:animEffect transition="in" filter="wipe(left)">
                                      <p:cBhvr>
                                        <p:cTn id="157" dur="350"/>
                                        <p:tgtEl>
                                          <p:spTgt spid="39"/>
                                        </p:tgtEl>
                                      </p:cBhvr>
                                    </p:animEffect>
                                  </p:childTnLst>
                                </p:cTn>
                              </p:par>
                            </p:childTnLst>
                          </p:cTn>
                        </p:par>
                        <p:par>
                          <p:cTn id="158" fill="hold">
                            <p:stCondLst>
                              <p:cond delay="4010"/>
                            </p:stCondLst>
                            <p:childTnLst>
                              <p:par>
                                <p:cTn id="159" presetID="10" presetClass="entr" presetSubtype="0" fill="hold" grpId="0" nodeType="afterEffect">
                                  <p:stCondLst>
                                    <p:cond delay="80"/>
                                  </p:stCondLst>
                                  <p:childTnLst>
                                    <p:set>
                                      <p:cBhvr>
                                        <p:cTn id="160" dur="1" fill="hold">
                                          <p:stCondLst>
                                            <p:cond delay="0"/>
                                          </p:stCondLst>
                                        </p:cTn>
                                        <p:tgtEl>
                                          <p:spTgt spid="40"/>
                                        </p:tgtEl>
                                        <p:attrNameLst>
                                          <p:attrName>style.visibility</p:attrName>
                                        </p:attrNameLst>
                                      </p:cBhvr>
                                      <p:to>
                                        <p:strVal val="visible"/>
                                      </p:to>
                                    </p:set>
                                    <p:animEffect transition="in" filter="fade">
                                      <p:cBhvr>
                                        <p:cTn id="161" dur="500"/>
                                        <p:tgtEl>
                                          <p:spTgt spid="40"/>
                                        </p:tgtEl>
                                      </p:cBhvr>
                                    </p:animEffect>
                                  </p:childTnLst>
                                </p:cTn>
                              </p:par>
                              <p:par>
                                <p:cTn id="162" presetID="10" presetClass="entr" presetSubtype="0" fill="hold" grpId="0" nodeType="withEffect">
                                  <p:stCondLst>
                                    <p:cond delay="0"/>
                                  </p:stCondLst>
                                  <p:childTnLst>
                                    <p:set>
                                      <p:cBhvr>
                                        <p:cTn id="163" dur="1" fill="hold">
                                          <p:stCondLst>
                                            <p:cond delay="0"/>
                                          </p:stCondLst>
                                        </p:cTn>
                                        <p:tgtEl>
                                          <p:spTgt spid="41"/>
                                        </p:tgtEl>
                                        <p:attrNameLst>
                                          <p:attrName>style.visibility</p:attrName>
                                        </p:attrNameLst>
                                      </p:cBhvr>
                                      <p:to>
                                        <p:strVal val="visible"/>
                                      </p:to>
                                    </p:set>
                                    <p:animEffect transition="in" filter="fade">
                                      <p:cBhvr>
                                        <p:cTn id="164" dur="500"/>
                                        <p:tgtEl>
                                          <p:spTgt spid="41"/>
                                        </p:tgtEl>
                                      </p:cBhvr>
                                    </p:animEffect>
                                  </p:childTnLst>
                                </p:cTn>
                              </p:par>
                            </p:childTnLst>
                          </p:cTn>
                        </p:par>
                        <p:par>
                          <p:cTn id="165" fill="hold">
                            <p:stCondLst>
                              <p:cond delay="4590"/>
                            </p:stCondLst>
                            <p:childTnLst>
                              <p:par>
                                <p:cTn id="166" presetID="10" presetClass="entr" presetSubtype="0" fill="hold" grpId="0" nodeType="afterEffect">
                                  <p:stCondLst>
                                    <p:cond delay="120"/>
                                  </p:stCondLst>
                                  <p:childTnLst>
                                    <p:set>
                                      <p:cBhvr>
                                        <p:cTn id="167" dur="1" fill="hold">
                                          <p:stCondLst>
                                            <p:cond delay="0"/>
                                          </p:stCondLst>
                                        </p:cTn>
                                        <p:tgtEl>
                                          <p:spTgt spid="42"/>
                                        </p:tgtEl>
                                        <p:attrNameLst>
                                          <p:attrName>style.visibility</p:attrName>
                                        </p:attrNameLst>
                                      </p:cBhvr>
                                      <p:to>
                                        <p:strVal val="visible"/>
                                      </p:to>
                                    </p:set>
                                    <p:animEffect transition="in" filter="fade">
                                      <p:cBhvr>
                                        <p:cTn id="168"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animBg="1"/>
      <p:bldP spid="8" grpId="0"/>
      <p:bldP spid="9" grpId="0"/>
      <p:bldP spid="10" grpId="0" animBg="1"/>
      <p:bldP spid="11" grpId="0"/>
      <p:bldP spid="12" grpId="0" animBg="1"/>
      <p:bldP spid="13" grpId="0" animBg="1"/>
      <p:bldP spid="14" grpId="0"/>
      <p:bldP spid="15" grpId="0"/>
      <p:bldP spid="16" grpId="0" animBg="1"/>
      <p:bldP spid="17" grpId="0"/>
      <p:bldP spid="18" grpId="0" animBg="1"/>
      <p:bldP spid="19" grpId="0" animBg="1"/>
      <p:bldP spid="20" grpId="0"/>
      <p:bldP spid="21" grpId="0"/>
      <p:bldP spid="22" grpId="0" animBg="1"/>
      <p:bldP spid="23" grpId="0"/>
      <p:bldP spid="24" grpId="0" animBg="1"/>
      <p:bldP spid="25" grpId="0"/>
      <p:bldP spid="26" grpId="0" animBg="1"/>
      <p:bldP spid="27" grpId="0"/>
      <p:bldP spid="28" grpId="0" animBg="1"/>
      <p:bldP spid="29" grpId="0"/>
      <p:bldP spid="30" grpId="0" animBg="1"/>
      <p:bldP spid="31" grpId="0"/>
      <p:bldP spid="32" grpId="0" animBg="1"/>
      <p:bldP spid="33" grpId="0"/>
      <p:bldP spid="34" grpId="0" animBg="1"/>
      <p:bldP spid="35" grpId="0"/>
      <p:bldP spid="36" grpId="0" animBg="1"/>
      <p:bldP spid="37" grpId="0"/>
      <p:bldP spid="38" grpId="0" animBg="1"/>
      <p:bldP spid="39" grpId="0"/>
      <p:bldP spid="40" grpId="0" animBg="1"/>
      <p:bldP spid="41" grpId="0"/>
      <p:bldP spid="42" grpId="0"/>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t"/>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2/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9144000" cy="274320"/>
          </a:xfrm>
          <a:prstGeom prst="rect">
            <a:avLst/>
          </a:prstGeom>
          <a:noFill/>
          <a:ln/>
        </p:spPr>
        <p:txBody>
          <a:bodyPr wrap="square" lIns="0" tIns="0" rIns="0" bIns="0" rtlCol="0" anchor="t"/>
          <a:lstStyle/>
          <a:p>
            <a:pPr indent="0" marL="0">
              <a:buNone/>
            </a:pPr>
            <a:r>
              <a:rPr lang="en-US" sz="1100" b="1" spc="300" kern="0" dirty="0">
                <a:solidFill>
                  <a:srgbClr val="F5A623"/>
                </a:solidFill>
                <a:latin typeface="Calibri" pitchFamily="34" charset="0"/>
                <a:ea typeface="Calibri" pitchFamily="34" charset="-122"/>
                <a:cs typeface="Calibri" pitchFamily="34" charset="-120"/>
              </a:rPr>
              <a:t>WHY JIO · HOW IT CREATES VALUE</a:t>
            </a:r>
            <a:endParaRPr lang="en-US" sz="1100" dirty="0"/>
          </a:p>
        </p:txBody>
      </p:sp>
      <p:sp>
        <p:nvSpPr>
          <p:cNvPr id="5" name="title"/>
          <p:cNvSpPr txBox="1"/>
          <p:nvPr/>
        </p:nvSpPr>
        <p:spPr>
          <a:xfrm>
            <a:off x="548640" y="1170432"/>
            <a:ext cx="11094415"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The edge is integration, not the sensor</a:t>
            </a:r>
            <a:endParaRPr lang="en-US" sz="3200" dirty="0"/>
          </a:p>
        </p:txBody>
      </p:sp>
      <p:sp>
        <p:nvSpPr>
          <p:cNvPr id="6" name="moat0"/>
          <p:cNvSpPr/>
          <p:nvPr/>
        </p:nvSpPr>
        <p:spPr>
          <a:xfrm>
            <a:off x="548640" y="2057400"/>
            <a:ext cx="2513000" cy="1463040"/>
          </a:xfrm>
          <a:prstGeom prst="roundRect">
            <a:avLst>
              <a:gd name="adj" fmla="val 7500"/>
            </a:avLst>
          </a:prstGeom>
          <a:solidFill>
            <a:srgbClr val="141B36"/>
          </a:solidFill>
          <a:ln w="9525">
            <a:solidFill>
              <a:srgbClr val="2A3357"/>
            </a:solidFill>
            <a:prstDash val="solid"/>
          </a:ln>
        </p:spPr>
      </p:sp>
      <p:sp>
        <p:nvSpPr>
          <p:cNvPr id="7" name="moatK0"/>
          <p:cNvSpPr/>
          <p:nvPr/>
        </p:nvSpPr>
        <p:spPr>
          <a:xfrm>
            <a:off x="731520" y="2212848"/>
            <a:ext cx="1463040" cy="365760"/>
          </a:xfrm>
          <a:prstGeom prst="roundRect">
            <a:avLst>
              <a:gd name="adj" fmla="val 20000"/>
            </a:avLst>
          </a:prstGeom>
          <a:solidFill>
            <a:srgbClr val="F5A623"/>
          </a:solidFill>
          <a:ln w="12700">
            <a:solidFill>
              <a:srgbClr val="F5A623"/>
            </a:solidFill>
            <a:prstDash val="solid"/>
          </a:ln>
        </p:spPr>
      </p:sp>
      <p:sp>
        <p:nvSpPr>
          <p:cNvPr id="8" name="moatKT0"/>
          <p:cNvSpPr txBox="1"/>
          <p:nvPr/>
        </p:nvSpPr>
        <p:spPr>
          <a:xfrm>
            <a:off x="731520" y="2212848"/>
            <a:ext cx="1463040" cy="365760"/>
          </a:xfrm>
          <a:prstGeom prst="rect">
            <a:avLst/>
          </a:prstGeom>
          <a:noFill/>
          <a:ln/>
        </p:spPr>
        <p:txBody>
          <a:bodyPr wrap="square" lIns="0" tIns="0" rIns="0" bIns="0" rtlCol="0" anchor="ctr"/>
          <a:lstStyle/>
          <a:p>
            <a:pPr algn="ctr" indent="0" marL="0">
              <a:buNone/>
            </a:pPr>
            <a:r>
              <a:rPr lang="en-US" sz="1250" b="1" spc="100" kern="0" dirty="0">
                <a:solidFill>
                  <a:srgbClr val="1A1200"/>
                </a:solidFill>
                <a:latin typeface="Cambria" pitchFamily="34" charset="0"/>
                <a:ea typeface="Cambria" pitchFamily="34" charset="-122"/>
                <a:cs typeface="Cambria" pitchFamily="34" charset="-120"/>
              </a:rPr>
              <a:t>SENSE</a:t>
            </a:r>
            <a:endParaRPr lang="en-US" sz="1250" dirty="0"/>
          </a:p>
        </p:txBody>
      </p:sp>
      <p:sp>
        <p:nvSpPr>
          <p:cNvPr id="9" name="moatT0"/>
          <p:cNvSpPr txBox="1"/>
          <p:nvPr/>
        </p:nvSpPr>
        <p:spPr>
          <a:xfrm>
            <a:off x="731520" y="2670048"/>
            <a:ext cx="2192960" cy="804672"/>
          </a:xfrm>
          <a:prstGeom prst="rect">
            <a:avLst/>
          </a:prstGeom>
          <a:noFill/>
          <a:ln/>
        </p:spPr>
        <p:txBody>
          <a:bodyPr wrap="square" lIns="0" tIns="0" rIns="0" bIns="0" rtlCol="0" anchor="t"/>
          <a:lstStyle/>
          <a:p>
            <a:pPr indent="0" marL="0">
              <a:buNone/>
            </a:pPr>
            <a:r>
              <a:rPr lang="en-US" sz="1550" b="1" dirty="0">
                <a:solidFill>
                  <a:srgbClr val="FFFFFF"/>
                </a:solidFill>
                <a:latin typeface="Calibri" pitchFamily="34" charset="0"/>
                <a:ea typeface="Calibri" pitchFamily="34" charset="-122"/>
                <a:cs typeface="Calibri" pitchFamily="34" charset="-120"/>
              </a:rPr>
              <a:t>Jio network</a:t>
            </a:r>
            <a:endParaRPr lang="en-US" sz="1550" dirty="0"/>
          </a:p>
          <a:p>
            <a:pPr indent="0" marL="0">
              <a:buNone/>
            </a:pPr>
            <a:r>
              <a:rPr lang="en-US" sz="1200" dirty="0">
                <a:solidFill>
                  <a:srgbClr val="B9C2D8"/>
                </a:solidFill>
                <a:latin typeface="Calibri" pitchFamily="34" charset="0"/>
                <a:ea typeface="Calibri" pitchFamily="34" charset="-122"/>
                <a:cs typeface="Calibri" pitchFamily="34" charset="-120"/>
              </a:rPr>
              <a:t>Microwave links already in place</a:t>
            </a:r>
            <a:endParaRPr lang="en-US" sz="1550" dirty="0"/>
          </a:p>
        </p:txBody>
      </p:sp>
      <p:sp>
        <p:nvSpPr>
          <p:cNvPr id="10" name="moatA0"/>
          <p:cNvSpPr/>
          <p:nvPr/>
        </p:nvSpPr>
        <p:spPr>
          <a:xfrm>
            <a:off x="3107360" y="2788920"/>
            <a:ext cx="256032" cy="914"/>
          </a:xfrm>
          <a:prstGeom prst="line">
            <a:avLst/>
          </a:prstGeom>
          <a:noFill/>
          <a:ln w="19050">
            <a:solidFill>
              <a:srgbClr val="5A6690"/>
            </a:solidFill>
            <a:prstDash val="solid"/>
            <a:tailEnd type="triangle"/>
          </a:ln>
        </p:spPr>
      </p:sp>
      <p:sp>
        <p:nvSpPr>
          <p:cNvPr id="11" name="moat1"/>
          <p:cNvSpPr/>
          <p:nvPr/>
        </p:nvSpPr>
        <p:spPr>
          <a:xfrm>
            <a:off x="3409112" y="2057400"/>
            <a:ext cx="2513000" cy="1463040"/>
          </a:xfrm>
          <a:prstGeom prst="roundRect">
            <a:avLst>
              <a:gd name="adj" fmla="val 7500"/>
            </a:avLst>
          </a:prstGeom>
          <a:solidFill>
            <a:srgbClr val="1C2447"/>
          </a:solidFill>
          <a:ln w="15875">
            <a:solidFill>
              <a:srgbClr val="F5A623"/>
            </a:solidFill>
            <a:prstDash val="solid"/>
          </a:ln>
        </p:spPr>
      </p:sp>
      <p:sp>
        <p:nvSpPr>
          <p:cNvPr id="12" name="moatK1"/>
          <p:cNvSpPr/>
          <p:nvPr/>
        </p:nvSpPr>
        <p:spPr>
          <a:xfrm>
            <a:off x="3591992" y="2212848"/>
            <a:ext cx="1463040" cy="365760"/>
          </a:xfrm>
          <a:prstGeom prst="roundRect">
            <a:avLst>
              <a:gd name="adj" fmla="val 20000"/>
            </a:avLst>
          </a:prstGeom>
          <a:solidFill>
            <a:srgbClr val="F5A623"/>
          </a:solidFill>
          <a:ln w="12700">
            <a:solidFill>
              <a:srgbClr val="F5A623"/>
            </a:solidFill>
            <a:prstDash val="solid"/>
          </a:ln>
        </p:spPr>
      </p:sp>
      <p:sp>
        <p:nvSpPr>
          <p:cNvPr id="13" name="moatKT1"/>
          <p:cNvSpPr txBox="1"/>
          <p:nvPr/>
        </p:nvSpPr>
        <p:spPr>
          <a:xfrm>
            <a:off x="3591992" y="2212848"/>
            <a:ext cx="1463040" cy="365760"/>
          </a:xfrm>
          <a:prstGeom prst="rect">
            <a:avLst/>
          </a:prstGeom>
          <a:noFill/>
          <a:ln/>
        </p:spPr>
        <p:txBody>
          <a:bodyPr wrap="square" lIns="0" tIns="0" rIns="0" bIns="0" rtlCol="0" anchor="ctr"/>
          <a:lstStyle/>
          <a:p>
            <a:pPr algn="ctr" indent="0" marL="0">
              <a:buNone/>
            </a:pPr>
            <a:r>
              <a:rPr lang="en-US" sz="1250" b="1" spc="100" kern="0" dirty="0">
                <a:solidFill>
                  <a:srgbClr val="1A1200"/>
                </a:solidFill>
                <a:latin typeface="Cambria" pitchFamily="34" charset="0"/>
                <a:ea typeface="Cambria" pitchFamily="34" charset="-122"/>
                <a:cs typeface="Cambria" pitchFamily="34" charset="-120"/>
              </a:rPr>
              <a:t>UNDERSTAND</a:t>
            </a:r>
            <a:endParaRPr lang="en-US" sz="1250" dirty="0"/>
          </a:p>
        </p:txBody>
      </p:sp>
      <p:sp>
        <p:nvSpPr>
          <p:cNvPr id="14" name="moatT1"/>
          <p:cNvSpPr txBox="1"/>
          <p:nvPr/>
        </p:nvSpPr>
        <p:spPr>
          <a:xfrm>
            <a:off x="3591992" y="2670048"/>
            <a:ext cx="2192960" cy="804672"/>
          </a:xfrm>
          <a:prstGeom prst="rect">
            <a:avLst/>
          </a:prstGeom>
          <a:noFill/>
          <a:ln/>
        </p:spPr>
        <p:txBody>
          <a:bodyPr wrap="square" lIns="0" tIns="0" rIns="0" bIns="0" rtlCol="0" anchor="t"/>
          <a:lstStyle/>
          <a:p>
            <a:pPr indent="0" marL="0">
              <a:buNone/>
            </a:pPr>
            <a:r>
              <a:rPr lang="en-US" sz="1550" b="1" dirty="0">
                <a:solidFill>
                  <a:srgbClr val="FFFFFF"/>
                </a:solidFill>
                <a:latin typeface="Calibri" pitchFamily="34" charset="0"/>
                <a:ea typeface="Calibri" pitchFamily="34" charset="-122"/>
                <a:cs typeface="Calibri" pitchFamily="34" charset="-120"/>
              </a:rPr>
              <a:t>JioMausam</a:t>
            </a:r>
            <a:endParaRPr lang="en-US" sz="1550" dirty="0"/>
          </a:p>
          <a:p>
            <a:pPr indent="0" marL="0">
              <a:buNone/>
            </a:pPr>
            <a:r>
              <a:rPr lang="en-US" sz="1200" dirty="0">
                <a:solidFill>
                  <a:srgbClr val="B9C2D8"/>
                </a:solidFill>
                <a:latin typeface="Calibri" pitchFamily="34" charset="0"/>
                <a:ea typeface="Calibri" pitchFamily="34" charset="-122"/>
                <a:cs typeface="Calibri" pitchFamily="34" charset="-120"/>
              </a:rPr>
              <a:t>Links + radar + gauges, turned into alerts and data</a:t>
            </a:r>
            <a:endParaRPr lang="en-US" sz="1550" dirty="0"/>
          </a:p>
        </p:txBody>
      </p:sp>
      <p:sp>
        <p:nvSpPr>
          <p:cNvPr id="15" name="moatA1"/>
          <p:cNvSpPr/>
          <p:nvPr/>
        </p:nvSpPr>
        <p:spPr>
          <a:xfrm>
            <a:off x="5967832" y="2788920"/>
            <a:ext cx="256032" cy="914"/>
          </a:xfrm>
          <a:prstGeom prst="line">
            <a:avLst/>
          </a:prstGeom>
          <a:noFill/>
          <a:ln w="19050">
            <a:solidFill>
              <a:srgbClr val="5A6690"/>
            </a:solidFill>
            <a:prstDash val="solid"/>
            <a:tailEnd type="triangle"/>
          </a:ln>
        </p:spPr>
      </p:sp>
      <p:sp>
        <p:nvSpPr>
          <p:cNvPr id="16" name="moat2"/>
          <p:cNvSpPr/>
          <p:nvPr/>
        </p:nvSpPr>
        <p:spPr>
          <a:xfrm>
            <a:off x="6269584" y="2057400"/>
            <a:ext cx="2513000" cy="1463040"/>
          </a:xfrm>
          <a:prstGeom prst="roundRect">
            <a:avLst>
              <a:gd name="adj" fmla="val 7500"/>
            </a:avLst>
          </a:prstGeom>
          <a:solidFill>
            <a:srgbClr val="141B36"/>
          </a:solidFill>
          <a:ln w="9525">
            <a:solidFill>
              <a:srgbClr val="2A3357"/>
            </a:solidFill>
            <a:prstDash val="solid"/>
          </a:ln>
        </p:spPr>
      </p:sp>
      <p:sp>
        <p:nvSpPr>
          <p:cNvPr id="17" name="moatK2"/>
          <p:cNvSpPr/>
          <p:nvPr/>
        </p:nvSpPr>
        <p:spPr>
          <a:xfrm>
            <a:off x="6452464" y="2212848"/>
            <a:ext cx="1463040" cy="365760"/>
          </a:xfrm>
          <a:prstGeom prst="roundRect">
            <a:avLst>
              <a:gd name="adj" fmla="val 20000"/>
            </a:avLst>
          </a:prstGeom>
          <a:solidFill>
            <a:srgbClr val="F5A623"/>
          </a:solidFill>
          <a:ln w="12700">
            <a:solidFill>
              <a:srgbClr val="F5A623"/>
            </a:solidFill>
            <a:prstDash val="solid"/>
          </a:ln>
        </p:spPr>
      </p:sp>
      <p:sp>
        <p:nvSpPr>
          <p:cNvPr id="18" name="moatKT2"/>
          <p:cNvSpPr txBox="1"/>
          <p:nvPr/>
        </p:nvSpPr>
        <p:spPr>
          <a:xfrm>
            <a:off x="6452464" y="2212848"/>
            <a:ext cx="1463040" cy="365760"/>
          </a:xfrm>
          <a:prstGeom prst="rect">
            <a:avLst/>
          </a:prstGeom>
          <a:noFill/>
          <a:ln/>
        </p:spPr>
        <p:txBody>
          <a:bodyPr wrap="square" lIns="0" tIns="0" rIns="0" bIns="0" rtlCol="0" anchor="ctr"/>
          <a:lstStyle/>
          <a:p>
            <a:pPr algn="ctr" indent="0" marL="0">
              <a:buNone/>
            </a:pPr>
            <a:r>
              <a:rPr lang="en-US" sz="1250" b="1" spc="100" kern="0" dirty="0">
                <a:solidFill>
                  <a:srgbClr val="1A1200"/>
                </a:solidFill>
                <a:latin typeface="Cambria" pitchFamily="34" charset="0"/>
                <a:ea typeface="Cambria" pitchFamily="34" charset="-122"/>
                <a:cs typeface="Cambria" pitchFamily="34" charset="-120"/>
              </a:rPr>
              <a:t>REACH</a:t>
            </a:r>
            <a:endParaRPr lang="en-US" sz="1250" dirty="0"/>
          </a:p>
        </p:txBody>
      </p:sp>
      <p:sp>
        <p:nvSpPr>
          <p:cNvPr id="19" name="moatT2"/>
          <p:cNvSpPr txBox="1"/>
          <p:nvPr/>
        </p:nvSpPr>
        <p:spPr>
          <a:xfrm>
            <a:off x="6452464" y="2670048"/>
            <a:ext cx="2192960" cy="804672"/>
          </a:xfrm>
          <a:prstGeom prst="rect">
            <a:avLst/>
          </a:prstGeom>
          <a:noFill/>
          <a:ln/>
        </p:spPr>
        <p:txBody>
          <a:bodyPr wrap="square" lIns="0" tIns="0" rIns="0" bIns="0" rtlCol="0" anchor="t"/>
          <a:lstStyle/>
          <a:p>
            <a:pPr indent="0" marL="0">
              <a:buNone/>
            </a:pPr>
            <a:r>
              <a:rPr lang="en-US" sz="1550" b="1" dirty="0">
                <a:solidFill>
                  <a:srgbClr val="FFFFFF"/>
                </a:solidFill>
                <a:latin typeface="Calibri" pitchFamily="34" charset="0"/>
                <a:ea typeface="Calibri" pitchFamily="34" charset="-122"/>
                <a:cs typeface="Calibri" pitchFamily="34" charset="-120"/>
              </a:rPr>
              <a:t>Reliance ecosystem</a:t>
            </a:r>
            <a:endParaRPr lang="en-US" sz="1550" dirty="0"/>
          </a:p>
          <a:p>
            <a:pPr indent="0" marL="0">
              <a:buNone/>
            </a:pPr>
            <a:r>
              <a:rPr lang="en-US" sz="1200" dirty="0">
                <a:solidFill>
                  <a:srgbClr val="B9C2D8"/>
                </a:solidFill>
                <a:latin typeface="Calibri" pitchFamily="34" charset="0"/>
                <a:ea typeface="Calibri" pitchFamily="34" charset="-122"/>
                <a:cs typeface="Calibri" pitchFamily="34" charset="-120"/>
              </a:rPr>
              <a:t>Enterprise sales, JioMart, MyJio</a:t>
            </a:r>
            <a:endParaRPr lang="en-US" sz="1550" dirty="0"/>
          </a:p>
        </p:txBody>
      </p:sp>
      <p:sp>
        <p:nvSpPr>
          <p:cNvPr id="20" name="moatA2"/>
          <p:cNvSpPr/>
          <p:nvPr/>
        </p:nvSpPr>
        <p:spPr>
          <a:xfrm>
            <a:off x="8828303" y="2788920"/>
            <a:ext cx="256032" cy="914"/>
          </a:xfrm>
          <a:prstGeom prst="line">
            <a:avLst/>
          </a:prstGeom>
          <a:noFill/>
          <a:ln w="19050">
            <a:solidFill>
              <a:srgbClr val="5A6690"/>
            </a:solidFill>
            <a:prstDash val="solid"/>
            <a:tailEnd type="triangle"/>
          </a:ln>
        </p:spPr>
      </p:sp>
      <p:sp>
        <p:nvSpPr>
          <p:cNvPr id="21" name="moat3"/>
          <p:cNvSpPr/>
          <p:nvPr/>
        </p:nvSpPr>
        <p:spPr>
          <a:xfrm>
            <a:off x="9130055" y="2057400"/>
            <a:ext cx="2513000" cy="1463040"/>
          </a:xfrm>
          <a:prstGeom prst="roundRect">
            <a:avLst>
              <a:gd name="adj" fmla="val 7500"/>
            </a:avLst>
          </a:prstGeom>
          <a:solidFill>
            <a:srgbClr val="141B36"/>
          </a:solidFill>
          <a:ln w="9525">
            <a:solidFill>
              <a:srgbClr val="2A3357"/>
            </a:solidFill>
            <a:prstDash val="solid"/>
          </a:ln>
        </p:spPr>
      </p:sp>
      <p:sp>
        <p:nvSpPr>
          <p:cNvPr id="22" name="moatK3"/>
          <p:cNvSpPr/>
          <p:nvPr/>
        </p:nvSpPr>
        <p:spPr>
          <a:xfrm>
            <a:off x="9312935" y="2212848"/>
            <a:ext cx="1463040" cy="365760"/>
          </a:xfrm>
          <a:prstGeom prst="roundRect">
            <a:avLst>
              <a:gd name="adj" fmla="val 20000"/>
            </a:avLst>
          </a:prstGeom>
          <a:solidFill>
            <a:srgbClr val="F5A623"/>
          </a:solidFill>
          <a:ln w="12700">
            <a:solidFill>
              <a:srgbClr val="F5A623"/>
            </a:solidFill>
            <a:prstDash val="solid"/>
          </a:ln>
        </p:spPr>
      </p:sp>
      <p:sp>
        <p:nvSpPr>
          <p:cNvPr id="23" name="moatKT3"/>
          <p:cNvSpPr txBox="1"/>
          <p:nvPr/>
        </p:nvSpPr>
        <p:spPr>
          <a:xfrm>
            <a:off x="9312935" y="2212848"/>
            <a:ext cx="1463040" cy="365760"/>
          </a:xfrm>
          <a:prstGeom prst="rect">
            <a:avLst/>
          </a:prstGeom>
          <a:noFill/>
          <a:ln/>
        </p:spPr>
        <p:txBody>
          <a:bodyPr wrap="square" lIns="0" tIns="0" rIns="0" bIns="0" rtlCol="0" anchor="ctr"/>
          <a:lstStyle/>
          <a:p>
            <a:pPr algn="ctr" indent="0" marL="0">
              <a:buNone/>
            </a:pPr>
            <a:r>
              <a:rPr lang="en-US" sz="1250" b="1" spc="100" kern="0" dirty="0">
                <a:solidFill>
                  <a:srgbClr val="1A1200"/>
                </a:solidFill>
                <a:latin typeface="Cambria" pitchFamily="34" charset="0"/>
                <a:ea typeface="Cambria" pitchFamily="34" charset="-122"/>
                <a:cs typeface="Cambria" pitchFamily="34" charset="-120"/>
              </a:rPr>
              <a:t>PROTECT</a:t>
            </a:r>
            <a:endParaRPr lang="en-US" sz="1250" dirty="0"/>
          </a:p>
        </p:txBody>
      </p:sp>
      <p:sp>
        <p:nvSpPr>
          <p:cNvPr id="24" name="moatT3"/>
          <p:cNvSpPr txBox="1"/>
          <p:nvPr/>
        </p:nvSpPr>
        <p:spPr>
          <a:xfrm>
            <a:off x="9312935" y="2670048"/>
            <a:ext cx="2192960" cy="804672"/>
          </a:xfrm>
          <a:prstGeom prst="rect">
            <a:avLst/>
          </a:prstGeom>
          <a:noFill/>
          <a:ln/>
        </p:spPr>
        <p:txBody>
          <a:bodyPr wrap="square" lIns="0" tIns="0" rIns="0" bIns="0" rtlCol="0" anchor="t"/>
          <a:lstStyle/>
          <a:p>
            <a:pPr indent="0" marL="0">
              <a:buNone/>
            </a:pPr>
            <a:r>
              <a:rPr lang="en-US" sz="1550" b="1" dirty="0">
                <a:solidFill>
                  <a:srgbClr val="FFFFFF"/>
                </a:solidFill>
                <a:latin typeface="Calibri" pitchFamily="34" charset="0"/>
                <a:ea typeface="Calibri" pitchFamily="34" charset="-122"/>
                <a:cs typeface="Calibri" pitchFamily="34" charset="-120"/>
              </a:rPr>
              <a:t>JFS + licensed insurers</a:t>
            </a:r>
            <a:endParaRPr lang="en-US" sz="1550" dirty="0"/>
          </a:p>
          <a:p>
            <a:pPr indent="0" marL="0">
              <a:buNone/>
            </a:pPr>
            <a:r>
              <a:rPr lang="en-US" sz="1200" dirty="0">
                <a:solidFill>
                  <a:srgbClr val="B9C2D8"/>
                </a:solidFill>
                <a:latin typeface="Calibri" pitchFamily="34" charset="0"/>
                <a:ea typeface="Calibri" pitchFamily="34" charset="-122"/>
                <a:cs typeface="Calibri" pitchFamily="34" charset="-120"/>
              </a:rPr>
              <a:t>Optional; the insurer carries the risk</a:t>
            </a:r>
            <a:endParaRPr lang="en-US" sz="1550" dirty="0"/>
          </a:p>
        </p:txBody>
      </p:sp>
      <p:sp>
        <p:nvSpPr>
          <p:cNvPr id="25" name="moatLine"/>
          <p:cNvSpPr txBox="1"/>
          <p:nvPr/>
        </p:nvSpPr>
        <p:spPr>
          <a:xfrm>
            <a:off x="548640" y="3639312"/>
            <a:ext cx="11094415" cy="3657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Reliance can connect all four layers, so Jio earns from the intelligence without carrying insurance risk.</a:t>
            </a:r>
            <a:endParaRPr lang="en-US" sz="1500" dirty="0"/>
          </a:p>
        </p:txBody>
      </p:sp>
      <p:sp>
        <p:nvSpPr>
          <p:cNvPr id="26" name="revK"/>
          <p:cNvSpPr txBox="1"/>
          <p:nvPr/>
        </p:nvSpPr>
        <p:spPr>
          <a:xfrm>
            <a:off x="548640" y="4160520"/>
            <a:ext cx="4572000" cy="274320"/>
          </a:xfrm>
          <a:prstGeom prst="rect">
            <a:avLst/>
          </a:prstGeom>
          <a:noFill/>
          <a:ln/>
        </p:spPr>
        <p:txBody>
          <a:bodyPr wrap="square" lIns="0" tIns="0" rIns="0" bIns="0" rtlCol="0" anchor="t"/>
          <a:lstStyle/>
          <a:p>
            <a:pPr indent="0" marL="0">
              <a:buNone/>
            </a:pPr>
            <a:r>
              <a:rPr lang="en-US" sz="1050" b="1" spc="200" kern="0" dirty="0">
                <a:solidFill>
                  <a:srgbClr val="F5A623"/>
                </a:solidFill>
                <a:latin typeface="Calibri" pitchFamily="34" charset="0"/>
                <a:ea typeface="Calibri" pitchFamily="34" charset="-122"/>
                <a:cs typeface="Calibri" pitchFamily="34" charset="-120"/>
              </a:rPr>
              <a:t>HOW JIO CREATES VALUE</a:t>
            </a:r>
            <a:endParaRPr lang="en-US" sz="1050" dirty="0"/>
          </a:p>
        </p:txBody>
      </p:sp>
      <p:sp>
        <p:nvSpPr>
          <p:cNvPr id="27" name="rev0"/>
          <p:cNvSpPr/>
          <p:nvPr/>
        </p:nvSpPr>
        <p:spPr>
          <a:xfrm>
            <a:off x="548640" y="4462272"/>
            <a:ext cx="3545738" cy="1188720"/>
          </a:xfrm>
          <a:prstGeom prst="roundRect">
            <a:avLst>
              <a:gd name="adj" fmla="val 9231"/>
            </a:avLst>
          </a:prstGeom>
          <a:solidFill>
            <a:srgbClr val="1C2447"/>
          </a:solidFill>
          <a:ln w="15875">
            <a:solidFill>
              <a:srgbClr val="F5A623"/>
            </a:solidFill>
            <a:prstDash val="solid"/>
          </a:ln>
        </p:spPr>
      </p:sp>
      <p:sp>
        <p:nvSpPr>
          <p:cNvPr id="28" name="revN0"/>
          <p:cNvSpPr txBox="1"/>
          <p:nvPr/>
        </p:nvSpPr>
        <p:spPr>
          <a:xfrm>
            <a:off x="731520" y="4572000"/>
            <a:ext cx="548640" cy="457200"/>
          </a:xfrm>
          <a:prstGeom prst="rect">
            <a:avLst/>
          </a:prstGeom>
          <a:noFill/>
          <a:ln/>
        </p:spPr>
        <p:txBody>
          <a:bodyPr wrap="square" lIns="0" tIns="0" rIns="0" bIns="0" rtlCol="0" anchor="t"/>
          <a:lstStyle/>
          <a:p>
            <a:pPr indent="0" marL="0">
              <a:buNone/>
            </a:pPr>
            <a:r>
              <a:rPr lang="en-US" sz="2200" b="1" dirty="0">
                <a:solidFill>
                  <a:srgbClr val="F5A623"/>
                </a:solidFill>
                <a:latin typeface="Cambria" pitchFamily="34" charset="0"/>
                <a:ea typeface="Cambria" pitchFamily="34" charset="-122"/>
                <a:cs typeface="Cambria" pitchFamily="34" charset="-120"/>
              </a:rPr>
              <a:t>01</a:t>
            </a:r>
            <a:endParaRPr lang="en-US" sz="2200" dirty="0"/>
          </a:p>
        </p:txBody>
      </p:sp>
      <p:sp>
        <p:nvSpPr>
          <p:cNvPr id="29" name="revT0"/>
          <p:cNvSpPr txBox="1"/>
          <p:nvPr/>
        </p:nvSpPr>
        <p:spPr>
          <a:xfrm>
            <a:off x="1298448" y="4553712"/>
            <a:ext cx="2631338" cy="1042416"/>
          </a:xfrm>
          <a:prstGeom prst="rect">
            <a:avLst/>
          </a:prstGeom>
          <a:noFill/>
          <a:ln/>
        </p:spPr>
        <p:txBody>
          <a:bodyPr wrap="square" lIns="0" tIns="0" rIns="0" bIns="0" rtlCol="0" anchor="t"/>
          <a:lstStyle/>
          <a:p>
            <a:pPr indent="0" marL="0">
              <a:buNone/>
            </a:pPr>
            <a:r>
              <a:rPr lang="en-US" sz="1050" b="1" spc="200" kern="0" dirty="0">
                <a:solidFill>
                  <a:srgbClr val="F5A623"/>
                </a:solidFill>
                <a:latin typeface="Calibri" pitchFamily="34" charset="0"/>
                <a:ea typeface="Calibri" pitchFamily="34" charset="-122"/>
                <a:cs typeface="Calibri" pitchFamily="34" charset="-120"/>
              </a:rPr>
              <a:t>EXTERNAL REVENUE</a:t>
            </a:r>
            <a:endParaRPr lang="en-US" sz="1050" dirty="0"/>
          </a:p>
          <a:p>
            <a:pPr indent="0" marL="0">
              <a:buNone/>
            </a:pPr>
            <a:r>
              <a:rPr lang="en-US" sz="1500" b="1" dirty="0">
                <a:solidFill>
                  <a:srgbClr val="FFFFFF"/>
                </a:solidFill>
                <a:latin typeface="Calibri" pitchFamily="34" charset="0"/>
                <a:ea typeface="Calibri" pitchFamily="34" charset="-122"/>
                <a:cs typeface="Calibri" pitchFamily="34" charset="-120"/>
              </a:rPr>
              <a:t>Intelligence fees</a:t>
            </a:r>
            <a:endParaRPr lang="en-US" sz="1050" dirty="0"/>
          </a:p>
          <a:p>
            <a:pPr indent="0" marL="0">
              <a:buNone/>
            </a:pPr>
            <a:r>
              <a:rPr lang="en-US" sz="1250" dirty="0">
                <a:solidFill>
                  <a:srgbClr val="B9C2D8"/>
                </a:solidFill>
                <a:latin typeface="Calibri" pitchFamily="34" charset="0"/>
                <a:ea typeface="Calibri" pitchFamily="34" charset="-122"/>
                <a:cs typeface="Calibri" pitchFamily="34" charset="-120"/>
              </a:rPr>
              <a:t>API, alerts and data for businesses</a:t>
            </a:r>
            <a:endParaRPr lang="en-US" sz="1050" dirty="0"/>
          </a:p>
        </p:txBody>
      </p:sp>
      <p:sp>
        <p:nvSpPr>
          <p:cNvPr id="30" name="rev1"/>
          <p:cNvSpPr/>
          <p:nvPr/>
        </p:nvSpPr>
        <p:spPr>
          <a:xfrm>
            <a:off x="4322978" y="4462272"/>
            <a:ext cx="3545738" cy="1188720"/>
          </a:xfrm>
          <a:prstGeom prst="roundRect">
            <a:avLst>
              <a:gd name="adj" fmla="val 9231"/>
            </a:avLst>
          </a:prstGeom>
          <a:solidFill>
            <a:srgbClr val="141B36"/>
          </a:solidFill>
          <a:ln w="9525">
            <a:solidFill>
              <a:srgbClr val="2A3357"/>
            </a:solidFill>
            <a:prstDash val="solid"/>
          </a:ln>
        </p:spPr>
      </p:sp>
      <p:sp>
        <p:nvSpPr>
          <p:cNvPr id="31" name="revN1"/>
          <p:cNvSpPr txBox="1"/>
          <p:nvPr/>
        </p:nvSpPr>
        <p:spPr>
          <a:xfrm>
            <a:off x="4505858" y="4572000"/>
            <a:ext cx="548640" cy="457200"/>
          </a:xfrm>
          <a:prstGeom prst="rect">
            <a:avLst/>
          </a:prstGeom>
          <a:noFill/>
          <a:ln/>
        </p:spPr>
        <p:txBody>
          <a:bodyPr wrap="square" lIns="0" tIns="0" rIns="0" bIns="0" rtlCol="0" anchor="t"/>
          <a:lstStyle/>
          <a:p>
            <a:pPr indent="0" marL="0">
              <a:buNone/>
            </a:pPr>
            <a:r>
              <a:rPr lang="en-US" sz="2200" b="1" dirty="0">
                <a:solidFill>
                  <a:srgbClr val="98A2C0"/>
                </a:solidFill>
                <a:latin typeface="Cambria" pitchFamily="34" charset="0"/>
                <a:ea typeface="Cambria" pitchFamily="34" charset="-122"/>
                <a:cs typeface="Cambria" pitchFamily="34" charset="-120"/>
              </a:rPr>
              <a:t>02</a:t>
            </a:r>
            <a:endParaRPr lang="en-US" sz="2200" dirty="0"/>
          </a:p>
        </p:txBody>
      </p:sp>
      <p:sp>
        <p:nvSpPr>
          <p:cNvPr id="32" name="revT1"/>
          <p:cNvSpPr txBox="1"/>
          <p:nvPr/>
        </p:nvSpPr>
        <p:spPr>
          <a:xfrm>
            <a:off x="5072786" y="4553712"/>
            <a:ext cx="2631338" cy="1042416"/>
          </a:xfrm>
          <a:prstGeom prst="rect">
            <a:avLst/>
          </a:prstGeom>
          <a:noFill/>
          <a:ln/>
        </p:spPr>
        <p:txBody>
          <a:bodyPr wrap="square" lIns="0" tIns="0" rIns="0" bIns="0" rtlCol="0" anchor="t"/>
          <a:lstStyle/>
          <a:p>
            <a:pPr indent="0" marL="0">
              <a:buNone/>
            </a:pPr>
            <a:r>
              <a:rPr lang="en-US" sz="1050" b="1" spc="200" kern="0" dirty="0">
                <a:solidFill>
                  <a:srgbClr val="98A2C0"/>
                </a:solidFill>
                <a:latin typeface="Calibri" pitchFamily="34" charset="0"/>
                <a:ea typeface="Calibri" pitchFamily="34" charset="-122"/>
                <a:cs typeface="Calibri" pitchFamily="34" charset="-120"/>
              </a:rPr>
              <a:t>EXTERNAL REVENUE · OPTIONAL</a:t>
            </a:r>
            <a:endParaRPr lang="en-US" sz="1050" dirty="0"/>
          </a:p>
          <a:p>
            <a:pPr indent="0" marL="0">
              <a:buNone/>
            </a:pPr>
            <a:r>
              <a:rPr lang="en-US" sz="1500" b="1" dirty="0">
                <a:solidFill>
                  <a:srgbClr val="FFFFFF"/>
                </a:solidFill>
                <a:latin typeface="Calibri" pitchFamily="34" charset="0"/>
                <a:ea typeface="Calibri" pitchFamily="34" charset="-122"/>
                <a:cs typeface="Calibri" pitchFamily="34" charset="-120"/>
              </a:rPr>
              <a:t>Distribution fees</a:t>
            </a:r>
            <a:endParaRPr lang="en-US" sz="1050" dirty="0"/>
          </a:p>
          <a:p>
            <a:pPr indent="0" marL="0">
              <a:buNone/>
            </a:pPr>
            <a:r>
              <a:rPr lang="en-US" sz="1250" dirty="0">
                <a:solidFill>
                  <a:srgbClr val="B9C2D8"/>
                </a:solidFill>
                <a:latin typeface="Calibri" pitchFamily="34" charset="0"/>
                <a:ea typeface="Calibri" pitchFamily="34" charset="-122"/>
                <a:cs typeface="Calibri" pitchFamily="34" charset="-120"/>
              </a:rPr>
              <a:t>Only if Kavach launches; the insurer carries the risk</a:t>
            </a:r>
            <a:endParaRPr lang="en-US" sz="1050" dirty="0"/>
          </a:p>
        </p:txBody>
      </p:sp>
      <p:sp>
        <p:nvSpPr>
          <p:cNvPr id="33" name="rev2"/>
          <p:cNvSpPr/>
          <p:nvPr/>
        </p:nvSpPr>
        <p:spPr>
          <a:xfrm>
            <a:off x="8097317" y="4462272"/>
            <a:ext cx="3545738" cy="1188720"/>
          </a:xfrm>
          <a:prstGeom prst="roundRect">
            <a:avLst>
              <a:gd name="adj" fmla="val 9231"/>
            </a:avLst>
          </a:prstGeom>
          <a:solidFill>
            <a:srgbClr val="141B36"/>
          </a:solidFill>
          <a:ln w="9525">
            <a:solidFill>
              <a:srgbClr val="1F5A45"/>
            </a:solidFill>
            <a:prstDash val="solid"/>
          </a:ln>
        </p:spPr>
      </p:sp>
      <p:sp>
        <p:nvSpPr>
          <p:cNvPr id="34" name="revN2"/>
          <p:cNvSpPr txBox="1"/>
          <p:nvPr/>
        </p:nvSpPr>
        <p:spPr>
          <a:xfrm>
            <a:off x="8280197" y="4572000"/>
            <a:ext cx="548640" cy="457200"/>
          </a:xfrm>
          <a:prstGeom prst="rect">
            <a:avLst/>
          </a:prstGeom>
          <a:noFill/>
          <a:ln/>
        </p:spPr>
        <p:txBody>
          <a:bodyPr wrap="square" lIns="0" tIns="0" rIns="0" bIns="0" rtlCol="0" anchor="t"/>
          <a:lstStyle/>
          <a:p>
            <a:pPr indent="0" marL="0">
              <a:buNone/>
            </a:pPr>
            <a:r>
              <a:rPr lang="en-US" sz="2200" b="1" dirty="0">
                <a:solidFill>
                  <a:srgbClr val="1BAF7A"/>
                </a:solidFill>
                <a:latin typeface="Cambria" pitchFamily="34" charset="0"/>
                <a:ea typeface="Cambria" pitchFamily="34" charset="-122"/>
                <a:cs typeface="Cambria" pitchFamily="34" charset="-120"/>
              </a:rPr>
              <a:t>03</a:t>
            </a:r>
            <a:endParaRPr lang="en-US" sz="2200" dirty="0"/>
          </a:p>
        </p:txBody>
      </p:sp>
      <p:sp>
        <p:nvSpPr>
          <p:cNvPr id="35" name="revT2"/>
          <p:cNvSpPr txBox="1"/>
          <p:nvPr/>
        </p:nvSpPr>
        <p:spPr>
          <a:xfrm>
            <a:off x="8847125" y="4553712"/>
            <a:ext cx="2631338" cy="1042416"/>
          </a:xfrm>
          <a:prstGeom prst="rect">
            <a:avLst/>
          </a:prstGeom>
          <a:noFill/>
          <a:ln/>
        </p:spPr>
        <p:txBody>
          <a:bodyPr wrap="square" lIns="0" tIns="0" rIns="0" bIns="0" rtlCol="0" anchor="t"/>
          <a:lstStyle/>
          <a:p>
            <a:pPr indent="0" marL="0">
              <a:buNone/>
            </a:pPr>
            <a:r>
              <a:rPr lang="en-US" sz="1050" b="1" spc="200" kern="0" dirty="0">
                <a:solidFill>
                  <a:srgbClr val="1BAF7A"/>
                </a:solidFill>
                <a:latin typeface="Calibri" pitchFamily="34" charset="0"/>
                <a:ea typeface="Calibri" pitchFamily="34" charset="-122"/>
                <a:cs typeface="Calibri" pitchFamily="34" charset="-120"/>
              </a:rPr>
              <a:t>INTERNAL VALUE</a:t>
            </a:r>
            <a:endParaRPr lang="en-US" sz="1050" dirty="0"/>
          </a:p>
          <a:p>
            <a:pPr indent="0" marL="0">
              <a:buNone/>
            </a:pPr>
            <a:r>
              <a:rPr lang="en-US" sz="1500" b="1" dirty="0">
                <a:solidFill>
                  <a:srgbClr val="FFFFFF"/>
                </a:solidFill>
                <a:latin typeface="Calibri" pitchFamily="34" charset="0"/>
                <a:ea typeface="Calibri" pitchFamily="34" charset="-122"/>
                <a:cs typeface="Calibri" pitchFamily="34" charset="-120"/>
              </a:rPr>
              <a:t>Savings inside Reliance</a:t>
            </a:r>
            <a:endParaRPr lang="en-US" sz="1050" dirty="0"/>
          </a:p>
          <a:p>
            <a:pPr indent="0" marL="0">
              <a:buNone/>
            </a:pPr>
            <a:r>
              <a:rPr lang="en-US" sz="1250" dirty="0">
                <a:solidFill>
                  <a:srgbClr val="B9C2D8"/>
                </a:solidFill>
                <a:latin typeface="Calibri" pitchFamily="34" charset="0"/>
                <a:ea typeface="Calibri" pitchFamily="34" charset="-122"/>
                <a:cs typeface="Calibri" pitchFamily="34" charset="-120"/>
              </a:rPr>
              <a:t>Network operations, delivery and retail</a:t>
            </a:r>
            <a:endParaRPr lang="en-US" sz="1050" dirty="0"/>
          </a:p>
        </p:txBody>
      </p:sp>
      <p:sp>
        <p:nvSpPr>
          <p:cNvPr id="36" name="takeaway"/>
          <p:cNvSpPr txBox="1"/>
          <p:nvPr/>
        </p:nvSpPr>
        <p:spPr>
          <a:xfrm>
            <a:off x="548640" y="5833872"/>
            <a:ext cx="11094415" cy="457200"/>
          </a:xfrm>
          <a:prstGeom prst="rect">
            <a:avLst/>
          </a:prstGeom>
          <a:noFill/>
          <a:ln/>
        </p:spPr>
        <p:txBody>
          <a:bodyPr wrap="square" lIns="0" tIns="0" rIns="0" bIns="0" rtlCol="0" anchor="t"/>
          <a:lstStyle/>
          <a:p>
            <a:pPr indent="0" marL="0">
              <a:buNone/>
            </a:pPr>
            <a:r>
              <a:rPr lang="en-US" sz="1800" b="1" i="1" dirty="0">
                <a:solidFill>
                  <a:srgbClr val="F5A623"/>
                </a:solidFill>
                <a:latin typeface="Cambria" pitchFamily="34" charset="0"/>
                <a:ea typeface="Cambria" pitchFamily="34" charset="-122"/>
                <a:cs typeface="Cambria" pitchFamily="34" charset="-120"/>
              </a:rPr>
              <a:t>The business stands even if insurance never launches.</a:t>
            </a:r>
            <a:endParaRPr lang="en-US" sz="18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33"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00"/>
                                        <p:tgtEl>
                                          <p:spTgt spid="4"/>
                                        </p:tgtEl>
                                      </p:cBhvr>
                                    </p:animEffect>
                                  </p:childTnLst>
                                </p:cTn>
                              </p:par>
                              <p:par>
                                <p:cTn id="7" presetID="42" presetClass="entr" presetSubtype="0" fill="hold" grpId="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650"/>
                                        <p:tgtEl>
                                          <p:spTgt spid="5"/>
                                        </p:tgtEl>
                                      </p:cBhvr>
                                    </p:animEffect>
                                    <p:anim calcmode="lin" valueType="num">
                                      <p:cBhvr>
                                        <p:cTn id="10" dur="650" fill="hold"/>
                                        <p:tgtEl>
                                          <p:spTgt spid="5"/>
                                        </p:tgtEl>
                                        <p:attrNameLst>
                                          <p:attrName>ppt_x</p:attrName>
                                        </p:attrNameLst>
                                      </p:cBhvr>
                                      <p:tavLst>
                                        <p:tav tm="0">
                                          <p:val>
                                            <p:strVal val="#ppt_x"/>
                                          </p:val>
                                        </p:tav>
                                        <p:tav tm="100000">
                                          <p:val>
                                            <p:strVal val="#ppt_x"/>
                                          </p:val>
                                        </p:tav>
                                      </p:tavLst>
                                    </p:anim>
                                    <p:anim calcmode="lin" valueType="num">
                                      <p:cBhvr>
                                        <p:cTn id="11" dur="65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750"/>
                            </p:stCondLst>
                            <p:childTnLst>
                              <p:par>
                                <p:cTn id="13" presetID="22" presetClass="entr" presetSubtype="8" fill="hold" grpId="0" nodeType="afterEffect">
                                  <p:stCondLst>
                                    <p:cond delay="3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400"/>
                                        <p:tgtEl>
                                          <p:spTgt spid="6"/>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8" dur="400"/>
                                        <p:tgtEl>
                                          <p:spTgt spid="7"/>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400"/>
                                        <p:tgtEl>
                                          <p:spTgt spid="8"/>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400"/>
                                        <p:tgtEl>
                                          <p:spTgt spid="9"/>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400"/>
                                        <p:tgtEl>
                                          <p:spTgt spid="10"/>
                                        </p:tgtEl>
                                      </p:cBhvr>
                                    </p:animEffect>
                                  </p:childTnLst>
                                </p:cTn>
                              </p:par>
                            </p:childTnLst>
                          </p:cTn>
                        </p:par>
                        <p:par>
                          <p:cTn id="28" fill="hold">
                            <p:stCondLst>
                              <p:cond delay="1180"/>
                            </p:stCondLst>
                            <p:childTnLst>
                              <p:par>
                                <p:cTn id="29" presetID="22" presetClass="entr" presetSubtype="8" fill="hold" grpId="0" nodeType="afterEffect">
                                  <p:stCondLst>
                                    <p:cond delay="3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400"/>
                                        <p:tgtEl>
                                          <p:spTgt spid="11"/>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left)">
                                      <p:cBhvr>
                                        <p:cTn id="34" dur="400"/>
                                        <p:tgtEl>
                                          <p:spTgt spid="12"/>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400"/>
                                        <p:tgtEl>
                                          <p:spTgt spid="13"/>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wipe(left)">
                                      <p:cBhvr>
                                        <p:cTn id="40" dur="400"/>
                                        <p:tgtEl>
                                          <p:spTgt spid="14"/>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wipe(left)">
                                      <p:cBhvr>
                                        <p:cTn id="43" dur="400"/>
                                        <p:tgtEl>
                                          <p:spTgt spid="15"/>
                                        </p:tgtEl>
                                      </p:cBhvr>
                                    </p:animEffect>
                                  </p:childTnLst>
                                </p:cTn>
                              </p:par>
                            </p:childTnLst>
                          </p:cTn>
                        </p:par>
                        <p:par>
                          <p:cTn id="44" fill="hold">
                            <p:stCondLst>
                              <p:cond delay="1610"/>
                            </p:stCondLst>
                            <p:childTnLst>
                              <p:par>
                                <p:cTn id="45" presetID="22" presetClass="entr" presetSubtype="8" fill="hold" grpId="0" nodeType="afterEffect">
                                  <p:stCondLst>
                                    <p:cond delay="30"/>
                                  </p:stCondLst>
                                  <p:childTnLst>
                                    <p:set>
                                      <p:cBhvr>
                                        <p:cTn id="46" dur="1" fill="hold">
                                          <p:stCondLst>
                                            <p:cond delay="0"/>
                                          </p:stCondLst>
                                        </p:cTn>
                                        <p:tgtEl>
                                          <p:spTgt spid="16"/>
                                        </p:tgtEl>
                                        <p:attrNameLst>
                                          <p:attrName>style.visibility</p:attrName>
                                        </p:attrNameLst>
                                      </p:cBhvr>
                                      <p:to>
                                        <p:strVal val="visible"/>
                                      </p:to>
                                    </p:set>
                                    <p:animEffect transition="in" filter="wipe(left)">
                                      <p:cBhvr>
                                        <p:cTn id="47" dur="400"/>
                                        <p:tgtEl>
                                          <p:spTgt spid="16"/>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wipe(left)">
                                      <p:cBhvr>
                                        <p:cTn id="50" dur="400"/>
                                        <p:tgtEl>
                                          <p:spTgt spid="17"/>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wipe(left)">
                                      <p:cBhvr>
                                        <p:cTn id="53" dur="400"/>
                                        <p:tgtEl>
                                          <p:spTgt spid="18"/>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wipe(left)">
                                      <p:cBhvr>
                                        <p:cTn id="56" dur="400"/>
                                        <p:tgtEl>
                                          <p:spTgt spid="19"/>
                                        </p:tgtEl>
                                      </p:cBhvr>
                                    </p:animEffect>
                                  </p:childTnLst>
                                </p:cTn>
                              </p:par>
                              <p:par>
                                <p:cTn id="57" presetID="22" presetClass="entr" presetSubtype="8"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wipe(left)">
                                      <p:cBhvr>
                                        <p:cTn id="59" dur="400"/>
                                        <p:tgtEl>
                                          <p:spTgt spid="20"/>
                                        </p:tgtEl>
                                      </p:cBhvr>
                                    </p:animEffect>
                                  </p:childTnLst>
                                </p:cTn>
                              </p:par>
                            </p:childTnLst>
                          </p:cTn>
                        </p:par>
                        <p:par>
                          <p:cTn id="60" fill="hold">
                            <p:stCondLst>
                              <p:cond delay="2040"/>
                            </p:stCondLst>
                            <p:childTnLst>
                              <p:par>
                                <p:cTn id="61" presetID="22" presetClass="entr" presetSubtype="8" fill="hold" grpId="0" nodeType="afterEffect">
                                  <p:stCondLst>
                                    <p:cond delay="30"/>
                                  </p:stCondLst>
                                  <p:childTnLst>
                                    <p:set>
                                      <p:cBhvr>
                                        <p:cTn id="62" dur="1" fill="hold">
                                          <p:stCondLst>
                                            <p:cond delay="0"/>
                                          </p:stCondLst>
                                        </p:cTn>
                                        <p:tgtEl>
                                          <p:spTgt spid="21"/>
                                        </p:tgtEl>
                                        <p:attrNameLst>
                                          <p:attrName>style.visibility</p:attrName>
                                        </p:attrNameLst>
                                      </p:cBhvr>
                                      <p:to>
                                        <p:strVal val="visible"/>
                                      </p:to>
                                    </p:set>
                                    <p:animEffect transition="in" filter="wipe(left)">
                                      <p:cBhvr>
                                        <p:cTn id="63" dur="400"/>
                                        <p:tgtEl>
                                          <p:spTgt spid="21"/>
                                        </p:tgtEl>
                                      </p:cBhvr>
                                    </p:animEffect>
                                  </p:childTnLst>
                                </p:cTn>
                              </p:par>
                              <p:par>
                                <p:cTn id="64" presetID="22" presetClass="entr" presetSubtype="8"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wipe(left)">
                                      <p:cBhvr>
                                        <p:cTn id="66" dur="400"/>
                                        <p:tgtEl>
                                          <p:spTgt spid="22"/>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wipe(left)">
                                      <p:cBhvr>
                                        <p:cTn id="69" dur="400"/>
                                        <p:tgtEl>
                                          <p:spTgt spid="23"/>
                                        </p:tgtEl>
                                      </p:cBhvr>
                                    </p:animEffect>
                                  </p:childTnLst>
                                </p:cTn>
                              </p:par>
                              <p:par>
                                <p:cTn id="70" presetID="22" presetClass="entr" presetSubtype="8"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wipe(left)">
                                      <p:cBhvr>
                                        <p:cTn id="72" dur="400"/>
                                        <p:tgtEl>
                                          <p:spTgt spid="24"/>
                                        </p:tgtEl>
                                      </p:cBhvr>
                                    </p:animEffect>
                                  </p:childTnLst>
                                </p:cTn>
                              </p:par>
                            </p:childTnLst>
                          </p:cTn>
                        </p:par>
                        <p:par>
                          <p:cTn id="73" fill="hold">
                            <p:stCondLst>
                              <p:cond delay="2470"/>
                            </p:stCondLst>
                            <p:childTnLst>
                              <p:par>
                                <p:cTn id="74" presetID="10" presetClass="entr" presetSubtype="0" fill="hold" grpId="0" nodeType="afterEffect">
                                  <p:stCondLst>
                                    <p:cond delay="8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500"/>
                                        <p:tgtEl>
                                          <p:spTgt spid="25"/>
                                        </p:tgtEl>
                                      </p:cBhvr>
                                    </p:animEffect>
                                  </p:childTnLst>
                                </p:cTn>
                              </p:par>
                            </p:childTnLst>
                          </p:cTn>
                        </p:par>
                        <p:par>
                          <p:cTn id="77" fill="hold">
                            <p:stCondLst>
                              <p:cond delay="3050"/>
                            </p:stCondLst>
                            <p:childTnLst>
                              <p:par>
                                <p:cTn id="78" presetID="10" presetClass="entr" presetSubtype="0" fill="hold" grpId="0" nodeType="afterEffect">
                                  <p:stCondLst>
                                    <p:cond delay="60"/>
                                  </p:stCondLst>
                                  <p:childTnLst>
                                    <p:set>
                                      <p:cBhvr>
                                        <p:cTn id="79" dur="1" fill="hold">
                                          <p:stCondLst>
                                            <p:cond delay="0"/>
                                          </p:stCondLst>
                                        </p:cTn>
                                        <p:tgtEl>
                                          <p:spTgt spid="26"/>
                                        </p:tgtEl>
                                        <p:attrNameLst>
                                          <p:attrName>style.visibility</p:attrName>
                                        </p:attrNameLst>
                                      </p:cBhvr>
                                      <p:to>
                                        <p:strVal val="visible"/>
                                      </p:to>
                                    </p:set>
                                    <p:animEffect transition="in" filter="fade">
                                      <p:cBhvr>
                                        <p:cTn id="80" dur="350"/>
                                        <p:tgtEl>
                                          <p:spTgt spid="26"/>
                                        </p:tgtEl>
                                      </p:cBhvr>
                                    </p:animEffect>
                                  </p:childTnLst>
                                </p:cTn>
                              </p:par>
                            </p:childTnLst>
                          </p:cTn>
                        </p:par>
                        <p:par>
                          <p:cTn id="81" fill="hold">
                            <p:stCondLst>
                              <p:cond delay="3460"/>
                            </p:stCondLst>
                            <p:childTnLst>
                              <p:par>
                                <p:cTn id="82" presetID="42" presetClass="entr" presetSubtype="0" fill="hold" grpId="0" nodeType="afterEffect">
                                  <p:stCondLst>
                                    <p:cond delay="30"/>
                                  </p:stCondLst>
                                  <p:childTnLst>
                                    <p:set>
                                      <p:cBhvr>
                                        <p:cTn id="83" dur="1" fill="hold">
                                          <p:stCondLst>
                                            <p:cond delay="0"/>
                                          </p:stCondLst>
                                        </p:cTn>
                                        <p:tgtEl>
                                          <p:spTgt spid="27"/>
                                        </p:tgtEl>
                                        <p:attrNameLst>
                                          <p:attrName>style.visibility</p:attrName>
                                        </p:attrNameLst>
                                      </p:cBhvr>
                                      <p:to>
                                        <p:strVal val="visible"/>
                                      </p:to>
                                    </p:set>
                                    <p:animEffect transition="in" filter="fade">
                                      <p:cBhvr>
                                        <p:cTn id="84" dur="400"/>
                                        <p:tgtEl>
                                          <p:spTgt spid="27"/>
                                        </p:tgtEl>
                                      </p:cBhvr>
                                    </p:animEffect>
                                    <p:anim calcmode="lin" valueType="num">
                                      <p:cBhvr>
                                        <p:cTn id="85" dur="400" fill="hold"/>
                                        <p:tgtEl>
                                          <p:spTgt spid="27"/>
                                        </p:tgtEl>
                                        <p:attrNameLst>
                                          <p:attrName>ppt_x</p:attrName>
                                        </p:attrNameLst>
                                      </p:cBhvr>
                                      <p:tavLst>
                                        <p:tav tm="0">
                                          <p:val>
                                            <p:strVal val="#ppt_x"/>
                                          </p:val>
                                        </p:tav>
                                        <p:tav tm="100000">
                                          <p:val>
                                            <p:strVal val="#ppt_x"/>
                                          </p:val>
                                        </p:tav>
                                      </p:tavLst>
                                    </p:anim>
                                    <p:anim calcmode="lin" valueType="num">
                                      <p:cBhvr>
                                        <p:cTn id="86" dur="400" fill="hold"/>
                                        <p:tgtEl>
                                          <p:spTgt spid="27"/>
                                        </p:tgtEl>
                                        <p:attrNameLst>
                                          <p:attrName>ppt_y</p:attrName>
                                        </p:attrNameLst>
                                      </p:cBhvr>
                                      <p:tavLst>
                                        <p:tav tm="0">
                                          <p:val>
                                            <p:strVal val="#ppt_y+.06"/>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28"/>
                                        </p:tgtEl>
                                        <p:attrNameLst>
                                          <p:attrName>style.visibility</p:attrName>
                                        </p:attrNameLst>
                                      </p:cBhvr>
                                      <p:to>
                                        <p:strVal val="visible"/>
                                      </p:to>
                                    </p:set>
                                    <p:animEffect transition="in" filter="fade">
                                      <p:cBhvr>
                                        <p:cTn id="89" dur="400"/>
                                        <p:tgtEl>
                                          <p:spTgt spid="28"/>
                                        </p:tgtEl>
                                      </p:cBhvr>
                                    </p:animEffect>
                                    <p:anim calcmode="lin" valueType="num">
                                      <p:cBhvr>
                                        <p:cTn id="90" dur="400" fill="hold"/>
                                        <p:tgtEl>
                                          <p:spTgt spid="28"/>
                                        </p:tgtEl>
                                        <p:attrNameLst>
                                          <p:attrName>ppt_x</p:attrName>
                                        </p:attrNameLst>
                                      </p:cBhvr>
                                      <p:tavLst>
                                        <p:tav tm="0">
                                          <p:val>
                                            <p:strVal val="#ppt_x"/>
                                          </p:val>
                                        </p:tav>
                                        <p:tav tm="100000">
                                          <p:val>
                                            <p:strVal val="#ppt_x"/>
                                          </p:val>
                                        </p:tav>
                                      </p:tavLst>
                                    </p:anim>
                                    <p:anim calcmode="lin" valueType="num">
                                      <p:cBhvr>
                                        <p:cTn id="91" dur="400" fill="hold"/>
                                        <p:tgtEl>
                                          <p:spTgt spid="28"/>
                                        </p:tgtEl>
                                        <p:attrNameLst>
                                          <p:attrName>ppt_y</p:attrName>
                                        </p:attrNameLst>
                                      </p:cBhvr>
                                      <p:tavLst>
                                        <p:tav tm="0">
                                          <p:val>
                                            <p:strVal val="#ppt_y+.06"/>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29"/>
                                        </p:tgtEl>
                                        <p:attrNameLst>
                                          <p:attrName>style.visibility</p:attrName>
                                        </p:attrNameLst>
                                      </p:cBhvr>
                                      <p:to>
                                        <p:strVal val="visible"/>
                                      </p:to>
                                    </p:set>
                                    <p:animEffect transition="in" filter="fade">
                                      <p:cBhvr>
                                        <p:cTn id="94" dur="400"/>
                                        <p:tgtEl>
                                          <p:spTgt spid="29"/>
                                        </p:tgtEl>
                                      </p:cBhvr>
                                    </p:animEffect>
                                    <p:anim calcmode="lin" valueType="num">
                                      <p:cBhvr>
                                        <p:cTn id="95" dur="400" fill="hold"/>
                                        <p:tgtEl>
                                          <p:spTgt spid="29"/>
                                        </p:tgtEl>
                                        <p:attrNameLst>
                                          <p:attrName>ppt_x</p:attrName>
                                        </p:attrNameLst>
                                      </p:cBhvr>
                                      <p:tavLst>
                                        <p:tav tm="0">
                                          <p:val>
                                            <p:strVal val="#ppt_x"/>
                                          </p:val>
                                        </p:tav>
                                        <p:tav tm="100000">
                                          <p:val>
                                            <p:strVal val="#ppt_x"/>
                                          </p:val>
                                        </p:tav>
                                      </p:tavLst>
                                    </p:anim>
                                    <p:anim calcmode="lin" valueType="num">
                                      <p:cBhvr>
                                        <p:cTn id="96" dur="400" fill="hold"/>
                                        <p:tgtEl>
                                          <p:spTgt spid="29"/>
                                        </p:tgtEl>
                                        <p:attrNameLst>
                                          <p:attrName>ppt_y</p:attrName>
                                        </p:attrNameLst>
                                      </p:cBhvr>
                                      <p:tavLst>
                                        <p:tav tm="0">
                                          <p:val>
                                            <p:strVal val="#ppt_y+.06"/>
                                          </p:val>
                                        </p:tav>
                                        <p:tav tm="100000">
                                          <p:val>
                                            <p:strVal val="#ppt_y"/>
                                          </p:val>
                                        </p:tav>
                                      </p:tavLst>
                                    </p:anim>
                                  </p:childTnLst>
                                </p:cTn>
                              </p:par>
                            </p:childTnLst>
                          </p:cTn>
                        </p:par>
                        <p:par>
                          <p:cTn id="97" fill="hold">
                            <p:stCondLst>
                              <p:cond delay="3890"/>
                            </p:stCondLst>
                            <p:childTnLst>
                              <p:par>
                                <p:cTn id="98" presetID="42" presetClass="entr" presetSubtype="0" fill="hold" grpId="0" nodeType="afterEffect">
                                  <p:stCondLst>
                                    <p:cond delay="30"/>
                                  </p:stCondLst>
                                  <p:childTnLst>
                                    <p:set>
                                      <p:cBhvr>
                                        <p:cTn id="99" dur="1" fill="hold">
                                          <p:stCondLst>
                                            <p:cond delay="0"/>
                                          </p:stCondLst>
                                        </p:cTn>
                                        <p:tgtEl>
                                          <p:spTgt spid="30"/>
                                        </p:tgtEl>
                                        <p:attrNameLst>
                                          <p:attrName>style.visibility</p:attrName>
                                        </p:attrNameLst>
                                      </p:cBhvr>
                                      <p:to>
                                        <p:strVal val="visible"/>
                                      </p:to>
                                    </p:set>
                                    <p:animEffect transition="in" filter="fade">
                                      <p:cBhvr>
                                        <p:cTn id="100" dur="400"/>
                                        <p:tgtEl>
                                          <p:spTgt spid="30"/>
                                        </p:tgtEl>
                                      </p:cBhvr>
                                    </p:animEffect>
                                    <p:anim calcmode="lin" valueType="num">
                                      <p:cBhvr>
                                        <p:cTn id="101" dur="400" fill="hold"/>
                                        <p:tgtEl>
                                          <p:spTgt spid="30"/>
                                        </p:tgtEl>
                                        <p:attrNameLst>
                                          <p:attrName>ppt_x</p:attrName>
                                        </p:attrNameLst>
                                      </p:cBhvr>
                                      <p:tavLst>
                                        <p:tav tm="0">
                                          <p:val>
                                            <p:strVal val="#ppt_x"/>
                                          </p:val>
                                        </p:tav>
                                        <p:tav tm="100000">
                                          <p:val>
                                            <p:strVal val="#ppt_x"/>
                                          </p:val>
                                        </p:tav>
                                      </p:tavLst>
                                    </p:anim>
                                    <p:anim calcmode="lin" valueType="num">
                                      <p:cBhvr>
                                        <p:cTn id="102" dur="400" fill="hold"/>
                                        <p:tgtEl>
                                          <p:spTgt spid="30"/>
                                        </p:tgtEl>
                                        <p:attrNameLst>
                                          <p:attrName>ppt_y</p:attrName>
                                        </p:attrNameLst>
                                      </p:cBhvr>
                                      <p:tavLst>
                                        <p:tav tm="0">
                                          <p:val>
                                            <p:strVal val="#ppt_y+.06"/>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31"/>
                                        </p:tgtEl>
                                        <p:attrNameLst>
                                          <p:attrName>style.visibility</p:attrName>
                                        </p:attrNameLst>
                                      </p:cBhvr>
                                      <p:to>
                                        <p:strVal val="visible"/>
                                      </p:to>
                                    </p:set>
                                    <p:animEffect transition="in" filter="fade">
                                      <p:cBhvr>
                                        <p:cTn id="105" dur="400"/>
                                        <p:tgtEl>
                                          <p:spTgt spid="31"/>
                                        </p:tgtEl>
                                      </p:cBhvr>
                                    </p:animEffect>
                                    <p:anim calcmode="lin" valueType="num">
                                      <p:cBhvr>
                                        <p:cTn id="106" dur="400" fill="hold"/>
                                        <p:tgtEl>
                                          <p:spTgt spid="31"/>
                                        </p:tgtEl>
                                        <p:attrNameLst>
                                          <p:attrName>ppt_x</p:attrName>
                                        </p:attrNameLst>
                                      </p:cBhvr>
                                      <p:tavLst>
                                        <p:tav tm="0">
                                          <p:val>
                                            <p:strVal val="#ppt_x"/>
                                          </p:val>
                                        </p:tav>
                                        <p:tav tm="100000">
                                          <p:val>
                                            <p:strVal val="#ppt_x"/>
                                          </p:val>
                                        </p:tav>
                                      </p:tavLst>
                                    </p:anim>
                                    <p:anim calcmode="lin" valueType="num">
                                      <p:cBhvr>
                                        <p:cTn id="107" dur="400" fill="hold"/>
                                        <p:tgtEl>
                                          <p:spTgt spid="31"/>
                                        </p:tgtEl>
                                        <p:attrNameLst>
                                          <p:attrName>ppt_y</p:attrName>
                                        </p:attrNameLst>
                                      </p:cBhvr>
                                      <p:tavLst>
                                        <p:tav tm="0">
                                          <p:val>
                                            <p:strVal val="#ppt_y+.06"/>
                                          </p:val>
                                        </p:tav>
                                        <p:tav tm="100000">
                                          <p:val>
                                            <p:strVal val="#ppt_y"/>
                                          </p:val>
                                        </p:tav>
                                      </p:tavLst>
                                    </p:anim>
                                  </p:childTnLst>
                                </p:cTn>
                              </p:par>
                              <p:par>
                                <p:cTn id="108" presetID="42" presetClass="entr" presetSubtype="0" fill="hold" grpId="0" nodeType="withEffect">
                                  <p:stCondLst>
                                    <p:cond delay="0"/>
                                  </p:stCondLst>
                                  <p:childTnLst>
                                    <p:set>
                                      <p:cBhvr>
                                        <p:cTn id="109" dur="1" fill="hold">
                                          <p:stCondLst>
                                            <p:cond delay="0"/>
                                          </p:stCondLst>
                                        </p:cTn>
                                        <p:tgtEl>
                                          <p:spTgt spid="32"/>
                                        </p:tgtEl>
                                        <p:attrNameLst>
                                          <p:attrName>style.visibility</p:attrName>
                                        </p:attrNameLst>
                                      </p:cBhvr>
                                      <p:to>
                                        <p:strVal val="visible"/>
                                      </p:to>
                                    </p:set>
                                    <p:animEffect transition="in" filter="fade">
                                      <p:cBhvr>
                                        <p:cTn id="110" dur="400"/>
                                        <p:tgtEl>
                                          <p:spTgt spid="32"/>
                                        </p:tgtEl>
                                      </p:cBhvr>
                                    </p:animEffect>
                                    <p:anim calcmode="lin" valueType="num">
                                      <p:cBhvr>
                                        <p:cTn id="111" dur="400" fill="hold"/>
                                        <p:tgtEl>
                                          <p:spTgt spid="32"/>
                                        </p:tgtEl>
                                        <p:attrNameLst>
                                          <p:attrName>ppt_x</p:attrName>
                                        </p:attrNameLst>
                                      </p:cBhvr>
                                      <p:tavLst>
                                        <p:tav tm="0">
                                          <p:val>
                                            <p:strVal val="#ppt_x"/>
                                          </p:val>
                                        </p:tav>
                                        <p:tav tm="100000">
                                          <p:val>
                                            <p:strVal val="#ppt_x"/>
                                          </p:val>
                                        </p:tav>
                                      </p:tavLst>
                                    </p:anim>
                                    <p:anim calcmode="lin" valueType="num">
                                      <p:cBhvr>
                                        <p:cTn id="112" dur="400" fill="hold"/>
                                        <p:tgtEl>
                                          <p:spTgt spid="32"/>
                                        </p:tgtEl>
                                        <p:attrNameLst>
                                          <p:attrName>ppt_y</p:attrName>
                                        </p:attrNameLst>
                                      </p:cBhvr>
                                      <p:tavLst>
                                        <p:tav tm="0">
                                          <p:val>
                                            <p:strVal val="#ppt_y+.06"/>
                                          </p:val>
                                        </p:tav>
                                        <p:tav tm="100000">
                                          <p:val>
                                            <p:strVal val="#ppt_y"/>
                                          </p:val>
                                        </p:tav>
                                      </p:tavLst>
                                    </p:anim>
                                  </p:childTnLst>
                                </p:cTn>
                              </p:par>
                            </p:childTnLst>
                          </p:cTn>
                        </p:par>
                        <p:par>
                          <p:cTn id="113" fill="hold">
                            <p:stCondLst>
                              <p:cond delay="4320"/>
                            </p:stCondLst>
                            <p:childTnLst>
                              <p:par>
                                <p:cTn id="114" presetID="42" presetClass="entr" presetSubtype="0" fill="hold" grpId="0" nodeType="afterEffect">
                                  <p:stCondLst>
                                    <p:cond delay="30"/>
                                  </p:stCondLst>
                                  <p:childTnLst>
                                    <p:set>
                                      <p:cBhvr>
                                        <p:cTn id="115" dur="1" fill="hold">
                                          <p:stCondLst>
                                            <p:cond delay="0"/>
                                          </p:stCondLst>
                                        </p:cTn>
                                        <p:tgtEl>
                                          <p:spTgt spid="33"/>
                                        </p:tgtEl>
                                        <p:attrNameLst>
                                          <p:attrName>style.visibility</p:attrName>
                                        </p:attrNameLst>
                                      </p:cBhvr>
                                      <p:to>
                                        <p:strVal val="visible"/>
                                      </p:to>
                                    </p:set>
                                    <p:animEffect transition="in" filter="fade">
                                      <p:cBhvr>
                                        <p:cTn id="116" dur="400"/>
                                        <p:tgtEl>
                                          <p:spTgt spid="33"/>
                                        </p:tgtEl>
                                      </p:cBhvr>
                                    </p:animEffect>
                                    <p:anim calcmode="lin" valueType="num">
                                      <p:cBhvr>
                                        <p:cTn id="117" dur="400" fill="hold"/>
                                        <p:tgtEl>
                                          <p:spTgt spid="33"/>
                                        </p:tgtEl>
                                        <p:attrNameLst>
                                          <p:attrName>ppt_x</p:attrName>
                                        </p:attrNameLst>
                                      </p:cBhvr>
                                      <p:tavLst>
                                        <p:tav tm="0">
                                          <p:val>
                                            <p:strVal val="#ppt_x"/>
                                          </p:val>
                                        </p:tav>
                                        <p:tav tm="100000">
                                          <p:val>
                                            <p:strVal val="#ppt_x"/>
                                          </p:val>
                                        </p:tav>
                                      </p:tavLst>
                                    </p:anim>
                                    <p:anim calcmode="lin" valueType="num">
                                      <p:cBhvr>
                                        <p:cTn id="118" dur="400" fill="hold"/>
                                        <p:tgtEl>
                                          <p:spTgt spid="33"/>
                                        </p:tgtEl>
                                        <p:attrNameLst>
                                          <p:attrName>ppt_y</p:attrName>
                                        </p:attrNameLst>
                                      </p:cBhvr>
                                      <p:tavLst>
                                        <p:tav tm="0">
                                          <p:val>
                                            <p:strVal val="#ppt_y+.06"/>
                                          </p:val>
                                        </p:tav>
                                        <p:tav tm="100000">
                                          <p:val>
                                            <p:strVal val="#ppt_y"/>
                                          </p:val>
                                        </p:tav>
                                      </p:tavLst>
                                    </p:anim>
                                  </p:childTnLst>
                                </p:cTn>
                              </p:par>
                              <p:par>
                                <p:cTn id="119" presetID="42" presetClass="entr" presetSubtype="0" fill="hold" grpId="0" nodeType="withEffect">
                                  <p:stCondLst>
                                    <p:cond delay="0"/>
                                  </p:stCondLst>
                                  <p:childTnLst>
                                    <p:set>
                                      <p:cBhvr>
                                        <p:cTn id="120" dur="1" fill="hold">
                                          <p:stCondLst>
                                            <p:cond delay="0"/>
                                          </p:stCondLst>
                                        </p:cTn>
                                        <p:tgtEl>
                                          <p:spTgt spid="34"/>
                                        </p:tgtEl>
                                        <p:attrNameLst>
                                          <p:attrName>style.visibility</p:attrName>
                                        </p:attrNameLst>
                                      </p:cBhvr>
                                      <p:to>
                                        <p:strVal val="visible"/>
                                      </p:to>
                                    </p:set>
                                    <p:animEffect transition="in" filter="fade">
                                      <p:cBhvr>
                                        <p:cTn id="121" dur="400"/>
                                        <p:tgtEl>
                                          <p:spTgt spid="34"/>
                                        </p:tgtEl>
                                      </p:cBhvr>
                                    </p:animEffect>
                                    <p:anim calcmode="lin" valueType="num">
                                      <p:cBhvr>
                                        <p:cTn id="122" dur="400" fill="hold"/>
                                        <p:tgtEl>
                                          <p:spTgt spid="34"/>
                                        </p:tgtEl>
                                        <p:attrNameLst>
                                          <p:attrName>ppt_x</p:attrName>
                                        </p:attrNameLst>
                                      </p:cBhvr>
                                      <p:tavLst>
                                        <p:tav tm="0">
                                          <p:val>
                                            <p:strVal val="#ppt_x"/>
                                          </p:val>
                                        </p:tav>
                                        <p:tav tm="100000">
                                          <p:val>
                                            <p:strVal val="#ppt_x"/>
                                          </p:val>
                                        </p:tav>
                                      </p:tavLst>
                                    </p:anim>
                                    <p:anim calcmode="lin" valueType="num">
                                      <p:cBhvr>
                                        <p:cTn id="123" dur="400" fill="hold"/>
                                        <p:tgtEl>
                                          <p:spTgt spid="34"/>
                                        </p:tgtEl>
                                        <p:attrNameLst>
                                          <p:attrName>ppt_y</p:attrName>
                                        </p:attrNameLst>
                                      </p:cBhvr>
                                      <p:tavLst>
                                        <p:tav tm="0">
                                          <p:val>
                                            <p:strVal val="#ppt_y+.06"/>
                                          </p:val>
                                        </p:tav>
                                        <p:tav tm="100000">
                                          <p:val>
                                            <p:strVal val="#ppt_y"/>
                                          </p:val>
                                        </p:tav>
                                      </p:tavLst>
                                    </p:anim>
                                  </p:childTnLst>
                                </p:cTn>
                              </p:par>
                              <p:par>
                                <p:cTn id="124" presetID="42" presetClass="entr" presetSubtype="0" fill="hold" grpId="0" nodeType="withEffect">
                                  <p:stCondLst>
                                    <p:cond delay="0"/>
                                  </p:stCondLst>
                                  <p:childTnLst>
                                    <p:set>
                                      <p:cBhvr>
                                        <p:cTn id="125" dur="1" fill="hold">
                                          <p:stCondLst>
                                            <p:cond delay="0"/>
                                          </p:stCondLst>
                                        </p:cTn>
                                        <p:tgtEl>
                                          <p:spTgt spid="35"/>
                                        </p:tgtEl>
                                        <p:attrNameLst>
                                          <p:attrName>style.visibility</p:attrName>
                                        </p:attrNameLst>
                                      </p:cBhvr>
                                      <p:to>
                                        <p:strVal val="visible"/>
                                      </p:to>
                                    </p:set>
                                    <p:animEffect transition="in" filter="fade">
                                      <p:cBhvr>
                                        <p:cTn id="126" dur="400"/>
                                        <p:tgtEl>
                                          <p:spTgt spid="35"/>
                                        </p:tgtEl>
                                      </p:cBhvr>
                                    </p:animEffect>
                                    <p:anim calcmode="lin" valueType="num">
                                      <p:cBhvr>
                                        <p:cTn id="127" dur="400" fill="hold"/>
                                        <p:tgtEl>
                                          <p:spTgt spid="35"/>
                                        </p:tgtEl>
                                        <p:attrNameLst>
                                          <p:attrName>ppt_x</p:attrName>
                                        </p:attrNameLst>
                                      </p:cBhvr>
                                      <p:tavLst>
                                        <p:tav tm="0">
                                          <p:val>
                                            <p:strVal val="#ppt_x"/>
                                          </p:val>
                                        </p:tav>
                                        <p:tav tm="100000">
                                          <p:val>
                                            <p:strVal val="#ppt_x"/>
                                          </p:val>
                                        </p:tav>
                                      </p:tavLst>
                                    </p:anim>
                                    <p:anim calcmode="lin" valueType="num">
                                      <p:cBhvr>
                                        <p:cTn id="128" dur="400" fill="hold"/>
                                        <p:tgtEl>
                                          <p:spTgt spid="35"/>
                                        </p:tgtEl>
                                        <p:attrNameLst>
                                          <p:attrName>ppt_y</p:attrName>
                                        </p:attrNameLst>
                                      </p:cBhvr>
                                      <p:tavLst>
                                        <p:tav tm="0">
                                          <p:val>
                                            <p:strVal val="#ppt_y+.06"/>
                                          </p:val>
                                        </p:tav>
                                        <p:tav tm="100000">
                                          <p:val>
                                            <p:strVal val="#ppt_y"/>
                                          </p:val>
                                        </p:tav>
                                      </p:tavLst>
                                    </p:anim>
                                  </p:childTnLst>
                                </p:cTn>
                              </p:par>
                            </p:childTnLst>
                          </p:cTn>
                        </p:par>
                        <p:par>
                          <p:cTn id="129" fill="hold">
                            <p:stCondLst>
                              <p:cond delay="4750"/>
                            </p:stCondLst>
                            <p:childTnLst>
                              <p:par>
                                <p:cTn id="130" presetID="10" presetClass="entr" presetSubtype="0" fill="hold" grpId="0" nodeType="afterEffect">
                                  <p:stCondLst>
                                    <p:cond delay="120"/>
                                  </p:stCondLst>
                                  <p:childTnLst>
                                    <p:set>
                                      <p:cBhvr>
                                        <p:cTn id="131" dur="1" fill="hold">
                                          <p:stCondLst>
                                            <p:cond delay="0"/>
                                          </p:stCondLst>
                                        </p:cTn>
                                        <p:tgtEl>
                                          <p:spTgt spid="36"/>
                                        </p:tgtEl>
                                        <p:attrNameLst>
                                          <p:attrName>style.visibility</p:attrName>
                                        </p:attrNameLst>
                                      </p:cBhvr>
                                      <p:to>
                                        <p:strVal val="visible"/>
                                      </p:to>
                                    </p:set>
                                    <p:animEffect transition="in" filter="fade">
                                      <p:cBhvr>
                                        <p:cTn id="13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animBg="1"/>
      <p:bldP spid="8" grpId="0"/>
      <p:bldP spid="9" grpId="0"/>
      <p:bldP spid="10" grpId="0" animBg="1"/>
      <p:bldP spid="11" grpId="0" animBg="1"/>
      <p:bldP spid="12" grpId="0" animBg="1"/>
      <p:bldP spid="13" grpId="0"/>
      <p:bldP spid="14" grpId="0"/>
      <p:bldP spid="15" grpId="0" animBg="1"/>
      <p:bldP spid="16" grpId="0" animBg="1"/>
      <p:bldP spid="17" grpId="0" animBg="1"/>
      <p:bldP spid="18" grpId="0"/>
      <p:bldP spid="19" grpId="0"/>
      <p:bldP spid="20" grpId="0" animBg="1"/>
      <p:bldP spid="21" grpId="0" animBg="1"/>
      <p:bldP spid="22" grpId="0" animBg="1"/>
      <p:bldP spid="23" grpId="0"/>
      <p:bldP spid="24" grpId="0"/>
      <p:bldP spid="25" grpId="0"/>
      <p:bldP spid="26" grpId="0"/>
      <p:bldP spid="27" grpId="0" animBg="1"/>
      <p:bldP spid="28" grpId="0"/>
      <p:bldP spid="29" grpId="0"/>
      <p:bldP spid="30" grpId="0" animBg="1"/>
      <p:bldP spid="31" grpId="0"/>
      <p:bldP spid="32" grpId="0"/>
      <p:bldP spid="33" grpId="0" animBg="1"/>
      <p:bldP spid="34" grpId="0"/>
      <p:bldP spid="35" grpId="0"/>
      <p:bldP spid="36" grpId="0"/>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t"/>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2/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9144000" cy="274320"/>
          </a:xfrm>
          <a:prstGeom prst="rect">
            <a:avLst/>
          </a:prstGeom>
          <a:noFill/>
          <a:ln/>
        </p:spPr>
        <p:txBody>
          <a:bodyPr wrap="square" lIns="0" tIns="0" rIns="0" bIns="0" rtlCol="0" anchor="t"/>
          <a:lstStyle/>
          <a:p>
            <a:pPr indent="0" marL="0">
              <a:buNone/>
            </a:pPr>
            <a:r>
              <a:rPr lang="en-US" sz="1100" b="1" spc="300" kern="0" dirty="0">
                <a:solidFill>
                  <a:srgbClr val="F5A623"/>
                </a:solidFill>
                <a:latin typeface="Calibri" pitchFamily="34" charset="0"/>
                <a:ea typeface="Calibri" pitchFamily="34" charset="-122"/>
                <a:cs typeface="Calibri" pitchFamily="34" charset="-120"/>
              </a:rPr>
              <a:t>WHERE WE STARTED · MAUSAM KAVACH</a:t>
            </a:r>
            <a:endParaRPr lang="en-US" sz="1100" dirty="0"/>
          </a:p>
        </p:txBody>
      </p:sp>
      <p:sp>
        <p:nvSpPr>
          <p:cNvPr id="5" name="title"/>
          <p:cNvSpPr txBox="1"/>
          <p:nvPr/>
        </p:nvSpPr>
        <p:spPr>
          <a:xfrm>
            <a:off x="548640" y="1170432"/>
            <a:ext cx="11094415"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Insurance is one application, not the anchor</a:t>
            </a:r>
            <a:endParaRPr lang="en-US" sz="3200" dirty="0"/>
          </a:p>
        </p:txBody>
      </p:sp>
      <p:sp>
        <p:nvSpPr>
          <p:cNvPr id="6" name="fl0"/>
          <p:cNvSpPr/>
          <p:nvPr/>
        </p:nvSpPr>
        <p:spPr>
          <a:xfrm>
            <a:off x="548640" y="2057400"/>
            <a:ext cx="5394960" cy="713232"/>
          </a:xfrm>
          <a:prstGeom prst="roundRect">
            <a:avLst>
              <a:gd name="adj" fmla="val 15385"/>
            </a:avLst>
          </a:prstGeom>
          <a:solidFill>
            <a:srgbClr val="141B36"/>
          </a:solidFill>
          <a:ln w="9525">
            <a:solidFill>
              <a:srgbClr val="2A3357"/>
            </a:solidFill>
            <a:prstDash val="solid"/>
          </a:ln>
        </p:spPr>
      </p:sp>
      <p:pic>
        <p:nvPicPr>
          <p:cNvPr id="7" name="flI0" descr="preencoded.png">    </p:cNvPr>
          <p:cNvPicPr>
            <a:picLocks noChangeAspect="1"/>
          </p:cNvPicPr>
          <p:nvPr/>
        </p:nvPicPr>
        <p:blipFill>
          <a:blip r:embed="rId2"/>
          <a:stretch>
            <a:fillRect/>
          </a:stretch>
        </p:blipFill>
        <p:spPr>
          <a:xfrm>
            <a:off x="749808" y="2231136"/>
            <a:ext cx="365760" cy="365760"/>
          </a:xfrm>
          <a:prstGeom prst="rect">
            <a:avLst/>
          </a:prstGeom>
        </p:spPr>
      </p:pic>
      <p:sp>
        <p:nvSpPr>
          <p:cNvPr id="8" name="flT0"/>
          <p:cNvSpPr txBox="1"/>
          <p:nvPr/>
        </p:nvSpPr>
        <p:spPr>
          <a:xfrm>
            <a:off x="1280160" y="2057400"/>
            <a:ext cx="4480560" cy="71323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Qualifying weather event in a zone</a:t>
            </a:r>
            <a:endParaRPr lang="en-US" sz="1600" dirty="0"/>
          </a:p>
        </p:txBody>
      </p:sp>
      <p:sp>
        <p:nvSpPr>
          <p:cNvPr id="9" name="flA0"/>
          <p:cNvSpPr/>
          <p:nvPr/>
        </p:nvSpPr>
        <p:spPr>
          <a:xfrm>
            <a:off x="932688" y="2770632"/>
            <a:ext cx="914" cy="155448"/>
          </a:xfrm>
          <a:prstGeom prst="line">
            <a:avLst/>
          </a:prstGeom>
          <a:noFill/>
          <a:ln w="19050">
            <a:solidFill>
              <a:srgbClr val="5A6690"/>
            </a:solidFill>
            <a:prstDash val="solid"/>
            <a:tailEnd type="triangle"/>
          </a:ln>
        </p:spPr>
      </p:sp>
      <p:sp>
        <p:nvSpPr>
          <p:cNvPr id="10" name="fl1"/>
          <p:cNvSpPr/>
          <p:nvPr/>
        </p:nvSpPr>
        <p:spPr>
          <a:xfrm>
            <a:off x="548640" y="2926080"/>
            <a:ext cx="5394960" cy="713232"/>
          </a:xfrm>
          <a:prstGeom prst="roundRect">
            <a:avLst>
              <a:gd name="adj" fmla="val 15385"/>
            </a:avLst>
          </a:prstGeom>
          <a:solidFill>
            <a:srgbClr val="141B36"/>
          </a:solidFill>
          <a:ln w="9525">
            <a:solidFill>
              <a:srgbClr val="2A3357"/>
            </a:solidFill>
            <a:prstDash val="solid"/>
          </a:ln>
        </p:spPr>
      </p:sp>
      <p:pic>
        <p:nvPicPr>
          <p:cNvPr id="11" name="flI1" descr="preencoded.png">    </p:cNvPr>
          <p:cNvPicPr>
            <a:picLocks noChangeAspect="1"/>
          </p:cNvPicPr>
          <p:nvPr/>
        </p:nvPicPr>
        <p:blipFill>
          <a:blip r:embed="rId3"/>
          <a:stretch>
            <a:fillRect/>
          </a:stretch>
        </p:blipFill>
        <p:spPr>
          <a:xfrm>
            <a:off x="749808" y="3099816"/>
            <a:ext cx="365760" cy="365760"/>
          </a:xfrm>
          <a:prstGeom prst="rect">
            <a:avLst/>
          </a:prstGeom>
        </p:spPr>
      </p:pic>
      <p:sp>
        <p:nvSpPr>
          <p:cNvPr id="12" name="flT1"/>
          <p:cNvSpPr txBox="1"/>
          <p:nvPr/>
        </p:nvSpPr>
        <p:spPr>
          <a:xfrm>
            <a:off x="1280160" y="2926080"/>
            <a:ext cx="4480560" cy="71323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JioMausam supplies the trigger data</a:t>
            </a:r>
            <a:endParaRPr lang="en-US" sz="1600" dirty="0"/>
          </a:p>
        </p:txBody>
      </p:sp>
      <p:sp>
        <p:nvSpPr>
          <p:cNvPr id="13" name="flA1"/>
          <p:cNvSpPr/>
          <p:nvPr/>
        </p:nvSpPr>
        <p:spPr>
          <a:xfrm>
            <a:off x="932688" y="3639312"/>
            <a:ext cx="914" cy="155448"/>
          </a:xfrm>
          <a:prstGeom prst="line">
            <a:avLst/>
          </a:prstGeom>
          <a:noFill/>
          <a:ln w="19050">
            <a:solidFill>
              <a:srgbClr val="5A6690"/>
            </a:solidFill>
            <a:prstDash val="solid"/>
            <a:tailEnd type="triangle"/>
          </a:ln>
        </p:spPr>
      </p:sp>
      <p:sp>
        <p:nvSpPr>
          <p:cNvPr id="14" name="fl2"/>
          <p:cNvSpPr/>
          <p:nvPr/>
        </p:nvSpPr>
        <p:spPr>
          <a:xfrm>
            <a:off x="548640" y="3794760"/>
            <a:ext cx="5394960" cy="713232"/>
          </a:xfrm>
          <a:prstGeom prst="roundRect">
            <a:avLst>
              <a:gd name="adj" fmla="val 15385"/>
            </a:avLst>
          </a:prstGeom>
          <a:solidFill>
            <a:srgbClr val="141B36"/>
          </a:solidFill>
          <a:ln w="9525">
            <a:solidFill>
              <a:srgbClr val="2A3357"/>
            </a:solidFill>
            <a:prstDash val="solid"/>
          </a:ln>
        </p:spPr>
      </p:sp>
      <p:pic>
        <p:nvPicPr>
          <p:cNvPr id="15" name="flI2" descr="preencoded.png">    </p:cNvPr>
          <p:cNvPicPr>
            <a:picLocks noChangeAspect="1"/>
          </p:cNvPicPr>
          <p:nvPr/>
        </p:nvPicPr>
        <p:blipFill>
          <a:blip r:embed="rId4"/>
          <a:stretch>
            <a:fillRect/>
          </a:stretch>
        </p:blipFill>
        <p:spPr>
          <a:xfrm>
            <a:off x="749808" y="3968496"/>
            <a:ext cx="365760" cy="365760"/>
          </a:xfrm>
          <a:prstGeom prst="rect">
            <a:avLst/>
          </a:prstGeom>
        </p:spPr>
      </p:pic>
      <p:sp>
        <p:nvSpPr>
          <p:cNvPr id="16" name="flT2"/>
          <p:cNvSpPr txBox="1"/>
          <p:nvPr/>
        </p:nvSpPr>
        <p:spPr>
          <a:xfrm>
            <a:off x="1280160" y="3794760"/>
            <a:ext cx="4480560" cy="71323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 licensed insurer would underwrite and pay</a:t>
            </a:r>
            <a:endParaRPr lang="en-US" sz="1600" dirty="0"/>
          </a:p>
        </p:txBody>
      </p:sp>
      <p:sp>
        <p:nvSpPr>
          <p:cNvPr id="17" name="flA2"/>
          <p:cNvSpPr/>
          <p:nvPr/>
        </p:nvSpPr>
        <p:spPr>
          <a:xfrm>
            <a:off x="932688" y="4507992"/>
            <a:ext cx="914" cy="155448"/>
          </a:xfrm>
          <a:prstGeom prst="line">
            <a:avLst/>
          </a:prstGeom>
          <a:noFill/>
          <a:ln w="19050">
            <a:solidFill>
              <a:srgbClr val="5A6690"/>
            </a:solidFill>
            <a:prstDash val="solid"/>
            <a:tailEnd type="triangle"/>
          </a:ln>
        </p:spPr>
      </p:sp>
      <p:sp>
        <p:nvSpPr>
          <p:cNvPr id="18" name="fl3"/>
          <p:cNvSpPr/>
          <p:nvPr/>
        </p:nvSpPr>
        <p:spPr>
          <a:xfrm>
            <a:off x="548640" y="4663440"/>
            <a:ext cx="5394960" cy="713232"/>
          </a:xfrm>
          <a:prstGeom prst="roundRect">
            <a:avLst>
              <a:gd name="adj" fmla="val 15385"/>
            </a:avLst>
          </a:prstGeom>
          <a:solidFill>
            <a:srgbClr val="2B2208"/>
          </a:solidFill>
          <a:ln w="15875">
            <a:solidFill>
              <a:srgbClr val="F5A623"/>
            </a:solidFill>
            <a:prstDash val="solid"/>
          </a:ln>
        </p:spPr>
      </p:sp>
      <p:pic>
        <p:nvPicPr>
          <p:cNvPr id="19" name="flI3" descr="preencoded.png">    </p:cNvPr>
          <p:cNvPicPr>
            <a:picLocks noChangeAspect="1"/>
          </p:cNvPicPr>
          <p:nvPr/>
        </p:nvPicPr>
        <p:blipFill>
          <a:blip r:embed="rId5"/>
          <a:stretch>
            <a:fillRect/>
          </a:stretch>
        </p:blipFill>
        <p:spPr>
          <a:xfrm>
            <a:off x="749808" y="4837176"/>
            <a:ext cx="365760" cy="365760"/>
          </a:xfrm>
          <a:prstGeom prst="rect">
            <a:avLst/>
          </a:prstGeom>
        </p:spPr>
      </p:pic>
      <p:sp>
        <p:nvSpPr>
          <p:cNvPr id="20" name="flT3"/>
          <p:cNvSpPr txBox="1"/>
          <p:nvPr/>
        </p:nvSpPr>
        <p:spPr>
          <a:xfrm>
            <a:off x="1280160" y="4663440"/>
            <a:ext cx="4480560" cy="713232"/>
          </a:xfrm>
          <a:prstGeom prst="rect">
            <a:avLst/>
          </a:prstGeom>
          <a:noFill/>
          <a:ln/>
        </p:spPr>
        <p:txBody>
          <a:bodyPr wrap="square" lIns="0" tIns="0" rIns="0" bIns="0" rtlCol="0" anchor="ctr"/>
          <a:lstStyle/>
          <a:p>
            <a:pPr indent="0" marL="0">
              <a:buNone/>
            </a:pPr>
            <a:r>
              <a:rPr lang="en-US" sz="1600" b="1" dirty="0">
                <a:solidFill>
                  <a:srgbClr val="F5A623"/>
                </a:solidFill>
                <a:latin typeface="Calibri" pitchFamily="34" charset="0"/>
                <a:ea typeface="Calibri" pitchFamily="34" charset="-122"/>
                <a:cs typeface="Calibri" pitchFamily="34" charset="-120"/>
              </a:rPr>
              <a:t>Fixed benefit to the worker, e.g. ₹300</a:t>
            </a:r>
            <a:endParaRPr lang="en-US" sz="1600" dirty="0"/>
          </a:p>
        </p:txBody>
      </p:sp>
      <p:sp>
        <p:nvSpPr>
          <p:cNvPr id="21" name="flNote"/>
          <p:cNvSpPr txBox="1"/>
          <p:nvPr/>
        </p:nvSpPr>
        <p:spPr>
          <a:xfrm>
            <a:off x="548640" y="5504688"/>
            <a:ext cx="11094415" cy="320040"/>
          </a:xfrm>
          <a:prstGeom prst="rect">
            <a:avLst/>
          </a:prstGeom>
          <a:noFill/>
          <a:ln/>
        </p:spPr>
        <p:txBody>
          <a:bodyPr wrap="square" lIns="0" tIns="0" rIns="0" bIns="0" rtlCol="0" anchor="t"/>
          <a:lstStyle/>
          <a:p>
            <a:pPr indent="0" marL="0">
              <a:buNone/>
            </a:pPr>
            <a:r>
              <a:rPr lang="en-US" sz="1300" dirty="0">
                <a:solidFill>
                  <a:srgbClr val="98A2C0"/>
                </a:solidFill>
                <a:latin typeface="Calibri" pitchFamily="34" charset="0"/>
                <a:ea typeface="Calibri" pitchFamily="34" charset="-122"/>
                <a:cs typeface="Calibri" pitchFamily="34" charset="-120"/>
              </a:rPr>
              <a:t>No claim, no proof of loss. Eligible = already active in the zone before the event began (predefined rules). ₹300 is a prototype assumption.</a:t>
            </a:r>
            <a:endParaRPr lang="en-US" sz="1300" dirty="0"/>
          </a:p>
        </p:txBody>
      </p:sp>
      <p:sp>
        <p:nvSpPr>
          <p:cNvPr id="22" name="gateCard"/>
          <p:cNvSpPr/>
          <p:nvPr/>
        </p:nvSpPr>
        <p:spPr>
          <a:xfrm>
            <a:off x="6263640" y="2057400"/>
            <a:ext cx="5376672" cy="3291840"/>
          </a:xfrm>
          <a:prstGeom prst="roundRect">
            <a:avLst>
              <a:gd name="adj" fmla="val 3333"/>
            </a:avLst>
          </a:prstGeom>
          <a:solidFill>
            <a:srgbClr val="1C2447"/>
          </a:solidFill>
          <a:ln w="15875">
            <a:solidFill>
              <a:srgbClr val="F5A623"/>
            </a:solidFill>
            <a:prstDash val="solid"/>
          </a:ln>
        </p:spPr>
      </p:sp>
      <p:sp>
        <p:nvSpPr>
          <p:cNvPr id="23" name="gateT"/>
          <p:cNvSpPr txBox="1"/>
          <p:nvPr/>
        </p:nvSpPr>
        <p:spPr>
          <a:xfrm>
            <a:off x="6537960" y="2212848"/>
            <a:ext cx="4892040" cy="3063240"/>
          </a:xfrm>
          <a:prstGeom prst="rect">
            <a:avLst/>
          </a:prstGeom>
          <a:noFill/>
          <a:ln/>
        </p:spPr>
        <p:txBody>
          <a:bodyPr wrap="square" lIns="0" tIns="0" rIns="0" bIns="0" rtlCol="0" anchor="t"/>
          <a:lstStyle/>
          <a:p>
            <a:pPr indent="0" marL="0">
              <a:spcAft>
                <a:spcPts val="200"/>
              </a:spcAft>
              <a:buNone/>
            </a:pPr>
            <a:r>
              <a:rPr lang="en-US" sz="1050" b="1" spc="200" kern="0" dirty="0">
                <a:solidFill>
                  <a:srgbClr val="F5A623"/>
                </a:solidFill>
                <a:latin typeface="Calibri" pitchFamily="34" charset="0"/>
                <a:ea typeface="Calibri" pitchFamily="34" charset="-122"/>
                <a:cs typeface="Calibri" pitchFamily="34" charset="-120"/>
              </a:rPr>
              <a:t>WHY IT’S AN OPTION, NOT THE ANCHOR</a:t>
            </a:r>
            <a:endParaRPr lang="en-US" sz="1050" dirty="0"/>
          </a:p>
          <a:p>
            <a:pPr indent="0" marL="0">
              <a:spcBef>
                <a:spcPts val="1400"/>
              </a:spcBef>
              <a:spcAft>
                <a:spcPts val="200"/>
              </a:spcAft>
              <a:buNone/>
            </a:pPr>
            <a:r>
              <a:rPr lang="en-US" sz="1600" b="1" dirty="0">
                <a:solidFill>
                  <a:srgbClr val="FFFFFF"/>
                </a:solidFill>
                <a:latin typeface="Calibri" pitchFamily="34" charset="0"/>
                <a:ea typeface="Calibri" pitchFamily="34" charset="-122"/>
                <a:cs typeface="Calibri" pitchFamily="34" charset="-120"/>
              </a:rPr>
              <a:t>Only after the accuracy and actuarial gates</a:t>
            </a:r>
            <a:endParaRPr lang="en-US" sz="1050" dirty="0"/>
          </a:p>
          <a:p>
            <a:pPr indent="0" marL="0">
              <a:spcAft>
                <a:spcPts val="200"/>
              </a:spcAft>
              <a:buNone/>
            </a:pPr>
            <a:r>
              <a:rPr lang="en-US" sz="1350" dirty="0">
                <a:solidFill>
                  <a:srgbClr val="B9C2D8"/>
                </a:solidFill>
                <a:latin typeface="Calibri" pitchFamily="34" charset="0"/>
                <a:ea typeface="Calibri" pitchFamily="34" charset="-122"/>
                <a:cs typeface="Calibri" pitchFamily="34" charset="-120"/>
              </a:rPr>
              <a:t>shadow payouts until then</a:t>
            </a:r>
            <a:endParaRPr lang="en-US" sz="1050" dirty="0"/>
          </a:p>
          <a:p>
            <a:pPr indent="0" marL="0">
              <a:spcBef>
                <a:spcPts val="1400"/>
              </a:spcBef>
              <a:spcAft>
                <a:spcPts val="200"/>
              </a:spcAft>
              <a:buNone/>
            </a:pPr>
            <a:r>
              <a:rPr lang="en-US" sz="1600" b="1" dirty="0">
                <a:solidFill>
                  <a:srgbClr val="FFFFFF"/>
                </a:solidFill>
                <a:latin typeface="Calibri" pitchFamily="34" charset="0"/>
                <a:ea typeface="Calibri" pitchFamily="34" charset="-122"/>
                <a:cs typeface="Calibri" pitchFamily="34" charset="-120"/>
              </a:rPr>
              <a:t>Who pays is still unproven</a:t>
            </a:r>
            <a:endParaRPr lang="en-US" sz="1050" dirty="0"/>
          </a:p>
          <a:p>
            <a:pPr indent="0" marL="0">
              <a:spcAft>
                <a:spcPts val="200"/>
              </a:spcAft>
              <a:buNone/>
            </a:pPr>
            <a:r>
              <a:rPr lang="en-US" sz="1350" dirty="0">
                <a:solidFill>
                  <a:srgbClr val="B9C2D8"/>
                </a:solidFill>
                <a:latin typeface="Calibri" pitchFamily="34" charset="0"/>
                <a:ea typeface="Calibri" pitchFamily="34" charset="-122"/>
                <a:cs typeface="Calibri" pitchFamily="34" charset="-120"/>
              </a:rPr>
              <a:t>platform, co-funded or individual: the pilot tests it</a:t>
            </a:r>
            <a:endParaRPr lang="en-US" sz="1050" dirty="0"/>
          </a:p>
          <a:p>
            <a:pPr indent="0" marL="0">
              <a:spcBef>
                <a:spcPts val="1400"/>
              </a:spcBef>
              <a:spcAft>
                <a:spcPts val="200"/>
              </a:spcAft>
              <a:buNone/>
            </a:pPr>
            <a:r>
              <a:rPr lang="en-US" sz="1600" b="1" dirty="0">
                <a:solidFill>
                  <a:srgbClr val="FFFFFF"/>
                </a:solidFill>
                <a:latin typeface="Calibri" pitchFamily="34" charset="0"/>
                <a:ea typeface="Calibri" pitchFamily="34" charset="-122"/>
                <a:cs typeface="Calibri" pitchFamily="34" charset="-120"/>
              </a:rPr>
              <a:t>A licensed insurer carries the risk</a:t>
            </a:r>
            <a:endParaRPr lang="en-US" sz="1050" dirty="0"/>
          </a:p>
          <a:p>
            <a:pPr indent="0" marL="0">
              <a:spcAft>
                <a:spcPts val="200"/>
              </a:spcAft>
              <a:buNone/>
            </a:pPr>
            <a:r>
              <a:rPr lang="en-US" sz="1350" dirty="0">
                <a:solidFill>
                  <a:srgbClr val="B9C2D8"/>
                </a:solidFill>
                <a:latin typeface="Calibri" pitchFamily="34" charset="0"/>
                <a:ea typeface="Calibri" pitchFamily="34" charset="-122"/>
                <a:cs typeface="Calibri" pitchFamily="34" charset="-120"/>
              </a:rPr>
              <a:t>never Jio</a:t>
            </a:r>
            <a:endParaRPr lang="en-US" sz="1050" dirty="0"/>
          </a:p>
          <a:p>
            <a:pPr indent="0" marL="0">
              <a:spcBef>
                <a:spcPts val="1400"/>
              </a:spcBef>
              <a:spcAft>
                <a:spcPts val="200"/>
              </a:spcAft>
              <a:buNone/>
            </a:pPr>
            <a:r>
              <a:rPr lang="en-US" sz="1600" b="1" dirty="0">
                <a:solidFill>
                  <a:srgbClr val="FFFFFF"/>
                </a:solidFill>
                <a:latin typeface="Calibri" pitchFamily="34" charset="0"/>
                <a:ea typeface="Calibri" pitchFamily="34" charset="-122"/>
                <a:cs typeface="Calibri" pitchFamily="34" charset="-120"/>
              </a:rPr>
              <a:t>If it doesn’t work, nothing breaks</a:t>
            </a:r>
            <a:endParaRPr lang="en-US" sz="1050" dirty="0"/>
          </a:p>
          <a:p>
            <a:pPr indent="0" marL="0">
              <a:spcAft>
                <a:spcPts val="200"/>
              </a:spcAft>
              <a:buNone/>
            </a:pPr>
            <a:r>
              <a:rPr lang="en-US" sz="1350" dirty="0">
                <a:solidFill>
                  <a:srgbClr val="B9C2D8"/>
                </a:solidFill>
                <a:latin typeface="Calibri" pitchFamily="34" charset="0"/>
                <a:ea typeface="Calibri" pitchFamily="34" charset="-122"/>
                <a:cs typeface="Calibri" pitchFamily="34" charset="-120"/>
              </a:rPr>
              <a:t>the intelligence business is untouched</a:t>
            </a:r>
            <a:endParaRPr lang="en-US" sz="1050" dirty="0"/>
          </a:p>
        </p:txBody>
      </p:sp>
      <p:sp>
        <p:nvSpPr>
          <p:cNvPr id="24" name="takeaway"/>
          <p:cNvSpPr txBox="1"/>
          <p:nvPr/>
        </p:nvSpPr>
        <p:spPr>
          <a:xfrm>
            <a:off x="548640" y="5943600"/>
            <a:ext cx="11094415" cy="457200"/>
          </a:xfrm>
          <a:prstGeom prst="rect">
            <a:avLst/>
          </a:prstGeom>
          <a:noFill/>
          <a:ln/>
        </p:spPr>
        <p:txBody>
          <a:bodyPr wrap="square" lIns="0" tIns="0" rIns="0" bIns="0" rtlCol="0" anchor="t"/>
          <a:lstStyle/>
          <a:p>
            <a:pPr indent="0" marL="0">
              <a:buNone/>
            </a:pPr>
            <a:r>
              <a:rPr lang="en-US" sz="1800" b="1" i="1" dirty="0">
                <a:solidFill>
                  <a:srgbClr val="F5A623"/>
                </a:solidFill>
                <a:latin typeface="Cambria" pitchFamily="34" charset="0"/>
                <a:ea typeface="Cambria" pitchFamily="34" charset="-122"/>
                <a:cs typeface="Cambria" pitchFamily="34" charset="-120"/>
              </a:rPr>
              <a:t>High impact if it works. Zero damage if it doesn’t.</a:t>
            </a:r>
            <a:endParaRPr lang="en-US" sz="18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10"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00"/>
                                        <p:tgtEl>
                                          <p:spTgt spid="4"/>
                                        </p:tgtEl>
                                      </p:cBhvr>
                                    </p:animEffect>
                                  </p:childTnLst>
                                </p:cTn>
                              </p:par>
                              <p:par>
                                <p:cTn id="7" presetID="42" presetClass="entr" presetSubtype="0" fill="hold" grpId="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650"/>
                                        <p:tgtEl>
                                          <p:spTgt spid="5"/>
                                        </p:tgtEl>
                                      </p:cBhvr>
                                    </p:animEffect>
                                    <p:anim calcmode="lin" valueType="num">
                                      <p:cBhvr>
                                        <p:cTn id="10" dur="650" fill="hold"/>
                                        <p:tgtEl>
                                          <p:spTgt spid="5"/>
                                        </p:tgtEl>
                                        <p:attrNameLst>
                                          <p:attrName>ppt_x</p:attrName>
                                        </p:attrNameLst>
                                      </p:cBhvr>
                                      <p:tavLst>
                                        <p:tav tm="0">
                                          <p:val>
                                            <p:strVal val="#ppt_x"/>
                                          </p:val>
                                        </p:tav>
                                        <p:tav tm="100000">
                                          <p:val>
                                            <p:strVal val="#ppt_x"/>
                                          </p:val>
                                        </p:tav>
                                      </p:tavLst>
                                    </p:anim>
                                    <p:anim calcmode="lin" valueType="num">
                                      <p:cBhvr>
                                        <p:cTn id="11" dur="65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750"/>
                            </p:stCondLst>
                            <p:childTnLst>
                              <p:par>
                                <p:cTn id="13" presetID="42" presetClass="entr" presetSubtype="0" fill="hold" grpId="0" nodeType="afterEffect">
                                  <p:stCondLst>
                                    <p:cond delay="4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anim calcmode="lin" valueType="num">
                                      <p:cBhvr>
                                        <p:cTn id="16" dur="400" fill="hold"/>
                                        <p:tgtEl>
                                          <p:spTgt spid="6"/>
                                        </p:tgtEl>
                                        <p:attrNameLst>
                                          <p:attrName>ppt_x</p:attrName>
                                        </p:attrNameLst>
                                      </p:cBhvr>
                                      <p:tavLst>
                                        <p:tav tm="0">
                                          <p:val>
                                            <p:strVal val="#ppt_x"/>
                                          </p:val>
                                        </p:tav>
                                        <p:tav tm="100000">
                                          <p:val>
                                            <p:strVal val="#ppt_x"/>
                                          </p:val>
                                        </p:tav>
                                      </p:tavLst>
                                    </p:anim>
                                    <p:anim calcmode="lin" valueType="num">
                                      <p:cBhvr>
                                        <p:cTn id="17" dur="400" fill="hold"/>
                                        <p:tgtEl>
                                          <p:spTgt spid="6"/>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00"/>
                                        <p:tgtEl>
                                          <p:spTgt spid="7"/>
                                        </p:tgtEl>
                                      </p:cBhvr>
                                    </p:animEffect>
                                    <p:anim calcmode="lin" valueType="num">
                                      <p:cBhvr>
                                        <p:cTn id="21" dur="400" fill="hold"/>
                                        <p:tgtEl>
                                          <p:spTgt spid="7"/>
                                        </p:tgtEl>
                                        <p:attrNameLst>
                                          <p:attrName>ppt_x</p:attrName>
                                        </p:attrNameLst>
                                      </p:cBhvr>
                                      <p:tavLst>
                                        <p:tav tm="0">
                                          <p:val>
                                            <p:strVal val="#ppt_x"/>
                                          </p:val>
                                        </p:tav>
                                        <p:tav tm="100000">
                                          <p:val>
                                            <p:strVal val="#ppt_x"/>
                                          </p:val>
                                        </p:tav>
                                      </p:tavLst>
                                    </p:anim>
                                    <p:anim calcmode="lin" valueType="num">
                                      <p:cBhvr>
                                        <p:cTn id="22" dur="400" fill="hold"/>
                                        <p:tgtEl>
                                          <p:spTgt spid="7"/>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00"/>
                                        <p:tgtEl>
                                          <p:spTgt spid="8"/>
                                        </p:tgtEl>
                                      </p:cBhvr>
                                    </p:animEffect>
                                    <p:anim calcmode="lin" valueType="num">
                                      <p:cBhvr>
                                        <p:cTn id="26" dur="400" fill="hold"/>
                                        <p:tgtEl>
                                          <p:spTgt spid="8"/>
                                        </p:tgtEl>
                                        <p:attrNameLst>
                                          <p:attrName>ppt_x</p:attrName>
                                        </p:attrNameLst>
                                      </p:cBhvr>
                                      <p:tavLst>
                                        <p:tav tm="0">
                                          <p:val>
                                            <p:strVal val="#ppt_x"/>
                                          </p:val>
                                        </p:tav>
                                        <p:tav tm="100000">
                                          <p:val>
                                            <p:strVal val="#ppt_x"/>
                                          </p:val>
                                        </p:tav>
                                      </p:tavLst>
                                    </p:anim>
                                    <p:anim calcmode="lin" valueType="num">
                                      <p:cBhvr>
                                        <p:cTn id="27" dur="400" fill="hold"/>
                                        <p:tgtEl>
                                          <p:spTgt spid="8"/>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400"/>
                                        <p:tgtEl>
                                          <p:spTgt spid="9"/>
                                        </p:tgtEl>
                                      </p:cBhvr>
                                    </p:animEffect>
                                    <p:anim calcmode="lin" valueType="num">
                                      <p:cBhvr>
                                        <p:cTn id="31" dur="400" fill="hold"/>
                                        <p:tgtEl>
                                          <p:spTgt spid="9"/>
                                        </p:tgtEl>
                                        <p:attrNameLst>
                                          <p:attrName>ppt_x</p:attrName>
                                        </p:attrNameLst>
                                      </p:cBhvr>
                                      <p:tavLst>
                                        <p:tav tm="0">
                                          <p:val>
                                            <p:strVal val="#ppt_x"/>
                                          </p:val>
                                        </p:tav>
                                        <p:tav tm="100000">
                                          <p:val>
                                            <p:strVal val="#ppt_x"/>
                                          </p:val>
                                        </p:tav>
                                      </p:tavLst>
                                    </p:anim>
                                    <p:anim calcmode="lin" valueType="num">
                                      <p:cBhvr>
                                        <p:cTn id="32" dur="400" fill="hold"/>
                                        <p:tgtEl>
                                          <p:spTgt spid="9"/>
                                        </p:tgtEl>
                                        <p:attrNameLst>
                                          <p:attrName>ppt_y</p:attrName>
                                        </p:attrNameLst>
                                      </p:cBhvr>
                                      <p:tavLst>
                                        <p:tav tm="0">
                                          <p:val>
                                            <p:strVal val="#ppt_y+.06"/>
                                          </p:val>
                                        </p:tav>
                                        <p:tav tm="100000">
                                          <p:val>
                                            <p:strVal val="#ppt_y"/>
                                          </p:val>
                                        </p:tav>
                                      </p:tavLst>
                                    </p:anim>
                                  </p:childTnLst>
                                </p:cTn>
                              </p:par>
                            </p:childTnLst>
                          </p:cTn>
                        </p:par>
                        <p:par>
                          <p:cTn id="33" fill="hold">
                            <p:stCondLst>
                              <p:cond delay="1190"/>
                            </p:stCondLst>
                            <p:childTnLst>
                              <p:par>
                                <p:cTn id="34" presetID="42" presetClass="entr" presetSubtype="0" fill="hold" grpId="0" nodeType="afterEffect">
                                  <p:stCondLst>
                                    <p:cond delay="4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400"/>
                                        <p:tgtEl>
                                          <p:spTgt spid="10"/>
                                        </p:tgtEl>
                                      </p:cBhvr>
                                    </p:animEffect>
                                    <p:anim calcmode="lin" valueType="num">
                                      <p:cBhvr>
                                        <p:cTn id="37" dur="400" fill="hold"/>
                                        <p:tgtEl>
                                          <p:spTgt spid="10"/>
                                        </p:tgtEl>
                                        <p:attrNameLst>
                                          <p:attrName>ppt_x</p:attrName>
                                        </p:attrNameLst>
                                      </p:cBhvr>
                                      <p:tavLst>
                                        <p:tav tm="0">
                                          <p:val>
                                            <p:strVal val="#ppt_x"/>
                                          </p:val>
                                        </p:tav>
                                        <p:tav tm="100000">
                                          <p:val>
                                            <p:strVal val="#ppt_x"/>
                                          </p:val>
                                        </p:tav>
                                      </p:tavLst>
                                    </p:anim>
                                    <p:anim calcmode="lin" valueType="num">
                                      <p:cBhvr>
                                        <p:cTn id="38" dur="400" fill="hold"/>
                                        <p:tgtEl>
                                          <p:spTgt spid="10"/>
                                        </p:tgtEl>
                                        <p:attrNameLst>
                                          <p:attrName>ppt_y</p:attrName>
                                        </p:attrNameLst>
                                      </p:cBhvr>
                                      <p:tavLst>
                                        <p:tav tm="0">
                                          <p:val>
                                            <p:strVal val="#ppt_y+.06"/>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400"/>
                                        <p:tgtEl>
                                          <p:spTgt spid="11"/>
                                        </p:tgtEl>
                                      </p:cBhvr>
                                    </p:animEffect>
                                    <p:anim calcmode="lin" valueType="num">
                                      <p:cBhvr>
                                        <p:cTn id="42" dur="400" fill="hold"/>
                                        <p:tgtEl>
                                          <p:spTgt spid="11"/>
                                        </p:tgtEl>
                                        <p:attrNameLst>
                                          <p:attrName>ppt_x</p:attrName>
                                        </p:attrNameLst>
                                      </p:cBhvr>
                                      <p:tavLst>
                                        <p:tav tm="0">
                                          <p:val>
                                            <p:strVal val="#ppt_x"/>
                                          </p:val>
                                        </p:tav>
                                        <p:tav tm="100000">
                                          <p:val>
                                            <p:strVal val="#ppt_x"/>
                                          </p:val>
                                        </p:tav>
                                      </p:tavLst>
                                    </p:anim>
                                    <p:anim calcmode="lin" valueType="num">
                                      <p:cBhvr>
                                        <p:cTn id="43" dur="400" fill="hold"/>
                                        <p:tgtEl>
                                          <p:spTgt spid="11"/>
                                        </p:tgtEl>
                                        <p:attrNameLst>
                                          <p:attrName>ppt_y</p:attrName>
                                        </p:attrNameLst>
                                      </p:cBhvr>
                                      <p:tavLst>
                                        <p:tav tm="0">
                                          <p:val>
                                            <p:strVal val="#ppt_y+.06"/>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400"/>
                                        <p:tgtEl>
                                          <p:spTgt spid="12"/>
                                        </p:tgtEl>
                                      </p:cBhvr>
                                    </p:animEffect>
                                    <p:anim calcmode="lin" valueType="num">
                                      <p:cBhvr>
                                        <p:cTn id="47" dur="400" fill="hold"/>
                                        <p:tgtEl>
                                          <p:spTgt spid="12"/>
                                        </p:tgtEl>
                                        <p:attrNameLst>
                                          <p:attrName>ppt_x</p:attrName>
                                        </p:attrNameLst>
                                      </p:cBhvr>
                                      <p:tavLst>
                                        <p:tav tm="0">
                                          <p:val>
                                            <p:strVal val="#ppt_x"/>
                                          </p:val>
                                        </p:tav>
                                        <p:tav tm="100000">
                                          <p:val>
                                            <p:strVal val="#ppt_x"/>
                                          </p:val>
                                        </p:tav>
                                      </p:tavLst>
                                    </p:anim>
                                    <p:anim calcmode="lin" valueType="num">
                                      <p:cBhvr>
                                        <p:cTn id="48" dur="400" fill="hold"/>
                                        <p:tgtEl>
                                          <p:spTgt spid="12"/>
                                        </p:tgtEl>
                                        <p:attrNameLst>
                                          <p:attrName>ppt_y</p:attrName>
                                        </p:attrNameLst>
                                      </p:cBhvr>
                                      <p:tavLst>
                                        <p:tav tm="0">
                                          <p:val>
                                            <p:strVal val="#ppt_y+.06"/>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400"/>
                                        <p:tgtEl>
                                          <p:spTgt spid="13"/>
                                        </p:tgtEl>
                                      </p:cBhvr>
                                    </p:animEffect>
                                    <p:anim calcmode="lin" valueType="num">
                                      <p:cBhvr>
                                        <p:cTn id="52" dur="400" fill="hold"/>
                                        <p:tgtEl>
                                          <p:spTgt spid="13"/>
                                        </p:tgtEl>
                                        <p:attrNameLst>
                                          <p:attrName>ppt_x</p:attrName>
                                        </p:attrNameLst>
                                      </p:cBhvr>
                                      <p:tavLst>
                                        <p:tav tm="0">
                                          <p:val>
                                            <p:strVal val="#ppt_x"/>
                                          </p:val>
                                        </p:tav>
                                        <p:tav tm="100000">
                                          <p:val>
                                            <p:strVal val="#ppt_x"/>
                                          </p:val>
                                        </p:tav>
                                      </p:tavLst>
                                    </p:anim>
                                    <p:anim calcmode="lin" valueType="num">
                                      <p:cBhvr>
                                        <p:cTn id="53" dur="400" fill="hold"/>
                                        <p:tgtEl>
                                          <p:spTgt spid="13"/>
                                        </p:tgtEl>
                                        <p:attrNameLst>
                                          <p:attrName>ppt_y</p:attrName>
                                        </p:attrNameLst>
                                      </p:cBhvr>
                                      <p:tavLst>
                                        <p:tav tm="0">
                                          <p:val>
                                            <p:strVal val="#ppt_y+.06"/>
                                          </p:val>
                                        </p:tav>
                                        <p:tav tm="100000">
                                          <p:val>
                                            <p:strVal val="#ppt_y"/>
                                          </p:val>
                                        </p:tav>
                                      </p:tavLst>
                                    </p:anim>
                                  </p:childTnLst>
                                </p:cTn>
                              </p:par>
                            </p:childTnLst>
                          </p:cTn>
                        </p:par>
                        <p:par>
                          <p:cTn id="54" fill="hold">
                            <p:stCondLst>
                              <p:cond delay="1630"/>
                            </p:stCondLst>
                            <p:childTnLst>
                              <p:par>
                                <p:cTn id="55" presetID="42" presetClass="entr" presetSubtype="0" fill="hold" grpId="0" nodeType="afterEffect">
                                  <p:stCondLst>
                                    <p:cond delay="4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400"/>
                                        <p:tgtEl>
                                          <p:spTgt spid="14"/>
                                        </p:tgtEl>
                                      </p:cBhvr>
                                    </p:animEffect>
                                    <p:anim calcmode="lin" valueType="num">
                                      <p:cBhvr>
                                        <p:cTn id="58" dur="400" fill="hold"/>
                                        <p:tgtEl>
                                          <p:spTgt spid="14"/>
                                        </p:tgtEl>
                                        <p:attrNameLst>
                                          <p:attrName>ppt_x</p:attrName>
                                        </p:attrNameLst>
                                      </p:cBhvr>
                                      <p:tavLst>
                                        <p:tav tm="0">
                                          <p:val>
                                            <p:strVal val="#ppt_x"/>
                                          </p:val>
                                        </p:tav>
                                        <p:tav tm="100000">
                                          <p:val>
                                            <p:strVal val="#ppt_x"/>
                                          </p:val>
                                        </p:tav>
                                      </p:tavLst>
                                    </p:anim>
                                    <p:anim calcmode="lin" valueType="num">
                                      <p:cBhvr>
                                        <p:cTn id="59" dur="400" fill="hold"/>
                                        <p:tgtEl>
                                          <p:spTgt spid="14"/>
                                        </p:tgtEl>
                                        <p:attrNameLst>
                                          <p:attrName>ppt_y</p:attrName>
                                        </p:attrNameLst>
                                      </p:cBhvr>
                                      <p:tavLst>
                                        <p:tav tm="0">
                                          <p:val>
                                            <p:strVal val="#ppt_y+.06"/>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400"/>
                                        <p:tgtEl>
                                          <p:spTgt spid="15"/>
                                        </p:tgtEl>
                                      </p:cBhvr>
                                    </p:animEffect>
                                    <p:anim calcmode="lin" valueType="num">
                                      <p:cBhvr>
                                        <p:cTn id="63" dur="400" fill="hold"/>
                                        <p:tgtEl>
                                          <p:spTgt spid="15"/>
                                        </p:tgtEl>
                                        <p:attrNameLst>
                                          <p:attrName>ppt_x</p:attrName>
                                        </p:attrNameLst>
                                      </p:cBhvr>
                                      <p:tavLst>
                                        <p:tav tm="0">
                                          <p:val>
                                            <p:strVal val="#ppt_x"/>
                                          </p:val>
                                        </p:tav>
                                        <p:tav tm="100000">
                                          <p:val>
                                            <p:strVal val="#ppt_x"/>
                                          </p:val>
                                        </p:tav>
                                      </p:tavLst>
                                    </p:anim>
                                    <p:anim calcmode="lin" valueType="num">
                                      <p:cBhvr>
                                        <p:cTn id="64" dur="400" fill="hold"/>
                                        <p:tgtEl>
                                          <p:spTgt spid="15"/>
                                        </p:tgtEl>
                                        <p:attrNameLst>
                                          <p:attrName>ppt_y</p:attrName>
                                        </p:attrNameLst>
                                      </p:cBhvr>
                                      <p:tavLst>
                                        <p:tav tm="0">
                                          <p:val>
                                            <p:strVal val="#ppt_y+.06"/>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400"/>
                                        <p:tgtEl>
                                          <p:spTgt spid="16"/>
                                        </p:tgtEl>
                                      </p:cBhvr>
                                    </p:animEffect>
                                    <p:anim calcmode="lin" valueType="num">
                                      <p:cBhvr>
                                        <p:cTn id="68" dur="400" fill="hold"/>
                                        <p:tgtEl>
                                          <p:spTgt spid="16"/>
                                        </p:tgtEl>
                                        <p:attrNameLst>
                                          <p:attrName>ppt_x</p:attrName>
                                        </p:attrNameLst>
                                      </p:cBhvr>
                                      <p:tavLst>
                                        <p:tav tm="0">
                                          <p:val>
                                            <p:strVal val="#ppt_x"/>
                                          </p:val>
                                        </p:tav>
                                        <p:tav tm="100000">
                                          <p:val>
                                            <p:strVal val="#ppt_x"/>
                                          </p:val>
                                        </p:tav>
                                      </p:tavLst>
                                    </p:anim>
                                    <p:anim calcmode="lin" valueType="num">
                                      <p:cBhvr>
                                        <p:cTn id="69" dur="400" fill="hold"/>
                                        <p:tgtEl>
                                          <p:spTgt spid="16"/>
                                        </p:tgtEl>
                                        <p:attrNameLst>
                                          <p:attrName>ppt_y</p:attrName>
                                        </p:attrNameLst>
                                      </p:cBhvr>
                                      <p:tavLst>
                                        <p:tav tm="0">
                                          <p:val>
                                            <p:strVal val="#ppt_y+.06"/>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400"/>
                                        <p:tgtEl>
                                          <p:spTgt spid="17"/>
                                        </p:tgtEl>
                                      </p:cBhvr>
                                    </p:animEffect>
                                    <p:anim calcmode="lin" valueType="num">
                                      <p:cBhvr>
                                        <p:cTn id="73" dur="400" fill="hold"/>
                                        <p:tgtEl>
                                          <p:spTgt spid="17"/>
                                        </p:tgtEl>
                                        <p:attrNameLst>
                                          <p:attrName>ppt_x</p:attrName>
                                        </p:attrNameLst>
                                      </p:cBhvr>
                                      <p:tavLst>
                                        <p:tav tm="0">
                                          <p:val>
                                            <p:strVal val="#ppt_x"/>
                                          </p:val>
                                        </p:tav>
                                        <p:tav tm="100000">
                                          <p:val>
                                            <p:strVal val="#ppt_x"/>
                                          </p:val>
                                        </p:tav>
                                      </p:tavLst>
                                    </p:anim>
                                    <p:anim calcmode="lin" valueType="num">
                                      <p:cBhvr>
                                        <p:cTn id="74" dur="400" fill="hold"/>
                                        <p:tgtEl>
                                          <p:spTgt spid="17"/>
                                        </p:tgtEl>
                                        <p:attrNameLst>
                                          <p:attrName>ppt_y</p:attrName>
                                        </p:attrNameLst>
                                      </p:cBhvr>
                                      <p:tavLst>
                                        <p:tav tm="0">
                                          <p:val>
                                            <p:strVal val="#ppt_y+.06"/>
                                          </p:val>
                                        </p:tav>
                                        <p:tav tm="100000">
                                          <p:val>
                                            <p:strVal val="#ppt_y"/>
                                          </p:val>
                                        </p:tav>
                                      </p:tavLst>
                                    </p:anim>
                                  </p:childTnLst>
                                </p:cTn>
                              </p:par>
                            </p:childTnLst>
                          </p:cTn>
                        </p:par>
                        <p:par>
                          <p:cTn id="75" fill="hold">
                            <p:stCondLst>
                              <p:cond delay="2070"/>
                            </p:stCondLst>
                            <p:childTnLst>
                              <p:par>
                                <p:cTn id="76" presetID="42" presetClass="entr" presetSubtype="0" fill="hold" grpId="0" nodeType="afterEffect">
                                  <p:stCondLst>
                                    <p:cond delay="4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400"/>
                                        <p:tgtEl>
                                          <p:spTgt spid="18"/>
                                        </p:tgtEl>
                                      </p:cBhvr>
                                    </p:animEffect>
                                    <p:anim calcmode="lin" valueType="num">
                                      <p:cBhvr>
                                        <p:cTn id="79" dur="400" fill="hold"/>
                                        <p:tgtEl>
                                          <p:spTgt spid="18"/>
                                        </p:tgtEl>
                                        <p:attrNameLst>
                                          <p:attrName>ppt_x</p:attrName>
                                        </p:attrNameLst>
                                      </p:cBhvr>
                                      <p:tavLst>
                                        <p:tav tm="0">
                                          <p:val>
                                            <p:strVal val="#ppt_x"/>
                                          </p:val>
                                        </p:tav>
                                        <p:tav tm="100000">
                                          <p:val>
                                            <p:strVal val="#ppt_x"/>
                                          </p:val>
                                        </p:tav>
                                      </p:tavLst>
                                    </p:anim>
                                    <p:anim calcmode="lin" valueType="num">
                                      <p:cBhvr>
                                        <p:cTn id="80" dur="400" fill="hold"/>
                                        <p:tgtEl>
                                          <p:spTgt spid="18"/>
                                        </p:tgtEl>
                                        <p:attrNameLst>
                                          <p:attrName>ppt_y</p:attrName>
                                        </p:attrNameLst>
                                      </p:cBhvr>
                                      <p:tavLst>
                                        <p:tav tm="0">
                                          <p:val>
                                            <p:strVal val="#ppt_y+.06"/>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19"/>
                                        </p:tgtEl>
                                        <p:attrNameLst>
                                          <p:attrName>style.visibility</p:attrName>
                                        </p:attrNameLst>
                                      </p:cBhvr>
                                      <p:to>
                                        <p:strVal val="visible"/>
                                      </p:to>
                                    </p:set>
                                    <p:animEffect transition="in" filter="fade">
                                      <p:cBhvr>
                                        <p:cTn id="83" dur="400"/>
                                        <p:tgtEl>
                                          <p:spTgt spid="19"/>
                                        </p:tgtEl>
                                      </p:cBhvr>
                                    </p:animEffect>
                                    <p:anim calcmode="lin" valueType="num">
                                      <p:cBhvr>
                                        <p:cTn id="84" dur="400" fill="hold"/>
                                        <p:tgtEl>
                                          <p:spTgt spid="19"/>
                                        </p:tgtEl>
                                        <p:attrNameLst>
                                          <p:attrName>ppt_x</p:attrName>
                                        </p:attrNameLst>
                                      </p:cBhvr>
                                      <p:tavLst>
                                        <p:tav tm="0">
                                          <p:val>
                                            <p:strVal val="#ppt_x"/>
                                          </p:val>
                                        </p:tav>
                                        <p:tav tm="100000">
                                          <p:val>
                                            <p:strVal val="#ppt_x"/>
                                          </p:val>
                                        </p:tav>
                                      </p:tavLst>
                                    </p:anim>
                                    <p:anim calcmode="lin" valueType="num">
                                      <p:cBhvr>
                                        <p:cTn id="85" dur="400" fill="hold"/>
                                        <p:tgtEl>
                                          <p:spTgt spid="19"/>
                                        </p:tgtEl>
                                        <p:attrNameLst>
                                          <p:attrName>ppt_y</p:attrName>
                                        </p:attrNameLst>
                                      </p:cBhvr>
                                      <p:tavLst>
                                        <p:tav tm="0">
                                          <p:val>
                                            <p:strVal val="#ppt_y+.06"/>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20"/>
                                        </p:tgtEl>
                                        <p:attrNameLst>
                                          <p:attrName>style.visibility</p:attrName>
                                        </p:attrNameLst>
                                      </p:cBhvr>
                                      <p:to>
                                        <p:strVal val="visible"/>
                                      </p:to>
                                    </p:set>
                                    <p:animEffect transition="in" filter="fade">
                                      <p:cBhvr>
                                        <p:cTn id="88" dur="400"/>
                                        <p:tgtEl>
                                          <p:spTgt spid="20"/>
                                        </p:tgtEl>
                                      </p:cBhvr>
                                    </p:animEffect>
                                    <p:anim calcmode="lin" valueType="num">
                                      <p:cBhvr>
                                        <p:cTn id="89" dur="400" fill="hold"/>
                                        <p:tgtEl>
                                          <p:spTgt spid="20"/>
                                        </p:tgtEl>
                                        <p:attrNameLst>
                                          <p:attrName>ppt_x</p:attrName>
                                        </p:attrNameLst>
                                      </p:cBhvr>
                                      <p:tavLst>
                                        <p:tav tm="0">
                                          <p:val>
                                            <p:strVal val="#ppt_x"/>
                                          </p:val>
                                        </p:tav>
                                        <p:tav tm="100000">
                                          <p:val>
                                            <p:strVal val="#ppt_x"/>
                                          </p:val>
                                        </p:tav>
                                      </p:tavLst>
                                    </p:anim>
                                    <p:anim calcmode="lin" valueType="num">
                                      <p:cBhvr>
                                        <p:cTn id="90" dur="400" fill="hold"/>
                                        <p:tgtEl>
                                          <p:spTgt spid="20"/>
                                        </p:tgtEl>
                                        <p:attrNameLst>
                                          <p:attrName>ppt_y</p:attrName>
                                        </p:attrNameLst>
                                      </p:cBhvr>
                                      <p:tavLst>
                                        <p:tav tm="0">
                                          <p:val>
                                            <p:strVal val="#ppt_y+.06"/>
                                          </p:val>
                                        </p:tav>
                                        <p:tav tm="100000">
                                          <p:val>
                                            <p:strVal val="#ppt_y"/>
                                          </p:val>
                                        </p:tav>
                                      </p:tavLst>
                                    </p:anim>
                                  </p:childTnLst>
                                </p:cTn>
                              </p:par>
                            </p:childTnLst>
                          </p:cTn>
                        </p:par>
                        <p:par>
                          <p:cTn id="91" fill="hold">
                            <p:stCondLst>
                              <p:cond delay="2510"/>
                            </p:stCondLst>
                            <p:childTnLst>
                              <p:par>
                                <p:cTn id="92" presetID="10" presetClass="entr" presetSubtype="0" fill="hold" grpId="0" nodeType="afterEffect">
                                  <p:stCondLst>
                                    <p:cond delay="0"/>
                                  </p:stCondLst>
                                  <p:childTnLst>
                                    <p:set>
                                      <p:cBhvr>
                                        <p:cTn id="93" dur="1" fill="hold">
                                          <p:stCondLst>
                                            <p:cond delay="0"/>
                                          </p:stCondLst>
                                        </p:cTn>
                                        <p:tgtEl>
                                          <p:spTgt spid="21"/>
                                        </p:tgtEl>
                                        <p:attrNameLst>
                                          <p:attrName>style.visibility</p:attrName>
                                        </p:attrNameLst>
                                      </p:cBhvr>
                                      <p:to>
                                        <p:strVal val="visible"/>
                                      </p:to>
                                    </p:set>
                                    <p:animEffect transition="in" filter="fade">
                                      <p:cBhvr>
                                        <p:cTn id="94" dur="400"/>
                                        <p:tgtEl>
                                          <p:spTgt spid="21"/>
                                        </p:tgtEl>
                                      </p:cBhvr>
                                    </p:animEffect>
                                  </p:childTnLst>
                                </p:cTn>
                              </p:par>
                            </p:childTnLst>
                          </p:cTn>
                        </p:par>
                        <p:par>
                          <p:cTn id="95" fill="hold">
                            <p:stCondLst>
                              <p:cond delay="2910"/>
                            </p:stCondLst>
                            <p:childTnLst>
                              <p:par>
                                <p:cTn id="96" presetID="53" presetClass="entr" presetSubtype="16" fill="hold" grpId="0" nodeType="afterEffect">
                                  <p:stCondLst>
                                    <p:cond delay="100"/>
                                  </p:stCondLst>
                                  <p:childTnLst>
                                    <p:set>
                                      <p:cBhvr>
                                        <p:cTn id="97" dur="1" fill="hold">
                                          <p:stCondLst>
                                            <p:cond delay="0"/>
                                          </p:stCondLst>
                                        </p:cTn>
                                        <p:tgtEl>
                                          <p:spTgt spid="22"/>
                                        </p:tgtEl>
                                        <p:attrNameLst>
                                          <p:attrName>style.visibility</p:attrName>
                                        </p:attrNameLst>
                                      </p:cBhvr>
                                      <p:to>
                                        <p:strVal val="visible"/>
                                      </p:to>
                                    </p:set>
                                    <p:anim calcmode="lin" valueType="num">
                                      <p:cBhvr>
                                        <p:cTn id="98" dur="550" fill="hold"/>
                                        <p:tgtEl>
                                          <p:spTgt spid="22"/>
                                        </p:tgtEl>
                                        <p:attrNameLst>
                                          <p:attrName>ppt_w</p:attrName>
                                        </p:attrNameLst>
                                      </p:cBhvr>
                                      <p:tavLst>
                                        <p:tav tm="0">
                                          <p:val>
                                            <p:strVal val="#ppt_w*.82"/>
                                          </p:val>
                                        </p:tav>
                                        <p:tav tm="100000">
                                          <p:val>
                                            <p:strVal val="#ppt_w"/>
                                          </p:val>
                                        </p:tav>
                                      </p:tavLst>
                                    </p:anim>
                                    <p:anim calcmode="lin" valueType="num">
                                      <p:cBhvr>
                                        <p:cTn id="99" dur="550" fill="hold"/>
                                        <p:tgtEl>
                                          <p:spTgt spid="22"/>
                                        </p:tgtEl>
                                        <p:attrNameLst>
                                          <p:attrName>ppt_h</p:attrName>
                                        </p:attrNameLst>
                                      </p:cBhvr>
                                      <p:tavLst>
                                        <p:tav tm="0">
                                          <p:val>
                                            <p:strVal val="#ppt_h*.82"/>
                                          </p:val>
                                        </p:tav>
                                        <p:tav tm="100000">
                                          <p:val>
                                            <p:strVal val="#ppt_h"/>
                                          </p:val>
                                        </p:tav>
                                      </p:tavLst>
                                    </p:anim>
                                    <p:animEffect transition="in" filter="fade">
                                      <p:cBhvr>
                                        <p:cTn id="100" dur="550"/>
                                        <p:tgtEl>
                                          <p:spTgt spid="22"/>
                                        </p:tgtEl>
                                      </p:cBhvr>
                                    </p:animEffect>
                                  </p:childTnLst>
                                </p:cTn>
                              </p:par>
                              <p:par>
                                <p:cTn id="101" presetID="53" presetClass="entr" presetSubtype="16" fill="hold" grpId="0" nodeType="withEffect">
                                  <p:stCondLst>
                                    <p:cond delay="0"/>
                                  </p:stCondLst>
                                  <p:childTnLst>
                                    <p:set>
                                      <p:cBhvr>
                                        <p:cTn id="102" dur="1" fill="hold">
                                          <p:stCondLst>
                                            <p:cond delay="0"/>
                                          </p:stCondLst>
                                        </p:cTn>
                                        <p:tgtEl>
                                          <p:spTgt spid="23"/>
                                        </p:tgtEl>
                                        <p:attrNameLst>
                                          <p:attrName>style.visibility</p:attrName>
                                        </p:attrNameLst>
                                      </p:cBhvr>
                                      <p:to>
                                        <p:strVal val="visible"/>
                                      </p:to>
                                    </p:set>
                                    <p:anim calcmode="lin" valueType="num">
                                      <p:cBhvr>
                                        <p:cTn id="103" dur="550" fill="hold"/>
                                        <p:tgtEl>
                                          <p:spTgt spid="23"/>
                                        </p:tgtEl>
                                        <p:attrNameLst>
                                          <p:attrName>ppt_w</p:attrName>
                                        </p:attrNameLst>
                                      </p:cBhvr>
                                      <p:tavLst>
                                        <p:tav tm="0">
                                          <p:val>
                                            <p:strVal val="#ppt_w*.82"/>
                                          </p:val>
                                        </p:tav>
                                        <p:tav tm="100000">
                                          <p:val>
                                            <p:strVal val="#ppt_w"/>
                                          </p:val>
                                        </p:tav>
                                      </p:tavLst>
                                    </p:anim>
                                    <p:anim calcmode="lin" valueType="num">
                                      <p:cBhvr>
                                        <p:cTn id="104" dur="550" fill="hold"/>
                                        <p:tgtEl>
                                          <p:spTgt spid="23"/>
                                        </p:tgtEl>
                                        <p:attrNameLst>
                                          <p:attrName>ppt_h</p:attrName>
                                        </p:attrNameLst>
                                      </p:cBhvr>
                                      <p:tavLst>
                                        <p:tav tm="0">
                                          <p:val>
                                            <p:strVal val="#ppt_h*.82"/>
                                          </p:val>
                                        </p:tav>
                                        <p:tav tm="100000">
                                          <p:val>
                                            <p:strVal val="#ppt_h"/>
                                          </p:val>
                                        </p:tav>
                                      </p:tavLst>
                                    </p:anim>
                                    <p:animEffect transition="in" filter="fade">
                                      <p:cBhvr>
                                        <p:cTn id="105" dur="550"/>
                                        <p:tgtEl>
                                          <p:spTgt spid="23"/>
                                        </p:tgtEl>
                                      </p:cBhvr>
                                    </p:animEffect>
                                  </p:childTnLst>
                                </p:cTn>
                              </p:par>
                            </p:childTnLst>
                          </p:cTn>
                        </p:par>
                        <p:par>
                          <p:cTn id="106" fill="hold">
                            <p:stCondLst>
                              <p:cond delay="3560"/>
                            </p:stCondLst>
                            <p:childTnLst>
                              <p:par>
                                <p:cTn id="107" presetID="10" presetClass="entr" presetSubtype="0" fill="hold" grpId="0" nodeType="afterEffect">
                                  <p:stCondLst>
                                    <p:cond delay="120"/>
                                  </p:stCondLst>
                                  <p:childTnLst>
                                    <p:set>
                                      <p:cBhvr>
                                        <p:cTn id="108" dur="1" fill="hold">
                                          <p:stCondLst>
                                            <p:cond delay="0"/>
                                          </p:stCondLst>
                                        </p:cTn>
                                        <p:tgtEl>
                                          <p:spTgt spid="24"/>
                                        </p:tgtEl>
                                        <p:attrNameLst>
                                          <p:attrName>style.visibility</p:attrName>
                                        </p:attrNameLst>
                                      </p:cBhvr>
                                      <p:to>
                                        <p:strVal val="visible"/>
                                      </p:to>
                                    </p:set>
                                    <p:animEffect transition="in" filter="fade">
                                      <p:cBhvr>
                                        <p:cTn id="10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8" grpId="0"/>
      <p:bldP spid="9" grpId="0" animBg="1"/>
      <p:bldP spid="10" grpId="0" animBg="1"/>
      <p:bldP spid="12" grpId="0"/>
      <p:bldP spid="13" grpId="0" animBg="1"/>
      <p:bldP spid="14" grpId="0" animBg="1"/>
      <p:bldP spid="16" grpId="0"/>
      <p:bldP spid="17" grpId="0" animBg="1"/>
      <p:bldP spid="18" grpId="0" animBg="1"/>
      <p:bldP spid="20" grpId="0"/>
      <p:bldP spid="21" grpId="0"/>
      <p:bldP spid="22" grpId="0" animBg="1"/>
      <p:bldP spid="23" grpId="0"/>
      <p:bldP spid="24" grpId="0"/>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t"/>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2/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9144000" cy="274320"/>
          </a:xfrm>
          <a:prstGeom prst="rect">
            <a:avLst/>
          </a:prstGeom>
          <a:noFill/>
          <a:ln/>
        </p:spPr>
        <p:txBody>
          <a:bodyPr wrap="square" lIns="0" tIns="0" rIns="0" bIns="0" rtlCol="0" anchor="t"/>
          <a:lstStyle/>
          <a:p>
            <a:pPr indent="0" marL="0">
              <a:buNone/>
            </a:pPr>
            <a:r>
              <a:rPr lang="en-US" sz="1100" b="1" spc="300" kern="0" dirty="0">
                <a:solidFill>
                  <a:srgbClr val="F5A623"/>
                </a:solidFill>
                <a:latin typeface="Calibri" pitchFamily="34" charset="0"/>
                <a:ea typeface="Calibri" pitchFamily="34" charset="-122"/>
                <a:cs typeface="Calibri" pitchFamily="34" charset="-120"/>
              </a:rPr>
              <a:t>OPTIONAL APPLICATION · CITY-SPECIFIC WEATHER PROTECTION</a:t>
            </a:r>
            <a:endParaRPr lang="en-US" sz="1100" dirty="0"/>
          </a:p>
        </p:txBody>
      </p:sp>
      <p:sp>
        <p:nvSpPr>
          <p:cNvPr id="5" name="title"/>
          <p:cNvSpPr txBox="1"/>
          <p:nvPr/>
        </p:nvSpPr>
        <p:spPr>
          <a:xfrm>
            <a:off x="548640" y="1170432"/>
            <a:ext cx="11094415"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If we offer Kavach, weather risk sets the starting price</a:t>
            </a:r>
            <a:endParaRPr lang="en-US" sz="32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2057400"/>
          <a:ext cx="7040880" cy="914400"/>
        </p:xfrm>
        <a:graphic>
          <a:graphicData uri="http://schemas.openxmlformats.org/drawingml/2006/table">
            <a:tbl>
              <a:tblPr/>
              <a:tblGrid>
                <a:gridCol w="1965960"/>
                <a:gridCol w="1691640"/>
                <a:gridCol w="1005840"/>
                <a:gridCol w="1143000"/>
                <a:gridCol w="1234440"/>
              </a:tblGrid>
              <a:tr h="457200">
                <a:tc>
                  <a:txBody>
                    <a:bodyPr/>
                    <a:lstStyle/>
                    <a:p>
                      <a:pPr indent="0" marL="0">
                        <a:buNone/>
                      </a:pPr>
                      <a:r>
                        <a:rPr lang="en-US" sz="1100" b="1" dirty="0">
                          <a:solidFill>
                            <a:srgbClr val="F5A623"/>
                          </a:solidFill>
                          <a:latin typeface="Calibri" pitchFamily="34" charset="0"/>
                          <a:ea typeface="Calibri" pitchFamily="34" charset="-122"/>
                          <a:cs typeface="Calibri" pitchFamily="34" charset="-120"/>
                        </a:rPr>
                        <a:t>City · product</a:t>
                      </a:r>
                      <a:endParaRPr lang="en-US" sz="11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C2447"/>
                    </a:solidFill>
                  </a:tcPr>
                </a:tc>
                <a:tc>
                  <a:txBody>
                    <a:bodyPr/>
                    <a:lstStyle/>
                    <a:p>
                      <a:pPr indent="0" marL="0">
                        <a:buNone/>
                      </a:pPr>
                      <a:r>
                        <a:rPr lang="en-US" sz="1100" b="1" dirty="0">
                          <a:solidFill>
                            <a:srgbClr val="F5A623"/>
                          </a:solidFill>
                          <a:latin typeface="Calibri" pitchFamily="34" charset="0"/>
                          <a:ea typeface="Calibri" pitchFamily="34" charset="-122"/>
                          <a:cs typeface="Calibri" pitchFamily="34" charset="-120"/>
                        </a:rPr>
                        <a:t>Trigger</a:t>
                      </a:r>
                      <a:endParaRPr lang="en-US" sz="11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C2447"/>
                    </a:solidFill>
                  </a:tcPr>
                </a:tc>
                <a:tc>
                  <a:txBody>
                    <a:bodyPr/>
                    <a:lstStyle/>
                    <a:p>
                      <a:pPr indent="0" marL="0">
                        <a:buNone/>
                      </a:pPr>
                      <a:r>
                        <a:rPr lang="en-US" sz="1100" b="1" dirty="0">
                          <a:solidFill>
                            <a:srgbClr val="F5A623"/>
                          </a:solidFill>
                          <a:latin typeface="Calibri" pitchFamily="34" charset="0"/>
                          <a:ea typeface="Calibri" pitchFamily="34" charset="-122"/>
                          <a:cs typeface="Calibri" pitchFamily="34" charset="-120"/>
                        </a:rPr>
                        <a:t>Raw days a year</a:t>
                      </a:r>
                      <a:endParaRPr lang="en-US" sz="11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C2447"/>
                    </a:solidFill>
                  </a:tcPr>
                </a:tc>
                <a:tc>
                  <a:txBody>
                    <a:bodyPr/>
                    <a:lstStyle/>
                    <a:p>
                      <a:pPr indent="0" marL="0">
                        <a:buNone/>
                      </a:pPr>
                      <a:r>
                        <a:rPr lang="en-US" sz="1100" b="1" dirty="0">
                          <a:solidFill>
                            <a:srgbClr val="F5A623"/>
                          </a:solidFill>
                          <a:latin typeface="Calibri" pitchFamily="34" charset="0"/>
                          <a:ea typeface="Calibri" pitchFamily="34" charset="-122"/>
                          <a:cs typeface="Calibri" pitchFamily="34" charset="-120"/>
                        </a:rPr>
                        <a:t>Expected paid days</a:t>
                      </a:r>
                      <a:endParaRPr lang="en-US" sz="11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C2447"/>
                    </a:solidFill>
                  </a:tcPr>
                </a:tc>
                <a:tc>
                  <a:txBody>
                    <a:bodyPr/>
                    <a:lstStyle/>
                    <a:p>
                      <a:pPr indent="0" marL="0">
                        <a:buNone/>
                      </a:pPr>
                      <a:r>
                        <a:rPr lang="en-US" sz="1100" b="1" dirty="0">
                          <a:solidFill>
                            <a:srgbClr val="F5A623"/>
                          </a:solidFill>
                          <a:latin typeface="Calibri" pitchFamily="34" charset="0"/>
                          <a:ea typeface="Calibri" pitchFamily="34" charset="-122"/>
                          <a:cs typeface="Calibri" pitchFamily="34" charset="-120"/>
                        </a:rPr>
                        <a:t>Illustrative price a month</a:t>
                      </a:r>
                      <a:endParaRPr lang="en-US" sz="11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C2447"/>
                    </a:solidFill>
                  </a:tcPr>
                </a:tc>
              </a:tr>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Mumbai · Basic</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c>
                  <a:txBody>
                    <a:bodyPr/>
                    <a:lstStyle/>
                    <a:p>
                      <a:pPr indent="0" marL="0">
                        <a:buNone/>
                      </a:pPr>
                      <a:r>
                        <a:rPr lang="en-US" sz="1300" dirty="0">
                          <a:solidFill>
                            <a:srgbClr val="EEF1F7"/>
                          </a:solidFill>
                          <a:latin typeface="Calibri" pitchFamily="34" charset="0"/>
                          <a:ea typeface="Calibri" pitchFamily="34" charset="-122"/>
                          <a:cs typeface="Calibri" pitchFamily="34" charset="-120"/>
                        </a:rPr>
                        <a:t>≥204.5 mm rain a day</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c>
                  <a:txBody>
                    <a:bodyPr/>
                    <a:lstStyle/>
                    <a:p>
                      <a:pPr indent="0" marL="0">
                        <a:buNone/>
                      </a:pPr>
                      <a:r>
                        <a:rPr lang="en-US" sz="1300" dirty="0">
                          <a:solidFill>
                            <a:srgbClr val="EEF1F7"/>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c>
                  <a:txBody>
                    <a:bodyPr/>
                    <a:lstStyle/>
                    <a:p>
                      <a:pPr indent="0" marL="0">
                        <a:buNone/>
                      </a:pPr>
                      <a:r>
                        <a:rPr lang="en-US" sz="1300" dirty="0">
                          <a:solidFill>
                            <a:srgbClr val="EEF1F7"/>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₹45</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r>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Nagpur · Basic</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11830"/>
                    </a:solidFill>
                  </a:tcPr>
                </a:tc>
                <a:tc>
                  <a:txBody>
                    <a:bodyPr/>
                    <a:lstStyle/>
                    <a:p>
                      <a:pPr indent="0" marL="0">
                        <a:buNone/>
                      </a:pPr>
                      <a:r>
                        <a:rPr lang="en-US" sz="1300" dirty="0">
                          <a:solidFill>
                            <a:srgbClr val="EEF1F7"/>
                          </a:solidFill>
                          <a:latin typeface="Calibri" pitchFamily="34" charset="0"/>
                          <a:ea typeface="Calibri" pitchFamily="34" charset="-122"/>
                          <a:cs typeface="Calibri" pitchFamily="34" charset="-120"/>
                        </a:rPr>
                        <a:t>≥47°C</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11830"/>
                    </a:solidFill>
                  </a:tcPr>
                </a:tc>
                <a:tc>
                  <a:txBody>
                    <a:bodyPr/>
                    <a:lstStyle/>
                    <a:p>
                      <a:pPr indent="0" marL="0">
                        <a:buNone/>
                      </a:pPr>
                      <a:r>
                        <a:rPr lang="en-US" sz="1300" dirty="0">
                          <a:solidFill>
                            <a:srgbClr val="EEF1F7"/>
                          </a:solidFill>
                          <a:latin typeface="Calibri" pitchFamily="34" charset="0"/>
                          <a:ea typeface="Calibri" pitchFamily="34" charset="-122"/>
                          <a:cs typeface="Calibri" pitchFamily="34" charset="-120"/>
                        </a:rPr>
                        <a:t>2.2</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11830"/>
                    </a:solidFill>
                  </a:tcPr>
                </a:tc>
                <a:tc>
                  <a:txBody>
                    <a:bodyPr/>
                    <a:lstStyle/>
                    <a:p>
                      <a:pPr indent="0" marL="0">
                        <a:buNone/>
                      </a:pPr>
                      <a:r>
                        <a:rPr lang="en-US" sz="1300" dirty="0">
                          <a:solidFill>
                            <a:srgbClr val="EEF1F7"/>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1183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₹52</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11830"/>
                    </a:solidFill>
                  </a:tcPr>
                </a:tc>
              </a:tr>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Ahmedabad · Basic</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c>
                  <a:txBody>
                    <a:bodyPr/>
                    <a:lstStyle/>
                    <a:p>
                      <a:pPr indent="0" marL="0">
                        <a:buNone/>
                      </a:pPr>
                      <a:r>
                        <a:rPr lang="en-US" sz="1300" dirty="0">
                          <a:solidFill>
                            <a:srgbClr val="EEF1F7"/>
                          </a:solidFill>
                          <a:latin typeface="Calibri" pitchFamily="34" charset="0"/>
                          <a:ea typeface="Calibri" pitchFamily="34" charset="-122"/>
                          <a:cs typeface="Calibri" pitchFamily="34" charset="-120"/>
                        </a:rPr>
                        <a:t>≥47°C</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c>
                  <a:txBody>
                    <a:bodyPr/>
                    <a:lstStyle/>
                    <a:p>
                      <a:pPr indent="0" marL="0">
                        <a:buNone/>
                      </a:pPr>
                      <a:r>
                        <a:rPr lang="en-US" sz="1300" dirty="0">
                          <a:solidFill>
                            <a:srgbClr val="EEF1F7"/>
                          </a:solidFill>
                          <a:latin typeface="Calibri" pitchFamily="34" charset="0"/>
                          <a:ea typeface="Calibri" pitchFamily="34" charset="-122"/>
                          <a:cs typeface="Calibri" pitchFamily="34" charset="-120"/>
                        </a:rPr>
                        <a:t>0.7</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c>
                  <a:txBody>
                    <a:bodyPr/>
                    <a:lstStyle/>
                    <a:p>
                      <a:pPr indent="0" marL="0">
                        <a:buNone/>
                      </a:pPr>
                      <a:r>
                        <a:rPr lang="en-US" sz="1300" dirty="0">
                          <a:solidFill>
                            <a:srgbClr val="EEF1F7"/>
                          </a:solidFill>
                          <a:latin typeface="Calibri" pitchFamily="34" charset="0"/>
                          <a:ea typeface="Calibri" pitchFamily="34" charset="-122"/>
                          <a:cs typeface="Calibri" pitchFamily="34" charset="-120"/>
                        </a:rPr>
                        <a:t>~0.6</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₹29 floor</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r>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Mumbai · Plus (platform)</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E2547"/>
                    </a:solidFill>
                  </a:tcPr>
                </a:tc>
                <a:tc>
                  <a:txBody>
                    <a:bodyPr/>
                    <a:lstStyle/>
                    <a:p>
                      <a:pPr indent="0" marL="0">
                        <a:buNone/>
                      </a:pPr>
                      <a:r>
                        <a:rPr lang="en-US" sz="1300" dirty="0">
                          <a:solidFill>
                            <a:srgbClr val="EEF1F7"/>
                          </a:solidFill>
                          <a:latin typeface="Calibri" pitchFamily="34" charset="0"/>
                          <a:ea typeface="Calibri" pitchFamily="34" charset="-122"/>
                          <a:cs typeface="Calibri" pitchFamily="34" charset="-120"/>
                        </a:rPr>
                        <a:t>≥64.5 mm rain a day</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E2547"/>
                    </a:solidFill>
                  </a:tcPr>
                </a:tc>
                <a:tc>
                  <a:txBody>
                    <a:bodyPr/>
                    <a:lstStyle/>
                    <a:p>
                      <a:pPr indent="0" marL="0">
                        <a:buNone/>
                      </a:pPr>
                      <a:r>
                        <a:rPr lang="en-US" sz="1300" dirty="0">
                          <a:solidFill>
                            <a:srgbClr val="EEF1F7"/>
                          </a:solidFill>
                          <a:latin typeface="Calibri" pitchFamily="34" charset="0"/>
                          <a:ea typeface="Calibri" pitchFamily="34" charset="-122"/>
                          <a:cs typeface="Calibri" pitchFamily="34" charset="-120"/>
                        </a:rPr>
                        <a:t>11.9</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E2547"/>
                    </a:solidFill>
                  </a:tcPr>
                </a:tc>
                <a:tc>
                  <a:txBody>
                    <a:bodyPr/>
                    <a:lstStyle/>
                    <a:p>
                      <a:pPr indent="0" marL="0">
                        <a:buNone/>
                      </a:pPr>
                      <a:r>
                        <a:rPr lang="en-US" sz="1300" dirty="0">
                          <a:solidFill>
                            <a:srgbClr val="EEF1F7"/>
                          </a:solidFill>
                          <a:latin typeface="Calibri" pitchFamily="34" charset="0"/>
                          <a:ea typeface="Calibri" pitchFamily="34" charset="-122"/>
                          <a:cs typeface="Calibri" pitchFamily="34" charset="-120"/>
                        </a:rPr>
                        <a:t>5.0 (cap)</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E2547"/>
                    </a:solidFill>
                  </a:tcPr>
                </a:tc>
                <a:tc>
                  <a:txBody>
                    <a:bodyPr/>
                    <a:lstStyle/>
                    <a:p>
                      <a:pPr indent="0" marL="0">
                        <a:buNone/>
                      </a:pPr>
                      <a:r>
                        <a:rPr lang="en-US" sz="1300" b="1" dirty="0">
                          <a:solidFill>
                            <a:srgbClr val="F5A623"/>
                          </a:solidFill>
                          <a:latin typeface="Calibri" pitchFamily="34" charset="0"/>
                          <a:ea typeface="Calibri" pitchFamily="34" charset="-122"/>
                          <a:cs typeface="Calibri" pitchFamily="34" charset="-120"/>
                        </a:rPr>
                        <a:t>₹208</a:t>
                      </a:r>
                      <a:endParaRPr lang="en-US" sz="1300" dirty="0">
                        <a:latin typeface="Calibri" charset="0"/>
                        <a:ea typeface="Calibri" charset="0"/>
                        <a:cs typeface="Calibri" charset="0"/>
                      </a:endParaRPr>
                    </a:p>
                  </a:txBody>
                  <a:tcPr marL="91440" marR="91440" marT="36576" marB="36576"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E2547"/>
                    </a:solidFill>
                  </a:tcPr>
                </a:tc>
              </a:tr>
            </a:tbl>
          </a:graphicData>
        </a:graphic>
      </p:graphicFrame>
      <p:sp>
        <p:nvSpPr>
          <p:cNvPr id="7" name="formula"/>
          <p:cNvSpPr txBox="1"/>
          <p:nvPr/>
        </p:nvSpPr>
        <p:spPr>
          <a:xfrm>
            <a:off x="548640" y="4462272"/>
            <a:ext cx="7040880" cy="347472"/>
          </a:xfrm>
          <a:prstGeom prst="rect">
            <a:avLst/>
          </a:prstGeom>
          <a:noFill/>
          <a:ln/>
        </p:spPr>
        <p:txBody>
          <a:bodyPr wrap="square" lIns="0" tIns="0" rIns="0" bIns="0" rtlCol="0" anchor="t"/>
          <a:lstStyle/>
          <a:p>
            <a:pPr indent="0" marL="0">
              <a:buNone/>
            </a:pPr>
            <a:r>
              <a:rPr lang="en-US" sz="1500" b="1" dirty="0">
                <a:solidFill>
                  <a:srgbClr val="F5A623"/>
                </a:solidFill>
                <a:latin typeface="Calibri" pitchFamily="34" charset="0"/>
                <a:ea typeface="Calibri" pitchFamily="34" charset="-122"/>
                <a:cs typeface="Calibri" pitchFamily="34" charset="-120"/>
              </a:rPr>
              <a:t>Price = expected paid days × ₹300 ÷ 60% ÷ 12</a:t>
            </a:r>
            <a:endParaRPr lang="en-US" sz="1500" dirty="0"/>
          </a:p>
        </p:txBody>
      </p:sp>
      <p:sp>
        <p:nvSpPr>
          <p:cNvPr id="8" name="plusNote"/>
          <p:cNvSpPr txBox="1"/>
          <p:nvPr/>
        </p:nvSpPr>
        <p:spPr>
          <a:xfrm>
            <a:off x="548640" y="4846320"/>
            <a:ext cx="7040880" cy="685800"/>
          </a:xfrm>
          <a:prstGeom prst="rect">
            <a:avLst/>
          </a:prstGeom>
          <a:noFill/>
          <a:ln/>
        </p:spPr>
        <p:txBody>
          <a:bodyPr wrap="square" lIns="0" tIns="0" rIns="0" bIns="0" rtlCol="0" anchor="t"/>
          <a:lstStyle/>
          <a:p>
            <a:pPr indent="0" marL="0">
              <a:buNone/>
            </a:pPr>
            <a:r>
              <a:rPr lang="en-US" sz="1300" dirty="0">
                <a:solidFill>
                  <a:srgbClr val="B9C2D8"/>
                </a:solidFill>
                <a:latin typeface="Calibri" pitchFamily="34" charset="0"/>
                <a:ea typeface="Calibri" pitchFamily="34" charset="-122"/>
                <a:cs typeface="Calibri" pitchFamily="34" charset="-120"/>
              </a:rPr>
              <a:t>Basic covers rare extremes for individuals. Plus is priced from ~12 historical heavy-rain days a year, with payouts capped at 5 days a year. Designed for potential platform sponsorship, subject to pilot validation.</a:t>
            </a:r>
            <a:endParaRPr lang="en-US" sz="1300" dirty="0"/>
          </a:p>
        </p:txBody>
      </p:sp>
      <p:sp>
        <p:nvSpPr>
          <p:cNvPr id="9" name="city0"/>
          <p:cNvSpPr/>
          <p:nvPr/>
        </p:nvSpPr>
        <p:spPr>
          <a:xfrm>
            <a:off x="7863840" y="2057400"/>
            <a:ext cx="3776472" cy="868680"/>
          </a:xfrm>
          <a:prstGeom prst="roundRect">
            <a:avLst>
              <a:gd name="adj" fmla="val 12632"/>
            </a:avLst>
          </a:prstGeom>
          <a:solidFill>
            <a:srgbClr val="1C2447"/>
          </a:solidFill>
          <a:ln w="9525">
            <a:solidFill>
              <a:srgbClr val="F5A623"/>
            </a:solidFill>
            <a:prstDash val="solid"/>
          </a:ln>
        </p:spPr>
      </p:sp>
      <p:pic>
        <p:nvPicPr>
          <p:cNvPr id="10" name="cityI0" descr="preencoded.png">    </p:cNvPr>
          <p:cNvPicPr>
            <a:picLocks noChangeAspect="1"/>
          </p:cNvPicPr>
          <p:nvPr/>
        </p:nvPicPr>
        <p:blipFill>
          <a:blip r:embed="rId2"/>
          <a:stretch>
            <a:fillRect/>
          </a:stretch>
        </p:blipFill>
        <p:spPr>
          <a:xfrm>
            <a:off x="8065008" y="2304288"/>
            <a:ext cx="365760" cy="365760"/>
          </a:xfrm>
          <a:prstGeom prst="rect">
            <a:avLst/>
          </a:prstGeom>
        </p:spPr>
      </p:pic>
      <p:sp>
        <p:nvSpPr>
          <p:cNvPr id="11" name="cityT0"/>
          <p:cNvSpPr txBox="1"/>
          <p:nvPr/>
        </p:nvSpPr>
        <p:spPr>
          <a:xfrm>
            <a:off x="8577072" y="2176272"/>
            <a:ext cx="2103120" cy="658368"/>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Mumbai · rain</a:t>
            </a:r>
            <a:endParaRPr lang="en-US" sz="1500" dirty="0"/>
          </a:p>
          <a:p>
            <a:pPr indent="0" marL="0">
              <a:buNone/>
            </a:pPr>
            <a:r>
              <a:rPr lang="en-US" sz="1250" dirty="0">
                <a:solidFill>
                  <a:srgbClr val="B9C2D8"/>
                </a:solidFill>
                <a:latin typeface="Calibri" pitchFamily="34" charset="0"/>
                <a:ea typeface="Calibri" pitchFamily="34" charset="-122"/>
                <a:cs typeface="Calibri" pitchFamily="34" charset="-120"/>
              </a:rPr>
              <a:t>11.9 heavy-rain days a year</a:t>
            </a:r>
            <a:endParaRPr lang="en-US" sz="1500" dirty="0"/>
          </a:p>
        </p:txBody>
      </p:sp>
      <p:sp>
        <p:nvSpPr>
          <p:cNvPr id="12" name="cityP0"/>
          <p:cNvSpPr txBox="1"/>
          <p:nvPr/>
        </p:nvSpPr>
        <p:spPr>
          <a:xfrm>
            <a:off x="10607040" y="2057400"/>
            <a:ext cx="914400" cy="868680"/>
          </a:xfrm>
          <a:prstGeom prst="rect">
            <a:avLst/>
          </a:prstGeom>
          <a:noFill/>
          <a:ln/>
        </p:spPr>
        <p:txBody>
          <a:bodyPr wrap="square" lIns="0" tIns="0" rIns="0" bIns="0" rtlCol="0" anchor="ctr"/>
          <a:lstStyle/>
          <a:p>
            <a:pPr algn="r" indent="0" marL="0">
              <a:buNone/>
            </a:pPr>
            <a:r>
              <a:rPr lang="en-US" sz="1500" b="1" dirty="0">
                <a:solidFill>
                  <a:srgbClr val="F5A623"/>
                </a:solidFill>
                <a:latin typeface="Cambria" pitchFamily="34" charset="0"/>
                <a:ea typeface="Cambria" pitchFamily="34" charset="-122"/>
                <a:cs typeface="Cambria" pitchFamily="34" charset="-120"/>
              </a:rPr>
              <a:t>Phase 1</a:t>
            </a:r>
            <a:endParaRPr lang="en-US" sz="1500" dirty="0"/>
          </a:p>
        </p:txBody>
      </p:sp>
      <p:sp>
        <p:nvSpPr>
          <p:cNvPr id="13" name="city1"/>
          <p:cNvSpPr/>
          <p:nvPr/>
        </p:nvSpPr>
        <p:spPr>
          <a:xfrm>
            <a:off x="7863840" y="3044952"/>
            <a:ext cx="3776472" cy="868680"/>
          </a:xfrm>
          <a:prstGeom prst="roundRect">
            <a:avLst>
              <a:gd name="adj" fmla="val 12632"/>
            </a:avLst>
          </a:prstGeom>
          <a:solidFill>
            <a:srgbClr val="141B36"/>
          </a:solidFill>
          <a:ln w="9525">
            <a:solidFill>
              <a:srgbClr val="2A3357"/>
            </a:solidFill>
            <a:prstDash val="solid"/>
          </a:ln>
        </p:spPr>
      </p:sp>
      <p:pic>
        <p:nvPicPr>
          <p:cNvPr id="14" name="cityI1" descr="preencoded.png">    </p:cNvPr>
          <p:cNvPicPr>
            <a:picLocks noChangeAspect="1"/>
          </p:cNvPicPr>
          <p:nvPr/>
        </p:nvPicPr>
        <p:blipFill>
          <a:blip r:embed="rId3"/>
          <a:stretch>
            <a:fillRect/>
          </a:stretch>
        </p:blipFill>
        <p:spPr>
          <a:xfrm>
            <a:off x="8065008" y="3291840"/>
            <a:ext cx="365760" cy="365760"/>
          </a:xfrm>
          <a:prstGeom prst="rect">
            <a:avLst/>
          </a:prstGeom>
        </p:spPr>
      </p:pic>
      <p:sp>
        <p:nvSpPr>
          <p:cNvPr id="15" name="cityT1"/>
          <p:cNvSpPr txBox="1"/>
          <p:nvPr/>
        </p:nvSpPr>
        <p:spPr>
          <a:xfrm>
            <a:off x="8577072" y="3163824"/>
            <a:ext cx="2103120" cy="658368"/>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Nagpur · heat</a:t>
            </a:r>
            <a:endParaRPr lang="en-US" sz="1500" dirty="0"/>
          </a:p>
          <a:p>
            <a:pPr indent="0" marL="0">
              <a:buNone/>
            </a:pPr>
            <a:r>
              <a:rPr lang="en-US" sz="1250" dirty="0">
                <a:solidFill>
                  <a:srgbClr val="B9C2D8"/>
                </a:solidFill>
                <a:latin typeface="Calibri" pitchFamily="34" charset="0"/>
                <a:ea typeface="Calibri" pitchFamily="34" charset="-122"/>
                <a:cs typeface="Calibri" pitchFamily="34" charset="-120"/>
              </a:rPr>
              <a:t>2.2 days at 47°C or more a year</a:t>
            </a:r>
            <a:endParaRPr lang="en-US" sz="1500" dirty="0"/>
          </a:p>
        </p:txBody>
      </p:sp>
      <p:sp>
        <p:nvSpPr>
          <p:cNvPr id="16" name="cityP1"/>
          <p:cNvSpPr txBox="1"/>
          <p:nvPr/>
        </p:nvSpPr>
        <p:spPr>
          <a:xfrm>
            <a:off x="10607040" y="3044952"/>
            <a:ext cx="914400" cy="868680"/>
          </a:xfrm>
          <a:prstGeom prst="rect">
            <a:avLst/>
          </a:prstGeom>
          <a:noFill/>
          <a:ln/>
        </p:spPr>
        <p:txBody>
          <a:bodyPr wrap="square" lIns="0" tIns="0" rIns="0" bIns="0" rtlCol="0" anchor="ctr"/>
          <a:lstStyle/>
          <a:p>
            <a:pPr algn="r" indent="0" marL="0">
              <a:buNone/>
            </a:pPr>
            <a:r>
              <a:rPr lang="en-US" sz="1500" b="1" dirty="0">
                <a:solidFill>
                  <a:srgbClr val="F5A623"/>
                </a:solidFill>
                <a:latin typeface="Cambria" pitchFamily="34" charset="0"/>
                <a:ea typeface="Cambria" pitchFamily="34" charset="-122"/>
                <a:cs typeface="Cambria" pitchFamily="34" charset="-120"/>
              </a:rPr>
              <a:t>Phase 2</a:t>
            </a:r>
            <a:endParaRPr lang="en-US" sz="1500" dirty="0"/>
          </a:p>
        </p:txBody>
      </p:sp>
      <p:sp>
        <p:nvSpPr>
          <p:cNvPr id="17" name="city2"/>
          <p:cNvSpPr/>
          <p:nvPr/>
        </p:nvSpPr>
        <p:spPr>
          <a:xfrm>
            <a:off x="7863840" y="4032504"/>
            <a:ext cx="3776472" cy="868680"/>
          </a:xfrm>
          <a:prstGeom prst="roundRect">
            <a:avLst>
              <a:gd name="adj" fmla="val 12632"/>
            </a:avLst>
          </a:prstGeom>
          <a:solidFill>
            <a:srgbClr val="141B36"/>
          </a:solidFill>
          <a:ln w="9525">
            <a:solidFill>
              <a:srgbClr val="2A3357"/>
            </a:solidFill>
            <a:prstDash val="solid"/>
          </a:ln>
        </p:spPr>
      </p:sp>
      <p:pic>
        <p:nvPicPr>
          <p:cNvPr id="18" name="cityI2" descr="preencoded.png">    </p:cNvPr>
          <p:cNvPicPr>
            <a:picLocks noChangeAspect="1"/>
          </p:cNvPicPr>
          <p:nvPr/>
        </p:nvPicPr>
        <p:blipFill>
          <a:blip r:embed="rId4"/>
          <a:stretch>
            <a:fillRect/>
          </a:stretch>
        </p:blipFill>
        <p:spPr>
          <a:xfrm>
            <a:off x="8065008" y="4279392"/>
            <a:ext cx="365760" cy="365760"/>
          </a:xfrm>
          <a:prstGeom prst="rect">
            <a:avLst/>
          </a:prstGeom>
        </p:spPr>
      </p:pic>
      <p:sp>
        <p:nvSpPr>
          <p:cNvPr id="19" name="cityT2"/>
          <p:cNvSpPr txBox="1"/>
          <p:nvPr/>
        </p:nvSpPr>
        <p:spPr>
          <a:xfrm>
            <a:off x="8577072" y="4151376"/>
            <a:ext cx="2103120" cy="658368"/>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Ahmedabad · heat</a:t>
            </a:r>
            <a:endParaRPr lang="en-US" sz="1500" dirty="0"/>
          </a:p>
          <a:p>
            <a:pPr indent="0" marL="0">
              <a:buNone/>
            </a:pPr>
            <a:r>
              <a:rPr lang="en-US" sz="1250" dirty="0">
                <a:solidFill>
                  <a:srgbClr val="B9C2D8"/>
                </a:solidFill>
                <a:latin typeface="Calibri" pitchFamily="34" charset="0"/>
                <a:ea typeface="Calibri" pitchFamily="34" charset="-122"/>
                <a:cs typeface="Calibri" pitchFamily="34" charset="-120"/>
              </a:rPr>
              <a:t>0.7 days at 47°C or more a year</a:t>
            </a:r>
            <a:endParaRPr lang="en-US" sz="1500" dirty="0"/>
          </a:p>
        </p:txBody>
      </p:sp>
      <p:sp>
        <p:nvSpPr>
          <p:cNvPr id="20" name="cityP2"/>
          <p:cNvSpPr txBox="1"/>
          <p:nvPr/>
        </p:nvSpPr>
        <p:spPr>
          <a:xfrm>
            <a:off x="10607040" y="4032504"/>
            <a:ext cx="914400" cy="868680"/>
          </a:xfrm>
          <a:prstGeom prst="rect">
            <a:avLst/>
          </a:prstGeom>
          <a:noFill/>
          <a:ln/>
        </p:spPr>
        <p:txBody>
          <a:bodyPr wrap="square" lIns="0" tIns="0" rIns="0" bIns="0" rtlCol="0" anchor="ctr"/>
          <a:lstStyle/>
          <a:p>
            <a:pPr algn="r" indent="0" marL="0">
              <a:buNone/>
            </a:pPr>
            <a:r>
              <a:rPr lang="en-US" sz="1500" b="1" dirty="0">
                <a:solidFill>
                  <a:srgbClr val="F5A623"/>
                </a:solidFill>
                <a:latin typeface="Cambria" pitchFamily="34" charset="0"/>
                <a:ea typeface="Cambria" pitchFamily="34" charset="-122"/>
                <a:cs typeface="Cambria" pitchFamily="34" charset="-120"/>
              </a:rPr>
              <a:t>Phase 2</a:t>
            </a:r>
            <a:endParaRPr lang="en-US" sz="1500" dirty="0"/>
          </a:p>
        </p:txBody>
      </p:sp>
      <p:sp>
        <p:nvSpPr>
          <p:cNvPr id="21" name="heatNote"/>
          <p:cNvSpPr txBox="1"/>
          <p:nvPr/>
        </p:nvSpPr>
        <p:spPr>
          <a:xfrm>
            <a:off x="7863840" y="5074920"/>
            <a:ext cx="3776472" cy="548640"/>
          </a:xfrm>
          <a:prstGeom prst="rect">
            <a:avLst/>
          </a:prstGeom>
          <a:noFill/>
          <a:ln/>
        </p:spPr>
        <p:txBody>
          <a:bodyPr wrap="square" lIns="0" tIns="0" rIns="0" bIns="0" rtlCol="0" anchor="t"/>
          <a:lstStyle/>
          <a:p>
            <a:pPr indent="0" marL="0">
              <a:buNone/>
            </a:pPr>
            <a:r>
              <a:rPr lang="en-US" sz="1250" dirty="0">
                <a:solidFill>
                  <a:srgbClr val="B9C2D8"/>
                </a:solidFill>
                <a:latin typeface="Calibri" pitchFamily="34" charset="0"/>
                <a:ea typeface="Calibri" pitchFamily="34" charset="-122"/>
                <a:cs typeface="Calibri" pitchFamily="34" charset="-120"/>
              </a:rPr>
              <a:t>Rain: Jio’s own sensing. Heat: IMD stations and satellite, through the same engine.</a:t>
            </a:r>
            <a:endParaRPr lang="en-US" sz="1250" dirty="0"/>
          </a:p>
        </p:txBody>
      </p:sp>
      <p:sp>
        <p:nvSpPr>
          <p:cNvPr id="22" name="takeaway"/>
          <p:cNvSpPr txBox="1"/>
          <p:nvPr/>
        </p:nvSpPr>
        <p:spPr>
          <a:xfrm>
            <a:off x="548640" y="5852160"/>
            <a:ext cx="11094415" cy="457200"/>
          </a:xfrm>
          <a:prstGeom prst="rect">
            <a:avLst/>
          </a:prstGeom>
          <a:noFill/>
          <a:ln/>
        </p:spPr>
        <p:txBody>
          <a:bodyPr wrap="square" lIns="0" tIns="0" rIns="0" bIns="0" rtlCol="0" anchor="t"/>
          <a:lstStyle/>
          <a:p>
            <a:pPr indent="0" marL="0">
              <a:buNone/>
            </a:pPr>
            <a:r>
              <a:rPr lang="en-US" sz="1800" b="1" i="1" dirty="0">
                <a:solidFill>
                  <a:srgbClr val="F5A623"/>
                </a:solidFill>
                <a:latin typeface="Cambria" pitchFamily="34" charset="0"/>
                <a:ea typeface="Cambria" pitchFamily="34" charset="-122"/>
                <a:cs typeface="Cambria" pitchFamily="34" charset="-120"/>
              </a:rPr>
              <a:t>One flat price can’t fit India’s different weather risks.</a:t>
            </a:r>
            <a:endParaRPr lang="en-US" sz="1800" dirty="0"/>
          </a:p>
        </p:txBody>
      </p:sp>
      <p:sp>
        <p:nvSpPr>
          <p:cNvPr id="23" name="source"/>
          <p:cNvSpPr txBox="1"/>
          <p:nvPr/>
        </p:nvSpPr>
        <p:spPr>
          <a:xfrm>
            <a:off x="548640" y="6419088"/>
            <a:ext cx="11094415" cy="274320"/>
          </a:xfrm>
          <a:prstGeom prst="rect">
            <a:avLst/>
          </a:prstGeom>
          <a:noFill/>
          <a:ln/>
        </p:spPr>
        <p:txBody>
          <a:bodyPr wrap="square" lIns="0" tIns="0" rIns="0" bIns="0" rtlCol="0" anchor="t"/>
          <a:lstStyle/>
          <a:p>
            <a:pPr indent="0" marL="0">
              <a:buNone/>
            </a:pPr>
            <a:r>
              <a:rPr lang="en-US" sz="1000" dirty="0">
                <a:solidFill>
                  <a:srgbClr val="7A85A8"/>
                </a:solidFill>
                <a:latin typeface="Calibri" pitchFamily="34" charset="0"/>
                <a:ea typeface="Calibri" pitchFamily="34" charset="-122"/>
                <a:cs typeface="Calibri" pitchFamily="34" charset="-120"/>
              </a:rPr>
              <a:t>IMD station data 2000–2024 · ₹300 payout and 60% loss ratio are prototype assumptions · 5-day annual cap · final pricing subject to actuarial validation.</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7"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00"/>
                                        <p:tgtEl>
                                          <p:spTgt spid="4"/>
                                        </p:tgtEl>
                                      </p:cBhvr>
                                    </p:animEffect>
                                  </p:childTnLst>
                                </p:cTn>
                              </p:par>
                              <p:par>
                                <p:cTn id="7" presetID="42" presetClass="entr" presetSubtype="0" fill="hold" grpId="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650"/>
                                        <p:tgtEl>
                                          <p:spTgt spid="5"/>
                                        </p:tgtEl>
                                      </p:cBhvr>
                                    </p:animEffect>
                                    <p:anim calcmode="lin" valueType="num">
                                      <p:cBhvr>
                                        <p:cTn id="10" dur="650" fill="hold"/>
                                        <p:tgtEl>
                                          <p:spTgt spid="5"/>
                                        </p:tgtEl>
                                        <p:attrNameLst>
                                          <p:attrName>ppt_x</p:attrName>
                                        </p:attrNameLst>
                                      </p:cBhvr>
                                      <p:tavLst>
                                        <p:tav tm="0">
                                          <p:val>
                                            <p:strVal val="#ppt_x"/>
                                          </p:val>
                                        </p:tav>
                                        <p:tav tm="100000">
                                          <p:val>
                                            <p:strVal val="#ppt_x"/>
                                          </p:val>
                                        </p:tav>
                                      </p:tavLst>
                                    </p:anim>
                                    <p:anim calcmode="lin" valueType="num">
                                      <p:cBhvr>
                                        <p:cTn id="11" dur="65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750"/>
                            </p:stCondLst>
                            <p:childTnLst>
                              <p:par>
                                <p:cTn id="13" presetID="10" presetClass="entr" presetSubtype="0" fill="hold" grpId="0" nodeType="afterEffect">
                                  <p:stCondLst>
                                    <p:cond delay="5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700"/>
                                        <p:tgtEl>
                                          <p:spTgt spid="10"/>
                                        </p:tgtEl>
                                      </p:cBhvr>
                                    </p:animEffect>
                                  </p:childTnLst>
                                </p:cTn>
                              </p:par>
                            </p:childTnLst>
                          </p:cTn>
                        </p:par>
                        <p:par>
                          <p:cTn id="16" fill="hold">
                            <p:stCondLst>
                              <p:cond delay="1500"/>
                            </p:stCondLst>
                            <p:childTnLst>
                              <p:par>
                                <p:cTn id="17" presetID="10" presetClass="entr" presetSubtype="0" fill="hold" grpId="0" nodeType="afterEffect">
                                  <p:stCondLst>
                                    <p:cond delay="5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00"/>
                                        <p:tgtEl>
                                          <p:spTgt spid="7"/>
                                        </p:tgtEl>
                                      </p:cBhvr>
                                    </p:animEffect>
                                  </p:childTnLst>
                                </p:cTn>
                              </p:par>
                              <p:par>
                                <p:cTn id="20" presetID="10" presetClass="entr" presetSubtype="0" fill="hold" grpId="0" nodeType="withEffect">
                                  <p:stCondLst>
                                    <p:cond delay="1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00"/>
                                        <p:tgtEl>
                                          <p:spTgt spid="8"/>
                                        </p:tgtEl>
                                      </p:cBhvr>
                                    </p:animEffect>
                                  </p:childTnLst>
                                </p:cTn>
                              </p:par>
                            </p:childTnLst>
                          </p:cTn>
                        </p:par>
                        <p:par>
                          <p:cTn id="23" fill="hold">
                            <p:stCondLst>
                              <p:cond delay="2000"/>
                            </p:stCondLst>
                            <p:childTnLst>
                              <p:par>
                                <p:cTn id="24" presetID="42" presetClass="entr" presetSubtype="0" fill="hold" grpId="0" nodeType="afterEffect">
                                  <p:stCondLst>
                                    <p:cond delay="3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00"/>
                                        <p:tgtEl>
                                          <p:spTgt spid="9"/>
                                        </p:tgtEl>
                                      </p:cBhvr>
                                    </p:animEffect>
                                    <p:anim calcmode="lin" valueType="num">
                                      <p:cBhvr>
                                        <p:cTn id="27" dur="400" fill="hold"/>
                                        <p:tgtEl>
                                          <p:spTgt spid="9"/>
                                        </p:tgtEl>
                                        <p:attrNameLst>
                                          <p:attrName>ppt_x</p:attrName>
                                        </p:attrNameLst>
                                      </p:cBhvr>
                                      <p:tavLst>
                                        <p:tav tm="0">
                                          <p:val>
                                            <p:strVal val="#ppt_x"/>
                                          </p:val>
                                        </p:tav>
                                        <p:tav tm="100000">
                                          <p:val>
                                            <p:strVal val="#ppt_x"/>
                                          </p:val>
                                        </p:tav>
                                      </p:tavLst>
                                    </p:anim>
                                    <p:anim calcmode="lin" valueType="num">
                                      <p:cBhvr>
                                        <p:cTn id="28" dur="400" fill="hold"/>
                                        <p:tgtEl>
                                          <p:spTgt spid="9"/>
                                        </p:tgtEl>
                                        <p:attrNameLst>
                                          <p:attrName>ppt_y</p:attrName>
                                        </p:attrNameLst>
                                      </p:cBhvr>
                                      <p:tavLst>
                                        <p:tav tm="0">
                                          <p:val>
                                            <p:strVal val="#ppt_y+.06"/>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00"/>
                                        <p:tgtEl>
                                          <p:spTgt spid="10"/>
                                        </p:tgtEl>
                                      </p:cBhvr>
                                    </p:animEffect>
                                    <p:anim calcmode="lin" valueType="num">
                                      <p:cBhvr>
                                        <p:cTn id="32" dur="400" fill="hold"/>
                                        <p:tgtEl>
                                          <p:spTgt spid="10"/>
                                        </p:tgtEl>
                                        <p:attrNameLst>
                                          <p:attrName>ppt_x</p:attrName>
                                        </p:attrNameLst>
                                      </p:cBhvr>
                                      <p:tavLst>
                                        <p:tav tm="0">
                                          <p:val>
                                            <p:strVal val="#ppt_x"/>
                                          </p:val>
                                        </p:tav>
                                        <p:tav tm="100000">
                                          <p:val>
                                            <p:strVal val="#ppt_x"/>
                                          </p:val>
                                        </p:tav>
                                      </p:tavLst>
                                    </p:anim>
                                    <p:anim calcmode="lin" valueType="num">
                                      <p:cBhvr>
                                        <p:cTn id="33" dur="400" fill="hold"/>
                                        <p:tgtEl>
                                          <p:spTgt spid="10"/>
                                        </p:tgtEl>
                                        <p:attrNameLst>
                                          <p:attrName>ppt_y</p:attrName>
                                        </p:attrNameLst>
                                      </p:cBhvr>
                                      <p:tavLst>
                                        <p:tav tm="0">
                                          <p:val>
                                            <p:strVal val="#ppt_y+.06"/>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400"/>
                                        <p:tgtEl>
                                          <p:spTgt spid="11"/>
                                        </p:tgtEl>
                                      </p:cBhvr>
                                    </p:animEffect>
                                    <p:anim calcmode="lin" valueType="num">
                                      <p:cBhvr>
                                        <p:cTn id="37" dur="400" fill="hold"/>
                                        <p:tgtEl>
                                          <p:spTgt spid="11"/>
                                        </p:tgtEl>
                                        <p:attrNameLst>
                                          <p:attrName>ppt_x</p:attrName>
                                        </p:attrNameLst>
                                      </p:cBhvr>
                                      <p:tavLst>
                                        <p:tav tm="0">
                                          <p:val>
                                            <p:strVal val="#ppt_x"/>
                                          </p:val>
                                        </p:tav>
                                        <p:tav tm="100000">
                                          <p:val>
                                            <p:strVal val="#ppt_x"/>
                                          </p:val>
                                        </p:tav>
                                      </p:tavLst>
                                    </p:anim>
                                    <p:anim calcmode="lin" valueType="num">
                                      <p:cBhvr>
                                        <p:cTn id="38" dur="400" fill="hold"/>
                                        <p:tgtEl>
                                          <p:spTgt spid="11"/>
                                        </p:tgtEl>
                                        <p:attrNameLst>
                                          <p:attrName>ppt_y</p:attrName>
                                        </p:attrNameLst>
                                      </p:cBhvr>
                                      <p:tavLst>
                                        <p:tav tm="0">
                                          <p:val>
                                            <p:strVal val="#ppt_y+.06"/>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400"/>
                                        <p:tgtEl>
                                          <p:spTgt spid="12"/>
                                        </p:tgtEl>
                                      </p:cBhvr>
                                    </p:animEffect>
                                    <p:anim calcmode="lin" valueType="num">
                                      <p:cBhvr>
                                        <p:cTn id="42" dur="400" fill="hold"/>
                                        <p:tgtEl>
                                          <p:spTgt spid="12"/>
                                        </p:tgtEl>
                                        <p:attrNameLst>
                                          <p:attrName>ppt_x</p:attrName>
                                        </p:attrNameLst>
                                      </p:cBhvr>
                                      <p:tavLst>
                                        <p:tav tm="0">
                                          <p:val>
                                            <p:strVal val="#ppt_x"/>
                                          </p:val>
                                        </p:tav>
                                        <p:tav tm="100000">
                                          <p:val>
                                            <p:strVal val="#ppt_x"/>
                                          </p:val>
                                        </p:tav>
                                      </p:tavLst>
                                    </p:anim>
                                    <p:anim calcmode="lin" valueType="num">
                                      <p:cBhvr>
                                        <p:cTn id="43" dur="400" fill="hold"/>
                                        <p:tgtEl>
                                          <p:spTgt spid="12"/>
                                        </p:tgtEl>
                                        <p:attrNameLst>
                                          <p:attrName>ppt_y</p:attrName>
                                        </p:attrNameLst>
                                      </p:cBhvr>
                                      <p:tavLst>
                                        <p:tav tm="0">
                                          <p:val>
                                            <p:strVal val="#ppt_y+.06"/>
                                          </p:val>
                                        </p:tav>
                                        <p:tav tm="100000">
                                          <p:val>
                                            <p:strVal val="#ppt_y"/>
                                          </p:val>
                                        </p:tav>
                                      </p:tavLst>
                                    </p:anim>
                                  </p:childTnLst>
                                </p:cTn>
                              </p:par>
                            </p:childTnLst>
                          </p:cTn>
                        </p:par>
                        <p:par>
                          <p:cTn id="44" fill="hold">
                            <p:stCondLst>
                              <p:cond delay="2430"/>
                            </p:stCondLst>
                            <p:childTnLst>
                              <p:par>
                                <p:cTn id="45" presetID="42" presetClass="entr" presetSubtype="0" fill="hold" grpId="0" nodeType="afterEffect">
                                  <p:stCondLst>
                                    <p:cond delay="3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400"/>
                                        <p:tgtEl>
                                          <p:spTgt spid="13"/>
                                        </p:tgtEl>
                                      </p:cBhvr>
                                    </p:animEffect>
                                    <p:anim calcmode="lin" valueType="num">
                                      <p:cBhvr>
                                        <p:cTn id="48" dur="400" fill="hold"/>
                                        <p:tgtEl>
                                          <p:spTgt spid="13"/>
                                        </p:tgtEl>
                                        <p:attrNameLst>
                                          <p:attrName>ppt_x</p:attrName>
                                        </p:attrNameLst>
                                      </p:cBhvr>
                                      <p:tavLst>
                                        <p:tav tm="0">
                                          <p:val>
                                            <p:strVal val="#ppt_x"/>
                                          </p:val>
                                        </p:tav>
                                        <p:tav tm="100000">
                                          <p:val>
                                            <p:strVal val="#ppt_x"/>
                                          </p:val>
                                        </p:tav>
                                      </p:tavLst>
                                    </p:anim>
                                    <p:anim calcmode="lin" valueType="num">
                                      <p:cBhvr>
                                        <p:cTn id="49" dur="400" fill="hold"/>
                                        <p:tgtEl>
                                          <p:spTgt spid="13"/>
                                        </p:tgtEl>
                                        <p:attrNameLst>
                                          <p:attrName>ppt_y</p:attrName>
                                        </p:attrNameLst>
                                      </p:cBhvr>
                                      <p:tavLst>
                                        <p:tav tm="0">
                                          <p:val>
                                            <p:strVal val="#ppt_y+.06"/>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400"/>
                                        <p:tgtEl>
                                          <p:spTgt spid="14"/>
                                        </p:tgtEl>
                                      </p:cBhvr>
                                    </p:animEffect>
                                    <p:anim calcmode="lin" valueType="num">
                                      <p:cBhvr>
                                        <p:cTn id="53" dur="400" fill="hold"/>
                                        <p:tgtEl>
                                          <p:spTgt spid="14"/>
                                        </p:tgtEl>
                                        <p:attrNameLst>
                                          <p:attrName>ppt_x</p:attrName>
                                        </p:attrNameLst>
                                      </p:cBhvr>
                                      <p:tavLst>
                                        <p:tav tm="0">
                                          <p:val>
                                            <p:strVal val="#ppt_x"/>
                                          </p:val>
                                        </p:tav>
                                        <p:tav tm="100000">
                                          <p:val>
                                            <p:strVal val="#ppt_x"/>
                                          </p:val>
                                        </p:tav>
                                      </p:tavLst>
                                    </p:anim>
                                    <p:anim calcmode="lin" valueType="num">
                                      <p:cBhvr>
                                        <p:cTn id="54" dur="400" fill="hold"/>
                                        <p:tgtEl>
                                          <p:spTgt spid="14"/>
                                        </p:tgtEl>
                                        <p:attrNameLst>
                                          <p:attrName>ppt_y</p:attrName>
                                        </p:attrNameLst>
                                      </p:cBhvr>
                                      <p:tavLst>
                                        <p:tav tm="0">
                                          <p:val>
                                            <p:strVal val="#ppt_y+.06"/>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400"/>
                                        <p:tgtEl>
                                          <p:spTgt spid="15"/>
                                        </p:tgtEl>
                                      </p:cBhvr>
                                    </p:animEffect>
                                    <p:anim calcmode="lin" valueType="num">
                                      <p:cBhvr>
                                        <p:cTn id="58" dur="400" fill="hold"/>
                                        <p:tgtEl>
                                          <p:spTgt spid="15"/>
                                        </p:tgtEl>
                                        <p:attrNameLst>
                                          <p:attrName>ppt_x</p:attrName>
                                        </p:attrNameLst>
                                      </p:cBhvr>
                                      <p:tavLst>
                                        <p:tav tm="0">
                                          <p:val>
                                            <p:strVal val="#ppt_x"/>
                                          </p:val>
                                        </p:tav>
                                        <p:tav tm="100000">
                                          <p:val>
                                            <p:strVal val="#ppt_x"/>
                                          </p:val>
                                        </p:tav>
                                      </p:tavLst>
                                    </p:anim>
                                    <p:anim calcmode="lin" valueType="num">
                                      <p:cBhvr>
                                        <p:cTn id="59" dur="400" fill="hold"/>
                                        <p:tgtEl>
                                          <p:spTgt spid="15"/>
                                        </p:tgtEl>
                                        <p:attrNameLst>
                                          <p:attrName>ppt_y</p:attrName>
                                        </p:attrNameLst>
                                      </p:cBhvr>
                                      <p:tavLst>
                                        <p:tav tm="0">
                                          <p:val>
                                            <p:strVal val="#ppt_y+.06"/>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400"/>
                                        <p:tgtEl>
                                          <p:spTgt spid="16"/>
                                        </p:tgtEl>
                                      </p:cBhvr>
                                    </p:animEffect>
                                    <p:anim calcmode="lin" valueType="num">
                                      <p:cBhvr>
                                        <p:cTn id="63" dur="400" fill="hold"/>
                                        <p:tgtEl>
                                          <p:spTgt spid="16"/>
                                        </p:tgtEl>
                                        <p:attrNameLst>
                                          <p:attrName>ppt_x</p:attrName>
                                        </p:attrNameLst>
                                      </p:cBhvr>
                                      <p:tavLst>
                                        <p:tav tm="0">
                                          <p:val>
                                            <p:strVal val="#ppt_x"/>
                                          </p:val>
                                        </p:tav>
                                        <p:tav tm="100000">
                                          <p:val>
                                            <p:strVal val="#ppt_x"/>
                                          </p:val>
                                        </p:tav>
                                      </p:tavLst>
                                    </p:anim>
                                    <p:anim calcmode="lin" valueType="num">
                                      <p:cBhvr>
                                        <p:cTn id="64" dur="400" fill="hold"/>
                                        <p:tgtEl>
                                          <p:spTgt spid="16"/>
                                        </p:tgtEl>
                                        <p:attrNameLst>
                                          <p:attrName>ppt_y</p:attrName>
                                        </p:attrNameLst>
                                      </p:cBhvr>
                                      <p:tavLst>
                                        <p:tav tm="0">
                                          <p:val>
                                            <p:strVal val="#ppt_y+.06"/>
                                          </p:val>
                                        </p:tav>
                                        <p:tav tm="100000">
                                          <p:val>
                                            <p:strVal val="#ppt_y"/>
                                          </p:val>
                                        </p:tav>
                                      </p:tavLst>
                                    </p:anim>
                                  </p:childTnLst>
                                </p:cTn>
                              </p:par>
                            </p:childTnLst>
                          </p:cTn>
                        </p:par>
                        <p:par>
                          <p:cTn id="65" fill="hold">
                            <p:stCondLst>
                              <p:cond delay="2860"/>
                            </p:stCondLst>
                            <p:childTnLst>
                              <p:par>
                                <p:cTn id="66" presetID="42" presetClass="entr" presetSubtype="0" fill="hold" grpId="0" nodeType="afterEffect">
                                  <p:stCondLst>
                                    <p:cond delay="30"/>
                                  </p:stCondLst>
                                  <p:childTnLst>
                                    <p:set>
                                      <p:cBhvr>
                                        <p:cTn id="67" dur="1" fill="hold">
                                          <p:stCondLst>
                                            <p:cond delay="0"/>
                                          </p:stCondLst>
                                        </p:cTn>
                                        <p:tgtEl>
                                          <p:spTgt spid="17"/>
                                        </p:tgtEl>
                                        <p:attrNameLst>
                                          <p:attrName>style.visibility</p:attrName>
                                        </p:attrNameLst>
                                      </p:cBhvr>
                                      <p:to>
                                        <p:strVal val="visible"/>
                                      </p:to>
                                    </p:set>
                                    <p:animEffect transition="in" filter="fade">
                                      <p:cBhvr>
                                        <p:cTn id="68" dur="400"/>
                                        <p:tgtEl>
                                          <p:spTgt spid="17"/>
                                        </p:tgtEl>
                                      </p:cBhvr>
                                    </p:animEffect>
                                    <p:anim calcmode="lin" valueType="num">
                                      <p:cBhvr>
                                        <p:cTn id="69" dur="400" fill="hold"/>
                                        <p:tgtEl>
                                          <p:spTgt spid="17"/>
                                        </p:tgtEl>
                                        <p:attrNameLst>
                                          <p:attrName>ppt_x</p:attrName>
                                        </p:attrNameLst>
                                      </p:cBhvr>
                                      <p:tavLst>
                                        <p:tav tm="0">
                                          <p:val>
                                            <p:strVal val="#ppt_x"/>
                                          </p:val>
                                        </p:tav>
                                        <p:tav tm="100000">
                                          <p:val>
                                            <p:strVal val="#ppt_x"/>
                                          </p:val>
                                        </p:tav>
                                      </p:tavLst>
                                    </p:anim>
                                    <p:anim calcmode="lin" valueType="num">
                                      <p:cBhvr>
                                        <p:cTn id="70" dur="400" fill="hold"/>
                                        <p:tgtEl>
                                          <p:spTgt spid="17"/>
                                        </p:tgtEl>
                                        <p:attrNameLst>
                                          <p:attrName>ppt_y</p:attrName>
                                        </p:attrNameLst>
                                      </p:cBhvr>
                                      <p:tavLst>
                                        <p:tav tm="0">
                                          <p:val>
                                            <p:strVal val="#ppt_y+.06"/>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fade">
                                      <p:cBhvr>
                                        <p:cTn id="73" dur="400"/>
                                        <p:tgtEl>
                                          <p:spTgt spid="18"/>
                                        </p:tgtEl>
                                      </p:cBhvr>
                                    </p:animEffect>
                                    <p:anim calcmode="lin" valueType="num">
                                      <p:cBhvr>
                                        <p:cTn id="74" dur="400" fill="hold"/>
                                        <p:tgtEl>
                                          <p:spTgt spid="18"/>
                                        </p:tgtEl>
                                        <p:attrNameLst>
                                          <p:attrName>ppt_x</p:attrName>
                                        </p:attrNameLst>
                                      </p:cBhvr>
                                      <p:tavLst>
                                        <p:tav tm="0">
                                          <p:val>
                                            <p:strVal val="#ppt_x"/>
                                          </p:val>
                                        </p:tav>
                                        <p:tav tm="100000">
                                          <p:val>
                                            <p:strVal val="#ppt_x"/>
                                          </p:val>
                                        </p:tav>
                                      </p:tavLst>
                                    </p:anim>
                                    <p:anim calcmode="lin" valueType="num">
                                      <p:cBhvr>
                                        <p:cTn id="75" dur="400" fill="hold"/>
                                        <p:tgtEl>
                                          <p:spTgt spid="18"/>
                                        </p:tgtEl>
                                        <p:attrNameLst>
                                          <p:attrName>ppt_y</p:attrName>
                                        </p:attrNameLst>
                                      </p:cBhvr>
                                      <p:tavLst>
                                        <p:tav tm="0">
                                          <p:val>
                                            <p:strVal val="#ppt_y+.06"/>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19"/>
                                        </p:tgtEl>
                                        <p:attrNameLst>
                                          <p:attrName>style.visibility</p:attrName>
                                        </p:attrNameLst>
                                      </p:cBhvr>
                                      <p:to>
                                        <p:strVal val="visible"/>
                                      </p:to>
                                    </p:set>
                                    <p:animEffect transition="in" filter="fade">
                                      <p:cBhvr>
                                        <p:cTn id="78" dur="400"/>
                                        <p:tgtEl>
                                          <p:spTgt spid="19"/>
                                        </p:tgtEl>
                                      </p:cBhvr>
                                    </p:animEffect>
                                    <p:anim calcmode="lin" valueType="num">
                                      <p:cBhvr>
                                        <p:cTn id="79" dur="400" fill="hold"/>
                                        <p:tgtEl>
                                          <p:spTgt spid="19"/>
                                        </p:tgtEl>
                                        <p:attrNameLst>
                                          <p:attrName>ppt_x</p:attrName>
                                        </p:attrNameLst>
                                      </p:cBhvr>
                                      <p:tavLst>
                                        <p:tav tm="0">
                                          <p:val>
                                            <p:strVal val="#ppt_x"/>
                                          </p:val>
                                        </p:tav>
                                        <p:tav tm="100000">
                                          <p:val>
                                            <p:strVal val="#ppt_x"/>
                                          </p:val>
                                        </p:tav>
                                      </p:tavLst>
                                    </p:anim>
                                    <p:anim calcmode="lin" valueType="num">
                                      <p:cBhvr>
                                        <p:cTn id="80" dur="400" fill="hold"/>
                                        <p:tgtEl>
                                          <p:spTgt spid="19"/>
                                        </p:tgtEl>
                                        <p:attrNameLst>
                                          <p:attrName>ppt_y</p:attrName>
                                        </p:attrNameLst>
                                      </p:cBhvr>
                                      <p:tavLst>
                                        <p:tav tm="0">
                                          <p:val>
                                            <p:strVal val="#ppt_y+.06"/>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20"/>
                                        </p:tgtEl>
                                        <p:attrNameLst>
                                          <p:attrName>style.visibility</p:attrName>
                                        </p:attrNameLst>
                                      </p:cBhvr>
                                      <p:to>
                                        <p:strVal val="visible"/>
                                      </p:to>
                                    </p:set>
                                    <p:animEffect transition="in" filter="fade">
                                      <p:cBhvr>
                                        <p:cTn id="83" dur="400"/>
                                        <p:tgtEl>
                                          <p:spTgt spid="20"/>
                                        </p:tgtEl>
                                      </p:cBhvr>
                                    </p:animEffect>
                                    <p:anim calcmode="lin" valueType="num">
                                      <p:cBhvr>
                                        <p:cTn id="84" dur="400" fill="hold"/>
                                        <p:tgtEl>
                                          <p:spTgt spid="20"/>
                                        </p:tgtEl>
                                        <p:attrNameLst>
                                          <p:attrName>ppt_x</p:attrName>
                                        </p:attrNameLst>
                                      </p:cBhvr>
                                      <p:tavLst>
                                        <p:tav tm="0">
                                          <p:val>
                                            <p:strVal val="#ppt_x"/>
                                          </p:val>
                                        </p:tav>
                                        <p:tav tm="100000">
                                          <p:val>
                                            <p:strVal val="#ppt_x"/>
                                          </p:val>
                                        </p:tav>
                                      </p:tavLst>
                                    </p:anim>
                                    <p:anim calcmode="lin" valueType="num">
                                      <p:cBhvr>
                                        <p:cTn id="85" dur="400" fill="hold"/>
                                        <p:tgtEl>
                                          <p:spTgt spid="20"/>
                                        </p:tgtEl>
                                        <p:attrNameLst>
                                          <p:attrName>ppt_y</p:attrName>
                                        </p:attrNameLst>
                                      </p:cBhvr>
                                      <p:tavLst>
                                        <p:tav tm="0">
                                          <p:val>
                                            <p:strVal val="#ppt_y+.06"/>
                                          </p:val>
                                        </p:tav>
                                        <p:tav tm="100000">
                                          <p:val>
                                            <p:strVal val="#ppt_y"/>
                                          </p:val>
                                        </p:tav>
                                      </p:tavLst>
                                    </p:anim>
                                  </p:childTnLst>
                                </p:cTn>
                              </p:par>
                            </p:childTnLst>
                          </p:cTn>
                        </p:par>
                        <p:par>
                          <p:cTn id="86" fill="hold">
                            <p:stCondLst>
                              <p:cond delay="3290"/>
                            </p:stCondLst>
                            <p:childTnLst>
                              <p:par>
                                <p:cTn id="87" presetID="10" presetClass="entr" presetSubtype="0" fill="hold" grpId="0" nodeType="afterEffect">
                                  <p:stCondLst>
                                    <p:cond delay="0"/>
                                  </p:stCondLst>
                                  <p:childTnLst>
                                    <p:set>
                                      <p:cBhvr>
                                        <p:cTn id="88" dur="1" fill="hold">
                                          <p:stCondLst>
                                            <p:cond delay="0"/>
                                          </p:stCondLst>
                                        </p:cTn>
                                        <p:tgtEl>
                                          <p:spTgt spid="21"/>
                                        </p:tgtEl>
                                        <p:attrNameLst>
                                          <p:attrName>style.visibility</p:attrName>
                                        </p:attrNameLst>
                                      </p:cBhvr>
                                      <p:to>
                                        <p:strVal val="visible"/>
                                      </p:to>
                                    </p:set>
                                    <p:animEffect transition="in" filter="fade">
                                      <p:cBhvr>
                                        <p:cTn id="89" dur="400"/>
                                        <p:tgtEl>
                                          <p:spTgt spid="21"/>
                                        </p:tgtEl>
                                      </p:cBhvr>
                                    </p:animEffect>
                                  </p:childTnLst>
                                </p:cTn>
                              </p:par>
                            </p:childTnLst>
                          </p:cTn>
                        </p:par>
                        <p:par>
                          <p:cTn id="90" fill="hold">
                            <p:stCondLst>
                              <p:cond delay="3690"/>
                            </p:stCondLst>
                            <p:childTnLst>
                              <p:par>
                                <p:cTn id="91" presetID="10" presetClass="entr" presetSubtype="0" fill="hold" grpId="0" nodeType="afterEffect">
                                  <p:stCondLst>
                                    <p:cond delay="120"/>
                                  </p:stCondLst>
                                  <p:childTnLst>
                                    <p:set>
                                      <p:cBhvr>
                                        <p:cTn id="92" dur="1" fill="hold">
                                          <p:stCondLst>
                                            <p:cond delay="0"/>
                                          </p:stCondLst>
                                        </p:cTn>
                                        <p:tgtEl>
                                          <p:spTgt spid="22"/>
                                        </p:tgtEl>
                                        <p:attrNameLst>
                                          <p:attrName>style.visibility</p:attrName>
                                        </p:attrNameLst>
                                      </p:cBhvr>
                                      <p:to>
                                        <p:strVal val="visible"/>
                                      </p:to>
                                    </p:set>
                                    <p:animEffect transition="in" filter="fade">
                                      <p:cBhvr>
                                        <p:cTn id="93" dur="500"/>
                                        <p:tgtEl>
                                          <p:spTgt spid="22"/>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3"/>
                                        </p:tgtEl>
                                        <p:attrNameLst>
                                          <p:attrName>style.visibility</p:attrName>
                                        </p:attrNameLst>
                                      </p:cBhvr>
                                      <p:to>
                                        <p:strVal val="visible"/>
                                      </p:to>
                                    </p:set>
                                    <p:animEffect transition="in" filter="fade">
                                      <p:cBhvr>
                                        <p:cTn id="96"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Graphic spid="10" grpId="0">
        <p:bldAsOne/>
      </p:bldGraphic>
      <p:bldP spid="7" grpId="0"/>
      <p:bldP spid="8" grpId="0"/>
      <p:bldP spid="9" grpId="0" animBg="1"/>
      <p:bldP spid="11" grpId="0"/>
      <p:bldP spid="12" grpId="0"/>
      <p:bldP spid="13" grpId="0" animBg="1"/>
      <p:bldP spid="15" grpId="0"/>
      <p:bldP spid="16" grpId="0"/>
      <p:bldP spid="17" grpId="0" animBg="1"/>
      <p:bldP spid="19" grpId="0"/>
      <p:bldP spid="20" grpId="0"/>
      <p:bldP spid="21" grpId="0"/>
      <p:bldP spid="22" grpId="0"/>
      <p:bldP spid="23" grpId="0"/>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t"/>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2/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9144000" cy="274320"/>
          </a:xfrm>
          <a:prstGeom prst="rect">
            <a:avLst/>
          </a:prstGeom>
          <a:noFill/>
          <a:ln/>
        </p:spPr>
        <p:txBody>
          <a:bodyPr wrap="square" lIns="0" tIns="0" rIns="0" bIns="0" rtlCol="0" anchor="t"/>
          <a:lstStyle/>
          <a:p>
            <a:pPr indent="0" marL="0">
              <a:buNone/>
            </a:pPr>
            <a:r>
              <a:rPr lang="en-US" sz="1100" b="1" spc="300" kern="0" dirty="0">
                <a:solidFill>
                  <a:srgbClr val="F5A623"/>
                </a:solidFill>
                <a:latin typeface="Calibri" pitchFamily="34" charset="0"/>
                <a:ea typeface="Calibri" pitchFamily="34" charset="-122"/>
                <a:cs typeface="Calibri" pitchFamily="34" charset="-120"/>
              </a:rPr>
              <a:t>THE ASK</a:t>
            </a:r>
            <a:endParaRPr lang="en-US" sz="1100" dirty="0"/>
          </a:p>
        </p:txBody>
      </p:sp>
      <p:sp>
        <p:nvSpPr>
          <p:cNvPr id="5" name="title"/>
          <p:cNvSpPr txBox="1"/>
          <p:nvPr/>
        </p:nvSpPr>
        <p:spPr>
          <a:xfrm>
            <a:off x="548640" y="1170432"/>
            <a:ext cx="11094415"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Don’t believe us. Test it in 90 days</a:t>
            </a:r>
            <a:endParaRPr lang="en-US" sz="3200" dirty="0"/>
          </a:p>
        </p:txBody>
      </p:sp>
      <p:sp>
        <p:nvSpPr>
          <p:cNvPr id="6" name="pr0"/>
          <p:cNvSpPr/>
          <p:nvPr/>
        </p:nvSpPr>
        <p:spPr>
          <a:xfrm>
            <a:off x="548640" y="2011680"/>
            <a:ext cx="6537960" cy="914400"/>
          </a:xfrm>
          <a:prstGeom prst="roundRect">
            <a:avLst>
              <a:gd name="adj" fmla="val 12000"/>
            </a:avLst>
          </a:prstGeom>
          <a:solidFill>
            <a:srgbClr val="1C2447"/>
          </a:solidFill>
          <a:ln w="15875">
            <a:solidFill>
              <a:srgbClr val="F5A623"/>
            </a:solidFill>
            <a:prstDash val="solid"/>
          </a:ln>
        </p:spPr>
      </p:sp>
      <p:sp>
        <p:nvSpPr>
          <p:cNvPr id="7" name="prH0"/>
          <p:cNvSpPr txBox="1"/>
          <p:nvPr/>
        </p:nvSpPr>
        <p:spPr>
          <a:xfrm>
            <a:off x="749808" y="2121408"/>
            <a:ext cx="1417320" cy="713232"/>
          </a:xfrm>
          <a:prstGeom prst="rect">
            <a:avLst/>
          </a:prstGeom>
          <a:noFill/>
          <a:ln/>
        </p:spPr>
        <p:txBody>
          <a:bodyPr wrap="square" lIns="0" tIns="0" rIns="0" bIns="0" rtlCol="0" anchor="t"/>
          <a:lstStyle/>
          <a:p>
            <a:pPr indent="0" marL="0">
              <a:buNone/>
            </a:pPr>
            <a:r>
              <a:rPr lang="en-US" sz="1050" b="1" spc="200" kern="0" dirty="0">
                <a:solidFill>
                  <a:srgbClr val="98A2C0"/>
                </a:solidFill>
                <a:latin typeface="Calibri" pitchFamily="34" charset="0"/>
                <a:ea typeface="Calibri" pitchFamily="34" charset="-122"/>
                <a:cs typeface="Calibri" pitchFamily="34" charset="-120"/>
              </a:rPr>
              <a:t>DAYS 1–30</a:t>
            </a:r>
            <a:endParaRPr lang="en-US" sz="1050" dirty="0"/>
          </a:p>
          <a:p>
            <a:pPr indent="0" marL="0">
              <a:buNone/>
            </a:pPr>
            <a:r>
              <a:rPr lang="en-US" sz="1700" b="1" dirty="0">
                <a:solidFill>
                  <a:srgbClr val="FFFFFF"/>
                </a:solidFill>
                <a:latin typeface="Cambria" pitchFamily="34" charset="0"/>
                <a:ea typeface="Cambria" pitchFamily="34" charset="-122"/>
                <a:cs typeface="Cambria" pitchFamily="34" charset="-120"/>
              </a:rPr>
              <a:t>Coverage</a:t>
            </a:r>
            <a:endParaRPr lang="en-US" sz="1050" dirty="0"/>
          </a:p>
        </p:txBody>
      </p:sp>
      <p:sp>
        <p:nvSpPr>
          <p:cNvPr id="8" name="prT0"/>
          <p:cNvSpPr txBox="1"/>
          <p:nvPr/>
        </p:nvSpPr>
        <p:spPr>
          <a:xfrm>
            <a:off x="2240280" y="2066544"/>
            <a:ext cx="3127248" cy="804672"/>
          </a:xfrm>
          <a:prstGeom prst="rect">
            <a:avLst/>
          </a:prstGeom>
          <a:noFill/>
          <a:ln/>
        </p:spPr>
        <p:txBody>
          <a:bodyPr wrap="square" lIns="0" tIns="0" rIns="0" bIns="0" rtlCol="0" anchor="ctr"/>
          <a:lstStyle/>
          <a:p>
            <a:pPr indent="0" marL="0">
              <a:buNone/>
            </a:pPr>
            <a:r>
              <a:rPr lang="en-US" sz="1200" dirty="0">
                <a:solidFill>
                  <a:srgbClr val="B9C2D8"/>
                </a:solidFill>
                <a:latin typeface="Calibri" pitchFamily="34" charset="0"/>
                <a:ea typeface="Calibri" pitchFamily="34" charset="-122"/>
                <a:cs typeface="Calibri" pitchFamily="34" charset="-120"/>
              </a:rPr>
              <a:t>Audit Jio’s microwave links and data readiness in Mumbai and candidate NE-monsoon cities.</a:t>
            </a:r>
            <a:endParaRPr lang="en-US" sz="1200" dirty="0"/>
          </a:p>
        </p:txBody>
      </p:sp>
      <p:sp>
        <p:nvSpPr>
          <p:cNvPr id="9" name="prG0"/>
          <p:cNvSpPr/>
          <p:nvPr/>
        </p:nvSpPr>
        <p:spPr>
          <a:xfrm>
            <a:off x="5440680" y="2130552"/>
            <a:ext cx="1508760" cy="676656"/>
          </a:xfrm>
          <a:prstGeom prst="roundRect">
            <a:avLst>
              <a:gd name="adj" fmla="val 13514"/>
            </a:avLst>
          </a:prstGeom>
          <a:solidFill>
            <a:srgbClr val="2B2208"/>
          </a:solidFill>
          <a:ln w="9525">
            <a:solidFill>
              <a:srgbClr val="F5A623"/>
            </a:solidFill>
            <a:prstDash val="solid"/>
          </a:ln>
        </p:spPr>
      </p:sp>
      <p:sp>
        <p:nvSpPr>
          <p:cNvPr id="10" name="prGT0"/>
          <p:cNvSpPr txBox="1"/>
          <p:nvPr/>
        </p:nvSpPr>
        <p:spPr>
          <a:xfrm>
            <a:off x="5504688" y="2130552"/>
            <a:ext cx="1380744" cy="676656"/>
          </a:xfrm>
          <a:prstGeom prst="rect">
            <a:avLst/>
          </a:prstGeom>
          <a:noFill/>
          <a:ln/>
        </p:spPr>
        <p:txBody>
          <a:bodyPr wrap="square" lIns="0" tIns="0" rIns="0" bIns="0" rtlCol="0" anchor="ctr"/>
          <a:lstStyle/>
          <a:p>
            <a:pPr algn="ctr" indent="0" marL="0">
              <a:buNone/>
            </a:pPr>
            <a:r>
              <a:rPr lang="en-US" sz="1050" b="1" dirty="0">
                <a:solidFill>
                  <a:srgbClr val="F5A623"/>
                </a:solidFill>
                <a:latin typeface="Calibri" pitchFamily="34" charset="0"/>
                <a:ea typeface="Calibri" pitchFamily="34" charset="-122"/>
                <a:cs typeface="Calibri" pitchFamily="34" charset="-120"/>
              </a:rPr>
              <a:t>GATE 1 · COVERAGE</a:t>
            </a:r>
            <a:endParaRPr lang="en-US" sz="1050" dirty="0"/>
          </a:p>
          <a:p>
            <a:pPr algn="ctr" indent="0" marL="0">
              <a:buNone/>
            </a:pPr>
            <a:r>
              <a:rPr lang="en-US" sz="1050" dirty="0">
                <a:solidFill>
                  <a:srgbClr val="EEF1F7"/>
                </a:solidFill>
                <a:latin typeface="Calibri" pitchFamily="34" charset="0"/>
                <a:ea typeface="Calibri" pitchFamily="34" charset="-122"/>
                <a:cs typeface="Calibri" pitchFamily="34" charset="-120"/>
              </a:rPr>
              <a:t>enough usable coverage?</a:t>
            </a:r>
            <a:endParaRPr lang="en-US" sz="1050" dirty="0"/>
          </a:p>
        </p:txBody>
      </p:sp>
      <p:sp>
        <p:nvSpPr>
          <p:cNvPr id="11" name="pr1"/>
          <p:cNvSpPr/>
          <p:nvPr/>
        </p:nvSpPr>
        <p:spPr>
          <a:xfrm>
            <a:off x="548640" y="3035808"/>
            <a:ext cx="6537960" cy="914400"/>
          </a:xfrm>
          <a:prstGeom prst="roundRect">
            <a:avLst>
              <a:gd name="adj" fmla="val 12000"/>
            </a:avLst>
          </a:prstGeom>
          <a:solidFill>
            <a:srgbClr val="141B36"/>
          </a:solidFill>
          <a:ln w="9525">
            <a:solidFill>
              <a:srgbClr val="2A3357"/>
            </a:solidFill>
            <a:prstDash val="solid"/>
          </a:ln>
        </p:spPr>
      </p:sp>
      <p:sp>
        <p:nvSpPr>
          <p:cNvPr id="12" name="prH1"/>
          <p:cNvSpPr txBox="1"/>
          <p:nvPr/>
        </p:nvSpPr>
        <p:spPr>
          <a:xfrm>
            <a:off x="749808" y="3145536"/>
            <a:ext cx="1417320" cy="713232"/>
          </a:xfrm>
          <a:prstGeom prst="rect">
            <a:avLst/>
          </a:prstGeom>
          <a:noFill/>
          <a:ln/>
        </p:spPr>
        <p:txBody>
          <a:bodyPr wrap="square" lIns="0" tIns="0" rIns="0" bIns="0" rtlCol="0" anchor="t"/>
          <a:lstStyle/>
          <a:p>
            <a:pPr indent="0" marL="0">
              <a:buNone/>
            </a:pPr>
            <a:r>
              <a:rPr lang="en-US" sz="1050" b="1" spc="200" kern="0" dirty="0">
                <a:solidFill>
                  <a:srgbClr val="98A2C0"/>
                </a:solidFill>
                <a:latin typeface="Calibri" pitchFamily="34" charset="0"/>
                <a:ea typeface="Calibri" pitchFamily="34" charset="-122"/>
                <a:cs typeface="Calibri" pitchFamily="34" charset="-120"/>
              </a:rPr>
              <a:t>DAYS 15–60</a:t>
            </a:r>
            <a:endParaRPr lang="en-US" sz="1050" dirty="0"/>
          </a:p>
          <a:p>
            <a:pPr indent="0" marL="0">
              <a:buNone/>
            </a:pPr>
            <a:r>
              <a:rPr lang="en-US" sz="1700" b="1" dirty="0">
                <a:solidFill>
                  <a:srgbClr val="FFFFFF"/>
                </a:solidFill>
                <a:latin typeface="Cambria" pitchFamily="34" charset="0"/>
                <a:ea typeface="Cambria" pitchFamily="34" charset="-122"/>
                <a:cs typeface="Cambria" pitchFamily="34" charset="-120"/>
              </a:rPr>
              <a:t>Accuracy</a:t>
            </a:r>
            <a:endParaRPr lang="en-US" sz="1050" dirty="0"/>
          </a:p>
        </p:txBody>
      </p:sp>
      <p:sp>
        <p:nvSpPr>
          <p:cNvPr id="13" name="prT1"/>
          <p:cNvSpPr txBox="1"/>
          <p:nvPr/>
        </p:nvSpPr>
        <p:spPr>
          <a:xfrm>
            <a:off x="2240280" y="3090672"/>
            <a:ext cx="3127248" cy="804672"/>
          </a:xfrm>
          <a:prstGeom prst="rect">
            <a:avLst/>
          </a:prstGeom>
          <a:noFill/>
          <a:ln/>
        </p:spPr>
        <p:txBody>
          <a:bodyPr wrap="square" lIns="0" tIns="0" rIns="0" bIns="0" rtlCol="0" anchor="ctr"/>
          <a:lstStyle/>
          <a:p>
            <a:pPr indent="0" marL="0">
              <a:buNone/>
            </a:pPr>
            <a:r>
              <a:rPr lang="en-US" sz="1200" dirty="0">
                <a:solidFill>
                  <a:srgbClr val="B9C2D8"/>
                </a:solidFill>
                <a:latin typeface="Calibri" pitchFamily="34" charset="0"/>
                <a:ea typeface="Calibri" pitchFamily="34" charset="-122"/>
                <a:cs typeface="Calibri" pitchFamily="34" charset="-120"/>
              </a:rPr>
              <a:t>Back-test archived Mumbai monsoon data; score every source mix against held-out gauges.</a:t>
            </a:r>
            <a:endParaRPr lang="en-US" sz="1200" dirty="0"/>
          </a:p>
        </p:txBody>
      </p:sp>
      <p:sp>
        <p:nvSpPr>
          <p:cNvPr id="14" name="prG1"/>
          <p:cNvSpPr/>
          <p:nvPr/>
        </p:nvSpPr>
        <p:spPr>
          <a:xfrm>
            <a:off x="5440680" y="3154680"/>
            <a:ext cx="1508760" cy="676656"/>
          </a:xfrm>
          <a:prstGeom prst="roundRect">
            <a:avLst>
              <a:gd name="adj" fmla="val 13514"/>
            </a:avLst>
          </a:prstGeom>
          <a:solidFill>
            <a:srgbClr val="2B2208"/>
          </a:solidFill>
          <a:ln w="9525">
            <a:solidFill>
              <a:srgbClr val="F5A623"/>
            </a:solidFill>
            <a:prstDash val="solid"/>
          </a:ln>
        </p:spPr>
      </p:sp>
      <p:sp>
        <p:nvSpPr>
          <p:cNvPr id="15" name="prGT1"/>
          <p:cNvSpPr txBox="1"/>
          <p:nvPr/>
        </p:nvSpPr>
        <p:spPr>
          <a:xfrm>
            <a:off x="5504688" y="3154680"/>
            <a:ext cx="1380744" cy="676656"/>
          </a:xfrm>
          <a:prstGeom prst="rect">
            <a:avLst/>
          </a:prstGeom>
          <a:noFill/>
          <a:ln/>
        </p:spPr>
        <p:txBody>
          <a:bodyPr wrap="square" lIns="0" tIns="0" rIns="0" bIns="0" rtlCol="0" anchor="ctr"/>
          <a:lstStyle/>
          <a:p>
            <a:pPr algn="ctr" indent="0" marL="0">
              <a:buNone/>
            </a:pPr>
            <a:r>
              <a:rPr lang="en-US" sz="1050" b="1" dirty="0">
                <a:solidFill>
                  <a:srgbClr val="F5A623"/>
                </a:solidFill>
                <a:latin typeface="Calibri" pitchFamily="34" charset="0"/>
                <a:ea typeface="Calibri" pitchFamily="34" charset="-122"/>
                <a:cs typeface="Calibri" pitchFamily="34" charset="-120"/>
              </a:rPr>
              <a:t>GATE 2 · ACCURACY</a:t>
            </a:r>
            <a:endParaRPr lang="en-US" sz="1050" dirty="0"/>
          </a:p>
          <a:p>
            <a:pPr algn="ctr" indent="0" marL="0">
              <a:buNone/>
            </a:pPr>
            <a:r>
              <a:rPr lang="en-US" sz="1050" dirty="0">
                <a:solidFill>
                  <a:srgbClr val="EEF1F7"/>
                </a:solidFill>
                <a:latin typeface="Calibri" pitchFamily="34" charset="0"/>
                <a:ea typeface="Calibri" pitchFamily="34" charset="-122"/>
                <a:cs typeface="Calibri" pitchFamily="34" charset="-120"/>
              </a:rPr>
              <a:t>fused system clears every gate?</a:t>
            </a:r>
            <a:endParaRPr lang="en-US" sz="1050" dirty="0"/>
          </a:p>
        </p:txBody>
      </p:sp>
      <p:sp>
        <p:nvSpPr>
          <p:cNvPr id="16" name="pr2"/>
          <p:cNvSpPr/>
          <p:nvPr/>
        </p:nvSpPr>
        <p:spPr>
          <a:xfrm>
            <a:off x="548640" y="4059936"/>
            <a:ext cx="6537960" cy="914400"/>
          </a:xfrm>
          <a:prstGeom prst="roundRect">
            <a:avLst>
              <a:gd name="adj" fmla="val 12000"/>
            </a:avLst>
          </a:prstGeom>
          <a:solidFill>
            <a:srgbClr val="141B36"/>
          </a:solidFill>
          <a:ln w="9525">
            <a:solidFill>
              <a:srgbClr val="2A3357"/>
            </a:solidFill>
            <a:prstDash val="solid"/>
          </a:ln>
        </p:spPr>
      </p:sp>
      <p:sp>
        <p:nvSpPr>
          <p:cNvPr id="17" name="prH2"/>
          <p:cNvSpPr txBox="1"/>
          <p:nvPr/>
        </p:nvSpPr>
        <p:spPr>
          <a:xfrm>
            <a:off x="749808" y="4169664"/>
            <a:ext cx="1417320" cy="713232"/>
          </a:xfrm>
          <a:prstGeom prst="rect">
            <a:avLst/>
          </a:prstGeom>
          <a:noFill/>
          <a:ln/>
        </p:spPr>
        <p:txBody>
          <a:bodyPr wrap="square" lIns="0" tIns="0" rIns="0" bIns="0" rtlCol="0" anchor="t"/>
          <a:lstStyle/>
          <a:p>
            <a:pPr indent="0" marL="0">
              <a:buNone/>
            </a:pPr>
            <a:r>
              <a:rPr lang="en-US" sz="1050" b="1" spc="200" kern="0" dirty="0">
                <a:solidFill>
                  <a:srgbClr val="98A2C0"/>
                </a:solidFill>
                <a:latin typeface="Calibri" pitchFamily="34" charset="0"/>
                <a:ea typeface="Calibri" pitchFamily="34" charset="-122"/>
                <a:cs typeface="Calibri" pitchFamily="34" charset="-120"/>
              </a:rPr>
              <a:t>DAYS 61–90</a:t>
            </a:r>
            <a:endParaRPr lang="en-US" sz="1050" dirty="0"/>
          </a:p>
          <a:p>
            <a:pPr indent="0" marL="0">
              <a:buNone/>
            </a:pPr>
            <a:r>
              <a:rPr lang="en-US" sz="1700" b="1" dirty="0">
                <a:solidFill>
                  <a:srgbClr val="FFFFFF"/>
                </a:solidFill>
                <a:latin typeface="Cambria" pitchFamily="34" charset="0"/>
                <a:ea typeface="Cambria" pitchFamily="34" charset="-122"/>
                <a:cs typeface="Cambria" pitchFamily="34" charset="-120"/>
              </a:rPr>
              <a:t>Value</a:t>
            </a:r>
            <a:endParaRPr lang="en-US" sz="1050" dirty="0"/>
          </a:p>
        </p:txBody>
      </p:sp>
      <p:sp>
        <p:nvSpPr>
          <p:cNvPr id="18" name="prT2"/>
          <p:cNvSpPr txBox="1"/>
          <p:nvPr/>
        </p:nvSpPr>
        <p:spPr>
          <a:xfrm>
            <a:off x="2240280" y="4114800"/>
            <a:ext cx="3127248" cy="804672"/>
          </a:xfrm>
          <a:prstGeom prst="rect">
            <a:avLst/>
          </a:prstGeom>
          <a:noFill/>
          <a:ln/>
        </p:spPr>
        <p:txBody>
          <a:bodyPr wrap="square" lIns="0" tIns="0" rIns="0" bIns="0" rtlCol="0" anchor="ctr"/>
          <a:lstStyle/>
          <a:p>
            <a:pPr indent="0" marL="0">
              <a:buNone/>
            </a:pPr>
            <a:r>
              <a:rPr lang="en-US" sz="1200" dirty="0">
                <a:solidFill>
                  <a:srgbClr val="B9C2D8"/>
                </a:solidFill>
                <a:latin typeface="Calibri" pitchFamily="34" charset="0"/>
                <a:ea typeface="Calibri" pitchFamily="34" charset="-122"/>
                <a:cs typeface="Calibri" pitchFamily="34" charset="-120"/>
              </a:rPr>
              <a:t>Live shadow test in one Reliance operation, in the city the audit selects. Compare matched zones with and without JioMausam.</a:t>
            </a:r>
            <a:endParaRPr lang="en-US" sz="1200" dirty="0"/>
          </a:p>
        </p:txBody>
      </p:sp>
      <p:sp>
        <p:nvSpPr>
          <p:cNvPr id="19" name="prG2"/>
          <p:cNvSpPr/>
          <p:nvPr/>
        </p:nvSpPr>
        <p:spPr>
          <a:xfrm>
            <a:off x="5440680" y="4178808"/>
            <a:ext cx="1508760" cy="676656"/>
          </a:xfrm>
          <a:prstGeom prst="roundRect">
            <a:avLst>
              <a:gd name="adj" fmla="val 13514"/>
            </a:avLst>
          </a:prstGeom>
          <a:solidFill>
            <a:srgbClr val="2B2208"/>
          </a:solidFill>
          <a:ln w="9525">
            <a:solidFill>
              <a:srgbClr val="F5A623"/>
            </a:solidFill>
            <a:prstDash val="solid"/>
          </a:ln>
        </p:spPr>
      </p:sp>
      <p:sp>
        <p:nvSpPr>
          <p:cNvPr id="20" name="prGT2"/>
          <p:cNvSpPr txBox="1"/>
          <p:nvPr/>
        </p:nvSpPr>
        <p:spPr>
          <a:xfrm>
            <a:off x="5504688" y="4178808"/>
            <a:ext cx="1380744" cy="676656"/>
          </a:xfrm>
          <a:prstGeom prst="rect">
            <a:avLst/>
          </a:prstGeom>
          <a:noFill/>
          <a:ln/>
        </p:spPr>
        <p:txBody>
          <a:bodyPr wrap="square" lIns="0" tIns="0" rIns="0" bIns="0" rtlCol="0" anchor="ctr"/>
          <a:lstStyle/>
          <a:p>
            <a:pPr algn="ctr" indent="0" marL="0">
              <a:buNone/>
            </a:pPr>
            <a:r>
              <a:rPr lang="en-US" sz="1050" b="1" dirty="0">
                <a:solidFill>
                  <a:srgbClr val="F5A623"/>
                </a:solidFill>
                <a:latin typeface="Calibri" pitchFamily="34" charset="0"/>
                <a:ea typeface="Calibri" pitchFamily="34" charset="-122"/>
                <a:cs typeface="Calibri" pitchFamily="34" charset="-120"/>
              </a:rPr>
              <a:t>GATE 3 · VALUE</a:t>
            </a:r>
            <a:endParaRPr lang="en-US" sz="1050" dirty="0"/>
          </a:p>
          <a:p>
            <a:pPr algn="ctr" indent="0" marL="0">
              <a:buNone/>
            </a:pPr>
            <a:r>
              <a:rPr lang="en-US" sz="1050" dirty="0">
                <a:solidFill>
                  <a:srgbClr val="EEF1F7"/>
                </a:solidFill>
                <a:latin typeface="Calibri" pitchFamily="34" charset="0"/>
                <a:ea typeface="Calibri" pitchFamily="34" charset="-122"/>
                <a:cs typeface="Calibri" pitchFamily="34" charset="-120"/>
              </a:rPr>
              <a:t>improves a real Reliance operation?</a:t>
            </a:r>
            <a:endParaRPr lang="en-US" sz="1050" dirty="0"/>
          </a:p>
        </p:txBody>
      </p:sp>
      <p:sp>
        <p:nvSpPr>
          <p:cNvPr id="21" name="rmK"/>
          <p:cNvSpPr txBox="1"/>
          <p:nvPr/>
        </p:nvSpPr>
        <p:spPr>
          <a:xfrm>
            <a:off x="7360920" y="2011680"/>
            <a:ext cx="4279392" cy="27432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ROADMAP</a:t>
            </a:r>
            <a:endParaRPr lang="en-US" sz="1100" dirty="0"/>
          </a:p>
        </p:txBody>
      </p:sp>
      <p:graphicFrame>
        <p:nvGraphicFramePr>
          <p:cNvPr id="11" name="rmTable"/>
          <p:cNvGraphicFramePr>
            <a:graphicFrameLocks noGrp="1"/>
          </p:cNvGraphicFramePr>
          <p:nvPr>
            <p:extLst>
              <p:ext uri="{D42A27DB-BD31-4B8C-83A1-F6EECF244321}">
                <p14:modId xmlns:p14="http://schemas.microsoft.com/office/powerpoint/2010/main" val="1579011935"/>
              </p:ext>
            </p:extLst>
          </p:nvPr>
        </p:nvGraphicFramePr>
        <p:xfrm>
          <a:off x="7360920" y="2331720"/>
          <a:ext cx="4279392" cy="914400"/>
        </p:xfrm>
        <a:graphic>
          <a:graphicData uri="http://schemas.openxmlformats.org/drawingml/2006/table">
            <a:tbl>
              <a:tblPr/>
              <a:tblGrid>
                <a:gridCol w="731520"/>
                <a:gridCol w="1874520"/>
                <a:gridCol w="1673352"/>
              </a:tblGrid>
              <a:tr h="438912">
                <a:tc>
                  <a:txBody>
                    <a:bodyPr/>
                    <a:lstStyle/>
                    <a:p>
                      <a:pPr indent="0" marL="0">
                        <a:buNone/>
                      </a:pPr>
                      <a:endParaRPr lang="en-US" sz="11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C2447"/>
                    </a:solidFill>
                  </a:tcPr>
                </a:tc>
                <a:tc>
                  <a:txBody>
                    <a:bodyPr/>
                    <a:lstStyle/>
                    <a:p>
                      <a:pPr indent="0" marL="0">
                        <a:buNone/>
                      </a:pPr>
                      <a:r>
                        <a:rPr lang="en-US" sz="1100" b="1" dirty="0">
                          <a:solidFill>
                            <a:srgbClr val="F5A623"/>
                          </a:solidFill>
                          <a:latin typeface="Calibri" pitchFamily="34" charset="0"/>
                          <a:ea typeface="Calibri" pitchFamily="34" charset="-122"/>
                          <a:cs typeface="Calibri" pitchFamily="34" charset="-120"/>
                        </a:rPr>
                        <a:t>Intelligence (core)</a:t>
                      </a:r>
                      <a:endParaRPr lang="en-US" sz="11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C2447"/>
                    </a:solidFill>
                  </a:tcPr>
                </a:tc>
                <a:tc>
                  <a:txBody>
                    <a:bodyPr/>
                    <a:lstStyle/>
                    <a:p>
                      <a:pPr indent="0" marL="0">
                        <a:buNone/>
                      </a:pPr>
                      <a:r>
                        <a:rPr lang="en-US" sz="1100" b="1" dirty="0">
                          <a:solidFill>
                            <a:srgbClr val="F5A623"/>
                          </a:solidFill>
                          <a:latin typeface="Calibri" pitchFamily="34" charset="0"/>
                          <a:ea typeface="Calibri" pitchFamily="34" charset="-122"/>
                          <a:cs typeface="Calibri" pitchFamily="34" charset="-120"/>
                        </a:rPr>
                        <a:t>Kavach (optional)</a:t>
                      </a:r>
                      <a:endParaRPr lang="en-US" sz="11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C2447"/>
                    </a:solidFill>
                  </a:tcPr>
                </a:tc>
              </a:tr>
              <a:tr h="438912">
                <a:tc>
                  <a:txBody>
                    <a:bodyPr/>
                    <a:lstStyle/>
                    <a:p>
                      <a:pPr indent="0" marL="0">
                        <a:buNone/>
                      </a:pPr>
                      <a:r>
                        <a:rPr lang="en-US" sz="1200" b="1" dirty="0">
                          <a:solidFill>
                            <a:srgbClr val="98A2C0"/>
                          </a:solidFill>
                          <a:latin typeface="Calibri" pitchFamily="34" charset="0"/>
                          <a:ea typeface="Calibri" pitchFamily="34" charset="-122"/>
                          <a:cs typeface="Calibri" pitchFamily="34" charset="-120"/>
                        </a:rPr>
                        <a:t>0–3 m</a:t>
                      </a:r>
                      <a:endParaRPr lang="en-US" sz="12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E2547"/>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Three gates (pilot)</a:t>
                      </a:r>
                      <a:endParaRPr lang="en-US" sz="12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E2547"/>
                    </a:solidFill>
                  </a:tcPr>
                </a:tc>
                <a:tc>
                  <a:txBody>
                    <a:bodyPr/>
                    <a:lstStyle/>
                    <a:p>
                      <a:pPr indent="0" marL="0">
                        <a:buNone/>
                      </a:pPr>
                      <a:r>
                        <a:rPr lang="en-US" sz="1200" dirty="0">
                          <a:solidFill>
                            <a:srgbClr val="EEF1F7"/>
                          </a:solidFill>
                          <a:latin typeface="Calibri" pitchFamily="34" charset="0"/>
                          <a:ea typeface="Calibri" pitchFamily="34" charset="-122"/>
                          <a:cs typeface="Calibri" pitchFamily="34" charset="-120"/>
                        </a:rPr>
                        <a:t>Shadow payouts</a:t>
                      </a:r>
                      <a:endParaRPr lang="en-US" sz="12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E2547"/>
                    </a:solidFill>
                  </a:tcPr>
                </a:tc>
              </a:tr>
              <a:tr h="438912">
                <a:tc>
                  <a:txBody>
                    <a:bodyPr/>
                    <a:lstStyle/>
                    <a:p>
                      <a:pPr indent="0" marL="0">
                        <a:buNone/>
                      </a:pPr>
                      <a:r>
                        <a:rPr lang="en-US" sz="1200" b="1" dirty="0">
                          <a:solidFill>
                            <a:srgbClr val="98A2C0"/>
                          </a:solidFill>
                          <a:latin typeface="Calibri" pitchFamily="34" charset="0"/>
                          <a:ea typeface="Calibri" pitchFamily="34" charset="-122"/>
                          <a:cs typeface="Calibri" pitchFamily="34" charset="-120"/>
                        </a:rPr>
                        <a:t>4–12 m</a:t>
                      </a:r>
                      <a:endParaRPr lang="en-US" sz="12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Reliance live + first clients</a:t>
                      </a:r>
                      <a:endParaRPr lang="en-US" sz="12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c>
                  <a:txBody>
                    <a:bodyPr/>
                    <a:lstStyle/>
                    <a:p>
                      <a:pPr indent="0" marL="0">
                        <a:buNone/>
                      </a:pPr>
                      <a:r>
                        <a:rPr lang="en-US" sz="1200" dirty="0">
                          <a:solidFill>
                            <a:srgbClr val="EEF1F7"/>
                          </a:solidFill>
                          <a:latin typeface="Calibri" pitchFamily="34" charset="0"/>
                          <a:ea typeface="Calibri" pitchFamily="34" charset="-122"/>
                          <a:cs typeface="Calibri" pitchFamily="34" charset="-120"/>
                        </a:rPr>
                        <a:t>Sandbox + heat</a:t>
                      </a:r>
                      <a:endParaRPr lang="en-US" sz="12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r>
              <a:tr h="438912">
                <a:tc>
                  <a:txBody>
                    <a:bodyPr/>
                    <a:lstStyle/>
                    <a:p>
                      <a:pPr indent="0" marL="0">
                        <a:buNone/>
                      </a:pPr>
                      <a:r>
                        <a:rPr lang="en-US" sz="1200" b="1" dirty="0">
                          <a:solidFill>
                            <a:srgbClr val="98A2C0"/>
                          </a:solidFill>
                          <a:latin typeface="Calibri" pitchFamily="34" charset="0"/>
                          <a:ea typeface="Calibri" pitchFamily="34" charset="-122"/>
                          <a:cs typeface="Calibri" pitchFamily="34" charset="-120"/>
                        </a:rPr>
                        <a:t>Year 2</a:t>
                      </a:r>
                      <a:endParaRPr lang="en-US" sz="12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11830"/>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Cities + enterprises</a:t>
                      </a:r>
                      <a:endParaRPr lang="en-US" sz="12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11830"/>
                    </a:solidFill>
                  </a:tcPr>
                </a:tc>
                <a:tc>
                  <a:txBody>
                    <a:bodyPr/>
                    <a:lstStyle/>
                    <a:p>
                      <a:pPr indent="0" marL="0">
                        <a:buNone/>
                      </a:pPr>
                      <a:r>
                        <a:rPr lang="en-US" sz="1200" dirty="0">
                          <a:solidFill>
                            <a:srgbClr val="EEF1F7"/>
                          </a:solidFill>
                          <a:latin typeface="Calibri" pitchFamily="34" charset="0"/>
                          <a:ea typeface="Calibri" pitchFamily="34" charset="-122"/>
                          <a:cs typeface="Calibri" pitchFamily="34" charset="-120"/>
                        </a:rPr>
                        <a:t>Basic at recharge</a:t>
                      </a:r>
                      <a:endParaRPr lang="en-US" sz="12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11830"/>
                    </a:solidFill>
                  </a:tcPr>
                </a:tc>
              </a:tr>
              <a:tr h="438912">
                <a:tc>
                  <a:txBody>
                    <a:bodyPr/>
                    <a:lstStyle/>
                    <a:p>
                      <a:pPr indent="0" marL="0">
                        <a:buNone/>
                      </a:pPr>
                      <a:r>
                        <a:rPr lang="en-US" sz="1200" b="1" dirty="0">
                          <a:solidFill>
                            <a:srgbClr val="98A2C0"/>
                          </a:solidFill>
                          <a:latin typeface="Calibri" pitchFamily="34" charset="0"/>
                          <a:ea typeface="Calibri" pitchFamily="34" charset="-122"/>
                          <a:cs typeface="Calibri" pitchFamily="34" charset="-120"/>
                        </a:rPr>
                        <a:t>Year 3</a:t>
                      </a:r>
                      <a:endParaRPr lang="en-US" sz="12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National weather API</a:t>
                      </a:r>
                      <a:endParaRPr lang="en-US" sz="12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c>
                  <a:txBody>
                    <a:bodyPr/>
                    <a:lstStyle/>
                    <a:p>
                      <a:pPr indent="0" marL="0">
                        <a:buNone/>
                      </a:pPr>
                      <a:r>
                        <a:rPr lang="en-US" sz="1200" dirty="0">
                          <a:solidFill>
                            <a:srgbClr val="EEF1F7"/>
                          </a:solidFill>
                          <a:latin typeface="Calibri" pitchFamily="34" charset="0"/>
                          <a:ea typeface="Calibri" pitchFamily="34" charset="-122"/>
                          <a:cs typeface="Calibri" pitchFamily="34" charset="-120"/>
                        </a:rPr>
                        <a:t>National scale</a:t>
                      </a:r>
                      <a:endParaRPr lang="en-US" sz="1200" dirty="0">
                        <a:latin typeface="Calibri" charset="0"/>
                        <a:ea typeface="Calibri" charset="0"/>
                        <a:cs typeface="Calibri" charset="0"/>
                      </a:endParaRPr>
                    </a:p>
                  </a:txBody>
                  <a:tcPr marL="73152" marR="73152" marT="27432" marB="27432" anchor="ctr">
                    <a:lnL w="9525" cap="flat" cmpd="sng" algn="ctr">
                      <a:solidFill>
                        <a:srgbClr val="2A3357"/>
                      </a:solidFill>
                      <a:prstDash val="solid"/>
                      <a:round/>
                      <a:headEnd type="none" w="med" len="med"/>
                      <a:tailEnd type="none" w="med" len="med"/>
                    </a:lnL>
                    <a:lnR w="9525" cap="flat" cmpd="sng" algn="ctr">
                      <a:solidFill>
                        <a:srgbClr val="2A3357"/>
                      </a:solidFill>
                      <a:prstDash val="solid"/>
                      <a:round/>
                      <a:headEnd type="none" w="med" len="med"/>
                      <a:tailEnd type="none" w="med" len="med"/>
                    </a:lnR>
                    <a:lnT w="9525" cap="flat" cmpd="sng" algn="ctr">
                      <a:solidFill>
                        <a:srgbClr val="2A3357"/>
                      </a:solidFill>
                      <a:prstDash val="solid"/>
                      <a:round/>
                      <a:headEnd type="none" w="med" len="med"/>
                      <a:tailEnd type="none" w="med" len="med"/>
                    </a:lnT>
                    <a:lnB w="9525" cap="flat" cmpd="sng" algn="ctr">
                      <a:solidFill>
                        <a:srgbClr val="2A3357"/>
                      </a:solidFill>
                      <a:prstDash val="solid"/>
                      <a:round/>
                      <a:headEnd type="none" w="med" len="med"/>
                      <a:tailEnd type="none" w="med" len="med"/>
                    </a:lnB>
                    <a:solidFill>
                      <a:srgbClr val="141B36"/>
                    </a:solidFill>
                  </a:tcPr>
                </a:tc>
              </a:tr>
            </a:tbl>
          </a:graphicData>
        </a:graphic>
      </p:graphicFrame>
      <p:sp>
        <p:nvSpPr>
          <p:cNvPr id="23" name="gatesLine"/>
          <p:cNvSpPr txBox="1"/>
          <p:nvPr/>
        </p:nvSpPr>
        <p:spPr>
          <a:xfrm>
            <a:off x="7360920" y="4599432"/>
            <a:ext cx="4279392" cy="329184"/>
          </a:xfrm>
          <a:prstGeom prst="rect">
            <a:avLst/>
          </a:prstGeom>
          <a:noFill/>
          <a:ln/>
        </p:spPr>
        <p:txBody>
          <a:bodyPr wrap="square" lIns="0" tIns="0" rIns="0" bIns="0" rtlCol="0" anchor="t"/>
          <a:lstStyle/>
          <a:p>
            <a:pPr indent="0" marL="0">
              <a:buNone/>
            </a:pPr>
            <a:r>
              <a:rPr lang="en-US" sz="1300" b="1" dirty="0">
                <a:solidFill>
                  <a:srgbClr val="1BAF7A"/>
                </a:solidFill>
                <a:latin typeface="Calibri" pitchFamily="34" charset="0"/>
                <a:ea typeface="Calibri" pitchFamily="34" charset="-122"/>
                <a:cs typeface="Calibri" pitchFamily="34" charset="-120"/>
              </a:rPr>
              <a:t>Only after all three gates pass do we scale externally.</a:t>
            </a:r>
            <a:endParaRPr lang="en-US" sz="1300" dirty="0"/>
          </a:p>
        </p:txBody>
      </p:sp>
      <p:sp>
        <p:nvSpPr>
          <p:cNvPr id="24" name="close"/>
          <p:cNvSpPr txBox="1"/>
          <p:nvPr/>
        </p:nvSpPr>
        <p:spPr>
          <a:xfrm>
            <a:off x="548640" y="5074920"/>
            <a:ext cx="11094415" cy="713232"/>
          </a:xfrm>
          <a:prstGeom prst="rect">
            <a:avLst/>
          </a:prstGeom>
          <a:noFill/>
          <a:ln/>
        </p:spPr>
        <p:txBody>
          <a:bodyPr wrap="square" lIns="0" tIns="0" rIns="0" bIns="0" rtlCol="0" anchor="ctr"/>
          <a:lstStyle/>
          <a:p>
            <a:pPr algn="ctr" indent="0" marL="0">
              <a:buNone/>
            </a:pPr>
            <a:r>
              <a:rPr lang="en-US" sz="1900" b="1" i="1" dirty="0">
                <a:solidFill>
                  <a:srgbClr val="FFFFFF"/>
                </a:solidFill>
                <a:latin typeface="Cambria" pitchFamily="34" charset="0"/>
                <a:ea typeface="Cambria" pitchFamily="34" charset="-122"/>
                <a:cs typeface="Cambria" pitchFamily="34" charset="-120"/>
              </a:rPr>
              <a:t>We aren’t asking Jio to build another weather network. </a:t>
            </a:r>
            <a:pPr algn="ctr" indent="0" marL="0">
              <a:buNone/>
            </a:pPr>
            <a:r>
              <a:rPr lang="en-US" sz="1900" b="1" i="1" dirty="0">
                <a:solidFill>
                  <a:srgbClr val="F5A623"/>
                </a:solidFill>
                <a:latin typeface="Cambria" pitchFamily="34" charset="0"/>
                <a:ea typeface="Cambria" pitchFamily="34" charset="-122"/>
                <a:cs typeface="Cambria" pitchFamily="34" charset="-120"/>
              </a:rPr>
              <a:t>We’re asking it to discover what its existing network can tell us, and turn that signal into decisions.</a:t>
            </a:r>
            <a:endParaRPr lang="en-US" sz="1900" dirty="0"/>
          </a:p>
        </p:txBody>
      </p:sp>
      <p:sp>
        <p:nvSpPr>
          <p:cNvPr id="25" name="tag"/>
          <p:cNvSpPr txBox="1"/>
          <p:nvPr/>
        </p:nvSpPr>
        <p:spPr>
          <a:xfrm>
            <a:off x="548640" y="5852160"/>
            <a:ext cx="11094415" cy="347472"/>
          </a:xfrm>
          <a:prstGeom prst="rect">
            <a:avLst/>
          </a:prstGeom>
          <a:noFill/>
          <a:ln/>
        </p:spPr>
        <p:txBody>
          <a:bodyPr wrap="square" lIns="0" tIns="0" rIns="0" bIns="0" rtlCol="0" anchor="ctr"/>
          <a:lstStyle/>
          <a:p>
            <a:pPr algn="ctr" indent="0" marL="0">
              <a:buNone/>
            </a:pPr>
            <a:r>
              <a:rPr lang="en-US" sz="1700" b="1" dirty="0">
                <a:solidFill>
                  <a:srgbClr val="1BAF7A"/>
                </a:solidFill>
                <a:latin typeface="Cambria" pitchFamily="34" charset="0"/>
                <a:ea typeface="Cambria" pitchFamily="34" charset="-122"/>
                <a:cs typeface="Cambria" pitchFamily="34" charset="-120"/>
              </a:rPr>
              <a:t>First prove the signal.  Then sell the intelligence.  Protection comes last.</a:t>
            </a:r>
            <a:endParaRPr lang="en-US" sz="1700" dirty="0"/>
          </a:p>
        </p:txBody>
      </p:sp>
      <p:sp>
        <p:nvSpPr>
          <p:cNvPr id="26" name="source"/>
          <p:cNvSpPr txBox="1"/>
          <p:nvPr/>
        </p:nvSpPr>
        <p:spPr>
          <a:xfrm>
            <a:off x="548640" y="6309360"/>
            <a:ext cx="11094415" cy="384048"/>
          </a:xfrm>
          <a:prstGeom prst="rect">
            <a:avLst/>
          </a:prstGeom>
          <a:noFill/>
          <a:ln/>
        </p:spPr>
        <p:txBody>
          <a:bodyPr wrap="square" lIns="0" tIns="0" rIns="0" bIns="0" rtlCol="0" anchor="t"/>
          <a:lstStyle/>
          <a:p>
            <a:pPr indent="0" marL="0">
              <a:buNone/>
            </a:pPr>
            <a:r>
              <a:rPr lang="en-US" sz="950" dirty="0">
                <a:solidFill>
                  <a:srgbClr val="7A85A8"/>
                </a:solidFill>
                <a:latin typeface="Calibri" pitchFamily="34" charset="0"/>
                <a:ea typeface="Calibri" pitchFamily="34" charset="-122"/>
                <a:cs typeface="Calibri" pitchFamily="34" charset="-120"/>
              </a:rPr>
              <a:t>Gate 2: ≥80% of predefined trigger events caught · totals within ±10% of gauges · under 15% of triggers unconfirmed.  Gate 3 KPIs: site visits · fault-resolution time · delivery delays · rider availability · incentive spend.</a:t>
            </a:r>
            <a:endParaRPr lang="en-US" sz="95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14"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00"/>
                                        <p:tgtEl>
                                          <p:spTgt spid="4"/>
                                        </p:tgtEl>
                                      </p:cBhvr>
                                    </p:animEffect>
                                  </p:childTnLst>
                                </p:cTn>
                              </p:par>
                              <p:par>
                                <p:cTn id="7" presetID="42" presetClass="entr" presetSubtype="0" fill="hold" grpId="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650"/>
                                        <p:tgtEl>
                                          <p:spTgt spid="5"/>
                                        </p:tgtEl>
                                      </p:cBhvr>
                                    </p:animEffect>
                                    <p:anim calcmode="lin" valueType="num">
                                      <p:cBhvr>
                                        <p:cTn id="10" dur="650" fill="hold"/>
                                        <p:tgtEl>
                                          <p:spTgt spid="5"/>
                                        </p:tgtEl>
                                        <p:attrNameLst>
                                          <p:attrName>ppt_x</p:attrName>
                                        </p:attrNameLst>
                                      </p:cBhvr>
                                      <p:tavLst>
                                        <p:tav tm="0">
                                          <p:val>
                                            <p:strVal val="#ppt_x"/>
                                          </p:val>
                                        </p:tav>
                                        <p:tav tm="100000">
                                          <p:val>
                                            <p:strVal val="#ppt_x"/>
                                          </p:val>
                                        </p:tav>
                                      </p:tavLst>
                                    </p:anim>
                                    <p:anim calcmode="lin" valueType="num">
                                      <p:cBhvr>
                                        <p:cTn id="11" dur="65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750"/>
                            </p:stCondLst>
                            <p:childTnLst>
                              <p:par>
                                <p:cTn id="13" presetID="42" presetClass="entr" presetSubtype="0" fill="hold" grpId="0" nodeType="afterEffect">
                                  <p:stCondLst>
                                    <p:cond delay="4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20"/>
                                        <p:tgtEl>
                                          <p:spTgt spid="6"/>
                                        </p:tgtEl>
                                      </p:cBhvr>
                                    </p:animEffect>
                                    <p:anim calcmode="lin" valueType="num">
                                      <p:cBhvr>
                                        <p:cTn id="16" dur="420" fill="hold"/>
                                        <p:tgtEl>
                                          <p:spTgt spid="6"/>
                                        </p:tgtEl>
                                        <p:attrNameLst>
                                          <p:attrName>ppt_x</p:attrName>
                                        </p:attrNameLst>
                                      </p:cBhvr>
                                      <p:tavLst>
                                        <p:tav tm="0">
                                          <p:val>
                                            <p:strVal val="#ppt_x"/>
                                          </p:val>
                                        </p:tav>
                                        <p:tav tm="100000">
                                          <p:val>
                                            <p:strVal val="#ppt_x"/>
                                          </p:val>
                                        </p:tav>
                                      </p:tavLst>
                                    </p:anim>
                                    <p:anim calcmode="lin" valueType="num">
                                      <p:cBhvr>
                                        <p:cTn id="17" dur="420" fill="hold"/>
                                        <p:tgtEl>
                                          <p:spTgt spid="6"/>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20"/>
                                        <p:tgtEl>
                                          <p:spTgt spid="7"/>
                                        </p:tgtEl>
                                      </p:cBhvr>
                                    </p:animEffect>
                                    <p:anim calcmode="lin" valueType="num">
                                      <p:cBhvr>
                                        <p:cTn id="21" dur="420" fill="hold"/>
                                        <p:tgtEl>
                                          <p:spTgt spid="7"/>
                                        </p:tgtEl>
                                        <p:attrNameLst>
                                          <p:attrName>ppt_x</p:attrName>
                                        </p:attrNameLst>
                                      </p:cBhvr>
                                      <p:tavLst>
                                        <p:tav tm="0">
                                          <p:val>
                                            <p:strVal val="#ppt_x"/>
                                          </p:val>
                                        </p:tav>
                                        <p:tav tm="100000">
                                          <p:val>
                                            <p:strVal val="#ppt_x"/>
                                          </p:val>
                                        </p:tav>
                                      </p:tavLst>
                                    </p:anim>
                                    <p:anim calcmode="lin" valueType="num">
                                      <p:cBhvr>
                                        <p:cTn id="22" dur="420" fill="hold"/>
                                        <p:tgtEl>
                                          <p:spTgt spid="7"/>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20"/>
                                        <p:tgtEl>
                                          <p:spTgt spid="8"/>
                                        </p:tgtEl>
                                      </p:cBhvr>
                                    </p:animEffect>
                                    <p:anim calcmode="lin" valueType="num">
                                      <p:cBhvr>
                                        <p:cTn id="26" dur="420" fill="hold"/>
                                        <p:tgtEl>
                                          <p:spTgt spid="8"/>
                                        </p:tgtEl>
                                        <p:attrNameLst>
                                          <p:attrName>ppt_x</p:attrName>
                                        </p:attrNameLst>
                                      </p:cBhvr>
                                      <p:tavLst>
                                        <p:tav tm="0">
                                          <p:val>
                                            <p:strVal val="#ppt_x"/>
                                          </p:val>
                                        </p:tav>
                                        <p:tav tm="100000">
                                          <p:val>
                                            <p:strVal val="#ppt_x"/>
                                          </p:val>
                                        </p:tav>
                                      </p:tavLst>
                                    </p:anim>
                                    <p:anim calcmode="lin" valueType="num">
                                      <p:cBhvr>
                                        <p:cTn id="27" dur="420" fill="hold"/>
                                        <p:tgtEl>
                                          <p:spTgt spid="8"/>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420"/>
                                        <p:tgtEl>
                                          <p:spTgt spid="9"/>
                                        </p:tgtEl>
                                      </p:cBhvr>
                                    </p:animEffect>
                                    <p:anim calcmode="lin" valueType="num">
                                      <p:cBhvr>
                                        <p:cTn id="31" dur="420" fill="hold"/>
                                        <p:tgtEl>
                                          <p:spTgt spid="9"/>
                                        </p:tgtEl>
                                        <p:attrNameLst>
                                          <p:attrName>ppt_x</p:attrName>
                                        </p:attrNameLst>
                                      </p:cBhvr>
                                      <p:tavLst>
                                        <p:tav tm="0">
                                          <p:val>
                                            <p:strVal val="#ppt_x"/>
                                          </p:val>
                                        </p:tav>
                                        <p:tav tm="100000">
                                          <p:val>
                                            <p:strVal val="#ppt_x"/>
                                          </p:val>
                                        </p:tav>
                                      </p:tavLst>
                                    </p:anim>
                                    <p:anim calcmode="lin" valueType="num">
                                      <p:cBhvr>
                                        <p:cTn id="32" dur="420" fill="hold"/>
                                        <p:tgtEl>
                                          <p:spTgt spid="9"/>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420"/>
                                        <p:tgtEl>
                                          <p:spTgt spid="10"/>
                                        </p:tgtEl>
                                      </p:cBhvr>
                                    </p:animEffect>
                                    <p:anim calcmode="lin" valueType="num">
                                      <p:cBhvr>
                                        <p:cTn id="36" dur="420" fill="hold"/>
                                        <p:tgtEl>
                                          <p:spTgt spid="10"/>
                                        </p:tgtEl>
                                        <p:attrNameLst>
                                          <p:attrName>ppt_x</p:attrName>
                                        </p:attrNameLst>
                                      </p:cBhvr>
                                      <p:tavLst>
                                        <p:tav tm="0">
                                          <p:val>
                                            <p:strVal val="#ppt_x"/>
                                          </p:val>
                                        </p:tav>
                                        <p:tav tm="100000">
                                          <p:val>
                                            <p:strVal val="#ppt_x"/>
                                          </p:val>
                                        </p:tav>
                                      </p:tavLst>
                                    </p:anim>
                                    <p:anim calcmode="lin" valueType="num">
                                      <p:cBhvr>
                                        <p:cTn id="37" dur="420" fill="hold"/>
                                        <p:tgtEl>
                                          <p:spTgt spid="10"/>
                                        </p:tgtEl>
                                        <p:attrNameLst>
                                          <p:attrName>ppt_y</p:attrName>
                                        </p:attrNameLst>
                                      </p:cBhvr>
                                      <p:tavLst>
                                        <p:tav tm="0">
                                          <p:val>
                                            <p:strVal val="#ppt_y+.06"/>
                                          </p:val>
                                        </p:tav>
                                        <p:tav tm="100000">
                                          <p:val>
                                            <p:strVal val="#ppt_y"/>
                                          </p:val>
                                        </p:tav>
                                      </p:tavLst>
                                    </p:anim>
                                  </p:childTnLst>
                                </p:cTn>
                              </p:par>
                            </p:childTnLst>
                          </p:cTn>
                        </p:par>
                        <p:par>
                          <p:cTn id="38" fill="hold">
                            <p:stCondLst>
                              <p:cond delay="1210"/>
                            </p:stCondLst>
                            <p:childTnLst>
                              <p:par>
                                <p:cTn id="39" presetID="42" presetClass="entr" presetSubtype="0" fill="hold" grpId="0" nodeType="afterEffect">
                                  <p:stCondLst>
                                    <p:cond delay="4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420"/>
                                        <p:tgtEl>
                                          <p:spTgt spid="11"/>
                                        </p:tgtEl>
                                      </p:cBhvr>
                                    </p:animEffect>
                                    <p:anim calcmode="lin" valueType="num">
                                      <p:cBhvr>
                                        <p:cTn id="42" dur="420" fill="hold"/>
                                        <p:tgtEl>
                                          <p:spTgt spid="11"/>
                                        </p:tgtEl>
                                        <p:attrNameLst>
                                          <p:attrName>ppt_x</p:attrName>
                                        </p:attrNameLst>
                                      </p:cBhvr>
                                      <p:tavLst>
                                        <p:tav tm="0">
                                          <p:val>
                                            <p:strVal val="#ppt_x"/>
                                          </p:val>
                                        </p:tav>
                                        <p:tav tm="100000">
                                          <p:val>
                                            <p:strVal val="#ppt_x"/>
                                          </p:val>
                                        </p:tav>
                                      </p:tavLst>
                                    </p:anim>
                                    <p:anim calcmode="lin" valueType="num">
                                      <p:cBhvr>
                                        <p:cTn id="43" dur="420" fill="hold"/>
                                        <p:tgtEl>
                                          <p:spTgt spid="11"/>
                                        </p:tgtEl>
                                        <p:attrNameLst>
                                          <p:attrName>ppt_y</p:attrName>
                                        </p:attrNameLst>
                                      </p:cBhvr>
                                      <p:tavLst>
                                        <p:tav tm="0">
                                          <p:val>
                                            <p:strVal val="#ppt_y+.06"/>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420"/>
                                        <p:tgtEl>
                                          <p:spTgt spid="12"/>
                                        </p:tgtEl>
                                      </p:cBhvr>
                                    </p:animEffect>
                                    <p:anim calcmode="lin" valueType="num">
                                      <p:cBhvr>
                                        <p:cTn id="47" dur="420" fill="hold"/>
                                        <p:tgtEl>
                                          <p:spTgt spid="12"/>
                                        </p:tgtEl>
                                        <p:attrNameLst>
                                          <p:attrName>ppt_x</p:attrName>
                                        </p:attrNameLst>
                                      </p:cBhvr>
                                      <p:tavLst>
                                        <p:tav tm="0">
                                          <p:val>
                                            <p:strVal val="#ppt_x"/>
                                          </p:val>
                                        </p:tav>
                                        <p:tav tm="100000">
                                          <p:val>
                                            <p:strVal val="#ppt_x"/>
                                          </p:val>
                                        </p:tav>
                                      </p:tavLst>
                                    </p:anim>
                                    <p:anim calcmode="lin" valueType="num">
                                      <p:cBhvr>
                                        <p:cTn id="48" dur="420" fill="hold"/>
                                        <p:tgtEl>
                                          <p:spTgt spid="12"/>
                                        </p:tgtEl>
                                        <p:attrNameLst>
                                          <p:attrName>ppt_y</p:attrName>
                                        </p:attrNameLst>
                                      </p:cBhvr>
                                      <p:tavLst>
                                        <p:tav tm="0">
                                          <p:val>
                                            <p:strVal val="#ppt_y+.06"/>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420"/>
                                        <p:tgtEl>
                                          <p:spTgt spid="13"/>
                                        </p:tgtEl>
                                      </p:cBhvr>
                                    </p:animEffect>
                                    <p:anim calcmode="lin" valueType="num">
                                      <p:cBhvr>
                                        <p:cTn id="52" dur="420" fill="hold"/>
                                        <p:tgtEl>
                                          <p:spTgt spid="13"/>
                                        </p:tgtEl>
                                        <p:attrNameLst>
                                          <p:attrName>ppt_x</p:attrName>
                                        </p:attrNameLst>
                                      </p:cBhvr>
                                      <p:tavLst>
                                        <p:tav tm="0">
                                          <p:val>
                                            <p:strVal val="#ppt_x"/>
                                          </p:val>
                                        </p:tav>
                                        <p:tav tm="100000">
                                          <p:val>
                                            <p:strVal val="#ppt_x"/>
                                          </p:val>
                                        </p:tav>
                                      </p:tavLst>
                                    </p:anim>
                                    <p:anim calcmode="lin" valueType="num">
                                      <p:cBhvr>
                                        <p:cTn id="53" dur="420" fill="hold"/>
                                        <p:tgtEl>
                                          <p:spTgt spid="13"/>
                                        </p:tgtEl>
                                        <p:attrNameLst>
                                          <p:attrName>ppt_y</p:attrName>
                                        </p:attrNameLst>
                                      </p:cBhvr>
                                      <p:tavLst>
                                        <p:tav tm="0">
                                          <p:val>
                                            <p:strVal val="#ppt_y+.06"/>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420"/>
                                        <p:tgtEl>
                                          <p:spTgt spid="14"/>
                                        </p:tgtEl>
                                      </p:cBhvr>
                                    </p:animEffect>
                                    <p:anim calcmode="lin" valueType="num">
                                      <p:cBhvr>
                                        <p:cTn id="57" dur="420" fill="hold"/>
                                        <p:tgtEl>
                                          <p:spTgt spid="14"/>
                                        </p:tgtEl>
                                        <p:attrNameLst>
                                          <p:attrName>ppt_x</p:attrName>
                                        </p:attrNameLst>
                                      </p:cBhvr>
                                      <p:tavLst>
                                        <p:tav tm="0">
                                          <p:val>
                                            <p:strVal val="#ppt_x"/>
                                          </p:val>
                                        </p:tav>
                                        <p:tav tm="100000">
                                          <p:val>
                                            <p:strVal val="#ppt_x"/>
                                          </p:val>
                                        </p:tav>
                                      </p:tavLst>
                                    </p:anim>
                                    <p:anim calcmode="lin" valueType="num">
                                      <p:cBhvr>
                                        <p:cTn id="58" dur="420" fill="hold"/>
                                        <p:tgtEl>
                                          <p:spTgt spid="14"/>
                                        </p:tgtEl>
                                        <p:attrNameLst>
                                          <p:attrName>ppt_y</p:attrName>
                                        </p:attrNameLst>
                                      </p:cBhvr>
                                      <p:tavLst>
                                        <p:tav tm="0">
                                          <p:val>
                                            <p:strVal val="#ppt_y+.06"/>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420"/>
                                        <p:tgtEl>
                                          <p:spTgt spid="15"/>
                                        </p:tgtEl>
                                      </p:cBhvr>
                                    </p:animEffect>
                                    <p:anim calcmode="lin" valueType="num">
                                      <p:cBhvr>
                                        <p:cTn id="62" dur="420" fill="hold"/>
                                        <p:tgtEl>
                                          <p:spTgt spid="15"/>
                                        </p:tgtEl>
                                        <p:attrNameLst>
                                          <p:attrName>ppt_x</p:attrName>
                                        </p:attrNameLst>
                                      </p:cBhvr>
                                      <p:tavLst>
                                        <p:tav tm="0">
                                          <p:val>
                                            <p:strVal val="#ppt_x"/>
                                          </p:val>
                                        </p:tav>
                                        <p:tav tm="100000">
                                          <p:val>
                                            <p:strVal val="#ppt_x"/>
                                          </p:val>
                                        </p:tav>
                                      </p:tavLst>
                                    </p:anim>
                                    <p:anim calcmode="lin" valueType="num">
                                      <p:cBhvr>
                                        <p:cTn id="63" dur="420" fill="hold"/>
                                        <p:tgtEl>
                                          <p:spTgt spid="15"/>
                                        </p:tgtEl>
                                        <p:attrNameLst>
                                          <p:attrName>ppt_y</p:attrName>
                                        </p:attrNameLst>
                                      </p:cBhvr>
                                      <p:tavLst>
                                        <p:tav tm="0">
                                          <p:val>
                                            <p:strVal val="#ppt_y+.06"/>
                                          </p:val>
                                        </p:tav>
                                        <p:tav tm="100000">
                                          <p:val>
                                            <p:strVal val="#ppt_y"/>
                                          </p:val>
                                        </p:tav>
                                      </p:tavLst>
                                    </p:anim>
                                  </p:childTnLst>
                                </p:cTn>
                              </p:par>
                            </p:childTnLst>
                          </p:cTn>
                        </p:par>
                        <p:par>
                          <p:cTn id="64" fill="hold">
                            <p:stCondLst>
                              <p:cond delay="1670"/>
                            </p:stCondLst>
                            <p:childTnLst>
                              <p:par>
                                <p:cTn id="65" presetID="42" presetClass="entr" presetSubtype="0" fill="hold" grpId="0" nodeType="afterEffect">
                                  <p:stCondLst>
                                    <p:cond delay="4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420"/>
                                        <p:tgtEl>
                                          <p:spTgt spid="16"/>
                                        </p:tgtEl>
                                      </p:cBhvr>
                                    </p:animEffect>
                                    <p:anim calcmode="lin" valueType="num">
                                      <p:cBhvr>
                                        <p:cTn id="68" dur="420" fill="hold"/>
                                        <p:tgtEl>
                                          <p:spTgt spid="16"/>
                                        </p:tgtEl>
                                        <p:attrNameLst>
                                          <p:attrName>ppt_x</p:attrName>
                                        </p:attrNameLst>
                                      </p:cBhvr>
                                      <p:tavLst>
                                        <p:tav tm="0">
                                          <p:val>
                                            <p:strVal val="#ppt_x"/>
                                          </p:val>
                                        </p:tav>
                                        <p:tav tm="100000">
                                          <p:val>
                                            <p:strVal val="#ppt_x"/>
                                          </p:val>
                                        </p:tav>
                                      </p:tavLst>
                                    </p:anim>
                                    <p:anim calcmode="lin" valueType="num">
                                      <p:cBhvr>
                                        <p:cTn id="69" dur="420" fill="hold"/>
                                        <p:tgtEl>
                                          <p:spTgt spid="16"/>
                                        </p:tgtEl>
                                        <p:attrNameLst>
                                          <p:attrName>ppt_y</p:attrName>
                                        </p:attrNameLst>
                                      </p:cBhvr>
                                      <p:tavLst>
                                        <p:tav tm="0">
                                          <p:val>
                                            <p:strVal val="#ppt_y+.06"/>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420"/>
                                        <p:tgtEl>
                                          <p:spTgt spid="17"/>
                                        </p:tgtEl>
                                      </p:cBhvr>
                                    </p:animEffect>
                                    <p:anim calcmode="lin" valueType="num">
                                      <p:cBhvr>
                                        <p:cTn id="73" dur="420" fill="hold"/>
                                        <p:tgtEl>
                                          <p:spTgt spid="17"/>
                                        </p:tgtEl>
                                        <p:attrNameLst>
                                          <p:attrName>ppt_x</p:attrName>
                                        </p:attrNameLst>
                                      </p:cBhvr>
                                      <p:tavLst>
                                        <p:tav tm="0">
                                          <p:val>
                                            <p:strVal val="#ppt_x"/>
                                          </p:val>
                                        </p:tav>
                                        <p:tav tm="100000">
                                          <p:val>
                                            <p:strVal val="#ppt_x"/>
                                          </p:val>
                                        </p:tav>
                                      </p:tavLst>
                                    </p:anim>
                                    <p:anim calcmode="lin" valueType="num">
                                      <p:cBhvr>
                                        <p:cTn id="74" dur="420" fill="hold"/>
                                        <p:tgtEl>
                                          <p:spTgt spid="17"/>
                                        </p:tgtEl>
                                        <p:attrNameLst>
                                          <p:attrName>ppt_y</p:attrName>
                                        </p:attrNameLst>
                                      </p:cBhvr>
                                      <p:tavLst>
                                        <p:tav tm="0">
                                          <p:val>
                                            <p:strVal val="#ppt_y+.06"/>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420"/>
                                        <p:tgtEl>
                                          <p:spTgt spid="18"/>
                                        </p:tgtEl>
                                      </p:cBhvr>
                                    </p:animEffect>
                                    <p:anim calcmode="lin" valueType="num">
                                      <p:cBhvr>
                                        <p:cTn id="78" dur="420" fill="hold"/>
                                        <p:tgtEl>
                                          <p:spTgt spid="18"/>
                                        </p:tgtEl>
                                        <p:attrNameLst>
                                          <p:attrName>ppt_x</p:attrName>
                                        </p:attrNameLst>
                                      </p:cBhvr>
                                      <p:tavLst>
                                        <p:tav tm="0">
                                          <p:val>
                                            <p:strVal val="#ppt_x"/>
                                          </p:val>
                                        </p:tav>
                                        <p:tav tm="100000">
                                          <p:val>
                                            <p:strVal val="#ppt_x"/>
                                          </p:val>
                                        </p:tav>
                                      </p:tavLst>
                                    </p:anim>
                                    <p:anim calcmode="lin" valueType="num">
                                      <p:cBhvr>
                                        <p:cTn id="79" dur="420" fill="hold"/>
                                        <p:tgtEl>
                                          <p:spTgt spid="18"/>
                                        </p:tgtEl>
                                        <p:attrNameLst>
                                          <p:attrName>ppt_y</p:attrName>
                                        </p:attrNameLst>
                                      </p:cBhvr>
                                      <p:tavLst>
                                        <p:tav tm="0">
                                          <p:val>
                                            <p:strVal val="#ppt_y+.06"/>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420"/>
                                        <p:tgtEl>
                                          <p:spTgt spid="19"/>
                                        </p:tgtEl>
                                      </p:cBhvr>
                                    </p:animEffect>
                                    <p:anim calcmode="lin" valueType="num">
                                      <p:cBhvr>
                                        <p:cTn id="83" dur="420" fill="hold"/>
                                        <p:tgtEl>
                                          <p:spTgt spid="19"/>
                                        </p:tgtEl>
                                        <p:attrNameLst>
                                          <p:attrName>ppt_x</p:attrName>
                                        </p:attrNameLst>
                                      </p:cBhvr>
                                      <p:tavLst>
                                        <p:tav tm="0">
                                          <p:val>
                                            <p:strVal val="#ppt_x"/>
                                          </p:val>
                                        </p:tav>
                                        <p:tav tm="100000">
                                          <p:val>
                                            <p:strVal val="#ppt_x"/>
                                          </p:val>
                                        </p:tav>
                                      </p:tavLst>
                                    </p:anim>
                                    <p:anim calcmode="lin" valueType="num">
                                      <p:cBhvr>
                                        <p:cTn id="84" dur="420" fill="hold"/>
                                        <p:tgtEl>
                                          <p:spTgt spid="19"/>
                                        </p:tgtEl>
                                        <p:attrNameLst>
                                          <p:attrName>ppt_y</p:attrName>
                                        </p:attrNameLst>
                                      </p:cBhvr>
                                      <p:tavLst>
                                        <p:tav tm="0">
                                          <p:val>
                                            <p:strVal val="#ppt_y+.06"/>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420"/>
                                        <p:tgtEl>
                                          <p:spTgt spid="20"/>
                                        </p:tgtEl>
                                      </p:cBhvr>
                                    </p:animEffect>
                                    <p:anim calcmode="lin" valueType="num">
                                      <p:cBhvr>
                                        <p:cTn id="88" dur="420" fill="hold"/>
                                        <p:tgtEl>
                                          <p:spTgt spid="20"/>
                                        </p:tgtEl>
                                        <p:attrNameLst>
                                          <p:attrName>ppt_x</p:attrName>
                                        </p:attrNameLst>
                                      </p:cBhvr>
                                      <p:tavLst>
                                        <p:tav tm="0">
                                          <p:val>
                                            <p:strVal val="#ppt_x"/>
                                          </p:val>
                                        </p:tav>
                                        <p:tav tm="100000">
                                          <p:val>
                                            <p:strVal val="#ppt_x"/>
                                          </p:val>
                                        </p:tav>
                                      </p:tavLst>
                                    </p:anim>
                                    <p:anim calcmode="lin" valueType="num">
                                      <p:cBhvr>
                                        <p:cTn id="89" dur="420" fill="hold"/>
                                        <p:tgtEl>
                                          <p:spTgt spid="20"/>
                                        </p:tgtEl>
                                        <p:attrNameLst>
                                          <p:attrName>ppt_y</p:attrName>
                                        </p:attrNameLst>
                                      </p:cBhvr>
                                      <p:tavLst>
                                        <p:tav tm="0">
                                          <p:val>
                                            <p:strVal val="#ppt_y+.06"/>
                                          </p:val>
                                        </p:tav>
                                        <p:tav tm="100000">
                                          <p:val>
                                            <p:strVal val="#ppt_y"/>
                                          </p:val>
                                        </p:tav>
                                      </p:tavLst>
                                    </p:anim>
                                  </p:childTnLst>
                                </p:cTn>
                              </p:par>
                            </p:childTnLst>
                          </p:cTn>
                        </p:par>
                        <p:par>
                          <p:cTn id="90" fill="hold">
                            <p:stCondLst>
                              <p:cond delay="2130"/>
                            </p:stCondLst>
                            <p:childTnLst>
                              <p:par>
                                <p:cTn id="91" presetID="10" presetClass="entr" presetSubtype="0" fill="hold" grpId="0" nodeType="afterEffect">
                                  <p:stCondLst>
                                    <p:cond delay="80"/>
                                  </p:stCondLst>
                                  <p:childTnLst>
                                    <p:set>
                                      <p:cBhvr>
                                        <p:cTn id="92" dur="1" fill="hold">
                                          <p:stCondLst>
                                            <p:cond delay="0"/>
                                          </p:stCondLst>
                                        </p:cTn>
                                        <p:tgtEl>
                                          <p:spTgt spid="21"/>
                                        </p:tgtEl>
                                        <p:attrNameLst>
                                          <p:attrName>style.visibility</p:attrName>
                                        </p:attrNameLst>
                                      </p:cBhvr>
                                      <p:to>
                                        <p:strVal val="visible"/>
                                      </p:to>
                                    </p:set>
                                    <p:animEffect transition="in" filter="fade">
                                      <p:cBhvr>
                                        <p:cTn id="93" dur="600"/>
                                        <p:tgtEl>
                                          <p:spTgt spid="21"/>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11"/>
                                        </p:tgtEl>
                                        <p:attrNameLst>
                                          <p:attrName>style.visibility</p:attrName>
                                        </p:attrNameLst>
                                      </p:cBhvr>
                                      <p:to>
                                        <p:strVal val="visible"/>
                                      </p:to>
                                    </p:set>
                                    <p:animEffect transition="in" filter="fade">
                                      <p:cBhvr>
                                        <p:cTn id="96" dur="600"/>
                                        <p:tgtEl>
                                          <p:spTgt spid="11"/>
                                        </p:tgtEl>
                                      </p:cBhvr>
                                    </p:animEffect>
                                  </p:childTnLst>
                                </p:cTn>
                              </p:par>
                            </p:childTnLst>
                          </p:cTn>
                        </p:par>
                        <p:par>
                          <p:cTn id="97" fill="hold">
                            <p:stCondLst>
                              <p:cond delay="2810"/>
                            </p:stCondLst>
                            <p:childTnLst>
                              <p:par>
                                <p:cTn id="98" presetID="10" presetClass="entr" presetSubtype="0" fill="hold" grpId="0" nodeType="afterEffect">
                                  <p:stCondLst>
                                    <p:cond delay="60"/>
                                  </p:stCondLst>
                                  <p:childTnLst>
                                    <p:set>
                                      <p:cBhvr>
                                        <p:cTn id="99" dur="1" fill="hold">
                                          <p:stCondLst>
                                            <p:cond delay="0"/>
                                          </p:stCondLst>
                                        </p:cTn>
                                        <p:tgtEl>
                                          <p:spTgt spid="23"/>
                                        </p:tgtEl>
                                        <p:attrNameLst>
                                          <p:attrName>style.visibility</p:attrName>
                                        </p:attrNameLst>
                                      </p:cBhvr>
                                      <p:to>
                                        <p:strVal val="visible"/>
                                      </p:to>
                                    </p:set>
                                    <p:animEffect transition="in" filter="fade">
                                      <p:cBhvr>
                                        <p:cTn id="100" dur="450"/>
                                        <p:tgtEl>
                                          <p:spTgt spid="23"/>
                                        </p:tgtEl>
                                      </p:cBhvr>
                                    </p:animEffect>
                                  </p:childTnLst>
                                </p:cTn>
                              </p:par>
                            </p:childTnLst>
                          </p:cTn>
                        </p:par>
                        <p:par>
                          <p:cTn id="101" fill="hold">
                            <p:stCondLst>
                              <p:cond delay="3320"/>
                            </p:stCondLst>
                            <p:childTnLst>
                              <p:par>
                                <p:cTn id="102" presetID="10" presetClass="entr" presetSubtype="0" fill="hold" grpId="0" nodeType="afterEffect">
                                  <p:stCondLst>
                                    <p:cond delay="200"/>
                                  </p:stCondLst>
                                  <p:childTnLst>
                                    <p:set>
                                      <p:cBhvr>
                                        <p:cTn id="103" dur="1" fill="hold">
                                          <p:stCondLst>
                                            <p:cond delay="0"/>
                                          </p:stCondLst>
                                        </p:cTn>
                                        <p:tgtEl>
                                          <p:spTgt spid="24"/>
                                        </p:tgtEl>
                                        <p:attrNameLst>
                                          <p:attrName>style.visibility</p:attrName>
                                        </p:attrNameLst>
                                      </p:cBhvr>
                                      <p:to>
                                        <p:strVal val="visible"/>
                                      </p:to>
                                    </p:set>
                                    <p:animEffect transition="in" filter="fade">
                                      <p:cBhvr>
                                        <p:cTn id="104" dur="900"/>
                                        <p:tgtEl>
                                          <p:spTgt spid="24"/>
                                        </p:tgtEl>
                                      </p:cBhvr>
                                    </p:animEffect>
                                  </p:childTnLst>
                                </p:cTn>
                              </p:par>
                            </p:childTnLst>
                          </p:cTn>
                        </p:par>
                        <p:par>
                          <p:cTn id="105" fill="hold">
                            <p:stCondLst>
                              <p:cond delay="4420"/>
                            </p:stCondLst>
                            <p:childTnLst>
                              <p:par>
                                <p:cTn id="106" presetID="42" presetClass="entr" presetSubtype="0" fill="hold" grpId="0" nodeType="afterEffect">
                                  <p:stCondLst>
                                    <p:cond delay="150"/>
                                  </p:stCondLst>
                                  <p:childTnLst>
                                    <p:set>
                                      <p:cBhvr>
                                        <p:cTn id="107" dur="1" fill="hold">
                                          <p:stCondLst>
                                            <p:cond delay="0"/>
                                          </p:stCondLst>
                                        </p:cTn>
                                        <p:tgtEl>
                                          <p:spTgt spid="25"/>
                                        </p:tgtEl>
                                        <p:attrNameLst>
                                          <p:attrName>style.visibility</p:attrName>
                                        </p:attrNameLst>
                                      </p:cBhvr>
                                      <p:to>
                                        <p:strVal val="visible"/>
                                      </p:to>
                                    </p:set>
                                    <p:animEffect transition="in" filter="fade">
                                      <p:cBhvr>
                                        <p:cTn id="108" dur="700"/>
                                        <p:tgtEl>
                                          <p:spTgt spid="25"/>
                                        </p:tgtEl>
                                      </p:cBhvr>
                                    </p:animEffect>
                                    <p:anim calcmode="lin" valueType="num">
                                      <p:cBhvr>
                                        <p:cTn id="109" dur="700" fill="hold"/>
                                        <p:tgtEl>
                                          <p:spTgt spid="25"/>
                                        </p:tgtEl>
                                        <p:attrNameLst>
                                          <p:attrName>ppt_x</p:attrName>
                                        </p:attrNameLst>
                                      </p:cBhvr>
                                      <p:tavLst>
                                        <p:tav tm="0">
                                          <p:val>
                                            <p:strVal val="#ppt_x"/>
                                          </p:val>
                                        </p:tav>
                                        <p:tav tm="100000">
                                          <p:val>
                                            <p:strVal val="#ppt_x"/>
                                          </p:val>
                                        </p:tav>
                                      </p:tavLst>
                                    </p:anim>
                                    <p:anim calcmode="lin" valueType="num">
                                      <p:cBhvr>
                                        <p:cTn id="110" dur="700" fill="hold"/>
                                        <p:tgtEl>
                                          <p:spTgt spid="25"/>
                                        </p:tgtEl>
                                        <p:attrNameLst>
                                          <p:attrName>ppt_y</p:attrName>
                                        </p:attrNameLst>
                                      </p:cBhvr>
                                      <p:tavLst>
                                        <p:tav tm="0">
                                          <p:val>
                                            <p:strVal val="#ppt_y+.06"/>
                                          </p:val>
                                        </p:tav>
                                        <p:tav tm="100000">
                                          <p:val>
                                            <p:strVal val="#ppt_y"/>
                                          </p:val>
                                        </p:tav>
                                      </p:tavLst>
                                    </p:anim>
                                  </p:childTnLst>
                                </p:cTn>
                              </p:par>
                              <p:par>
                                <p:cTn id="111" presetID="10" presetClass="entr" presetSubtype="0" fill="hold" grpId="0" nodeType="withEffect">
                                  <p:stCondLst>
                                    <p:cond delay="0"/>
                                  </p:stCondLst>
                                  <p:childTnLst>
                                    <p:set>
                                      <p:cBhvr>
                                        <p:cTn id="112" dur="1" fill="hold">
                                          <p:stCondLst>
                                            <p:cond delay="0"/>
                                          </p:stCondLst>
                                        </p:cTn>
                                        <p:tgtEl>
                                          <p:spTgt spid="26"/>
                                        </p:tgtEl>
                                        <p:attrNameLst>
                                          <p:attrName>style.visibility</p:attrName>
                                        </p:attrNameLst>
                                      </p:cBhvr>
                                      <p:to>
                                        <p:strVal val="visible"/>
                                      </p:to>
                                    </p:set>
                                    <p:animEffect transition="in" filter="fade">
                                      <p:cBhvr>
                                        <p:cTn id="113"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8" grpId="0"/>
      <p:bldP spid="9" grpId="0" animBg="1"/>
      <p:bldP spid="10" grpId="0"/>
      <p:bldP spid="11" grpId="0" animBg="1"/>
      <p:bldP spid="12" grpId="0"/>
      <p:bldP spid="13" grpId="0"/>
      <p:bldP spid="14" grpId="0" animBg="1"/>
      <p:bldP spid="15" grpId="0"/>
      <p:bldP spid="16" grpId="0" animBg="1"/>
      <p:bldP spid="17" grpId="0"/>
      <p:bldP spid="18" grpId="0"/>
      <p:bldP spid="19" grpId="0" animBg="1"/>
      <p:bldP spid="20" grpId="0"/>
      <p:bldP spid="21" grpId="0"/>
      <p:bldP spid="23" grpId="0"/>
      <p:bldP spid="24" grpId="0"/>
      <p:bldP spid="25" grpId="0"/>
      <p:bldP spid="26" grpId="0"/>
    </p:bldLst>
  </p:timing>
</p:sld>
</file>

<file path=ppt/theme/theme1.xml><?xml version="1.0" encoding="utf-8"?>
<a:theme xmlns:a="http://schemas.openxmlformats.org/drawingml/2006/main" name="JioMausam Night">
  <a:themeElements>
    <a:clrScheme name="JioMausam Night">
      <a:dk1>
        <a:srgbClr val="0B1020"/>
      </a:dk1>
      <a:lt1>
        <a:srgbClr val="FFFFFF"/>
      </a:lt1>
      <a:dk2>
        <a:srgbClr val="1A2246"/>
      </a:dk2>
      <a:lt2>
        <a:srgbClr val="EEF1F7"/>
      </a:lt2>
      <a:accent1>
        <a:srgbClr val="F5A623"/>
      </a:accent1>
      <a:accent2>
        <a:srgbClr val="3987E5"/>
      </a:accent2>
      <a:accent3>
        <a:srgbClr val="D95926"/>
      </a:accent3>
      <a:accent4>
        <a:srgbClr val="1BAF7A"/>
      </a:accent4>
      <a:accent5>
        <a:srgbClr val="E5484D"/>
      </a:accent5>
      <a:accent6>
        <a:srgbClr val="98A2C0"/>
      </a:accent6>
      <a:hlink>
        <a:srgbClr val="F5A623"/>
      </a:hlink>
      <a:folHlink>
        <a:srgbClr val="C98500"/>
      </a:folHlink>
    </a:clrScheme>
    <a:fontScheme name="JioMausam N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JioMausam · Reliance T.U.P XII · Elimination round</dc:title>
  <dc:subject>PptxGenJS Presentation</dc:subject>
  <dc:creator>JioMausam team</dc:creator>
  <cp:lastModifiedBy>JioMausam team</cp:lastModifiedBy>
  <cp:revision>1</cp:revision>
  <dcterms:created xsi:type="dcterms:W3CDTF">2026-10-04T12:02:04Z</dcterms:created>
  <dcterms:modified xsi:type="dcterms:W3CDTF">2026-10-04T12:02:04Z</dcterms:modified>
</cp:coreProperties>
</file>