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imination round" id="{d0bd848d-a973-4eb1-8c3a-a862e9644142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PROOF HIERARCHY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proven, what we checked, what isn’t</a:t>
            </a:r>
            <a:endParaRPr lang="en-US" sz="3200" dirty="0"/>
          </a:p>
        </p:txBody>
      </p:sp>
      <p:sp>
        <p:nvSpPr>
          <p:cNvPr id="6" name="col0"/>
          <p:cNvSpPr/>
          <p:nvPr/>
        </p:nvSpPr>
        <p:spPr>
          <a:xfrm>
            <a:off x="548640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141B36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7" name="col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29184" cy="329184"/>
          </a:xfrm>
          <a:prstGeom prst="rect">
            <a:avLst/>
          </a:prstGeom>
        </p:spPr>
      </p:pic>
      <p:sp>
        <p:nvSpPr>
          <p:cNvPr id="8" name="colK0"/>
          <p:cNvSpPr txBox="1"/>
          <p:nvPr/>
        </p:nvSpPr>
        <p:spPr>
          <a:xfrm>
            <a:off x="1207008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PUBLISHED</a:t>
            </a:r>
            <a:endParaRPr lang="en-US" sz="1100" dirty="0"/>
          </a:p>
        </p:txBody>
      </p:sp>
      <p:sp>
        <p:nvSpPr>
          <p:cNvPr id="9" name="colT0"/>
          <p:cNvSpPr txBox="1"/>
          <p:nvPr/>
        </p:nvSpPr>
        <p:spPr>
          <a:xfrm>
            <a:off x="777240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Physics: rain weakens microwave signals (ITU-R P.838)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rain from a phone network (Science 2006)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country-wide rain maps (PNAS 2013)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exist (pycomlink, KIT Germany)</a:t>
            </a:r>
            <a:endParaRPr lang="en-US" sz="1350" dirty="0"/>
          </a:p>
        </p:txBody>
      </p:sp>
      <p:sp>
        <p:nvSpPr>
          <p:cNvPr id="10" name="col1"/>
          <p:cNvSpPr/>
          <p:nvPr/>
        </p:nvSpPr>
        <p:spPr>
          <a:xfrm>
            <a:off x="4322978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2B2208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col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578" y="2240280"/>
            <a:ext cx="329184" cy="329184"/>
          </a:xfrm>
          <a:prstGeom prst="rect">
            <a:avLst/>
          </a:prstGeom>
        </p:spPr>
      </p:pic>
      <p:sp>
        <p:nvSpPr>
          <p:cNvPr id="12" name="colK1"/>
          <p:cNvSpPr txBox="1"/>
          <p:nvPr/>
        </p:nvSpPr>
        <p:spPr>
          <a:xfrm>
            <a:off x="4981346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· PUBLIC DATA</a:t>
            </a:r>
            <a:endParaRPr lang="en-US" sz="1100" dirty="0"/>
          </a:p>
        </p:txBody>
      </p:sp>
      <p:sp>
        <p:nvSpPr>
          <p:cNvPr id="13" name="colT1"/>
          <p:cNvSpPr txBox="1"/>
          <p:nvPr/>
        </p:nvSpPr>
        <p:spPr>
          <a:xfrm>
            <a:off x="4551578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real links, Germany, 11 days, radar as reference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network-wide match, unseen days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 typical single link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trigger events caught; 18% of our triggers unconfirmed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/ no-rain days: 91% detected, 5% false</a:t>
            </a:r>
            <a:endParaRPr lang="en-US" sz="1350" dirty="0"/>
          </a:p>
        </p:txBody>
      </p:sp>
      <p:sp>
        <p:nvSpPr>
          <p:cNvPr id="14" name="col2"/>
          <p:cNvSpPr/>
          <p:nvPr/>
        </p:nvSpPr>
        <p:spPr>
          <a:xfrm>
            <a:off x="8097317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dash"/>
          </a:ln>
        </p:spPr>
      </p:sp>
      <p:pic>
        <p:nvPicPr>
          <p:cNvPr id="15" name="col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917" y="2240280"/>
            <a:ext cx="329184" cy="329184"/>
          </a:xfrm>
          <a:prstGeom prst="rect">
            <a:avLst/>
          </a:prstGeom>
        </p:spPr>
      </p:pic>
      <p:sp>
        <p:nvSpPr>
          <p:cNvPr id="16" name="colK2"/>
          <p:cNvSpPr txBox="1"/>
          <p:nvPr/>
        </p:nvSpPr>
        <p:spPr>
          <a:xfrm>
            <a:off x="8755685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PROVEN · THE PILOT</a:t>
            </a:r>
            <a:endParaRPr lang="en-US" sz="1100" dirty="0"/>
          </a:p>
        </p:txBody>
      </p:sp>
      <p:sp>
        <p:nvSpPr>
          <p:cNvPr id="17" name="colT2"/>
          <p:cNvSpPr txBox="1"/>
          <p:nvPr/>
        </p:nvSpPr>
        <p:spPr>
          <a:xfrm>
            <a:off x="8325917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Jio’s usable coverage → Gate 1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 Indian monsoon → Gate 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inside Reliance → Gate 3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→ payer test in the pilot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Insurance-grade triggers → accuracy + actuarial gates, shadow payouts</a:t>
            </a:r>
            <a:endParaRPr lang="en-US" sz="1350" dirty="0"/>
          </a:p>
        </p:txBody>
      </p:sp>
      <p:sp>
        <p:nvSpPr>
          <p:cNvPr id="18" name="takeaway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know what is proven. We know what isn’t. The pilot is built around the unknowns.</a:t>
            </a:r>
            <a:endParaRPr lang="en-US" sz="1800" dirty="0"/>
          </a:p>
        </p:txBody>
      </p:sp>
      <p:sp>
        <p:nvSpPr>
          <p:cNvPr id="19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check: our pipeline on the open pycomlink example dataset (KIT, BSD licence), German DWD radar as reference; tuned 10–12 May 2018, scored 13–20 May. Not Jio data.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DEFENCE WALL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limit we know of, and our answer</a:t>
            </a:r>
            <a:endParaRPr lang="en-US" sz="3200" dirty="0"/>
          </a:p>
        </p:txBody>
      </p:sp>
      <p:graphicFrame>
        <p:nvGraphicFramePr>
          <p:cNvPr id="3" name="wal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6613855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may not have enough usable microwave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audit is Gate 1; radar, gauges and satellite still work without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Fibre doesn’t sense 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only use microwave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link measures path-averaged rain, not a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with radar and gauges turns it into grid estimates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alone caught only 68% of trigger 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never use links alone; accuracy picks the 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of our triggers weren’t confirmed by radar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 confirmation and local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can be confused with equipment 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telemetry, fault flags and cross-link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in India is 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Back-test Jio’s archived Mumbai monsoon data (Gate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km resolution isn’t guaranteed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depends on link density and fusion; reported per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Platforms’ willingness to pay is 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value inside Reliance first (Gate 3), then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basis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zones, multi-source trigger, review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 payout is arbitrary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assumption; set by actuarial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 isn’t priced on the 10 mm in 3 h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Priced on 25 years of daily IMD risk; the pilot recalibrates the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Towers don’t sense 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 stations and satellite feed the same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may never 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intelligence business stands on its 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JioMausam Night">
  <a:themeElements>
    <a:clrScheme name="JioMausam Night">
      <a:dk1>
        <a:srgbClr val="0B1020"/>
      </a:dk1>
      <a:lt1>
        <a:srgbClr val="FFFFFF"/>
      </a:lt1>
      <a:dk2>
        <a:srgbClr val="1A2246"/>
      </a:dk2>
      <a:lt2>
        <a:srgbClr val="EEF1F7"/>
      </a:lt2>
      <a:accent1>
        <a:srgbClr val="F5A623"/>
      </a:accent1>
      <a:accent2>
        <a:srgbClr val="3987E5"/>
      </a:accent2>
      <a:accent3>
        <a:srgbClr val="D95926"/>
      </a:accent3>
      <a:accent4>
        <a:srgbClr val="1BAF7A"/>
      </a:accent4>
      <a:accent5>
        <a:srgbClr val="E5484D"/>
      </a:accent5>
      <a:accent6>
        <a:srgbClr val="98A2C0"/>
      </a:accent6>
      <a:hlink>
        <a:srgbClr val="F5A623"/>
      </a:hlink>
      <a:folHlink>
        <a:srgbClr val="C98500"/>
      </a:folHlink>
    </a:clrScheme>
    <a:fontScheme name="JioMausam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JioMausam · Q&amp;A backup</dc:title>
  <dc:subject>PptxGenJS Presentation</dc:subject>
  <dc:creator>JioMausam team</dc:creator>
  <cp:lastModifiedBy>JioMausam team</cp:lastModifiedBy>
  <cp:revision>1</cp:revision>
  <dcterms:created xsi:type="dcterms:W3CDTF">2026-10-04T05:43:23Z</dcterms:created>
  <dcterms:modified xsi:type="dcterms:W3CDTF">2026-10-04T05:43:23Z</dcterms:modified>
</cp:coreProperties>
</file>