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limination round" id="{7a7b4aa3-30f8-42a3-8a0f-40f39559d7ca}">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Rainfall (mm)</c:v>
                </c:pt>
              </c:strCache>
            </c:strRef>
          </c:tx>
          <c:spPr>
            <a:solidFill>
              <a:srgbClr val="3987E5"/>
            </a:solidFill>
            <a:effectLst/>
          </c:spPr>
          <c:invertIfNegative val="0"/>
          <c:dLbls>
            <c:numFmt formatCode="0" sourceLinked="0"/>
            <c:txPr>
              <a:bodyPr/>
              <a:lstStyle/>
              <a:p>
                <a:pPr>
                  <a:defRPr b="1" i="0" strike="noStrike" sz="18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3987E5"/>
              </a:solidFill>
              <a:effectLst/>
            </c:spPr>
          </c:dPt>
          <c:dPt>
            <c:idx val="1"/>
            <c:invertIfNegative val="0"/>
            <c:bubble3D val="0"/>
            <c:spPr>
              <a:solidFill>
                <a:srgbClr val="3987E5"/>
              </a:solidFill>
              <a:effectLst/>
            </c:spPr>
          </c:dPt>
          <c:cat>
            <c:multiLvlStrRef>
              <c:f>Sheet1!$A$2:$A$3</c:f>
              <c:multiLvlStrCache>
                <c:ptCount val="2"/>
                <c:lvl>
                  <c:pt idx="0">
                    <c:v>Santacruz</c:v>
                  </c:pt>
                  <c:pt idx="1">
                    <c:v>Colaba</c:v>
                  </c:pt>
                </c:lvl>
              </c:multiLvlStrCache>
            </c:multiLvlStrRef>
          </c:cat>
          <c:val>
            <c:numRef>
              <c:f>Sheet1!$B$2:$B$3</c:f>
              <c:numCache>
                <c:formatCode>General</c:formatCode>
                <c:ptCount val="2"/>
                <c:pt idx="0">
                  <c:v>944</c:v>
                </c:pt>
                <c:pt idx="1">
                  <c:v>73</c:v>
                </c:pt>
              </c:numCache>
            </c:numRef>
          </c:val>
        </c:ser>
        <c:dLbls>
          <c:numFmt formatCode="0" sourceLinked="0"/>
          <c:txPr>
            <a:bodyPr/>
            <a:lstStyle/>
            <a:p>
              <a:pPr>
                <a:defRPr b="1" i="0" strike="noStrike" sz="1800" u="none">
                  <a:solidFill>
                    <a:srgbClr val="FFFFFF"/>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B9C2D8"/>
                </a:solidFill>
                <a:latin typeface="+mn-lt"/>
              </a:defRPr>
            </a:pPr>
            <a:endParaRPr lang="en-US"/>
          </a:p>
        </c:txPr>
        <c:crossAx val="2094734552"/>
        <c:crosses val="autoZero"/>
        <c:auto val="1"/>
        <c:lblAlgn val="ctr"/>
        <c:noMultiLvlLbl val="1"/>
      </c:catAx>
      <c:valAx>
        <c:axId val="2094734552"/>
        <c:scaling>
          <c:orientation val="minMax"/>
          <c:max val="11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Radar</c:v>
                </c:pt>
              </c:strCache>
            </c:strRef>
          </c:tx>
          <c:spPr>
            <a:solidFill>
              <a:srgbClr val="D95926"/>
            </a:solidFill>
            <a:ln w="25400" cap="flat">
              <a:solidFill>
                <a:srgbClr val="D959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5926"/>
              </a:solidFill>
              <a:ln w="9525" cap="flat">
                <a:solidFill>
                  <a:srgbClr val="D95926"/>
                </a:solidFill>
                <a:prstDash val="solid"/>
                <a:round/>
              </a:ln>
              <a:effectLst/>
            </c:spPr>
          </c:marker>
          <c:cat>
            <c:multiLvlStrRef>
              <c:f>Sheet1!$A$2:$A$265</c:f>
              <c:multiLvlStrCache>
                <c:ptCount val="264"/>
                <c:lvl>
                  <c:pt idx="0">
                    <c:v/>
                  </c:pt>
                  <c:pt idx="1">
                    <c:v/>
                  </c:pt>
                  <c:pt idx="2">
                    <c:v/>
                  </c:pt>
                  <c:pt idx="3">
                    <c:v/>
                  </c:pt>
                  <c:pt idx="4">
                    <c:v/>
                  </c:pt>
                  <c:pt idx="5">
                    <c:v/>
                  </c:pt>
                  <c:pt idx="6">
                    <c:v/>
                  </c:pt>
                  <c:pt idx="7">
                    <c:v/>
                  </c:pt>
                  <c:pt idx="8">
                    <c:v/>
                  </c:pt>
                  <c:pt idx="9">
                    <c:v/>
                  </c:pt>
                  <c:pt idx="10">
                    <c:v/>
                  </c:pt>
                  <c:pt idx="11">
                    <c:v/>
                  </c:pt>
                  <c:pt idx="12">
                    <c:v>10 May</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12 May</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14 May</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16 May</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18 May</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20 May</c:v>
                  </c:pt>
                  <c:pt idx="253">
                    <c:v/>
                  </c:pt>
                  <c:pt idx="254">
                    <c:v/>
                  </c:pt>
                  <c:pt idx="255">
                    <c:v/>
                  </c:pt>
                  <c:pt idx="256">
                    <c:v/>
                  </c:pt>
                  <c:pt idx="257">
                    <c:v/>
                  </c:pt>
                  <c:pt idx="258">
                    <c:v/>
                  </c:pt>
                  <c:pt idx="259">
                    <c:v/>
                  </c:pt>
                  <c:pt idx="260">
                    <c:v/>
                  </c:pt>
                  <c:pt idx="261">
                    <c:v/>
                  </c:pt>
                  <c:pt idx="262">
                    <c:v/>
                  </c:pt>
                  <c:pt idx="263">
                    <c:v/>
                  </c:pt>
                </c:lvl>
              </c:multiLvlStrCache>
            </c:multiLvlStrRef>
          </c:cat>
          <c:val>
            <c:numRef>
              <c:f>Sheet1!$B$2:$B$265</c:f>
              <c:numCache>
                <c:formatCode>General</c:formatCode>
                <c:ptCount val="264"/>
                <c:pt idx="0">
                  <c:v>0.01</c:v>
                </c:pt>
                <c:pt idx="1">
                  <c:v>0.03</c:v>
                </c:pt>
                <c:pt idx="2">
                  <c:v>0.07</c:v>
                </c:pt>
                <c:pt idx="3">
                  <c:v>0.07</c:v>
                </c:pt>
                <c:pt idx="4">
                  <c:v>0.13</c:v>
                </c:pt>
                <c:pt idx="5">
                  <c:v>0.13</c:v>
                </c:pt>
                <c:pt idx="6">
                  <c:v>0.1</c:v>
                </c:pt>
                <c:pt idx="7">
                  <c:v>0.03</c:v>
                </c:pt>
                <c:pt idx="8">
                  <c:v>0.06</c:v>
                </c:pt>
                <c:pt idx="9">
                  <c:v>0.14</c:v>
                </c:pt>
                <c:pt idx="10">
                  <c:v>0.36</c:v>
                </c:pt>
                <c:pt idx="11">
                  <c:v>0.8</c:v>
                </c:pt>
                <c:pt idx="12">
                  <c:v>1.04</c:v>
                </c:pt>
                <c:pt idx="13">
                  <c:v>0.51</c:v>
                </c:pt>
                <c:pt idx="14">
                  <c:v>0.44</c:v>
                </c:pt>
                <c:pt idx="15">
                  <c:v>0.25</c:v>
                </c:pt>
                <c:pt idx="16">
                  <c:v>0.22</c:v>
                </c:pt>
                <c:pt idx="17">
                  <c:v>0.27</c:v>
                </c:pt>
                <c:pt idx="18">
                  <c:v>0.41</c:v>
                </c:pt>
                <c:pt idx="19">
                  <c:v>0.2</c:v>
                </c:pt>
                <c:pt idx="20">
                  <c:v>0.03</c:v>
                </c:pt>
                <c:pt idx="21">
                  <c:v>0.02</c:v>
                </c:pt>
                <c:pt idx="22">
                  <c:v>0.01</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0.01</c:v>
                </c:pt>
                <c:pt idx="65">
                  <c:v>0.03</c:v>
                </c:pt>
                <c:pt idx="66">
                  <c:v>0.03</c:v>
                </c:pt>
                <c:pt idx="67">
                  <c:v>0</c:v>
                </c:pt>
                <c:pt idx="68">
                  <c:v>0.01</c:v>
                </c:pt>
                <c:pt idx="69">
                  <c:v>0.04</c:v>
                </c:pt>
                <c:pt idx="70">
                  <c:v>0.02</c:v>
                </c:pt>
                <c:pt idx="71">
                  <c:v>0.02</c:v>
                </c:pt>
                <c:pt idx="72">
                  <c:v>0</c:v>
                </c:pt>
                <c:pt idx="73">
                  <c:v>0</c:v>
                </c:pt>
                <c:pt idx="74">
                  <c:v>0</c:v>
                </c:pt>
                <c:pt idx="75">
                  <c:v>0</c:v>
                </c:pt>
                <c:pt idx="76">
                  <c:v>0</c:v>
                </c:pt>
                <c:pt idx="77">
                  <c:v>0</c:v>
                </c:pt>
                <c:pt idx="78">
                  <c:v>0.02</c:v>
                </c:pt>
                <c:pt idx="79">
                  <c:v>0.02</c:v>
                </c:pt>
                <c:pt idx="80">
                  <c:v>0.02</c:v>
                </c:pt>
                <c:pt idx="81">
                  <c:v>0</c:v>
                </c:pt>
                <c:pt idx="82">
                  <c:v>0</c:v>
                </c:pt>
                <c:pt idx="83">
                  <c:v>0</c:v>
                </c:pt>
                <c:pt idx="84">
                  <c:v>0.13</c:v>
                </c:pt>
                <c:pt idx="85">
                  <c:v>0.4</c:v>
                </c:pt>
                <c:pt idx="86">
                  <c:v>0.54</c:v>
                </c:pt>
                <c:pt idx="87">
                  <c:v>1.22</c:v>
                </c:pt>
                <c:pt idx="88">
                  <c:v>1.35</c:v>
                </c:pt>
                <c:pt idx="89">
                  <c:v>1.18</c:v>
                </c:pt>
                <c:pt idx="90">
                  <c:v>1.54</c:v>
                </c:pt>
                <c:pt idx="91">
                  <c:v>1.75</c:v>
                </c:pt>
                <c:pt idx="92">
                  <c:v>1.51</c:v>
                </c:pt>
                <c:pt idx="93">
                  <c:v>1.86</c:v>
                </c:pt>
                <c:pt idx="94">
                  <c:v>1.75</c:v>
                </c:pt>
                <c:pt idx="95">
                  <c:v>1.55</c:v>
                </c:pt>
                <c:pt idx="96">
                  <c:v>0.87</c:v>
                </c:pt>
                <c:pt idx="97">
                  <c:v>0.25</c:v>
                </c:pt>
                <c:pt idx="98">
                  <c:v>0.25</c:v>
                </c:pt>
                <c:pt idx="99">
                  <c:v>0.3</c:v>
                </c:pt>
                <c:pt idx="100">
                  <c:v>0.16</c:v>
                </c:pt>
                <c:pt idx="101">
                  <c:v>0.09</c:v>
                </c:pt>
                <c:pt idx="102">
                  <c:v>0.05</c:v>
                </c:pt>
                <c:pt idx="103">
                  <c:v>0.04</c:v>
                </c:pt>
                <c:pt idx="104">
                  <c:v>0.01</c:v>
                </c:pt>
                <c:pt idx="105">
                  <c:v>0.02</c:v>
                </c:pt>
                <c:pt idx="106">
                  <c:v>0.02</c:v>
                </c:pt>
                <c:pt idx="107">
                  <c:v>0.04</c:v>
                </c:pt>
                <c:pt idx="108">
                  <c:v>0.25</c:v>
                </c:pt>
                <c:pt idx="109">
                  <c:v>0.38</c:v>
                </c:pt>
                <c:pt idx="110">
                  <c:v>0.7</c:v>
                </c:pt>
                <c:pt idx="111">
                  <c:v>0.63</c:v>
                </c:pt>
                <c:pt idx="112">
                  <c:v>0.41</c:v>
                </c:pt>
                <c:pt idx="113">
                  <c:v>0.17</c:v>
                </c:pt>
                <c:pt idx="114">
                  <c:v>0.29</c:v>
                </c:pt>
                <c:pt idx="115">
                  <c:v>0.45</c:v>
                </c:pt>
                <c:pt idx="116">
                  <c:v>0.42</c:v>
                </c:pt>
                <c:pt idx="117">
                  <c:v>0.49</c:v>
                </c:pt>
                <c:pt idx="118">
                  <c:v>0.11</c:v>
                </c:pt>
                <c:pt idx="119">
                  <c:v>0</c:v>
                </c:pt>
                <c:pt idx="120">
                  <c:v>0</c:v>
                </c:pt>
                <c:pt idx="121">
                  <c:v>0</c:v>
                </c:pt>
                <c:pt idx="122">
                  <c:v>0</c:v>
                </c:pt>
                <c:pt idx="123">
                  <c:v>0</c:v>
                </c:pt>
                <c:pt idx="124">
                  <c:v>0.01</c:v>
                </c:pt>
                <c:pt idx="125">
                  <c:v>0.03</c:v>
                </c:pt>
                <c:pt idx="126">
                  <c:v>0.03</c:v>
                </c:pt>
                <c:pt idx="127">
                  <c:v>0.05</c:v>
                </c:pt>
                <c:pt idx="128">
                  <c:v>0</c:v>
                </c:pt>
                <c:pt idx="129">
                  <c:v>0</c:v>
                </c:pt>
                <c:pt idx="130">
                  <c:v>0</c:v>
                </c:pt>
                <c:pt idx="131">
                  <c:v>0.03</c:v>
                </c:pt>
                <c:pt idx="132">
                  <c:v>0.15</c:v>
                </c:pt>
                <c:pt idx="133">
                  <c:v>0.12</c:v>
                </c:pt>
                <c:pt idx="134">
                  <c:v>0.18</c:v>
                </c:pt>
                <c:pt idx="135">
                  <c:v>0.25</c:v>
                </c:pt>
                <c:pt idx="136">
                  <c:v>0.38</c:v>
                </c:pt>
                <c:pt idx="137">
                  <c:v>0.36</c:v>
                </c:pt>
                <c:pt idx="138">
                  <c:v>0.13</c:v>
                </c:pt>
                <c:pt idx="139">
                  <c:v>0.03</c:v>
                </c:pt>
                <c:pt idx="140">
                  <c:v>0.02</c:v>
                </c:pt>
                <c:pt idx="141">
                  <c:v>0.05</c:v>
                </c:pt>
                <c:pt idx="142">
                  <c:v>0.1</c:v>
                </c:pt>
                <c:pt idx="143">
                  <c:v>0.27</c:v>
                </c:pt>
                <c:pt idx="144">
                  <c:v>0.53</c:v>
                </c:pt>
                <c:pt idx="145">
                  <c:v>0.8</c:v>
                </c:pt>
                <c:pt idx="146">
                  <c:v>0.97</c:v>
                </c:pt>
                <c:pt idx="147">
                  <c:v>0.88</c:v>
                </c:pt>
                <c:pt idx="148">
                  <c:v>0.73</c:v>
                </c:pt>
                <c:pt idx="149">
                  <c:v>0.35</c:v>
                </c:pt>
                <c:pt idx="150">
                  <c:v>0.13</c:v>
                </c:pt>
                <c:pt idx="151">
                  <c:v>0.05</c:v>
                </c:pt>
                <c:pt idx="152">
                  <c:v>0.12</c:v>
                </c:pt>
                <c:pt idx="153">
                  <c:v>0.11</c:v>
                </c:pt>
                <c:pt idx="154">
                  <c:v>0.06</c:v>
                </c:pt>
                <c:pt idx="155">
                  <c:v>0.24</c:v>
                </c:pt>
                <c:pt idx="156">
                  <c:v>0.32</c:v>
                </c:pt>
                <c:pt idx="157">
                  <c:v>0.54</c:v>
                </c:pt>
                <c:pt idx="158">
                  <c:v>0.74</c:v>
                </c:pt>
                <c:pt idx="159">
                  <c:v>0.63</c:v>
                </c:pt>
                <c:pt idx="160">
                  <c:v>0.44</c:v>
                </c:pt>
                <c:pt idx="161">
                  <c:v>0.26</c:v>
                </c:pt>
                <c:pt idx="162">
                  <c:v>0.17</c:v>
                </c:pt>
                <c:pt idx="163">
                  <c:v>0.15</c:v>
                </c:pt>
                <c:pt idx="164">
                  <c:v>0.23</c:v>
                </c:pt>
                <c:pt idx="165">
                  <c:v>0.33</c:v>
                </c:pt>
                <c:pt idx="166">
                  <c:v>0.63</c:v>
                </c:pt>
                <c:pt idx="167">
                  <c:v>0.46</c:v>
                </c:pt>
                <c:pt idx="168">
                  <c:v>0.61</c:v>
                </c:pt>
                <c:pt idx="169">
                  <c:v>0.47</c:v>
                </c:pt>
                <c:pt idx="170">
                  <c:v>0.49</c:v>
                </c:pt>
                <c:pt idx="171">
                  <c:v>0.24</c:v>
                </c:pt>
                <c:pt idx="172">
                  <c:v>0.29</c:v>
                </c:pt>
                <c:pt idx="173">
                  <c:v>0.36</c:v>
                </c:pt>
                <c:pt idx="174">
                  <c:v>0.19</c:v>
                </c:pt>
                <c:pt idx="175">
                  <c:v>0.07</c:v>
                </c:pt>
                <c:pt idx="176">
                  <c:v>0.04</c:v>
                </c:pt>
                <c:pt idx="177">
                  <c:v>0.04</c:v>
                </c:pt>
                <c:pt idx="178">
                  <c:v>0.04</c:v>
                </c:pt>
                <c:pt idx="179">
                  <c:v>0.04</c:v>
                </c:pt>
                <c:pt idx="180">
                  <c:v>0.01</c:v>
                </c:pt>
                <c:pt idx="181">
                  <c:v>0</c:v>
                </c:pt>
                <c:pt idx="182">
                  <c:v>0</c:v>
                </c:pt>
                <c:pt idx="183">
                  <c:v>0</c:v>
                </c:pt>
                <c:pt idx="184">
                  <c:v>0</c:v>
                </c:pt>
                <c:pt idx="185">
                  <c:v>0</c:v>
                </c:pt>
                <c:pt idx="186">
                  <c:v>0</c:v>
                </c:pt>
                <c:pt idx="187">
                  <c:v>0</c:v>
                </c:pt>
                <c:pt idx="188">
                  <c:v>0</c:v>
                </c:pt>
                <c:pt idx="189">
                  <c:v>0</c:v>
                </c:pt>
                <c:pt idx="190">
                  <c:v>0.01</c:v>
                </c:pt>
                <c:pt idx="191">
                  <c:v>0.01</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0.01</c:v>
                </c:pt>
                <c:pt idx="229">
                  <c:v>0.01</c:v>
                </c:pt>
                <c:pt idx="230">
                  <c:v>0.07</c:v>
                </c:pt>
                <c:pt idx="231">
                  <c:v>0.11</c:v>
                </c:pt>
                <c:pt idx="232">
                  <c:v>0.12</c:v>
                </c:pt>
                <c:pt idx="233">
                  <c:v>0.13</c:v>
                </c:pt>
                <c:pt idx="234">
                  <c:v>0.16</c:v>
                </c:pt>
                <c:pt idx="235">
                  <c:v>0.13</c:v>
                </c:pt>
                <c:pt idx="236">
                  <c:v>0.05</c:v>
                </c:pt>
                <c:pt idx="237">
                  <c:v>0.04</c:v>
                </c:pt>
                <c:pt idx="238">
                  <c:v>0.11</c:v>
                </c:pt>
                <c:pt idx="239">
                  <c:v>0.24</c:v>
                </c:pt>
                <c:pt idx="240">
                  <c:v>0.49</c:v>
                </c:pt>
                <c:pt idx="241">
                  <c:v>0.77</c:v>
                </c:pt>
                <c:pt idx="242">
                  <c:v>0.72</c:v>
                </c:pt>
                <c:pt idx="243">
                  <c:v>0.51</c:v>
                </c:pt>
                <c:pt idx="244">
                  <c:v>0.33</c:v>
                </c:pt>
                <c:pt idx="245">
                  <c:v>0.55</c:v>
                </c:pt>
                <c:pt idx="246">
                  <c:v>0.49</c:v>
                </c:pt>
                <c:pt idx="247">
                  <c:v>0.32</c:v>
                </c:pt>
                <c:pt idx="248">
                  <c:v>0.21</c:v>
                </c:pt>
                <c:pt idx="249">
                  <c:v>0.14</c:v>
                </c:pt>
                <c:pt idx="250">
                  <c:v>0.17</c:v>
                </c:pt>
                <c:pt idx="251">
                  <c:v>0.14</c:v>
                </c:pt>
                <c:pt idx="252">
                  <c:v>0.1</c:v>
                </c:pt>
                <c:pt idx="253">
                  <c:v>0.05</c:v>
                </c:pt>
                <c:pt idx="254">
                  <c:v>0.04</c:v>
                </c:pt>
                <c:pt idx="255">
                  <c:v>0.04</c:v>
                </c:pt>
                <c:pt idx="256">
                  <c:v>0.02</c:v>
                </c:pt>
                <c:pt idx="257">
                  <c:v>0.02</c:v>
                </c:pt>
                <c:pt idx="258">
                  <c:v>0.03</c:v>
                </c:pt>
                <c:pt idx="259">
                  <c:v>0.01</c:v>
                </c:pt>
                <c:pt idx="260">
                  <c:v>0</c:v>
                </c:pt>
                <c:pt idx="261">
                  <c:v>0</c:v>
                </c:pt>
                <c:pt idx="262">
                  <c:v>0</c:v>
                </c:pt>
                <c:pt idx="263">
                  <c:v>0</c:v>
                </c:pt>
              </c:numCache>
            </c:numRef>
          </c:val>
          <c:smooth val="0"/>
        </c:ser>
        <c:ser>
          <c:idx val="1"/>
          <c:order val="1"/>
          <c:tx>
            <c:strRef>
              <c:f>Sheet1!$C$1</c:f>
              <c:strCache>
                <c:ptCount val="1"/>
                <c:pt idx="0">
                  <c:v>Our 500 links</c:v>
                </c:pt>
              </c:strCache>
            </c:strRef>
          </c:tx>
          <c:spPr>
            <a:solidFill>
              <a:srgbClr val="3987E5"/>
            </a:solidFill>
            <a:ln w="25400" cap="flat">
              <a:solidFill>
                <a:srgbClr val="3987E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987E5"/>
              </a:solidFill>
              <a:ln w="9525" cap="flat">
                <a:solidFill>
                  <a:srgbClr val="3987E5"/>
                </a:solidFill>
                <a:prstDash val="solid"/>
                <a:round/>
              </a:ln>
              <a:effectLst/>
            </c:spPr>
          </c:marker>
          <c:cat>
            <c:multiLvlStrRef>
              <c:f>Sheet1!$A$2:$A$265</c:f>
              <c:multiLvlStrCache>
                <c:ptCount val="264"/>
                <c:lvl>
                  <c:pt idx="0">
                    <c:v/>
                  </c:pt>
                  <c:pt idx="1">
                    <c:v/>
                  </c:pt>
                  <c:pt idx="2">
                    <c:v/>
                  </c:pt>
                  <c:pt idx="3">
                    <c:v/>
                  </c:pt>
                  <c:pt idx="4">
                    <c:v/>
                  </c:pt>
                  <c:pt idx="5">
                    <c:v/>
                  </c:pt>
                  <c:pt idx="6">
                    <c:v/>
                  </c:pt>
                  <c:pt idx="7">
                    <c:v/>
                  </c:pt>
                  <c:pt idx="8">
                    <c:v/>
                  </c:pt>
                  <c:pt idx="9">
                    <c:v/>
                  </c:pt>
                  <c:pt idx="10">
                    <c:v/>
                  </c:pt>
                  <c:pt idx="11">
                    <c:v/>
                  </c:pt>
                  <c:pt idx="12">
                    <c:v>10 May</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12 May</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14 May</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16 May</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18 May</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20 May</c:v>
                  </c:pt>
                  <c:pt idx="253">
                    <c:v/>
                  </c:pt>
                  <c:pt idx="254">
                    <c:v/>
                  </c:pt>
                  <c:pt idx="255">
                    <c:v/>
                  </c:pt>
                  <c:pt idx="256">
                    <c:v/>
                  </c:pt>
                  <c:pt idx="257">
                    <c:v/>
                  </c:pt>
                  <c:pt idx="258">
                    <c:v/>
                  </c:pt>
                  <c:pt idx="259">
                    <c:v/>
                  </c:pt>
                  <c:pt idx="260">
                    <c:v/>
                  </c:pt>
                  <c:pt idx="261">
                    <c:v/>
                  </c:pt>
                  <c:pt idx="262">
                    <c:v/>
                  </c:pt>
                  <c:pt idx="263">
                    <c:v/>
                  </c:pt>
                </c:lvl>
              </c:multiLvlStrCache>
            </c:multiLvlStrRef>
          </c:cat>
          <c:val>
            <c:numRef>
              <c:f>Sheet1!$C$2:$C$265</c:f>
              <c:numCache>
                <c:formatCode>General</c:formatCode>
                <c:ptCount val="264"/>
                <c:pt idx="0">
                  <c:v>0.01</c:v>
                </c:pt>
                <c:pt idx="1">
                  <c:v>0.05</c:v>
                </c:pt>
                <c:pt idx="2">
                  <c:v>0.07</c:v>
                </c:pt>
                <c:pt idx="3">
                  <c:v>0.09</c:v>
                </c:pt>
                <c:pt idx="4">
                  <c:v>0.1</c:v>
                </c:pt>
                <c:pt idx="5">
                  <c:v>0.08</c:v>
                </c:pt>
                <c:pt idx="6">
                  <c:v>0.05</c:v>
                </c:pt>
                <c:pt idx="7">
                  <c:v>0.02</c:v>
                </c:pt>
                <c:pt idx="8">
                  <c:v>0.05</c:v>
                </c:pt>
                <c:pt idx="9">
                  <c:v>0.09</c:v>
                </c:pt>
                <c:pt idx="10">
                  <c:v>0.37</c:v>
                </c:pt>
                <c:pt idx="11">
                  <c:v>0.63</c:v>
                </c:pt>
                <c:pt idx="12">
                  <c:v>0.75</c:v>
                </c:pt>
                <c:pt idx="13">
                  <c:v>0.55</c:v>
                </c:pt>
                <c:pt idx="14">
                  <c:v>0.54</c:v>
                </c:pt>
                <c:pt idx="15">
                  <c:v>0.33</c:v>
                </c:pt>
                <c:pt idx="16">
                  <c:v>0.29</c:v>
                </c:pt>
                <c:pt idx="17">
                  <c:v>0.38</c:v>
                </c:pt>
                <c:pt idx="18">
                  <c:v>0.41</c:v>
                </c:pt>
                <c:pt idx="19">
                  <c:v>0.17</c:v>
                </c:pt>
                <c:pt idx="20">
                  <c:v>0.03</c:v>
                </c:pt>
                <c:pt idx="21">
                  <c:v>0.01</c:v>
                </c:pt>
                <c:pt idx="22">
                  <c:v>0.01</c:v>
                </c:pt>
                <c:pt idx="23">
                  <c:v>0</c:v>
                </c:pt>
                <c:pt idx="24">
                  <c:v>0</c:v>
                </c:pt>
                <c:pt idx="25">
                  <c:v>0</c:v>
                </c:pt>
                <c:pt idx="26">
                  <c:v>0.01</c:v>
                </c:pt>
                <c:pt idx="27">
                  <c:v>0</c:v>
                </c:pt>
                <c:pt idx="28">
                  <c:v>0</c:v>
                </c:pt>
                <c:pt idx="29">
                  <c:v>0</c:v>
                </c:pt>
                <c:pt idx="30">
                  <c:v>0</c:v>
                </c:pt>
                <c:pt idx="31">
                  <c:v>0</c:v>
                </c:pt>
                <c:pt idx="32">
                  <c:v>0</c:v>
                </c:pt>
                <c:pt idx="33">
                  <c:v>0</c:v>
                </c:pt>
                <c:pt idx="34">
                  <c:v>0.01</c:v>
                </c:pt>
                <c:pt idx="35">
                  <c:v>0.01</c:v>
                </c:pt>
                <c:pt idx="36">
                  <c:v>0.01</c:v>
                </c:pt>
                <c:pt idx="37">
                  <c:v>0</c:v>
                </c:pt>
                <c:pt idx="38">
                  <c:v>0</c:v>
                </c:pt>
                <c:pt idx="39">
                  <c:v>0</c:v>
                </c:pt>
                <c:pt idx="40">
                  <c:v>0</c:v>
                </c:pt>
                <c:pt idx="41">
                  <c:v>0</c:v>
                </c:pt>
                <c:pt idx="42">
                  <c:v>0</c:v>
                </c:pt>
                <c:pt idx="43">
                  <c:v>0</c:v>
                </c:pt>
                <c:pt idx="44">
                  <c:v>0.01</c:v>
                </c:pt>
                <c:pt idx="45">
                  <c:v>0.01</c:v>
                </c:pt>
                <c:pt idx="46">
                  <c:v>0</c:v>
                </c:pt>
                <c:pt idx="47">
                  <c:v>0.01</c:v>
                </c:pt>
                <c:pt idx="48">
                  <c:v>0.01</c:v>
                </c:pt>
                <c:pt idx="49">
                  <c:v>0.02</c:v>
                </c:pt>
                <c:pt idx="50">
                  <c:v>0.02</c:v>
                </c:pt>
                <c:pt idx="51">
                  <c:v>0.02</c:v>
                </c:pt>
                <c:pt idx="52">
                  <c:v>0.03</c:v>
                </c:pt>
                <c:pt idx="53">
                  <c:v>0.04</c:v>
                </c:pt>
                <c:pt idx="54">
                  <c:v>0.01</c:v>
                </c:pt>
                <c:pt idx="55">
                  <c:v>0.01</c:v>
                </c:pt>
                <c:pt idx="56">
                  <c:v>0</c:v>
                </c:pt>
                <c:pt idx="57">
                  <c:v>0</c:v>
                </c:pt>
                <c:pt idx="58">
                  <c:v>0.01</c:v>
                </c:pt>
                <c:pt idx="59">
                  <c:v>0.01</c:v>
                </c:pt>
                <c:pt idx="60">
                  <c:v>0.01</c:v>
                </c:pt>
                <c:pt idx="61">
                  <c:v>0.01</c:v>
                </c:pt>
                <c:pt idx="62">
                  <c:v>0.01</c:v>
                </c:pt>
                <c:pt idx="63">
                  <c:v>0</c:v>
                </c:pt>
                <c:pt idx="64">
                  <c:v>0</c:v>
                </c:pt>
                <c:pt idx="65">
                  <c:v>0.01</c:v>
                </c:pt>
                <c:pt idx="66">
                  <c:v>0.01</c:v>
                </c:pt>
                <c:pt idx="67">
                  <c:v>0</c:v>
                </c:pt>
                <c:pt idx="68">
                  <c:v>0.01</c:v>
                </c:pt>
                <c:pt idx="69">
                  <c:v>0.04</c:v>
                </c:pt>
                <c:pt idx="70">
                  <c:v>0.02</c:v>
                </c:pt>
                <c:pt idx="71">
                  <c:v>0.02</c:v>
                </c:pt>
                <c:pt idx="72">
                  <c:v>0.01</c:v>
                </c:pt>
                <c:pt idx="73">
                  <c:v>0.01</c:v>
                </c:pt>
                <c:pt idx="74">
                  <c:v>0</c:v>
                </c:pt>
                <c:pt idx="75">
                  <c:v>0</c:v>
                </c:pt>
                <c:pt idx="76">
                  <c:v>0</c:v>
                </c:pt>
                <c:pt idx="77">
                  <c:v>0.01</c:v>
                </c:pt>
                <c:pt idx="78">
                  <c:v>0.02</c:v>
                </c:pt>
                <c:pt idx="79">
                  <c:v>0.02</c:v>
                </c:pt>
                <c:pt idx="80">
                  <c:v>0.03</c:v>
                </c:pt>
                <c:pt idx="81">
                  <c:v>0.01</c:v>
                </c:pt>
                <c:pt idx="82">
                  <c:v>0.01</c:v>
                </c:pt>
                <c:pt idx="83">
                  <c:v>0.02</c:v>
                </c:pt>
                <c:pt idx="84">
                  <c:v>0.1</c:v>
                </c:pt>
                <c:pt idx="85">
                  <c:v>0.22</c:v>
                </c:pt>
                <c:pt idx="86">
                  <c:v>0.43</c:v>
                </c:pt>
                <c:pt idx="87">
                  <c:v>0.82</c:v>
                </c:pt>
                <c:pt idx="88">
                  <c:v>0.99</c:v>
                </c:pt>
                <c:pt idx="89">
                  <c:v>1.11</c:v>
                </c:pt>
                <c:pt idx="90">
                  <c:v>1.43</c:v>
                </c:pt>
                <c:pt idx="91">
                  <c:v>1.51</c:v>
                </c:pt>
                <c:pt idx="92">
                  <c:v>1.55</c:v>
                </c:pt>
                <c:pt idx="93">
                  <c:v>1.92</c:v>
                </c:pt>
                <c:pt idx="94">
                  <c:v>1.86</c:v>
                </c:pt>
                <c:pt idx="95">
                  <c:v>1.16</c:v>
                </c:pt>
                <c:pt idx="96">
                  <c:v>0.64</c:v>
                </c:pt>
                <c:pt idx="97">
                  <c:v>0.16</c:v>
                </c:pt>
                <c:pt idx="98">
                  <c:v>0.13</c:v>
                </c:pt>
                <c:pt idx="99">
                  <c:v>0.23</c:v>
                </c:pt>
                <c:pt idx="100">
                  <c:v>0.08</c:v>
                </c:pt>
                <c:pt idx="101">
                  <c:v>0.05</c:v>
                </c:pt>
                <c:pt idx="102">
                  <c:v>0.05</c:v>
                </c:pt>
                <c:pt idx="103">
                  <c:v>0.02</c:v>
                </c:pt>
                <c:pt idx="104">
                  <c:v>0.01</c:v>
                </c:pt>
                <c:pt idx="105">
                  <c:v>0.01</c:v>
                </c:pt>
                <c:pt idx="106">
                  <c:v>0.02</c:v>
                </c:pt>
                <c:pt idx="107">
                  <c:v>0.03</c:v>
                </c:pt>
                <c:pt idx="108">
                  <c:v>0.22</c:v>
                </c:pt>
                <c:pt idx="109">
                  <c:v>0.48</c:v>
                </c:pt>
                <c:pt idx="110">
                  <c:v>0.56</c:v>
                </c:pt>
                <c:pt idx="111">
                  <c:v>0.43</c:v>
                </c:pt>
                <c:pt idx="112">
                  <c:v>0.3</c:v>
                </c:pt>
                <c:pt idx="113">
                  <c:v>0.19</c:v>
                </c:pt>
                <c:pt idx="114">
                  <c:v>0.25</c:v>
                </c:pt>
                <c:pt idx="115">
                  <c:v>0.5</c:v>
                </c:pt>
                <c:pt idx="116">
                  <c:v>0.44</c:v>
                </c:pt>
                <c:pt idx="117">
                  <c:v>0.44</c:v>
                </c:pt>
                <c:pt idx="118">
                  <c:v>0.07</c:v>
                </c:pt>
                <c:pt idx="119">
                  <c:v>0.02</c:v>
                </c:pt>
                <c:pt idx="120">
                  <c:v>0.01</c:v>
                </c:pt>
                <c:pt idx="121">
                  <c:v>0.01</c:v>
                </c:pt>
                <c:pt idx="122">
                  <c:v>0.01</c:v>
                </c:pt>
                <c:pt idx="123">
                  <c:v>0.01</c:v>
                </c:pt>
                <c:pt idx="124">
                  <c:v>0.01</c:v>
                </c:pt>
                <c:pt idx="125">
                  <c:v>0.02</c:v>
                </c:pt>
                <c:pt idx="126">
                  <c:v>0.04</c:v>
                </c:pt>
                <c:pt idx="127">
                  <c:v>0.05</c:v>
                </c:pt>
                <c:pt idx="128">
                  <c:v>0.01</c:v>
                </c:pt>
                <c:pt idx="129">
                  <c:v>0.02</c:v>
                </c:pt>
                <c:pt idx="130">
                  <c:v>0.02</c:v>
                </c:pt>
                <c:pt idx="131">
                  <c:v>0.07</c:v>
                </c:pt>
                <c:pt idx="132">
                  <c:v>0.17</c:v>
                </c:pt>
                <c:pt idx="133">
                  <c:v>0.12</c:v>
                </c:pt>
                <c:pt idx="134">
                  <c:v>0.19</c:v>
                </c:pt>
                <c:pt idx="135">
                  <c:v>0.31</c:v>
                </c:pt>
                <c:pt idx="136">
                  <c:v>0.32</c:v>
                </c:pt>
                <c:pt idx="137">
                  <c:v>0.3</c:v>
                </c:pt>
                <c:pt idx="138">
                  <c:v>0.09</c:v>
                </c:pt>
                <c:pt idx="139">
                  <c:v>0.01</c:v>
                </c:pt>
                <c:pt idx="140">
                  <c:v>0.01</c:v>
                </c:pt>
                <c:pt idx="141">
                  <c:v>0.02</c:v>
                </c:pt>
                <c:pt idx="142">
                  <c:v>0.03</c:v>
                </c:pt>
                <c:pt idx="143">
                  <c:v>0.13</c:v>
                </c:pt>
                <c:pt idx="144">
                  <c:v>0.25</c:v>
                </c:pt>
                <c:pt idx="145">
                  <c:v>0.39</c:v>
                </c:pt>
                <c:pt idx="146">
                  <c:v>0.48</c:v>
                </c:pt>
                <c:pt idx="147">
                  <c:v>0.45</c:v>
                </c:pt>
                <c:pt idx="148">
                  <c:v>0.33</c:v>
                </c:pt>
                <c:pt idx="149">
                  <c:v>0.16</c:v>
                </c:pt>
                <c:pt idx="150">
                  <c:v>0.1</c:v>
                </c:pt>
                <c:pt idx="151">
                  <c:v>0.1</c:v>
                </c:pt>
                <c:pt idx="152">
                  <c:v>0.14</c:v>
                </c:pt>
                <c:pt idx="153">
                  <c:v>0.09</c:v>
                </c:pt>
                <c:pt idx="154">
                  <c:v>0.12</c:v>
                </c:pt>
                <c:pt idx="155">
                  <c:v>0.31</c:v>
                </c:pt>
                <c:pt idx="156">
                  <c:v>0.42</c:v>
                </c:pt>
                <c:pt idx="157">
                  <c:v>0.61</c:v>
                </c:pt>
                <c:pt idx="158">
                  <c:v>0.85</c:v>
                </c:pt>
                <c:pt idx="159">
                  <c:v>0.71</c:v>
                </c:pt>
                <c:pt idx="160">
                  <c:v>0.37</c:v>
                </c:pt>
                <c:pt idx="161">
                  <c:v>0.22</c:v>
                </c:pt>
                <c:pt idx="162">
                  <c:v>0.16</c:v>
                </c:pt>
                <c:pt idx="163">
                  <c:v>0.13</c:v>
                </c:pt>
                <c:pt idx="164">
                  <c:v>0.19</c:v>
                </c:pt>
                <c:pt idx="165">
                  <c:v>0.34</c:v>
                </c:pt>
                <c:pt idx="166">
                  <c:v>0.66</c:v>
                </c:pt>
                <c:pt idx="167">
                  <c:v>0.41</c:v>
                </c:pt>
                <c:pt idx="168">
                  <c:v>0.65</c:v>
                </c:pt>
                <c:pt idx="169">
                  <c:v>0.59</c:v>
                </c:pt>
                <c:pt idx="170">
                  <c:v>0.61</c:v>
                </c:pt>
                <c:pt idx="171">
                  <c:v>0.29</c:v>
                </c:pt>
                <c:pt idx="172">
                  <c:v>0.34</c:v>
                </c:pt>
                <c:pt idx="173">
                  <c:v>0.29</c:v>
                </c:pt>
                <c:pt idx="174">
                  <c:v>0.17</c:v>
                </c:pt>
                <c:pt idx="175">
                  <c:v>0.05</c:v>
                </c:pt>
                <c:pt idx="176">
                  <c:v>0.06</c:v>
                </c:pt>
                <c:pt idx="177">
                  <c:v>0.05</c:v>
                </c:pt>
                <c:pt idx="178">
                  <c:v>0.06</c:v>
                </c:pt>
                <c:pt idx="179">
                  <c:v>0.05</c:v>
                </c:pt>
                <c:pt idx="180">
                  <c:v>0.03</c:v>
                </c:pt>
                <c:pt idx="181">
                  <c:v>0.01</c:v>
                </c:pt>
                <c:pt idx="182">
                  <c:v>0</c:v>
                </c:pt>
                <c:pt idx="183">
                  <c:v>0.01</c:v>
                </c:pt>
                <c:pt idx="184">
                  <c:v>0</c:v>
                </c:pt>
                <c:pt idx="185">
                  <c:v>0</c:v>
                </c:pt>
                <c:pt idx="186">
                  <c:v>0</c:v>
                </c:pt>
                <c:pt idx="187">
                  <c:v>0</c:v>
                </c:pt>
                <c:pt idx="188">
                  <c:v>0.01</c:v>
                </c:pt>
                <c:pt idx="189">
                  <c:v>0.01</c:v>
                </c:pt>
                <c:pt idx="190">
                  <c:v>0.01</c:v>
                </c:pt>
                <c:pt idx="191">
                  <c:v>0.01</c:v>
                </c:pt>
                <c:pt idx="192">
                  <c:v>0.01</c:v>
                </c:pt>
                <c:pt idx="193">
                  <c:v>0</c:v>
                </c:pt>
                <c:pt idx="194">
                  <c:v>0.01</c:v>
                </c:pt>
                <c:pt idx="195">
                  <c:v>0</c:v>
                </c:pt>
                <c:pt idx="196">
                  <c:v>0</c:v>
                </c:pt>
                <c:pt idx="197">
                  <c:v>0</c:v>
                </c:pt>
                <c:pt idx="198">
                  <c:v>0.01</c:v>
                </c:pt>
                <c:pt idx="199">
                  <c:v>0</c:v>
                </c:pt>
                <c:pt idx="200">
                  <c:v>0</c:v>
                </c:pt>
                <c:pt idx="201">
                  <c:v>0</c:v>
                </c:pt>
                <c:pt idx="202">
                  <c:v>0</c:v>
                </c:pt>
                <c:pt idx="203">
                  <c:v>0</c:v>
                </c:pt>
                <c:pt idx="204">
                  <c:v>0</c:v>
                </c:pt>
                <c:pt idx="205">
                  <c:v>0.01</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0.01</c:v>
                </c:pt>
                <c:pt idx="221">
                  <c:v>0.01</c:v>
                </c:pt>
                <c:pt idx="222">
                  <c:v>0</c:v>
                </c:pt>
                <c:pt idx="223">
                  <c:v>0</c:v>
                </c:pt>
                <c:pt idx="224">
                  <c:v>0</c:v>
                </c:pt>
                <c:pt idx="225">
                  <c:v>0</c:v>
                </c:pt>
                <c:pt idx="226">
                  <c:v>0</c:v>
                </c:pt>
                <c:pt idx="227">
                  <c:v>0.01</c:v>
                </c:pt>
                <c:pt idx="228">
                  <c:v>0.01</c:v>
                </c:pt>
                <c:pt idx="229">
                  <c:v>0.01</c:v>
                </c:pt>
                <c:pt idx="230">
                  <c:v>0.09</c:v>
                </c:pt>
                <c:pt idx="231">
                  <c:v>0.1</c:v>
                </c:pt>
                <c:pt idx="232">
                  <c:v>0.08</c:v>
                </c:pt>
                <c:pt idx="233">
                  <c:v>0.12</c:v>
                </c:pt>
                <c:pt idx="234">
                  <c:v>0.09</c:v>
                </c:pt>
                <c:pt idx="235">
                  <c:v>0.08</c:v>
                </c:pt>
                <c:pt idx="236">
                  <c:v>0.04</c:v>
                </c:pt>
                <c:pt idx="237">
                  <c:v>0.05</c:v>
                </c:pt>
                <c:pt idx="238">
                  <c:v>0.07</c:v>
                </c:pt>
                <c:pt idx="239">
                  <c:v>0.1</c:v>
                </c:pt>
                <c:pt idx="240">
                  <c:v>0.2</c:v>
                </c:pt>
                <c:pt idx="241">
                  <c:v>0.23</c:v>
                </c:pt>
                <c:pt idx="242">
                  <c:v>0.33</c:v>
                </c:pt>
                <c:pt idx="243">
                  <c:v>0.26</c:v>
                </c:pt>
                <c:pt idx="244">
                  <c:v>0.1</c:v>
                </c:pt>
                <c:pt idx="245">
                  <c:v>0.22</c:v>
                </c:pt>
                <c:pt idx="246">
                  <c:v>0.17</c:v>
                </c:pt>
                <c:pt idx="247">
                  <c:v>0.12</c:v>
                </c:pt>
                <c:pt idx="248">
                  <c:v>0.08</c:v>
                </c:pt>
                <c:pt idx="249">
                  <c:v>0.04</c:v>
                </c:pt>
                <c:pt idx="250">
                  <c:v>0.07</c:v>
                </c:pt>
                <c:pt idx="251">
                  <c:v>0.06</c:v>
                </c:pt>
                <c:pt idx="252">
                  <c:v>0.06</c:v>
                </c:pt>
                <c:pt idx="253">
                  <c:v>0.03</c:v>
                </c:pt>
                <c:pt idx="254">
                  <c:v>0.01</c:v>
                </c:pt>
                <c:pt idx="255">
                  <c:v>0.02</c:v>
                </c:pt>
                <c:pt idx="256">
                  <c:v>0.02</c:v>
                </c:pt>
                <c:pt idx="257">
                  <c:v>0.01</c:v>
                </c:pt>
                <c:pt idx="258">
                  <c:v>0.01</c:v>
                </c:pt>
                <c:pt idx="259">
                  <c:v>0.02</c:v>
                </c:pt>
                <c:pt idx="260">
                  <c:v>0.02</c:v>
                </c:pt>
                <c:pt idx="261">
                  <c:v>0.01</c:v>
                </c:pt>
                <c:pt idx="262">
                  <c:v>0.01</c:v>
                </c:pt>
                <c:pt idx="263">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98A2C0"/>
                </a:solidFill>
                <a:latin typeface="+mn-lt"/>
              </a:defRPr>
            </a:pPr>
            <a:endParaRPr lang="en-US"/>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2A3357"/>
              </a:solidFill>
              <a:prstDash val="solid"/>
              <a:round/>
            </a:ln>
          </c:spPr>
        </c:majorGridlines>
        <c:title>
          <c:tx>
            <c:rich>
              <a:bodyPr/>
              <a:lstStyle/>
              <a:p>
                <a:pPr>
                  <a:defRPr sz="1100" b="0" i="0" u="none" strike="noStrike">
                    <a:solidFill>
                      <a:srgbClr val="98A2C0"/>
                    </a:solidFill>
                    <a:latin typeface="+mn-lt"/>
                  </a:defRPr>
                </a:pPr>
                <a:r>
                  <a:rPr sz="1100" b="0" i="0" u="none" strike="noStrike">
                    <a:solidFill>
                      <a:srgbClr val="98A2C0"/>
                    </a:solidFill>
                    <a:latin typeface="+mn-lt"/>
                  </a:rPr>
                  <a:t>mm/h</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98A2C0"/>
                </a:solidFill>
                <a:latin typeface="+mn-lt"/>
              </a:defRPr>
            </a:pPr>
            <a:endParaRPr lang="en-US"/>
          </a:p>
        </c:txPr>
        <c:crossAx val="2094734554"/>
        <c:crosses val="autoZero"/>
        <c:crossBetween val="between"/>
      </c:valAx>
      <c:spPr>
        <a:noFill/>
        <a:ln>
          <a:noFill/>
        </a:ln>
        <a:effectLst/>
      </c:spPr>
    </c:plotArea>
    <c:legend>
      <c:legendPos val="r"/>
      <c:overlay val="0"/>
      <c:txPr>
        <a:bodyPr/>
        <a:lstStyle/>
        <a:p>
          <a:pPr>
            <a:defRPr sz="1150">
              <a:solidFill>
                <a:srgbClr val="D7DDE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[0:00–0:18] Since our video, we stress-tested coverage, accuracy and who pays. Here’s the problem: on 26 July 2005, Santacruz got 944 millimetres of rain and Colaba just 73. Weather changes street by street, but businesses still decide city by city, and workers carry the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[0:18–0:34] So we’re building JioMausam: a street-level weather layer from Jio’s own network. Rain weakens the microwave links between sites; measuring that loss gives rainfall along every link, every minute. It isn’t a new sensor network or an insurer, and fibre doesn’t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[0:34–0:56] This is proven science, published in Science and PNAS, and used to map rain across a whole country. We tested it ourselves on 500 real links from a public German dataset: 0.95 against radar network-wide, 0.88 for a single link. But links alone caught only 68% of radar’s trigger events. That’s our honest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[0:56–1:18] So we combine sources, cheapest first: Jio’s links, IMD radar, rain gauges and satellite, with paid data only where gaps remain. The pilot doesn’t guess the best mix; it scores each combination against hidden gauges, and even measures what Jio’s links add on their own. Target: 80% of events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[1:18–1:34] Reliance is the first customer. Jio’s network teams can tell rain from faults and avoid wasted site visits; JioMart can dispatch and promise deliveries by zone; MyJio can send street-level alerts. We prove accuracy and value at home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[1:34–1:52] Then the market. Delivery and ride-hailing platforms buy decisions: where to dispatch, where incentives are needed, when to pause. Logistics, cities and insurers follow, then agriculture and power. Decisions for those who act in real time; data for those who need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[1:52–2:06] Jio earns decision and data fees, plus savings inside Reliance, and carries no insurance risk. Jio senses, JioMausam understands, Reliance reaches, partners protect. The business stands even if insurance never launches.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[2:06–2:26] Insurance is one application, not our anchor. Once accuracy passes 80%, a verified trigger lets a licensed insurer pay workers a fixed benefit automatically, say 300 rupees. Who pays is still unproven, so the pilot tests it. If it doesn’t work, the core business is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[2:26–2:42] If we offer it, Indian data sets the price. Twenty-five years of IMD records: Kavach Basic about 45 rupees a month in Mumbai, 52 in Nagpur, 29 in Ahmedabad; platform-sponsored Plus about 208. Rain first; heat follows, from IMD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[2:42–3:00] So don’t believe us; test it. Ninety days: audit Mumbai’s links, back-test archived monsoon data to find the best source mix, then a shadow pilot inside Reliance. We aren’t asking Jio to build another weather network. We’re asking it to discover what its network can already tell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NIGHT-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slideLayout" Target="../slideLayouts/slideLayout2.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chart" Target="/ppt/charts/chart2.xm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PROBLEM</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Weather changes street by street. Decisions don’t</a:t>
            </a:r>
            <a:endParaRPr lang="en-US" sz="3200" dirty="0"/>
          </a:p>
        </p:txBody>
      </p:sp>
      <p:sp>
        <p:nvSpPr>
          <p:cNvPr id="6" name="hlCard"/>
          <p:cNvSpPr/>
          <p:nvPr/>
        </p:nvSpPr>
        <p:spPr>
          <a:xfrm>
            <a:off x="548640" y="2103120"/>
            <a:ext cx="4572000" cy="3474720"/>
          </a:xfrm>
          <a:prstGeom prst="roundRect">
            <a:avLst>
              <a:gd name="adj" fmla="val 3158"/>
            </a:avLst>
          </a:prstGeom>
          <a:solidFill>
            <a:srgbClr val="141B36"/>
          </a:solidFill>
          <a:ln w="9525">
            <a:solidFill>
              <a:srgbClr val="2A3357"/>
            </a:solidFill>
            <a:prstDash val="solid"/>
          </a:ln>
        </p:spPr>
      </p:sp>
      <p:sp>
        <p:nvSpPr>
          <p:cNvPr id="7" name="hlHead"/>
          <p:cNvSpPr txBox="1"/>
          <p:nvPr/>
        </p:nvSpPr>
        <p:spPr>
          <a:xfrm>
            <a:off x="822960" y="2267712"/>
            <a:ext cx="4114800" cy="73152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Same city. Different weather.</a:t>
            </a:r>
            <a:endParaRPr lang="en-US" sz="1900" dirty="0"/>
          </a:p>
          <a:p>
            <a:pPr indent="0" marL="0">
              <a:buNone/>
            </a:pPr>
            <a:r>
              <a:rPr lang="en-US" sz="1250" dirty="0">
                <a:solidFill>
                  <a:srgbClr val="B9C2D8"/>
                </a:solidFill>
                <a:latin typeface="Calibri" pitchFamily="34" charset="0"/>
                <a:ea typeface="Calibri" pitchFamily="34" charset="-122"/>
                <a:cs typeface="Calibri" pitchFamily="34" charset="-120"/>
              </a:rPr>
              <a:t>Rainfall (mm) · IMD · 26 July 2005 · stations 20 km apart</a:t>
            </a:r>
            <a:endParaRPr lang="en-US" sz="1900" dirty="0"/>
          </a:p>
        </p:txBody>
      </p:sp>
      <p:graphicFrame>
        <p:nvGraphicFramePr>
          <p:cNvPr id="8" name="hlChart" descr=""/>
          <p:cNvGraphicFramePr/>
          <p:nvPr/>
        </p:nvGraphicFramePr>
        <p:xfrm>
          <a:off x="685800" y="3017520"/>
          <a:ext cx="4297680" cy="2468880"/>
        </p:xfrm>
        <a:graphic xmlns:a="http://schemas.openxmlformats.org/drawingml/2006/main">
          <a:graphicData uri="http://schemas.openxmlformats.org/drawingml/2006/chart">
            <c:chart xmlns:c="http://schemas.openxmlformats.org/drawingml/2006/chart" r:id="rId2"/>
          </a:graphicData>
        </a:graphic>
      </p:graphicFrame>
      <p:sp>
        <p:nvSpPr>
          <p:cNvPr id="9" name="knowCard"/>
          <p:cNvSpPr/>
          <p:nvPr/>
        </p:nvSpPr>
        <p:spPr>
          <a:xfrm>
            <a:off x="5440680" y="2103120"/>
            <a:ext cx="6199632" cy="914400"/>
          </a:xfrm>
          <a:prstGeom prst="roundRect">
            <a:avLst>
              <a:gd name="adj" fmla="val 12000"/>
            </a:avLst>
          </a:prstGeom>
          <a:solidFill>
            <a:srgbClr val="141B36"/>
          </a:solidFill>
          <a:ln w="9525">
            <a:solidFill>
              <a:srgbClr val="2A3357"/>
            </a:solidFill>
            <a:prstDash val="solid"/>
          </a:ln>
        </p:spPr>
      </p:sp>
      <p:sp>
        <p:nvSpPr>
          <p:cNvPr id="10" name="knowT"/>
          <p:cNvSpPr txBox="1"/>
          <p:nvPr/>
        </p:nvSpPr>
        <p:spPr>
          <a:xfrm>
            <a:off x="5715000" y="2212848"/>
            <a:ext cx="5760720" cy="731520"/>
          </a:xfrm>
          <a:prstGeom prst="rect">
            <a:avLst/>
          </a:prstGeom>
          <a:noFill/>
          <a:ln/>
        </p:spPr>
        <p:txBody>
          <a:bodyPr wrap="square" lIns="0" tIns="0" rIns="0" bIns="0" rtlCol="0" anchor="t"/>
          <a:lstStyle/>
          <a:p>
            <a:pPr indent="0" marL="0">
              <a:buNone/>
            </a:pPr>
            <a:r>
              <a:rPr lang="en-US" sz="1050" b="1" spc="200" kern="0" dirty="0">
                <a:solidFill>
                  <a:srgbClr val="98A2C0"/>
                </a:solidFill>
                <a:latin typeface="Calibri" pitchFamily="34" charset="0"/>
                <a:ea typeface="Calibri" pitchFamily="34" charset="-122"/>
                <a:cs typeface="Calibri" pitchFamily="34" charset="-120"/>
              </a:rPr>
              <a:t>WHAT A BUSINESS KNOWS</a:t>
            </a:r>
            <a:endParaRPr lang="en-US" sz="1050" dirty="0"/>
          </a:p>
          <a:p>
            <a:pPr indent="0" marL="0">
              <a:buNone/>
            </a:pPr>
            <a:r>
              <a:rPr lang="en-US" sz="2000" i="1" dirty="0">
                <a:solidFill>
                  <a:srgbClr val="FFFFFF"/>
                </a:solidFill>
                <a:latin typeface="Cambria" pitchFamily="34" charset="0"/>
                <a:ea typeface="Cambria" pitchFamily="34" charset="-122"/>
                <a:cs typeface="Cambria" pitchFamily="34" charset="-120"/>
              </a:rPr>
              <a:t>“Heavy rain in Mumbai.”</a:t>
            </a:r>
            <a:endParaRPr lang="en-US" sz="1050" dirty="0"/>
          </a:p>
        </p:txBody>
      </p:sp>
      <p:sp>
        <p:nvSpPr>
          <p:cNvPr id="11" name="knowA"/>
          <p:cNvSpPr/>
          <p:nvPr/>
        </p:nvSpPr>
        <p:spPr>
          <a:xfrm>
            <a:off x="8540496" y="3017520"/>
            <a:ext cx="914" cy="228600"/>
          </a:xfrm>
          <a:prstGeom prst="line">
            <a:avLst/>
          </a:prstGeom>
          <a:noFill/>
          <a:ln w="19050">
            <a:solidFill>
              <a:srgbClr val="5A6690"/>
            </a:solidFill>
            <a:prstDash val="solid"/>
            <a:tailEnd type="triangle"/>
          </a:ln>
        </p:spPr>
      </p:sp>
      <p:sp>
        <p:nvSpPr>
          <p:cNvPr id="12" name="needCard"/>
          <p:cNvSpPr/>
          <p:nvPr/>
        </p:nvSpPr>
        <p:spPr>
          <a:xfrm>
            <a:off x="5440680" y="3246120"/>
            <a:ext cx="6199632" cy="914400"/>
          </a:xfrm>
          <a:prstGeom prst="roundRect">
            <a:avLst>
              <a:gd name="adj" fmla="val 12000"/>
            </a:avLst>
          </a:prstGeom>
          <a:solidFill>
            <a:srgbClr val="1C2447"/>
          </a:solidFill>
          <a:ln w="15875">
            <a:solidFill>
              <a:srgbClr val="F5A623"/>
            </a:solidFill>
            <a:prstDash val="solid"/>
          </a:ln>
        </p:spPr>
      </p:sp>
      <p:sp>
        <p:nvSpPr>
          <p:cNvPr id="13" name="needT"/>
          <p:cNvSpPr txBox="1"/>
          <p:nvPr/>
        </p:nvSpPr>
        <p:spPr>
          <a:xfrm>
            <a:off x="5715000" y="3355848"/>
            <a:ext cx="5760720" cy="731520"/>
          </a:xfrm>
          <a:prstGeom prst="rect">
            <a:avLst/>
          </a:prstGeom>
          <a:noFill/>
          <a:ln/>
        </p:spPr>
        <p:txBody>
          <a:bodyPr wrap="square" lIns="0" tIns="0" rIns="0" bIns="0" rtlCol="0" anchor="t"/>
          <a:lstStyle/>
          <a:p>
            <a:pPr indent="0" marL="0">
              <a:buNone/>
            </a:pPr>
            <a:r>
              <a:rPr lang="en-US" sz="1050" b="1" spc="200" kern="0" dirty="0">
                <a:solidFill>
                  <a:srgbClr val="F5A623"/>
                </a:solidFill>
                <a:latin typeface="Calibri" pitchFamily="34" charset="0"/>
                <a:ea typeface="Calibri" pitchFamily="34" charset="-122"/>
                <a:cs typeface="Calibri" pitchFamily="34" charset="-120"/>
              </a:rPr>
              <a:t>WHAT IT NEEDS TO KNOW</a:t>
            </a:r>
            <a:endParaRPr lang="en-US" sz="1050" dirty="0"/>
          </a:p>
          <a:p>
            <a:pPr indent="0" marL="0">
              <a:buNone/>
            </a:pPr>
            <a:r>
              <a:rPr lang="en-US" sz="2000" i="1" dirty="0">
                <a:solidFill>
                  <a:srgbClr val="FFFFFF"/>
                </a:solidFill>
                <a:latin typeface="Cambria" pitchFamily="34" charset="0"/>
                <a:ea typeface="Cambria" pitchFamily="34" charset="-122"/>
                <a:cs typeface="Cambria" pitchFamily="34" charset="-120"/>
              </a:rPr>
              <a:t>“Where exactly is rain hitting operations right now?”</a:t>
            </a:r>
            <a:endParaRPr lang="en-US" sz="1050" dirty="0"/>
          </a:p>
        </p:txBody>
      </p:sp>
      <p:sp>
        <p:nvSpPr>
          <p:cNvPr id="14" name="imp0"/>
          <p:cNvSpPr/>
          <p:nvPr/>
        </p:nvSpPr>
        <p:spPr>
          <a:xfrm>
            <a:off x="5440680" y="4389120"/>
            <a:ext cx="3044952" cy="1188720"/>
          </a:xfrm>
          <a:prstGeom prst="roundRect">
            <a:avLst>
              <a:gd name="adj" fmla="val 9231"/>
            </a:avLst>
          </a:prstGeom>
          <a:solidFill>
            <a:srgbClr val="141B36"/>
          </a:solidFill>
          <a:ln w="9525">
            <a:solidFill>
              <a:srgbClr val="2A3357"/>
            </a:solidFill>
            <a:prstDash val="solid"/>
          </a:ln>
        </p:spPr>
      </p:sp>
      <p:pic>
        <p:nvPicPr>
          <p:cNvPr id="15" name="impI0" descr="preencoded.png">    </p:cNvPr>
          <p:cNvPicPr>
            <a:picLocks noChangeAspect="1"/>
          </p:cNvPicPr>
          <p:nvPr/>
        </p:nvPicPr>
        <p:blipFill>
          <a:blip r:embed="rId3"/>
          <a:stretch>
            <a:fillRect/>
          </a:stretch>
        </p:blipFill>
        <p:spPr>
          <a:xfrm>
            <a:off x="5641848" y="4590288"/>
            <a:ext cx="365760" cy="365760"/>
          </a:xfrm>
          <a:prstGeom prst="rect">
            <a:avLst/>
          </a:prstGeom>
        </p:spPr>
      </p:pic>
      <p:sp>
        <p:nvSpPr>
          <p:cNvPr id="16" name="impT0"/>
          <p:cNvSpPr txBox="1"/>
          <p:nvPr/>
        </p:nvSpPr>
        <p:spPr>
          <a:xfrm>
            <a:off x="6153912" y="4553712"/>
            <a:ext cx="2240280" cy="914400"/>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Businesses decide blind</a:t>
            </a:r>
            <a:endParaRPr lang="en-US" sz="1550" dirty="0"/>
          </a:p>
          <a:p>
            <a:pPr indent="0" marL="0">
              <a:buNone/>
            </a:pPr>
            <a:r>
              <a:rPr lang="en-US" sz="1300" dirty="0">
                <a:solidFill>
                  <a:srgbClr val="B9C2D8"/>
                </a:solidFill>
                <a:latin typeface="Calibri" pitchFamily="34" charset="0"/>
                <a:ea typeface="Calibri" pitchFamily="34" charset="-122"/>
                <a:cs typeface="Calibri" pitchFamily="34" charset="-120"/>
              </a:rPr>
              <a:t>incentives, dispatch, delivery times</a:t>
            </a:r>
            <a:endParaRPr lang="en-US" sz="1550" dirty="0"/>
          </a:p>
        </p:txBody>
      </p:sp>
      <p:sp>
        <p:nvSpPr>
          <p:cNvPr id="17" name="imp1"/>
          <p:cNvSpPr/>
          <p:nvPr/>
        </p:nvSpPr>
        <p:spPr>
          <a:xfrm>
            <a:off x="8595360" y="4389120"/>
            <a:ext cx="3044952" cy="1188720"/>
          </a:xfrm>
          <a:prstGeom prst="roundRect">
            <a:avLst>
              <a:gd name="adj" fmla="val 9231"/>
            </a:avLst>
          </a:prstGeom>
          <a:solidFill>
            <a:srgbClr val="141B36"/>
          </a:solidFill>
          <a:ln w="9525">
            <a:solidFill>
              <a:srgbClr val="2A3357"/>
            </a:solidFill>
            <a:prstDash val="solid"/>
          </a:ln>
        </p:spPr>
      </p:sp>
      <p:pic>
        <p:nvPicPr>
          <p:cNvPr id="18" name="impI1" descr="preencoded.png">    </p:cNvPr>
          <p:cNvPicPr>
            <a:picLocks noChangeAspect="1"/>
          </p:cNvPicPr>
          <p:nvPr/>
        </p:nvPicPr>
        <p:blipFill>
          <a:blip r:embed="rId4"/>
          <a:stretch>
            <a:fillRect/>
          </a:stretch>
        </p:blipFill>
        <p:spPr>
          <a:xfrm>
            <a:off x="8796528" y="4590288"/>
            <a:ext cx="365760" cy="365760"/>
          </a:xfrm>
          <a:prstGeom prst="rect">
            <a:avLst/>
          </a:prstGeom>
        </p:spPr>
      </p:pic>
      <p:sp>
        <p:nvSpPr>
          <p:cNvPr id="19" name="impT1"/>
          <p:cNvSpPr txBox="1"/>
          <p:nvPr/>
        </p:nvSpPr>
        <p:spPr>
          <a:xfrm>
            <a:off x="9308592" y="4553712"/>
            <a:ext cx="2240280" cy="914400"/>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Workers carry the loss</a:t>
            </a:r>
            <a:endParaRPr lang="en-US" sz="1550" dirty="0"/>
          </a:p>
          <a:p>
            <a:pPr indent="0" marL="0">
              <a:buNone/>
            </a:pPr>
            <a:r>
              <a:rPr lang="en-US" sz="1300" dirty="0">
                <a:solidFill>
                  <a:srgbClr val="B9C2D8"/>
                </a:solidFill>
                <a:latin typeface="Calibri" pitchFamily="34" charset="0"/>
                <a:ea typeface="Calibri" pitchFamily="34" charset="-122"/>
                <a:cs typeface="Calibri" pitchFamily="34" charset="-120"/>
              </a:rPr>
              <a:t>income and safety, street by street</a:t>
            </a:r>
            <a:endParaRPr lang="en-US" sz="1550" dirty="0"/>
          </a:p>
        </p:txBody>
      </p:sp>
      <p:sp>
        <p:nvSpPr>
          <p:cNvPr id="20" name="takeaway"/>
          <p:cNvSpPr txBox="1"/>
          <p:nvPr/>
        </p:nvSpPr>
        <p:spPr>
          <a:xfrm>
            <a:off x="548640" y="585216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Weather is lived street by street. Most actionable weather information is still too coarse to act on at that level.</a:t>
            </a:r>
            <a:endParaRPr lang="en-US" sz="1800" dirty="0"/>
          </a:p>
        </p:txBody>
      </p:sp>
      <p:sp>
        <p:nvSpPr>
          <p:cNvPr id="21" name="source"/>
          <p:cNvSpPr txBox="1"/>
          <p:nvPr/>
        </p:nvSpPr>
        <p:spPr>
          <a:xfrm>
            <a:off x="548640" y="6419088"/>
            <a:ext cx="11094415" cy="274320"/>
          </a:xfrm>
          <a:prstGeom prst="rect">
            <a:avLst/>
          </a:prstGeom>
          <a:noFill/>
          <a:ln/>
        </p:spPr>
        <p:txBody>
          <a:bodyPr wrap="square" lIns="0" tIns="0" rIns="0" bIns="0" rtlCol="0" anchor="t"/>
          <a:lstStyle/>
          <a:p>
            <a:pPr indent="0" marL="0">
              <a:buNone/>
            </a:pPr>
            <a:r>
              <a:rPr lang="en-US" sz="1000" dirty="0">
                <a:solidFill>
                  <a:srgbClr val="7A85A8"/>
                </a:solidFill>
                <a:latin typeface="Calibri" pitchFamily="34" charset="0"/>
                <a:ea typeface="Calibri" pitchFamily="34" charset="-122"/>
                <a:cs typeface="Calibri" pitchFamily="34" charset="-120"/>
              </a:rPr>
              <a:t>Rainfall: India Meteorological Department, 26 July 2005.</a:t>
            </a:r>
            <a:endParaRPr lang="en-US" sz="10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88"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10" presetClass="entr" presetSubtype="0" fill="hold" grpId="0" nodeType="afterEffect">
                                  <p:stCondLst>
                                    <p:cond delay="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childTnLst>
                          </p:cTn>
                        </p:par>
                        <p:par>
                          <p:cTn id="19" fill="hold">
                            <p:stCondLst>
                              <p:cond delay="1250"/>
                            </p:stCondLst>
                            <p:childTnLst>
                              <p:par>
                                <p:cTn id="20" presetID="22" presetClass="entr" presetSubtype="4"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800"/>
                                        <p:tgtEl>
                                          <p:spTgt spid="8"/>
                                        </p:tgtEl>
                                      </p:cBhvr>
                                    </p:animEffect>
                                  </p:childTnLst>
                                </p:cTn>
                              </p:par>
                            </p:childTnLst>
                          </p:cTn>
                        </p:par>
                        <p:par>
                          <p:cTn id="23" fill="hold">
                            <p:stCondLst>
                              <p:cond delay="2050"/>
                            </p:stCondLst>
                            <p:childTnLst>
                              <p:par>
                                <p:cTn id="24" presetID="42" presetClass="entr" presetSubtype="0" fill="hold" grpId="0" nodeType="afterEffect">
                                  <p:stCondLst>
                                    <p:cond delay="5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anim calcmode="lin" valueType="num">
                                      <p:cBhvr>
                                        <p:cTn id="27" dur="450" fill="hold"/>
                                        <p:tgtEl>
                                          <p:spTgt spid="9"/>
                                        </p:tgtEl>
                                        <p:attrNameLst>
                                          <p:attrName>ppt_x</p:attrName>
                                        </p:attrNameLst>
                                      </p:cBhvr>
                                      <p:tavLst>
                                        <p:tav tm="0">
                                          <p:val>
                                            <p:strVal val="#ppt_x"/>
                                          </p:val>
                                        </p:tav>
                                        <p:tav tm="100000">
                                          <p:val>
                                            <p:strVal val="#ppt_x"/>
                                          </p:val>
                                        </p:tav>
                                      </p:tavLst>
                                    </p:anim>
                                    <p:anim calcmode="lin" valueType="num">
                                      <p:cBhvr>
                                        <p:cTn id="28" dur="450" fill="hold"/>
                                        <p:tgtEl>
                                          <p:spTgt spid="9"/>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anim calcmode="lin" valueType="num">
                                      <p:cBhvr>
                                        <p:cTn id="32" dur="450" fill="hold"/>
                                        <p:tgtEl>
                                          <p:spTgt spid="10"/>
                                        </p:tgtEl>
                                        <p:attrNameLst>
                                          <p:attrName>ppt_x</p:attrName>
                                        </p:attrNameLst>
                                      </p:cBhvr>
                                      <p:tavLst>
                                        <p:tav tm="0">
                                          <p:val>
                                            <p:strVal val="#ppt_x"/>
                                          </p:val>
                                        </p:tav>
                                        <p:tav tm="100000">
                                          <p:val>
                                            <p:strVal val="#ppt_x"/>
                                          </p:val>
                                        </p:tav>
                                      </p:tavLst>
                                    </p:anim>
                                    <p:anim calcmode="lin" valueType="num">
                                      <p:cBhvr>
                                        <p:cTn id="33" dur="450" fill="hold"/>
                                        <p:tgtEl>
                                          <p:spTgt spid="10"/>
                                        </p:tgtEl>
                                        <p:attrNameLst>
                                          <p:attrName>ppt_y</p:attrName>
                                        </p:attrNameLst>
                                      </p:cBhvr>
                                      <p:tavLst>
                                        <p:tav tm="0">
                                          <p:val>
                                            <p:strVal val="#ppt_y+.06"/>
                                          </p:val>
                                        </p:tav>
                                        <p:tav tm="100000">
                                          <p:val>
                                            <p:strVal val="#ppt_y"/>
                                          </p:val>
                                        </p:tav>
                                      </p:tavLst>
                                    </p:anim>
                                  </p:childTnLst>
                                </p:cTn>
                              </p:par>
                            </p:childTnLst>
                          </p:cTn>
                        </p:par>
                        <p:par>
                          <p:cTn id="34" fill="hold">
                            <p:stCondLst>
                              <p:cond delay="2550"/>
                            </p:stCondLst>
                            <p:childTnLst>
                              <p:par>
                                <p:cTn id="35" presetID="10" presetClass="entr" presetSubtype="0"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250"/>
                                        <p:tgtEl>
                                          <p:spTgt spid="11"/>
                                        </p:tgtEl>
                                      </p:cBhvr>
                                    </p:animEffect>
                                  </p:childTnLst>
                                </p:cTn>
                              </p:par>
                            </p:childTnLst>
                          </p:cTn>
                        </p:par>
                        <p:par>
                          <p:cTn id="38" fill="hold">
                            <p:stCondLst>
                              <p:cond delay="2800"/>
                            </p:stCondLst>
                            <p:childTnLst>
                              <p:par>
                                <p:cTn id="39" presetID="42" presetClass="entr" presetSubtype="0" fill="hold" grpId="0" nodeType="after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450"/>
                                        <p:tgtEl>
                                          <p:spTgt spid="12"/>
                                        </p:tgtEl>
                                      </p:cBhvr>
                                    </p:animEffect>
                                    <p:anim calcmode="lin" valueType="num">
                                      <p:cBhvr>
                                        <p:cTn id="42" dur="450" fill="hold"/>
                                        <p:tgtEl>
                                          <p:spTgt spid="12"/>
                                        </p:tgtEl>
                                        <p:attrNameLst>
                                          <p:attrName>ppt_x</p:attrName>
                                        </p:attrNameLst>
                                      </p:cBhvr>
                                      <p:tavLst>
                                        <p:tav tm="0">
                                          <p:val>
                                            <p:strVal val="#ppt_x"/>
                                          </p:val>
                                        </p:tav>
                                        <p:tav tm="100000">
                                          <p:val>
                                            <p:strVal val="#ppt_x"/>
                                          </p:val>
                                        </p:tav>
                                      </p:tavLst>
                                    </p:anim>
                                    <p:anim calcmode="lin" valueType="num">
                                      <p:cBhvr>
                                        <p:cTn id="43" dur="450" fill="hold"/>
                                        <p:tgtEl>
                                          <p:spTgt spid="12"/>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450"/>
                                        <p:tgtEl>
                                          <p:spTgt spid="13"/>
                                        </p:tgtEl>
                                      </p:cBhvr>
                                    </p:animEffect>
                                    <p:anim calcmode="lin" valueType="num">
                                      <p:cBhvr>
                                        <p:cTn id="47" dur="450" fill="hold"/>
                                        <p:tgtEl>
                                          <p:spTgt spid="13"/>
                                        </p:tgtEl>
                                        <p:attrNameLst>
                                          <p:attrName>ppt_x</p:attrName>
                                        </p:attrNameLst>
                                      </p:cBhvr>
                                      <p:tavLst>
                                        <p:tav tm="0">
                                          <p:val>
                                            <p:strVal val="#ppt_x"/>
                                          </p:val>
                                        </p:tav>
                                        <p:tav tm="100000">
                                          <p:val>
                                            <p:strVal val="#ppt_x"/>
                                          </p:val>
                                        </p:tav>
                                      </p:tavLst>
                                    </p:anim>
                                    <p:anim calcmode="lin" valueType="num">
                                      <p:cBhvr>
                                        <p:cTn id="48" dur="450" fill="hold"/>
                                        <p:tgtEl>
                                          <p:spTgt spid="13"/>
                                        </p:tgtEl>
                                        <p:attrNameLst>
                                          <p:attrName>ppt_y</p:attrName>
                                        </p:attrNameLst>
                                      </p:cBhvr>
                                      <p:tavLst>
                                        <p:tav tm="0">
                                          <p:val>
                                            <p:strVal val="#ppt_y+.06"/>
                                          </p:val>
                                        </p:tav>
                                        <p:tav tm="100000">
                                          <p:val>
                                            <p:strVal val="#ppt_y"/>
                                          </p:val>
                                        </p:tav>
                                      </p:tavLst>
                                    </p:anim>
                                  </p:childTnLst>
                                </p:cTn>
                              </p:par>
                            </p:childTnLst>
                          </p:cTn>
                        </p:par>
                        <p:par>
                          <p:cTn id="49" fill="hold">
                            <p:stCondLst>
                              <p:cond delay="3250"/>
                            </p:stCondLst>
                            <p:childTnLst>
                              <p:par>
                                <p:cTn id="50" presetID="42" presetClass="entr" presetSubtype="0" fill="hold" grpId="0" nodeType="afterEffect">
                                  <p:stCondLst>
                                    <p:cond delay="3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00"/>
                                        <p:tgtEl>
                                          <p:spTgt spid="14"/>
                                        </p:tgtEl>
                                      </p:cBhvr>
                                    </p:animEffect>
                                    <p:anim calcmode="lin" valueType="num">
                                      <p:cBhvr>
                                        <p:cTn id="53" dur="400" fill="hold"/>
                                        <p:tgtEl>
                                          <p:spTgt spid="14"/>
                                        </p:tgtEl>
                                        <p:attrNameLst>
                                          <p:attrName>ppt_x</p:attrName>
                                        </p:attrNameLst>
                                      </p:cBhvr>
                                      <p:tavLst>
                                        <p:tav tm="0">
                                          <p:val>
                                            <p:strVal val="#ppt_x"/>
                                          </p:val>
                                        </p:tav>
                                        <p:tav tm="100000">
                                          <p:val>
                                            <p:strVal val="#ppt_x"/>
                                          </p:val>
                                        </p:tav>
                                      </p:tavLst>
                                    </p:anim>
                                    <p:anim calcmode="lin" valueType="num">
                                      <p:cBhvr>
                                        <p:cTn id="54" dur="400" fill="hold"/>
                                        <p:tgtEl>
                                          <p:spTgt spid="14"/>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400"/>
                                        <p:tgtEl>
                                          <p:spTgt spid="15"/>
                                        </p:tgtEl>
                                      </p:cBhvr>
                                    </p:animEffect>
                                    <p:anim calcmode="lin" valueType="num">
                                      <p:cBhvr>
                                        <p:cTn id="58" dur="400" fill="hold"/>
                                        <p:tgtEl>
                                          <p:spTgt spid="15"/>
                                        </p:tgtEl>
                                        <p:attrNameLst>
                                          <p:attrName>ppt_x</p:attrName>
                                        </p:attrNameLst>
                                      </p:cBhvr>
                                      <p:tavLst>
                                        <p:tav tm="0">
                                          <p:val>
                                            <p:strVal val="#ppt_x"/>
                                          </p:val>
                                        </p:tav>
                                        <p:tav tm="100000">
                                          <p:val>
                                            <p:strVal val="#ppt_x"/>
                                          </p:val>
                                        </p:tav>
                                      </p:tavLst>
                                    </p:anim>
                                    <p:anim calcmode="lin" valueType="num">
                                      <p:cBhvr>
                                        <p:cTn id="59" dur="400" fill="hold"/>
                                        <p:tgtEl>
                                          <p:spTgt spid="15"/>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400"/>
                                        <p:tgtEl>
                                          <p:spTgt spid="16"/>
                                        </p:tgtEl>
                                      </p:cBhvr>
                                    </p:animEffect>
                                    <p:anim calcmode="lin" valueType="num">
                                      <p:cBhvr>
                                        <p:cTn id="63" dur="400" fill="hold"/>
                                        <p:tgtEl>
                                          <p:spTgt spid="16"/>
                                        </p:tgtEl>
                                        <p:attrNameLst>
                                          <p:attrName>ppt_x</p:attrName>
                                        </p:attrNameLst>
                                      </p:cBhvr>
                                      <p:tavLst>
                                        <p:tav tm="0">
                                          <p:val>
                                            <p:strVal val="#ppt_x"/>
                                          </p:val>
                                        </p:tav>
                                        <p:tav tm="100000">
                                          <p:val>
                                            <p:strVal val="#ppt_x"/>
                                          </p:val>
                                        </p:tav>
                                      </p:tavLst>
                                    </p:anim>
                                    <p:anim calcmode="lin" valueType="num">
                                      <p:cBhvr>
                                        <p:cTn id="64" dur="400" fill="hold"/>
                                        <p:tgtEl>
                                          <p:spTgt spid="16"/>
                                        </p:tgtEl>
                                        <p:attrNameLst>
                                          <p:attrName>ppt_y</p:attrName>
                                        </p:attrNameLst>
                                      </p:cBhvr>
                                      <p:tavLst>
                                        <p:tav tm="0">
                                          <p:val>
                                            <p:strVal val="#ppt_y+.06"/>
                                          </p:val>
                                        </p:tav>
                                        <p:tav tm="100000">
                                          <p:val>
                                            <p:strVal val="#ppt_y"/>
                                          </p:val>
                                        </p:tav>
                                      </p:tavLst>
                                    </p:anim>
                                  </p:childTnLst>
                                </p:cTn>
                              </p:par>
                            </p:childTnLst>
                          </p:cTn>
                        </p:par>
                        <p:par>
                          <p:cTn id="65" fill="hold">
                            <p:stCondLst>
                              <p:cond delay="3680"/>
                            </p:stCondLst>
                            <p:childTnLst>
                              <p:par>
                                <p:cTn id="66" presetID="42" presetClass="entr" presetSubtype="0" fill="hold" grpId="0" nodeType="afterEffect">
                                  <p:stCondLst>
                                    <p:cond delay="3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400"/>
                                        <p:tgtEl>
                                          <p:spTgt spid="17"/>
                                        </p:tgtEl>
                                      </p:cBhvr>
                                    </p:animEffect>
                                    <p:anim calcmode="lin" valueType="num">
                                      <p:cBhvr>
                                        <p:cTn id="69" dur="400" fill="hold"/>
                                        <p:tgtEl>
                                          <p:spTgt spid="17"/>
                                        </p:tgtEl>
                                        <p:attrNameLst>
                                          <p:attrName>ppt_x</p:attrName>
                                        </p:attrNameLst>
                                      </p:cBhvr>
                                      <p:tavLst>
                                        <p:tav tm="0">
                                          <p:val>
                                            <p:strVal val="#ppt_x"/>
                                          </p:val>
                                        </p:tav>
                                        <p:tav tm="100000">
                                          <p:val>
                                            <p:strVal val="#ppt_x"/>
                                          </p:val>
                                        </p:tav>
                                      </p:tavLst>
                                    </p:anim>
                                    <p:anim calcmode="lin" valueType="num">
                                      <p:cBhvr>
                                        <p:cTn id="70" dur="400" fill="hold"/>
                                        <p:tgtEl>
                                          <p:spTgt spid="17"/>
                                        </p:tgtEl>
                                        <p:attrNameLst>
                                          <p:attrName>ppt_y</p:attrName>
                                        </p:attrNameLst>
                                      </p:cBhvr>
                                      <p:tavLst>
                                        <p:tav tm="0">
                                          <p:val>
                                            <p:strVal val="#ppt_y+.06"/>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400"/>
                                        <p:tgtEl>
                                          <p:spTgt spid="18"/>
                                        </p:tgtEl>
                                      </p:cBhvr>
                                    </p:animEffect>
                                    <p:anim calcmode="lin" valueType="num">
                                      <p:cBhvr>
                                        <p:cTn id="74" dur="400" fill="hold"/>
                                        <p:tgtEl>
                                          <p:spTgt spid="18"/>
                                        </p:tgtEl>
                                        <p:attrNameLst>
                                          <p:attrName>ppt_x</p:attrName>
                                        </p:attrNameLst>
                                      </p:cBhvr>
                                      <p:tavLst>
                                        <p:tav tm="0">
                                          <p:val>
                                            <p:strVal val="#ppt_x"/>
                                          </p:val>
                                        </p:tav>
                                        <p:tav tm="100000">
                                          <p:val>
                                            <p:strVal val="#ppt_x"/>
                                          </p:val>
                                        </p:tav>
                                      </p:tavLst>
                                    </p:anim>
                                    <p:anim calcmode="lin" valueType="num">
                                      <p:cBhvr>
                                        <p:cTn id="75" dur="400" fill="hold"/>
                                        <p:tgtEl>
                                          <p:spTgt spid="18"/>
                                        </p:tgtEl>
                                        <p:attrNameLst>
                                          <p:attrName>ppt_y</p:attrName>
                                        </p:attrNameLst>
                                      </p:cBhvr>
                                      <p:tavLst>
                                        <p:tav tm="0">
                                          <p:val>
                                            <p:strVal val="#ppt_y+.06"/>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400"/>
                                        <p:tgtEl>
                                          <p:spTgt spid="19"/>
                                        </p:tgtEl>
                                      </p:cBhvr>
                                    </p:animEffect>
                                    <p:anim calcmode="lin" valueType="num">
                                      <p:cBhvr>
                                        <p:cTn id="79" dur="400" fill="hold"/>
                                        <p:tgtEl>
                                          <p:spTgt spid="19"/>
                                        </p:tgtEl>
                                        <p:attrNameLst>
                                          <p:attrName>ppt_x</p:attrName>
                                        </p:attrNameLst>
                                      </p:cBhvr>
                                      <p:tavLst>
                                        <p:tav tm="0">
                                          <p:val>
                                            <p:strVal val="#ppt_x"/>
                                          </p:val>
                                        </p:tav>
                                        <p:tav tm="100000">
                                          <p:val>
                                            <p:strVal val="#ppt_x"/>
                                          </p:val>
                                        </p:tav>
                                      </p:tavLst>
                                    </p:anim>
                                    <p:anim calcmode="lin" valueType="num">
                                      <p:cBhvr>
                                        <p:cTn id="80" dur="400" fill="hold"/>
                                        <p:tgtEl>
                                          <p:spTgt spid="19"/>
                                        </p:tgtEl>
                                        <p:attrNameLst>
                                          <p:attrName>ppt_y</p:attrName>
                                        </p:attrNameLst>
                                      </p:cBhvr>
                                      <p:tavLst>
                                        <p:tav tm="0">
                                          <p:val>
                                            <p:strVal val="#ppt_y+.06"/>
                                          </p:val>
                                        </p:tav>
                                        <p:tav tm="100000">
                                          <p:val>
                                            <p:strVal val="#ppt_y"/>
                                          </p:val>
                                        </p:tav>
                                      </p:tavLst>
                                    </p:anim>
                                  </p:childTnLst>
                                </p:cTn>
                              </p:par>
                            </p:childTnLst>
                          </p:cTn>
                        </p:par>
                        <p:par>
                          <p:cTn id="81" fill="hold">
                            <p:stCondLst>
                              <p:cond delay="4110"/>
                            </p:stCondLst>
                            <p:childTnLst>
                              <p:par>
                                <p:cTn id="82" presetID="10" presetClass="entr" presetSubtype="0" fill="hold" grpId="0" nodeType="afterEffect">
                                  <p:stCondLst>
                                    <p:cond delay="120"/>
                                  </p:stCondLst>
                                  <p:childTnLst>
                                    <p:set>
                                      <p:cBhvr>
                                        <p:cTn id="83" dur="1" fill="hold">
                                          <p:stCondLst>
                                            <p:cond delay="0"/>
                                          </p:stCondLst>
                                        </p:cTn>
                                        <p:tgtEl>
                                          <p:spTgt spid="20"/>
                                        </p:tgtEl>
                                        <p:attrNameLst>
                                          <p:attrName>style.visibility</p:attrName>
                                        </p:attrNameLst>
                                      </p:cBhvr>
                                      <p:to>
                                        <p:strVal val="visible"/>
                                      </p:to>
                                    </p:set>
                                    <p:animEffect transition="in" filter="fade">
                                      <p:cBhvr>
                                        <p:cTn id="84" dur="500"/>
                                        <p:tgtEl>
                                          <p:spTgt spid="2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Graphic spid="8" grpId="0">
        <p:bldAsOne/>
      </p:bldGraphic>
      <p:bldP spid="9" grpId="0" animBg="1"/>
      <p:bldP spid="10" grpId="0"/>
      <p:bldP spid="11" grpId="0" animBg="1"/>
      <p:bldP spid="12" grpId="0" animBg="1"/>
      <p:bldP spid="13" grpId="0"/>
      <p:bldP spid="14" grpId="0" animBg="1"/>
      <p:bldP spid="16" grpId="0"/>
      <p:bldP spid="17" grpId="0" animBg="1"/>
      <p:bldP spid="19" grpId="0"/>
      <p:bldP spid="20" grpId="0"/>
      <p:bldP spid="21"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WHAT WE’RE BUILDING</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A street-level weather layer from Jio’s network</a:t>
            </a:r>
            <a:endParaRPr lang="en-US" sz="3200" dirty="0"/>
          </a:p>
        </p:txBody>
      </p:sp>
      <p:pic>
        <p:nvPicPr>
          <p:cNvPr id="6" name="towerA" descr="/tmp/claude-0/-home-user-market-research-agent/e8d4caac-b1a5-588e-8461-832ca62ca567/scratchpad/deck2/assets/tower_big.png">    </p:cNvPr>
          <p:cNvPicPr>
            <a:picLocks noChangeAspect="1"/>
          </p:cNvPicPr>
          <p:nvPr/>
        </p:nvPicPr>
        <p:blipFill>
          <a:blip r:embed="rId2"/>
          <a:stretch>
            <a:fillRect/>
          </a:stretch>
        </p:blipFill>
        <p:spPr>
          <a:xfrm>
            <a:off x="685800" y="2286000"/>
            <a:ext cx="841248" cy="1272808"/>
          </a:xfrm>
          <a:prstGeom prst="rect">
            <a:avLst/>
          </a:prstGeom>
        </p:spPr>
      </p:pic>
      <p:pic>
        <p:nvPicPr>
          <p:cNvPr id="7" name="towerB" descr="/tmp/claude-0/-home-user-market-research-agent/e8d4caac-b1a5-588e-8461-832ca62ca567/scratchpad/deck2/assets/tower_big.png">    </p:cNvPr>
          <p:cNvPicPr>
            <a:picLocks noChangeAspect="1"/>
          </p:cNvPicPr>
          <p:nvPr/>
        </p:nvPicPr>
        <p:blipFill>
          <a:blip r:embed="rId3"/>
          <a:stretch>
            <a:fillRect/>
          </a:stretch>
        </p:blipFill>
        <p:spPr>
          <a:xfrm>
            <a:off x="4937760" y="2286000"/>
            <a:ext cx="841248" cy="1272808"/>
          </a:xfrm>
          <a:prstGeom prst="rect">
            <a:avLst/>
          </a:prstGeom>
        </p:spPr>
      </p:pic>
      <p:sp>
        <p:nvSpPr>
          <p:cNvPr id="8" name="beam"/>
          <p:cNvSpPr/>
          <p:nvPr/>
        </p:nvSpPr>
        <p:spPr>
          <a:xfrm>
            <a:off x="1106424" y="2441448"/>
            <a:ext cx="4251960" cy="0"/>
          </a:xfrm>
          <a:prstGeom prst="line">
            <a:avLst/>
          </a:prstGeom>
          <a:noFill/>
          <a:ln w="31750">
            <a:solidFill>
              <a:srgbClr val="F5A623"/>
            </a:solidFill>
            <a:prstDash val="dash"/>
          </a:ln>
        </p:spPr>
      </p:sp>
      <p:sp>
        <p:nvSpPr>
          <p:cNvPr id="9" name="beamLab"/>
          <p:cNvSpPr txBox="1"/>
          <p:nvPr/>
        </p:nvSpPr>
        <p:spPr>
          <a:xfrm>
            <a:off x="1371600" y="2057400"/>
            <a:ext cx="3749040" cy="274320"/>
          </a:xfrm>
          <a:prstGeom prst="rect">
            <a:avLst/>
          </a:prstGeom>
          <a:noFill/>
          <a:ln/>
        </p:spPr>
        <p:txBody>
          <a:bodyPr wrap="square" lIns="0" tIns="0" rIns="0" bIns="0" rtlCol="0" anchor="t"/>
          <a:lstStyle/>
          <a:p>
            <a:pPr algn="ctr" indent="0" marL="0">
              <a:buNone/>
            </a:pPr>
            <a:r>
              <a:rPr lang="en-US" sz="1300" b="1" dirty="0">
                <a:solidFill>
                  <a:srgbClr val="F5A623"/>
                </a:solidFill>
                <a:latin typeface="Calibri" pitchFamily="34" charset="0"/>
                <a:ea typeface="Calibri" pitchFamily="34" charset="-122"/>
                <a:cs typeface="Calibri" pitchFamily="34" charset="-120"/>
              </a:rPr>
              <a:t>Microwave link between two sites</a:t>
            </a:r>
            <a:endParaRPr lang="en-US" sz="1300" dirty="0"/>
          </a:p>
        </p:txBody>
      </p:sp>
      <p:pic>
        <p:nvPicPr>
          <p:cNvPr id="10" name="drop0" descr="preencoded.png">    </p:cNvPr>
          <p:cNvPicPr>
            <a:picLocks noChangeAspect="1"/>
          </p:cNvPicPr>
          <p:nvPr/>
        </p:nvPicPr>
        <p:blipFill>
          <a:blip r:embed="rId4"/>
          <a:stretch>
            <a:fillRect/>
          </a:stretch>
        </p:blipFill>
        <p:spPr>
          <a:xfrm>
            <a:off x="1920240" y="2743200"/>
            <a:ext cx="182880" cy="182880"/>
          </a:xfrm>
          <a:prstGeom prst="rect">
            <a:avLst/>
          </a:prstGeom>
        </p:spPr>
      </p:pic>
      <p:pic>
        <p:nvPicPr>
          <p:cNvPr id="11" name="drop1" descr="preencoded.png">    </p:cNvPr>
          <p:cNvPicPr>
            <a:picLocks noChangeAspect="1"/>
          </p:cNvPicPr>
          <p:nvPr/>
        </p:nvPicPr>
        <p:blipFill>
          <a:blip r:embed="rId5"/>
          <a:stretch>
            <a:fillRect/>
          </a:stretch>
        </p:blipFill>
        <p:spPr>
          <a:xfrm>
            <a:off x="2514600" y="3017520"/>
            <a:ext cx="182880" cy="182880"/>
          </a:xfrm>
          <a:prstGeom prst="rect">
            <a:avLst/>
          </a:prstGeom>
        </p:spPr>
      </p:pic>
      <p:pic>
        <p:nvPicPr>
          <p:cNvPr id="12" name="drop2" descr="preencoded.png">    </p:cNvPr>
          <p:cNvPicPr>
            <a:picLocks noChangeAspect="1"/>
          </p:cNvPicPr>
          <p:nvPr/>
        </p:nvPicPr>
        <p:blipFill>
          <a:blip r:embed="rId6"/>
          <a:stretch>
            <a:fillRect/>
          </a:stretch>
        </p:blipFill>
        <p:spPr>
          <a:xfrm>
            <a:off x="3108960" y="2697480"/>
            <a:ext cx="182880" cy="182880"/>
          </a:xfrm>
          <a:prstGeom prst="rect">
            <a:avLst/>
          </a:prstGeom>
        </p:spPr>
      </p:pic>
      <p:pic>
        <p:nvPicPr>
          <p:cNvPr id="13" name="drop3" descr="preencoded.png">    </p:cNvPr>
          <p:cNvPicPr>
            <a:picLocks noChangeAspect="1"/>
          </p:cNvPicPr>
          <p:nvPr/>
        </p:nvPicPr>
        <p:blipFill>
          <a:blip r:embed="rId7"/>
          <a:stretch>
            <a:fillRect/>
          </a:stretch>
        </p:blipFill>
        <p:spPr>
          <a:xfrm>
            <a:off x="3703320" y="3063240"/>
            <a:ext cx="182880" cy="182880"/>
          </a:xfrm>
          <a:prstGeom prst="rect">
            <a:avLst/>
          </a:prstGeom>
        </p:spPr>
      </p:pic>
      <p:pic>
        <p:nvPicPr>
          <p:cNvPr id="14" name="drop4" descr="preencoded.png">    </p:cNvPr>
          <p:cNvPicPr>
            <a:picLocks noChangeAspect="1"/>
          </p:cNvPicPr>
          <p:nvPr/>
        </p:nvPicPr>
        <p:blipFill>
          <a:blip r:embed="rId8"/>
          <a:stretch>
            <a:fillRect/>
          </a:stretch>
        </p:blipFill>
        <p:spPr>
          <a:xfrm>
            <a:off x="4297680" y="2743200"/>
            <a:ext cx="182880" cy="182880"/>
          </a:xfrm>
          <a:prstGeom prst="rect">
            <a:avLst/>
          </a:prstGeom>
        </p:spPr>
      </p:pic>
      <p:pic>
        <p:nvPicPr>
          <p:cNvPr id="15" name="drop5" descr="preencoded.png">    </p:cNvPr>
          <p:cNvPicPr>
            <a:picLocks noChangeAspect="1"/>
          </p:cNvPicPr>
          <p:nvPr/>
        </p:nvPicPr>
        <p:blipFill>
          <a:blip r:embed="rId9"/>
          <a:stretch>
            <a:fillRect/>
          </a:stretch>
        </p:blipFill>
        <p:spPr>
          <a:xfrm>
            <a:off x="2240280" y="3337560"/>
            <a:ext cx="182880" cy="182880"/>
          </a:xfrm>
          <a:prstGeom prst="rect">
            <a:avLst/>
          </a:prstGeom>
        </p:spPr>
      </p:pic>
      <p:pic>
        <p:nvPicPr>
          <p:cNvPr id="16" name="drop6" descr="preencoded.png">    </p:cNvPr>
          <p:cNvPicPr>
            <a:picLocks noChangeAspect="1"/>
          </p:cNvPicPr>
          <p:nvPr/>
        </p:nvPicPr>
        <p:blipFill>
          <a:blip r:embed="rId10"/>
          <a:stretch>
            <a:fillRect/>
          </a:stretch>
        </p:blipFill>
        <p:spPr>
          <a:xfrm>
            <a:off x="3429000" y="3383280"/>
            <a:ext cx="182880" cy="182880"/>
          </a:xfrm>
          <a:prstGeom prst="rect">
            <a:avLst/>
          </a:prstGeom>
        </p:spPr>
      </p:pic>
      <p:pic>
        <p:nvPicPr>
          <p:cNvPr id="17" name="drop7" descr="preencoded.png">    </p:cNvPr>
          <p:cNvPicPr>
            <a:picLocks noChangeAspect="1"/>
          </p:cNvPicPr>
          <p:nvPr/>
        </p:nvPicPr>
        <p:blipFill>
          <a:blip r:embed="rId11"/>
          <a:stretch>
            <a:fillRect/>
          </a:stretch>
        </p:blipFill>
        <p:spPr>
          <a:xfrm>
            <a:off x="4572000" y="3291840"/>
            <a:ext cx="182880" cy="182880"/>
          </a:xfrm>
          <a:prstGeom prst="rect">
            <a:avLst/>
          </a:prstGeom>
        </p:spPr>
      </p:pic>
      <p:sp>
        <p:nvSpPr>
          <p:cNvPr id="18" name="how"/>
          <p:cNvSpPr txBox="1"/>
          <p:nvPr/>
        </p:nvSpPr>
        <p:spPr>
          <a:xfrm>
            <a:off x="548640" y="3794760"/>
            <a:ext cx="5394960" cy="64008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Rain weakens the signal. </a:t>
            </a:r>
            <a:pPr indent="0" marL="0">
              <a:buNone/>
            </a:pPr>
            <a:r>
              <a:rPr lang="en-US" sz="1450" dirty="0">
                <a:solidFill>
                  <a:srgbClr val="B9C2D8"/>
                </a:solidFill>
                <a:latin typeface="Calibri" pitchFamily="34" charset="0"/>
                <a:ea typeface="Calibri" pitchFamily="34" charset="-122"/>
                <a:cs typeface="Calibri" pitchFamily="34" charset="-120"/>
              </a:rPr>
              <a:t>Measure the loss and you get rainfall along every link, every minute.</a:t>
            </a:r>
            <a:endParaRPr lang="en-US" sz="1450" dirty="0"/>
          </a:p>
        </p:txBody>
      </p:sp>
      <p:sp>
        <p:nvSpPr>
          <p:cNvPr id="19" name="defCard"/>
          <p:cNvSpPr/>
          <p:nvPr/>
        </p:nvSpPr>
        <p:spPr>
          <a:xfrm>
            <a:off x="6263640" y="2057400"/>
            <a:ext cx="5376672" cy="2377440"/>
          </a:xfrm>
          <a:prstGeom prst="roundRect">
            <a:avLst>
              <a:gd name="adj" fmla="val 4615"/>
            </a:avLst>
          </a:prstGeom>
          <a:solidFill>
            <a:srgbClr val="1C2447"/>
          </a:solidFill>
          <a:ln w="15875">
            <a:solidFill>
              <a:srgbClr val="F5A623"/>
            </a:solidFill>
            <a:prstDash val="solid"/>
          </a:ln>
        </p:spPr>
      </p:sp>
      <p:sp>
        <p:nvSpPr>
          <p:cNvPr id="20" name="defT"/>
          <p:cNvSpPr txBox="1"/>
          <p:nvPr/>
        </p:nvSpPr>
        <p:spPr>
          <a:xfrm>
            <a:off x="6537960" y="2212848"/>
            <a:ext cx="4892040" cy="1234440"/>
          </a:xfrm>
          <a:prstGeom prst="rect">
            <a:avLst/>
          </a:prstGeom>
          <a:noFill/>
          <a:ln/>
        </p:spPr>
        <p:txBody>
          <a:bodyPr wrap="square" lIns="0" tIns="0" rIns="0" bIns="0" rtlCol="0" anchor="t"/>
          <a:lstStyle/>
          <a:p>
            <a:pPr indent="0" marL="0">
              <a:buNone/>
            </a:pPr>
            <a:r>
              <a:rPr lang="en-US" sz="1050" b="1" spc="200" kern="0" dirty="0">
                <a:solidFill>
                  <a:srgbClr val="F5A623"/>
                </a:solidFill>
                <a:latin typeface="Calibri" pitchFamily="34" charset="0"/>
                <a:ea typeface="Calibri" pitchFamily="34" charset="-122"/>
                <a:cs typeface="Calibri" pitchFamily="34" charset="-120"/>
              </a:rPr>
              <a:t>JIOMAUSAM IS</a:t>
            </a:r>
            <a:endParaRPr lang="en-US" sz="1050" dirty="0"/>
          </a:p>
          <a:p>
            <a:pPr indent="0" marL="0">
              <a:buNone/>
            </a:pPr>
            <a:r>
              <a:rPr lang="en-US" sz="1900" b="1" dirty="0">
                <a:solidFill>
                  <a:srgbClr val="FFFFFF"/>
                </a:solidFill>
                <a:latin typeface="Cambria" pitchFamily="34" charset="0"/>
                <a:ea typeface="Cambria" pitchFamily="34" charset="-122"/>
                <a:cs typeface="Cambria" pitchFamily="34" charset="-120"/>
              </a:rPr>
              <a:t>a weather-intelligence layer: a minute-by-minute, 1 km picture of rain for Reliance and for businesses.</a:t>
            </a:r>
            <a:endParaRPr lang="en-US" sz="1050" dirty="0"/>
          </a:p>
        </p:txBody>
      </p:sp>
      <p:sp>
        <p:nvSpPr>
          <p:cNvPr id="21" name="defT2"/>
          <p:cNvSpPr txBox="1"/>
          <p:nvPr/>
        </p:nvSpPr>
        <p:spPr>
          <a:xfrm>
            <a:off x="6537960" y="3611880"/>
            <a:ext cx="4892040" cy="731520"/>
          </a:xfrm>
          <a:prstGeom prst="rect">
            <a:avLst/>
          </a:prstGeom>
          <a:noFill/>
          <a:ln/>
        </p:spPr>
        <p:txBody>
          <a:bodyPr wrap="square" lIns="0" tIns="0" rIns="0" bIns="0" rtlCol="0" anchor="t"/>
          <a:lstStyle/>
          <a:p>
            <a:pPr indent="0" marL="0">
              <a:buNone/>
            </a:pPr>
            <a:r>
              <a:rPr lang="en-US" sz="1350" dirty="0">
                <a:solidFill>
                  <a:srgbClr val="B9C2D8"/>
                </a:solidFill>
                <a:latin typeface="Calibri" pitchFamily="34" charset="0"/>
                <a:ea typeface="Calibri" pitchFamily="34" charset="-122"/>
                <a:cs typeface="Calibri" pitchFamily="34" charset="-120"/>
              </a:rPr>
              <a:t>Built from the network Jio already runs, checked against IMD radar and rain gauges.</a:t>
            </a:r>
            <a:endParaRPr lang="en-US" sz="1350" dirty="0"/>
          </a:p>
        </p:txBody>
      </p:sp>
      <p:sp>
        <p:nvSpPr>
          <p:cNvPr id="22" name="isCard"/>
          <p:cNvSpPr/>
          <p:nvPr/>
        </p:nvSpPr>
        <p:spPr>
          <a:xfrm>
            <a:off x="548640" y="4617720"/>
            <a:ext cx="5394960" cy="1143000"/>
          </a:xfrm>
          <a:prstGeom prst="roundRect">
            <a:avLst>
              <a:gd name="adj" fmla="val 9600"/>
            </a:avLst>
          </a:prstGeom>
          <a:solidFill>
            <a:srgbClr val="141B36"/>
          </a:solidFill>
          <a:ln w="9525">
            <a:solidFill>
              <a:srgbClr val="2A3357"/>
            </a:solidFill>
            <a:prstDash val="solid"/>
          </a:ln>
        </p:spPr>
      </p:sp>
      <p:sp>
        <p:nvSpPr>
          <p:cNvPr id="23" name="isT"/>
          <p:cNvSpPr txBox="1"/>
          <p:nvPr/>
        </p:nvSpPr>
        <p:spPr>
          <a:xfrm>
            <a:off x="777240" y="4690872"/>
            <a:ext cx="5029200" cy="1024128"/>
          </a:xfrm>
          <a:prstGeom prst="rect">
            <a:avLst/>
          </a:prstGeom>
          <a:noFill/>
          <a:ln/>
        </p:spPr>
        <p:txBody>
          <a:bodyPr wrap="square" lIns="0" tIns="0" rIns="0" bIns="0" rtlCol="0" anchor="t"/>
          <a:lstStyle/>
          <a:p>
            <a:pPr indent="0" marL="0">
              <a:buNone/>
            </a:pPr>
            <a:r>
              <a:rPr lang="en-US" sz="1050" b="1" spc="200" kern="0" dirty="0">
                <a:solidFill>
                  <a:srgbClr val="1BAF7A"/>
                </a:solidFill>
                <a:latin typeface="Calibri" pitchFamily="34" charset="0"/>
                <a:ea typeface="Calibri" pitchFamily="34" charset="-122"/>
                <a:cs typeface="Calibri" pitchFamily="34" charset="-120"/>
              </a:rPr>
              <a:t>IT IS</a:t>
            </a:r>
            <a:endParaRPr lang="en-US" sz="1050" dirty="0"/>
          </a:p>
          <a:p>
            <a:pPr marL="342900" indent="-342900">
              <a:buSzPct val="100000"/>
              <a:buChar char="•"/>
            </a:pPr>
            <a:r>
              <a:rPr lang="en-US" sz="1300" dirty="0">
                <a:solidFill>
                  <a:srgbClr val="EEF1F7"/>
                </a:solidFill>
                <a:latin typeface="Calibri" pitchFamily="34" charset="0"/>
                <a:ea typeface="Calibri" pitchFamily="34" charset="-122"/>
                <a:cs typeface="Calibri" pitchFamily="34" charset="-120"/>
              </a:rPr>
              <a:t>Rain intelligence from existing infrastructure</a:t>
            </a:r>
            <a:endParaRPr lang="en-US" sz="1050" dirty="0"/>
          </a:p>
          <a:p>
            <a:pPr marL="342900" indent="-342900">
              <a:buSzPct val="100000"/>
              <a:buChar char="•"/>
            </a:pPr>
            <a:r>
              <a:rPr lang="en-US" sz="1300" dirty="0">
                <a:solidFill>
                  <a:srgbClr val="EEF1F7"/>
                </a:solidFill>
                <a:latin typeface="Calibri" pitchFamily="34" charset="0"/>
                <a:ea typeface="Calibri" pitchFamily="34" charset="-122"/>
                <a:cs typeface="Calibri" pitchFamily="34" charset="-120"/>
              </a:rPr>
              <a:t>Decisions and data for businesses</a:t>
            </a:r>
            <a:endParaRPr lang="en-US" sz="1050" dirty="0"/>
          </a:p>
          <a:p>
            <a:pPr marL="342900" indent="-342900">
              <a:buSzPct val="100000"/>
              <a:buChar char="•"/>
            </a:pPr>
            <a:r>
              <a:rPr lang="en-US" sz="1300" dirty="0">
                <a:solidFill>
                  <a:srgbClr val="EEF1F7"/>
                </a:solidFill>
                <a:latin typeface="Calibri" pitchFamily="34" charset="0"/>
                <a:ea typeface="Calibri" pitchFamily="34" charset="-122"/>
                <a:cs typeface="Calibri" pitchFamily="34" charset="-120"/>
              </a:rPr>
              <a:t>A trigger for future worker protection</a:t>
            </a:r>
            <a:endParaRPr lang="en-US" sz="1050" dirty="0"/>
          </a:p>
        </p:txBody>
      </p:sp>
      <p:sp>
        <p:nvSpPr>
          <p:cNvPr id="24" name="isntCard"/>
          <p:cNvSpPr/>
          <p:nvPr/>
        </p:nvSpPr>
        <p:spPr>
          <a:xfrm>
            <a:off x="6263640" y="4617720"/>
            <a:ext cx="5376672" cy="1143000"/>
          </a:xfrm>
          <a:prstGeom prst="roundRect">
            <a:avLst>
              <a:gd name="adj" fmla="val 9600"/>
            </a:avLst>
          </a:prstGeom>
          <a:solidFill>
            <a:srgbClr val="141B36"/>
          </a:solidFill>
          <a:ln w="9525">
            <a:solidFill>
              <a:srgbClr val="2A3357"/>
            </a:solidFill>
            <a:prstDash val="solid"/>
          </a:ln>
        </p:spPr>
      </p:sp>
      <p:sp>
        <p:nvSpPr>
          <p:cNvPr id="25" name="isntT"/>
          <p:cNvSpPr txBox="1"/>
          <p:nvPr/>
        </p:nvSpPr>
        <p:spPr>
          <a:xfrm>
            <a:off x="6492240" y="4690872"/>
            <a:ext cx="4983480" cy="1024128"/>
          </a:xfrm>
          <a:prstGeom prst="rect">
            <a:avLst/>
          </a:prstGeom>
          <a:noFill/>
          <a:ln/>
        </p:spPr>
        <p:txBody>
          <a:bodyPr wrap="square" lIns="0" tIns="0" rIns="0" bIns="0" rtlCol="0" anchor="t"/>
          <a:lstStyle/>
          <a:p>
            <a:pPr indent="0" marL="0">
              <a:buNone/>
            </a:pPr>
            <a:r>
              <a:rPr lang="en-US" sz="1050" b="1" spc="200" kern="0" dirty="0">
                <a:solidFill>
                  <a:srgbClr val="FF8A8D"/>
                </a:solidFill>
                <a:latin typeface="Calibri" pitchFamily="34" charset="0"/>
                <a:ea typeface="Calibri" pitchFamily="34" charset="-122"/>
                <a:cs typeface="Calibri" pitchFamily="34" charset="-120"/>
              </a:rPr>
              <a:t>IT ISN’T</a:t>
            </a:r>
            <a:endParaRPr lang="en-US" sz="1050" dirty="0"/>
          </a:p>
          <a:p>
            <a:pPr indent="0" marL="0">
              <a:buNone/>
            </a:pPr>
            <a:r>
              <a:rPr lang="en-US" sz="1300" dirty="0">
                <a:solidFill>
                  <a:srgbClr val="EEF1F7"/>
                </a:solidFill>
                <a:latin typeface="Calibri" pitchFamily="34" charset="0"/>
                <a:ea typeface="Calibri" pitchFamily="34" charset="-122"/>
                <a:cs typeface="Calibri" pitchFamily="34" charset="-120"/>
              </a:rPr>
              <a:t>A new sensor network  ·  A consumer weather app  ·  An insurer  ·  Heat sensing from towers</a:t>
            </a:r>
            <a:endParaRPr lang="en-US" sz="1050" dirty="0"/>
          </a:p>
        </p:txBody>
      </p:sp>
      <p:sp>
        <p:nvSpPr>
          <p:cNvPr id="26" name="caveat"/>
          <p:cNvSpPr txBox="1"/>
          <p:nvPr/>
        </p:nvSpPr>
        <p:spPr>
          <a:xfrm>
            <a:off x="548640" y="5925312"/>
            <a:ext cx="11094415" cy="365760"/>
          </a:xfrm>
          <a:prstGeom prst="rect">
            <a:avLst/>
          </a:prstGeom>
          <a:noFill/>
          <a:ln/>
        </p:spPr>
        <p:txBody>
          <a:bodyPr wrap="square" lIns="0" tIns="0" rIns="0" bIns="0" rtlCol="0" anchor="t"/>
          <a:lstStyle/>
          <a:p>
            <a:pPr indent="0" marL="0">
              <a:buNone/>
            </a:pPr>
            <a:r>
              <a:rPr lang="en-US" sz="1400" dirty="0">
                <a:solidFill>
                  <a:srgbClr val="B9C2D8"/>
                </a:solidFill>
                <a:latin typeface="Calibri" pitchFamily="34" charset="0"/>
                <a:ea typeface="Calibri" pitchFamily="34" charset="-122"/>
                <a:cs typeface="Calibri" pitchFamily="34" charset="-120"/>
              </a:rPr>
              <a:t>We use microwave links, not fibre. How many usable links Jio has is the first thing our pilot measures.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6"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10" presetClass="entr" presetSubtype="0" fill="hold" grpId="0" nodeType="afterEffect">
                                  <p:stCondLst>
                                    <p:cond delay="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childTnLst>
                          </p:cTn>
                        </p:par>
                        <p:par>
                          <p:cTn id="19" fill="hold">
                            <p:stCondLst>
                              <p:cond delay="1250"/>
                            </p:stCondLst>
                            <p:childTnLst>
                              <p:par>
                                <p:cTn id="20" presetID="22" presetClass="entr" presetSubtype="8"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600"/>
                                        <p:tgtEl>
                                          <p:spTgt spid="8"/>
                                        </p:tgtEl>
                                      </p:cBhvr>
                                    </p:animEffect>
                                  </p:childTnLst>
                                </p:cTn>
                              </p:par>
                              <p:par>
                                <p:cTn id="23" presetID="10" presetClass="entr" presetSubtype="0" fill="hold" grpId="0" nodeType="withEffect">
                                  <p:stCondLst>
                                    <p:cond delay="1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1850"/>
                            </p:stCondLst>
                            <p:childTnLst>
                              <p:par>
                                <p:cTn id="27" presetID="10" presetClass="entr" presetSubtype="0"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5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5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5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5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450"/>
                                        <p:tgtEl>
                                          <p:spTgt spid="18"/>
                                        </p:tgtEl>
                                      </p:cBhvr>
                                    </p:animEffect>
                                  </p:childTnLst>
                                </p:cTn>
                              </p:par>
                            </p:childTnLst>
                          </p:cTn>
                        </p:par>
                        <p:par>
                          <p:cTn id="54" fill="hold">
                            <p:stCondLst>
                              <p:cond delay="2300"/>
                            </p:stCondLst>
                            <p:childTnLst>
                              <p:par>
                                <p:cTn id="55" presetID="53" presetClass="entr" presetSubtype="16" fill="hold" grpId="0" nodeType="afterEffect">
                                  <p:stCondLst>
                                    <p:cond delay="80"/>
                                  </p:stCondLst>
                                  <p:childTnLst>
                                    <p:set>
                                      <p:cBhvr>
                                        <p:cTn id="56" dur="1" fill="hold">
                                          <p:stCondLst>
                                            <p:cond delay="0"/>
                                          </p:stCondLst>
                                        </p:cTn>
                                        <p:tgtEl>
                                          <p:spTgt spid="19"/>
                                        </p:tgtEl>
                                        <p:attrNameLst>
                                          <p:attrName>style.visibility</p:attrName>
                                        </p:attrNameLst>
                                      </p:cBhvr>
                                      <p:to>
                                        <p:strVal val="visible"/>
                                      </p:to>
                                    </p:set>
                                    <p:anim calcmode="lin" valueType="num">
                                      <p:cBhvr>
                                        <p:cTn id="57" dur="550" fill="hold"/>
                                        <p:tgtEl>
                                          <p:spTgt spid="19"/>
                                        </p:tgtEl>
                                        <p:attrNameLst>
                                          <p:attrName>ppt_w</p:attrName>
                                        </p:attrNameLst>
                                      </p:cBhvr>
                                      <p:tavLst>
                                        <p:tav tm="0">
                                          <p:val>
                                            <p:strVal val="#ppt_w*.82"/>
                                          </p:val>
                                        </p:tav>
                                        <p:tav tm="100000">
                                          <p:val>
                                            <p:strVal val="#ppt_w"/>
                                          </p:val>
                                        </p:tav>
                                      </p:tavLst>
                                    </p:anim>
                                    <p:anim calcmode="lin" valueType="num">
                                      <p:cBhvr>
                                        <p:cTn id="58" dur="550" fill="hold"/>
                                        <p:tgtEl>
                                          <p:spTgt spid="19"/>
                                        </p:tgtEl>
                                        <p:attrNameLst>
                                          <p:attrName>ppt_h</p:attrName>
                                        </p:attrNameLst>
                                      </p:cBhvr>
                                      <p:tavLst>
                                        <p:tav tm="0">
                                          <p:val>
                                            <p:strVal val="#ppt_h*.82"/>
                                          </p:val>
                                        </p:tav>
                                        <p:tav tm="100000">
                                          <p:val>
                                            <p:strVal val="#ppt_h"/>
                                          </p:val>
                                        </p:tav>
                                      </p:tavLst>
                                    </p:anim>
                                    <p:animEffect transition="in" filter="fade">
                                      <p:cBhvr>
                                        <p:cTn id="59" dur="550"/>
                                        <p:tgtEl>
                                          <p:spTgt spid="19"/>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 calcmode="lin" valueType="num">
                                      <p:cBhvr>
                                        <p:cTn id="62" dur="550" fill="hold"/>
                                        <p:tgtEl>
                                          <p:spTgt spid="20"/>
                                        </p:tgtEl>
                                        <p:attrNameLst>
                                          <p:attrName>ppt_w</p:attrName>
                                        </p:attrNameLst>
                                      </p:cBhvr>
                                      <p:tavLst>
                                        <p:tav tm="0">
                                          <p:val>
                                            <p:strVal val="#ppt_w*.82"/>
                                          </p:val>
                                        </p:tav>
                                        <p:tav tm="100000">
                                          <p:val>
                                            <p:strVal val="#ppt_w"/>
                                          </p:val>
                                        </p:tav>
                                      </p:tavLst>
                                    </p:anim>
                                    <p:anim calcmode="lin" valueType="num">
                                      <p:cBhvr>
                                        <p:cTn id="63" dur="550" fill="hold"/>
                                        <p:tgtEl>
                                          <p:spTgt spid="20"/>
                                        </p:tgtEl>
                                        <p:attrNameLst>
                                          <p:attrName>ppt_h</p:attrName>
                                        </p:attrNameLst>
                                      </p:cBhvr>
                                      <p:tavLst>
                                        <p:tav tm="0">
                                          <p:val>
                                            <p:strVal val="#ppt_h*.82"/>
                                          </p:val>
                                        </p:tav>
                                        <p:tav tm="100000">
                                          <p:val>
                                            <p:strVal val="#ppt_h"/>
                                          </p:val>
                                        </p:tav>
                                      </p:tavLst>
                                    </p:anim>
                                    <p:animEffect transition="in" filter="fade">
                                      <p:cBhvr>
                                        <p:cTn id="64" dur="550"/>
                                        <p:tgtEl>
                                          <p:spTgt spid="20"/>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p:cTn id="67" dur="550" fill="hold"/>
                                        <p:tgtEl>
                                          <p:spTgt spid="21"/>
                                        </p:tgtEl>
                                        <p:attrNameLst>
                                          <p:attrName>ppt_w</p:attrName>
                                        </p:attrNameLst>
                                      </p:cBhvr>
                                      <p:tavLst>
                                        <p:tav tm="0">
                                          <p:val>
                                            <p:strVal val="#ppt_w*.82"/>
                                          </p:val>
                                        </p:tav>
                                        <p:tav tm="100000">
                                          <p:val>
                                            <p:strVal val="#ppt_w"/>
                                          </p:val>
                                        </p:tav>
                                      </p:tavLst>
                                    </p:anim>
                                    <p:anim calcmode="lin" valueType="num">
                                      <p:cBhvr>
                                        <p:cTn id="68" dur="550" fill="hold"/>
                                        <p:tgtEl>
                                          <p:spTgt spid="21"/>
                                        </p:tgtEl>
                                        <p:attrNameLst>
                                          <p:attrName>ppt_h</p:attrName>
                                        </p:attrNameLst>
                                      </p:cBhvr>
                                      <p:tavLst>
                                        <p:tav tm="0">
                                          <p:val>
                                            <p:strVal val="#ppt_h*.82"/>
                                          </p:val>
                                        </p:tav>
                                        <p:tav tm="100000">
                                          <p:val>
                                            <p:strVal val="#ppt_h"/>
                                          </p:val>
                                        </p:tav>
                                      </p:tavLst>
                                    </p:anim>
                                    <p:animEffect transition="in" filter="fade">
                                      <p:cBhvr>
                                        <p:cTn id="69" dur="550"/>
                                        <p:tgtEl>
                                          <p:spTgt spid="21"/>
                                        </p:tgtEl>
                                      </p:cBhvr>
                                    </p:animEffect>
                                  </p:childTnLst>
                                </p:cTn>
                              </p:par>
                            </p:childTnLst>
                          </p:cTn>
                        </p:par>
                        <p:par>
                          <p:cTn id="70" fill="hold">
                            <p:stCondLst>
                              <p:cond delay="2930"/>
                            </p:stCondLst>
                            <p:childTnLst>
                              <p:par>
                                <p:cTn id="71" presetID="42" presetClass="entr" presetSubtype="0" fill="hold" grpId="0" nodeType="afterEffect">
                                  <p:stCondLst>
                                    <p:cond delay="4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400"/>
                                        <p:tgtEl>
                                          <p:spTgt spid="22"/>
                                        </p:tgtEl>
                                      </p:cBhvr>
                                    </p:animEffect>
                                    <p:anim calcmode="lin" valueType="num">
                                      <p:cBhvr>
                                        <p:cTn id="74" dur="400" fill="hold"/>
                                        <p:tgtEl>
                                          <p:spTgt spid="22"/>
                                        </p:tgtEl>
                                        <p:attrNameLst>
                                          <p:attrName>ppt_x</p:attrName>
                                        </p:attrNameLst>
                                      </p:cBhvr>
                                      <p:tavLst>
                                        <p:tav tm="0">
                                          <p:val>
                                            <p:strVal val="#ppt_x"/>
                                          </p:val>
                                        </p:tav>
                                        <p:tav tm="100000">
                                          <p:val>
                                            <p:strVal val="#ppt_x"/>
                                          </p:val>
                                        </p:tav>
                                      </p:tavLst>
                                    </p:anim>
                                    <p:anim calcmode="lin" valueType="num">
                                      <p:cBhvr>
                                        <p:cTn id="75" dur="400" fill="hold"/>
                                        <p:tgtEl>
                                          <p:spTgt spid="22"/>
                                        </p:tgtEl>
                                        <p:attrNameLst>
                                          <p:attrName>ppt_y</p:attrName>
                                        </p:attrNameLst>
                                      </p:cBhvr>
                                      <p:tavLst>
                                        <p:tav tm="0">
                                          <p:val>
                                            <p:strVal val="#ppt_y+.06"/>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fade">
                                      <p:cBhvr>
                                        <p:cTn id="78" dur="400"/>
                                        <p:tgtEl>
                                          <p:spTgt spid="23"/>
                                        </p:tgtEl>
                                      </p:cBhvr>
                                    </p:animEffect>
                                    <p:anim calcmode="lin" valueType="num">
                                      <p:cBhvr>
                                        <p:cTn id="79" dur="400" fill="hold"/>
                                        <p:tgtEl>
                                          <p:spTgt spid="23"/>
                                        </p:tgtEl>
                                        <p:attrNameLst>
                                          <p:attrName>ppt_x</p:attrName>
                                        </p:attrNameLst>
                                      </p:cBhvr>
                                      <p:tavLst>
                                        <p:tav tm="0">
                                          <p:val>
                                            <p:strVal val="#ppt_x"/>
                                          </p:val>
                                        </p:tav>
                                        <p:tav tm="100000">
                                          <p:val>
                                            <p:strVal val="#ppt_x"/>
                                          </p:val>
                                        </p:tav>
                                      </p:tavLst>
                                    </p:anim>
                                    <p:anim calcmode="lin" valueType="num">
                                      <p:cBhvr>
                                        <p:cTn id="80" dur="400" fill="hold"/>
                                        <p:tgtEl>
                                          <p:spTgt spid="23"/>
                                        </p:tgtEl>
                                        <p:attrNameLst>
                                          <p:attrName>ppt_y</p:attrName>
                                        </p:attrNameLst>
                                      </p:cBhvr>
                                      <p:tavLst>
                                        <p:tav tm="0">
                                          <p:val>
                                            <p:strVal val="#ppt_y+.06"/>
                                          </p:val>
                                        </p:tav>
                                        <p:tav tm="100000">
                                          <p:val>
                                            <p:strVal val="#ppt_y"/>
                                          </p:val>
                                        </p:tav>
                                      </p:tavLst>
                                    </p:anim>
                                  </p:childTnLst>
                                </p:cTn>
                              </p:par>
                            </p:childTnLst>
                          </p:cTn>
                        </p:par>
                        <p:par>
                          <p:cTn id="81" fill="hold">
                            <p:stCondLst>
                              <p:cond delay="3370"/>
                            </p:stCondLst>
                            <p:childTnLst>
                              <p:par>
                                <p:cTn id="82" presetID="42" presetClass="entr" presetSubtype="0" fill="hold" grpId="0" nodeType="afterEffect">
                                  <p:stCondLst>
                                    <p:cond delay="40"/>
                                  </p:stCondLst>
                                  <p:childTnLst>
                                    <p:set>
                                      <p:cBhvr>
                                        <p:cTn id="83" dur="1" fill="hold">
                                          <p:stCondLst>
                                            <p:cond delay="0"/>
                                          </p:stCondLst>
                                        </p:cTn>
                                        <p:tgtEl>
                                          <p:spTgt spid="24"/>
                                        </p:tgtEl>
                                        <p:attrNameLst>
                                          <p:attrName>style.visibility</p:attrName>
                                        </p:attrNameLst>
                                      </p:cBhvr>
                                      <p:to>
                                        <p:strVal val="visible"/>
                                      </p:to>
                                    </p:set>
                                    <p:animEffect transition="in" filter="fade">
                                      <p:cBhvr>
                                        <p:cTn id="84" dur="400"/>
                                        <p:tgtEl>
                                          <p:spTgt spid="24"/>
                                        </p:tgtEl>
                                      </p:cBhvr>
                                    </p:animEffect>
                                    <p:anim calcmode="lin" valueType="num">
                                      <p:cBhvr>
                                        <p:cTn id="85" dur="400" fill="hold"/>
                                        <p:tgtEl>
                                          <p:spTgt spid="24"/>
                                        </p:tgtEl>
                                        <p:attrNameLst>
                                          <p:attrName>ppt_x</p:attrName>
                                        </p:attrNameLst>
                                      </p:cBhvr>
                                      <p:tavLst>
                                        <p:tav tm="0">
                                          <p:val>
                                            <p:strVal val="#ppt_x"/>
                                          </p:val>
                                        </p:tav>
                                        <p:tav tm="100000">
                                          <p:val>
                                            <p:strVal val="#ppt_x"/>
                                          </p:val>
                                        </p:tav>
                                      </p:tavLst>
                                    </p:anim>
                                    <p:anim calcmode="lin" valueType="num">
                                      <p:cBhvr>
                                        <p:cTn id="86" dur="400" fill="hold"/>
                                        <p:tgtEl>
                                          <p:spTgt spid="24"/>
                                        </p:tgtEl>
                                        <p:attrNameLst>
                                          <p:attrName>ppt_y</p:attrName>
                                        </p:attrNameLst>
                                      </p:cBhvr>
                                      <p:tavLst>
                                        <p:tav tm="0">
                                          <p:val>
                                            <p:strVal val="#ppt_y+.06"/>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5"/>
                                        </p:tgtEl>
                                        <p:attrNameLst>
                                          <p:attrName>style.visibility</p:attrName>
                                        </p:attrNameLst>
                                      </p:cBhvr>
                                      <p:to>
                                        <p:strVal val="visible"/>
                                      </p:to>
                                    </p:set>
                                    <p:animEffect transition="in" filter="fade">
                                      <p:cBhvr>
                                        <p:cTn id="89" dur="400"/>
                                        <p:tgtEl>
                                          <p:spTgt spid="25"/>
                                        </p:tgtEl>
                                      </p:cBhvr>
                                    </p:animEffect>
                                    <p:anim calcmode="lin" valueType="num">
                                      <p:cBhvr>
                                        <p:cTn id="90" dur="400" fill="hold"/>
                                        <p:tgtEl>
                                          <p:spTgt spid="25"/>
                                        </p:tgtEl>
                                        <p:attrNameLst>
                                          <p:attrName>ppt_x</p:attrName>
                                        </p:attrNameLst>
                                      </p:cBhvr>
                                      <p:tavLst>
                                        <p:tav tm="0">
                                          <p:val>
                                            <p:strVal val="#ppt_x"/>
                                          </p:val>
                                        </p:tav>
                                        <p:tav tm="100000">
                                          <p:val>
                                            <p:strVal val="#ppt_x"/>
                                          </p:val>
                                        </p:tav>
                                      </p:tavLst>
                                    </p:anim>
                                    <p:anim calcmode="lin" valueType="num">
                                      <p:cBhvr>
                                        <p:cTn id="91" dur="400" fill="hold"/>
                                        <p:tgtEl>
                                          <p:spTgt spid="25"/>
                                        </p:tgtEl>
                                        <p:attrNameLst>
                                          <p:attrName>ppt_y</p:attrName>
                                        </p:attrNameLst>
                                      </p:cBhvr>
                                      <p:tavLst>
                                        <p:tav tm="0">
                                          <p:val>
                                            <p:strVal val="#ppt_y+.06"/>
                                          </p:val>
                                        </p:tav>
                                        <p:tav tm="100000">
                                          <p:val>
                                            <p:strVal val="#ppt_y"/>
                                          </p:val>
                                        </p:tav>
                                      </p:tavLst>
                                    </p:anim>
                                  </p:childTnLst>
                                </p:cTn>
                              </p:par>
                            </p:childTnLst>
                          </p:cTn>
                        </p:par>
                        <p:par>
                          <p:cTn id="92" fill="hold">
                            <p:stCondLst>
                              <p:cond delay="3810"/>
                            </p:stCondLst>
                            <p:childTnLst>
                              <p:par>
                                <p:cTn id="93" presetID="10" presetClass="entr" presetSubtype="0" fill="hold" grpId="0" nodeType="afterEffect">
                                  <p:stCondLst>
                                    <p:cond delay="60"/>
                                  </p:stCondLst>
                                  <p:childTnLst>
                                    <p:set>
                                      <p:cBhvr>
                                        <p:cTn id="94" dur="1" fill="hold">
                                          <p:stCondLst>
                                            <p:cond delay="0"/>
                                          </p:stCondLst>
                                        </p:cTn>
                                        <p:tgtEl>
                                          <p:spTgt spid="26"/>
                                        </p:tgtEl>
                                        <p:attrNameLst>
                                          <p:attrName>style.visibility</p:attrName>
                                        </p:attrNameLst>
                                      </p:cBhvr>
                                      <p:to>
                                        <p:strVal val="visible"/>
                                      </p:to>
                                    </p:set>
                                    <p:animEffect transition="in" filter="fade">
                                      <p:cBhvr>
                                        <p:cTn id="95"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animBg="1"/>
      <p:bldP spid="9" grpId="0"/>
      <p:bldP spid="18" grpId="0"/>
      <p:bldP spid="19" grpId="0" animBg="1"/>
      <p:bldP spid="20" grpId="0"/>
      <p:bldP spid="21" grpId="0"/>
      <p:bldP spid="22" grpId="0" animBg="1"/>
      <p:bldP spid="23" grpId="0"/>
      <p:bldP spid="24" grpId="0" animBg="1"/>
      <p:bldP spid="25" grpId="0"/>
      <p:bldP spid="26"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TRIED AND TESTED</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Proven science, tested by us, with a clear limit</a:t>
            </a:r>
            <a:endParaRPr lang="en-US" sz="3200" dirty="0"/>
          </a:p>
        </p:txBody>
      </p:sp>
      <p:sp>
        <p:nvSpPr>
          <p:cNvPr id="6" name="sciCard"/>
          <p:cNvSpPr/>
          <p:nvPr/>
        </p:nvSpPr>
        <p:spPr>
          <a:xfrm>
            <a:off x="548640" y="2057400"/>
            <a:ext cx="3246120" cy="3703320"/>
          </a:xfrm>
          <a:prstGeom prst="roundRect">
            <a:avLst>
              <a:gd name="adj" fmla="val 3380"/>
            </a:avLst>
          </a:prstGeom>
          <a:solidFill>
            <a:srgbClr val="141B36"/>
          </a:solidFill>
          <a:ln w="9525">
            <a:solidFill>
              <a:srgbClr val="2A3357"/>
            </a:solidFill>
            <a:prstDash val="solid"/>
          </a:ln>
        </p:spPr>
      </p:sp>
      <p:pic>
        <p:nvPicPr>
          <p:cNvPr id="7" name="sciI" descr="preencoded.png">    </p:cNvPr>
          <p:cNvPicPr>
            <a:picLocks noChangeAspect="1"/>
          </p:cNvPicPr>
          <p:nvPr/>
        </p:nvPicPr>
        <p:blipFill>
          <a:blip r:embed="rId2"/>
          <a:stretch>
            <a:fillRect/>
          </a:stretch>
        </p:blipFill>
        <p:spPr>
          <a:xfrm>
            <a:off x="777240" y="2240280"/>
            <a:ext cx="365760" cy="365760"/>
          </a:xfrm>
          <a:prstGeom prst="rect">
            <a:avLst/>
          </a:prstGeom>
        </p:spPr>
      </p:pic>
      <p:sp>
        <p:nvSpPr>
          <p:cNvPr id="8" name="sciT"/>
          <p:cNvSpPr txBox="1"/>
          <p:nvPr/>
        </p:nvSpPr>
        <p:spPr>
          <a:xfrm>
            <a:off x="777240" y="2724912"/>
            <a:ext cx="2834640" cy="2926080"/>
          </a:xfrm>
          <a:prstGeom prst="rect">
            <a:avLst/>
          </a:prstGeom>
          <a:noFill/>
          <a:ln/>
        </p:spPr>
        <p:txBody>
          <a:bodyPr wrap="square" lIns="0" tIns="0" rIns="0" bIns="0" rtlCol="0" anchor="t"/>
          <a:lstStyle/>
          <a:p>
            <a:pPr indent="0" marL="0">
              <a:spcAft>
                <a:spcPts val="600"/>
              </a:spcAft>
              <a:buNone/>
            </a:pPr>
            <a:r>
              <a:rPr lang="en-US" sz="1050" b="1" spc="200" kern="0" dirty="0">
                <a:solidFill>
                  <a:srgbClr val="F5A623"/>
                </a:solidFill>
                <a:latin typeface="Calibri" pitchFamily="34" charset="0"/>
                <a:ea typeface="Calibri" pitchFamily="34" charset="-122"/>
                <a:cs typeface="Calibri" pitchFamily="34" charset="-120"/>
              </a:rPr>
              <a:t>PROVEN ELSEWHERE</a:t>
            </a:r>
            <a:endParaRPr lang="en-US" sz="1050" dirty="0"/>
          </a:p>
          <a:p>
            <a:pPr indent="0" marL="0">
              <a:spcAft>
                <a:spcPts val="600"/>
              </a:spcAft>
              <a:buNone/>
            </a:pPr>
            <a:r>
              <a:rPr lang="en-US" sz="1700" b="1" dirty="0">
                <a:solidFill>
                  <a:srgbClr val="FFFFFF"/>
                </a:solidFill>
                <a:latin typeface="Cambria" pitchFamily="34" charset="0"/>
                <a:ea typeface="Cambria" pitchFamily="34" charset="-122"/>
                <a:cs typeface="Cambria" pitchFamily="34" charset="-120"/>
              </a:rPr>
              <a:t>Published, and proven country-wide</a:t>
            </a:r>
            <a:endParaRPr lang="en-US" sz="1050" dirty="0"/>
          </a:p>
          <a:p>
            <a:pPr marL="342900" indent="-342900">
              <a:spcAft>
                <a:spcPts val="600"/>
              </a:spcAft>
              <a:buSzPct val="100000"/>
              <a:buChar char="•"/>
            </a:pPr>
            <a:r>
              <a:rPr lang="en-US" sz="1300" dirty="0">
                <a:solidFill>
                  <a:srgbClr val="B9C2D8"/>
                </a:solidFill>
                <a:latin typeface="Calibri" pitchFamily="34" charset="0"/>
                <a:ea typeface="Calibri" pitchFamily="34" charset="-122"/>
                <a:cs typeface="Calibri" pitchFamily="34" charset="-120"/>
              </a:rPr>
              <a:t>Science (2006): rain measured from a cellular network in Israel</a:t>
            </a:r>
            <a:endParaRPr lang="en-US" sz="1050" dirty="0"/>
          </a:p>
          <a:p>
            <a:pPr marL="342900" indent="-342900">
              <a:spcAft>
                <a:spcPts val="600"/>
              </a:spcAft>
              <a:buSzPct val="100000"/>
              <a:buChar char="•"/>
            </a:pPr>
            <a:r>
              <a:rPr lang="en-US" sz="1300" dirty="0">
                <a:solidFill>
                  <a:srgbClr val="B9C2D8"/>
                </a:solidFill>
                <a:latin typeface="Calibri" pitchFamily="34" charset="0"/>
                <a:ea typeface="Calibri" pitchFamily="34" charset="-122"/>
                <a:cs typeface="Calibri" pitchFamily="34" charset="-120"/>
              </a:rPr>
              <a:t>PNAS (2013): country-wide rain maps of the Netherlands from phone networks</a:t>
            </a:r>
            <a:endParaRPr lang="en-US" sz="1050" dirty="0"/>
          </a:p>
          <a:p>
            <a:pPr marL="342900" indent="-342900">
              <a:spcAft>
                <a:spcPts val="600"/>
              </a:spcAft>
              <a:buSzPct val="100000"/>
              <a:buChar char="•"/>
            </a:pPr>
            <a:r>
              <a:rPr lang="en-US" sz="1300" dirty="0">
                <a:solidFill>
                  <a:srgbClr val="B9C2D8"/>
                </a:solidFill>
                <a:latin typeface="Calibri" pitchFamily="34" charset="0"/>
                <a:ea typeface="Calibri" pitchFamily="34" charset="-122"/>
                <a:cs typeface="Calibri" pitchFamily="34" charset="-120"/>
              </a:rPr>
              <a:t>Open-source tools (pycomlink, KIT Germany)</a:t>
            </a:r>
            <a:endParaRPr lang="en-US" sz="1050" dirty="0"/>
          </a:p>
        </p:txBody>
      </p:sp>
      <p:sp>
        <p:nvSpPr>
          <p:cNvPr id="9" name="banner"/>
          <p:cNvSpPr/>
          <p:nvPr/>
        </p:nvSpPr>
        <p:spPr>
          <a:xfrm>
            <a:off x="4023360" y="2057400"/>
            <a:ext cx="7619695" cy="384048"/>
          </a:xfrm>
          <a:prstGeom prst="roundRect">
            <a:avLst>
              <a:gd name="adj" fmla="val 28571"/>
            </a:avLst>
          </a:prstGeom>
          <a:solidFill>
            <a:srgbClr val="2B2208"/>
          </a:solidFill>
          <a:ln w="9525">
            <a:solidFill>
              <a:srgbClr val="F5A623"/>
            </a:solidFill>
            <a:prstDash val="solid"/>
          </a:ln>
        </p:spPr>
      </p:sp>
      <p:sp>
        <p:nvSpPr>
          <p:cNvPr id="10" name="bannerT"/>
          <p:cNvSpPr txBox="1"/>
          <p:nvPr/>
        </p:nvSpPr>
        <p:spPr>
          <a:xfrm>
            <a:off x="4023360" y="2057400"/>
            <a:ext cx="7619695" cy="384048"/>
          </a:xfrm>
          <a:prstGeom prst="rect">
            <a:avLst/>
          </a:prstGeom>
          <a:noFill/>
          <a:ln/>
        </p:spPr>
        <p:txBody>
          <a:bodyPr wrap="square" lIns="0" tIns="0" rIns="0" bIns="0" rtlCol="0" anchor="ctr"/>
          <a:lstStyle/>
          <a:p>
            <a:pPr algn="ctr" indent="0" marL="0">
              <a:buNone/>
            </a:pPr>
            <a:r>
              <a:rPr lang="en-US" sz="1150" b="1" spc="100" kern="0" dirty="0">
                <a:solidFill>
                  <a:srgbClr val="F5A623"/>
                </a:solidFill>
                <a:latin typeface="Calibri" pitchFamily="34" charset="0"/>
                <a:ea typeface="Calibri" pitchFamily="34" charset="-122"/>
                <a:cs typeface="Calibri" pitchFamily="34" charset="-120"/>
              </a:rPr>
              <a:t>TESTED BY US  ·  500 REAL LINKS  ·  PUBLIC DATASET, GERMANY  ·  11 DAYS  ·  NOT JIO DATA</a:t>
            </a:r>
            <a:endParaRPr lang="en-US" sz="1150" dirty="0"/>
          </a:p>
        </p:txBody>
      </p:sp>
      <p:sp>
        <p:nvSpPr>
          <p:cNvPr id="11" name="tile0"/>
          <p:cNvSpPr/>
          <p:nvPr/>
        </p:nvSpPr>
        <p:spPr>
          <a:xfrm>
            <a:off x="4023360" y="2606040"/>
            <a:ext cx="2405786" cy="1280160"/>
          </a:xfrm>
          <a:prstGeom prst="roundRect">
            <a:avLst>
              <a:gd name="adj" fmla="val 8571"/>
            </a:avLst>
          </a:prstGeom>
          <a:solidFill>
            <a:srgbClr val="141B36"/>
          </a:solidFill>
          <a:ln w="9525">
            <a:solidFill>
              <a:srgbClr val="2A3357"/>
            </a:solidFill>
            <a:prstDash val="solid"/>
          </a:ln>
        </p:spPr>
      </p:sp>
      <p:sp>
        <p:nvSpPr>
          <p:cNvPr id="12" name="tileT0"/>
          <p:cNvSpPr txBox="1"/>
          <p:nvPr/>
        </p:nvSpPr>
        <p:spPr>
          <a:xfrm>
            <a:off x="4224528" y="2679192"/>
            <a:ext cx="2040026" cy="114300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0.95</a:t>
            </a:r>
            <a:endParaRPr lang="en-US" sz="3400" dirty="0"/>
          </a:p>
          <a:p>
            <a:pPr indent="0" marL="0">
              <a:buNone/>
            </a:pPr>
            <a:r>
              <a:rPr lang="en-US" sz="1250" dirty="0">
                <a:solidFill>
                  <a:srgbClr val="B9C2D8"/>
                </a:solidFill>
                <a:latin typeface="Calibri" pitchFamily="34" charset="0"/>
                <a:ea typeface="Calibri" pitchFamily="34" charset="-122"/>
                <a:cs typeface="Calibri" pitchFamily="34" charset="-120"/>
              </a:rPr>
              <a:t>network-wide match with radar, on unseen days</a:t>
            </a:r>
            <a:endParaRPr lang="en-US" sz="3400" dirty="0"/>
          </a:p>
        </p:txBody>
      </p:sp>
      <p:sp>
        <p:nvSpPr>
          <p:cNvPr id="13" name="tile1"/>
          <p:cNvSpPr/>
          <p:nvPr/>
        </p:nvSpPr>
        <p:spPr>
          <a:xfrm>
            <a:off x="6630314" y="2606040"/>
            <a:ext cx="2405786" cy="1280160"/>
          </a:xfrm>
          <a:prstGeom prst="roundRect">
            <a:avLst>
              <a:gd name="adj" fmla="val 8571"/>
            </a:avLst>
          </a:prstGeom>
          <a:solidFill>
            <a:srgbClr val="141B36"/>
          </a:solidFill>
          <a:ln w="9525">
            <a:solidFill>
              <a:srgbClr val="2A3357"/>
            </a:solidFill>
            <a:prstDash val="solid"/>
          </a:ln>
        </p:spPr>
      </p:sp>
      <p:sp>
        <p:nvSpPr>
          <p:cNvPr id="14" name="tileT1"/>
          <p:cNvSpPr txBox="1"/>
          <p:nvPr/>
        </p:nvSpPr>
        <p:spPr>
          <a:xfrm>
            <a:off x="6831482" y="2679192"/>
            <a:ext cx="2040026" cy="114300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0.88</a:t>
            </a:r>
            <a:endParaRPr lang="en-US" sz="3400" dirty="0"/>
          </a:p>
          <a:p>
            <a:pPr indent="0" marL="0">
              <a:buNone/>
            </a:pPr>
            <a:r>
              <a:rPr lang="en-US" sz="1250" dirty="0">
                <a:solidFill>
                  <a:srgbClr val="B9C2D8"/>
                </a:solidFill>
                <a:latin typeface="Calibri" pitchFamily="34" charset="0"/>
                <a:ea typeface="Calibri" pitchFamily="34" charset="-122"/>
                <a:cs typeface="Calibri" pitchFamily="34" charset="-120"/>
              </a:rPr>
              <a:t>typical single link on its own</a:t>
            </a:r>
            <a:endParaRPr lang="en-US" sz="3400" dirty="0"/>
          </a:p>
        </p:txBody>
      </p:sp>
      <p:sp>
        <p:nvSpPr>
          <p:cNvPr id="15" name="tile2"/>
          <p:cNvSpPr/>
          <p:nvPr/>
        </p:nvSpPr>
        <p:spPr>
          <a:xfrm>
            <a:off x="9237269" y="2606040"/>
            <a:ext cx="2405786" cy="1280160"/>
          </a:xfrm>
          <a:prstGeom prst="roundRect">
            <a:avLst>
              <a:gd name="adj" fmla="val 8571"/>
            </a:avLst>
          </a:prstGeom>
          <a:solidFill>
            <a:srgbClr val="2A1622"/>
          </a:solidFill>
          <a:ln w="12700">
            <a:solidFill>
              <a:srgbClr val="E5484D"/>
            </a:solidFill>
            <a:prstDash val="solid"/>
          </a:ln>
        </p:spPr>
      </p:sp>
      <p:sp>
        <p:nvSpPr>
          <p:cNvPr id="16" name="tileT2"/>
          <p:cNvSpPr txBox="1"/>
          <p:nvPr/>
        </p:nvSpPr>
        <p:spPr>
          <a:xfrm>
            <a:off x="9438437" y="2679192"/>
            <a:ext cx="2040026"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68%</a:t>
            </a:r>
            <a:endParaRPr lang="en-US" sz="3400" dirty="0"/>
          </a:p>
          <a:p>
            <a:pPr indent="0" marL="0">
              <a:buNone/>
            </a:pPr>
            <a:r>
              <a:rPr lang="en-US" sz="1250" dirty="0">
                <a:solidFill>
                  <a:srgbClr val="EEF1F7"/>
                </a:solidFill>
                <a:latin typeface="Calibri" pitchFamily="34" charset="0"/>
                <a:ea typeface="Calibri" pitchFamily="34" charset="-122"/>
                <a:cs typeface="Calibri" pitchFamily="34" charset="-120"/>
              </a:rPr>
              <a:t>of radar trigger events caught</a:t>
            </a:r>
            <a:endParaRPr lang="en-US" sz="3400" dirty="0"/>
          </a:p>
          <a:p>
            <a:pPr indent="0" marL="0">
              <a:buNone/>
            </a:pPr>
            <a:r>
              <a:rPr lang="en-US" sz="1150" dirty="0">
                <a:solidFill>
                  <a:srgbClr val="FF9A9C"/>
                </a:solidFill>
                <a:latin typeface="Calibri" pitchFamily="34" charset="0"/>
                <a:ea typeface="Calibri" pitchFamily="34" charset="-122"/>
                <a:cs typeface="Calibri" pitchFamily="34" charset="-120"/>
              </a:rPr>
              <a:t>18% of our triggers not confirmed</a:t>
            </a:r>
            <a:endParaRPr lang="en-US" sz="3400" dirty="0"/>
          </a:p>
        </p:txBody>
      </p:sp>
      <p:graphicFrame>
        <p:nvGraphicFramePr>
          <p:cNvPr id="17" name="chart" descr=""/>
          <p:cNvGraphicFramePr/>
          <p:nvPr/>
        </p:nvGraphicFramePr>
        <p:xfrm>
          <a:off x="3931920" y="3977640"/>
          <a:ext cx="7756855" cy="1783080"/>
        </p:xfrm>
        <a:graphic xmlns:a="http://schemas.openxmlformats.org/drawingml/2006/main">
          <a:graphicData uri="http://schemas.openxmlformats.org/drawingml/2006/chart">
            <c:chart xmlns:c="http://schemas.openxmlformats.org/drawingml/2006/chart" r:id="rId3"/>
          </a:graphicData>
        </a:graphic>
      </p:graphicFrame>
      <p:sp>
        <p:nvSpPr>
          <p:cNvPr id="18" name="takeaway"/>
          <p:cNvSpPr txBox="1"/>
          <p:nvPr/>
        </p:nvSpPr>
        <p:spPr>
          <a:xfrm>
            <a:off x="548640" y="585216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It works. But links alone aren’t accurate enough to pay claims on, and we say so.</a:t>
            </a:r>
            <a:endParaRPr lang="en-US" sz="1800" dirty="0"/>
          </a:p>
        </p:txBody>
      </p:sp>
      <p:sp>
        <p:nvSpPr>
          <p:cNvPr id="19" name="source"/>
          <p:cNvSpPr txBox="1"/>
          <p:nvPr/>
        </p:nvSpPr>
        <p:spPr>
          <a:xfrm>
            <a:off x="548640" y="6419088"/>
            <a:ext cx="11094415" cy="274320"/>
          </a:xfrm>
          <a:prstGeom prst="rect">
            <a:avLst/>
          </a:prstGeom>
          <a:noFill/>
          <a:ln/>
        </p:spPr>
        <p:txBody>
          <a:bodyPr wrap="square" lIns="0" tIns="0" rIns="0" bIns="0" rtlCol="0" anchor="t"/>
          <a:lstStyle/>
          <a:p>
            <a:pPr indent="0" marL="0">
              <a:buNone/>
            </a:pPr>
            <a:r>
              <a:rPr lang="en-US" sz="1000" dirty="0">
                <a:solidFill>
                  <a:srgbClr val="7A85A8"/>
                </a:solidFill>
                <a:latin typeface="Calibri" pitchFamily="34" charset="0"/>
                <a:ea typeface="Calibri" pitchFamily="34" charset="-122"/>
                <a:cs typeface="Calibri" pitchFamily="34" charset="-120"/>
              </a:rPr>
              <a:t>Messer et al., Science 2006 · Overeem et al., PNAS 2013 · Our test: tuned on 10–12 May 2018, scored on 13–20 May; trigger = 10 mm in 3 h per ~4 km square; reference: German radar.</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42" presetClass="entr" presetSubtype="0" fill="hold" grpId="0" nodeType="afterEffect">
                                  <p:stCondLst>
                                    <p:cond delay="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anim calcmode="lin" valueType="num">
                                      <p:cBhvr>
                                        <p:cTn id="16" dur="500" fill="hold"/>
                                        <p:tgtEl>
                                          <p:spTgt spid="6"/>
                                        </p:tgtEl>
                                        <p:attrNameLst>
                                          <p:attrName>ppt_x</p:attrName>
                                        </p:attrNameLst>
                                      </p:cBhvr>
                                      <p:tavLst>
                                        <p:tav tm="0">
                                          <p:val>
                                            <p:strVal val="#ppt_x"/>
                                          </p:val>
                                        </p:tav>
                                        <p:tav tm="100000">
                                          <p:val>
                                            <p:strVal val="#ppt_x"/>
                                          </p:val>
                                        </p:tav>
                                      </p:tavLst>
                                    </p:anim>
                                    <p:anim calcmode="lin" valueType="num">
                                      <p:cBhvr>
                                        <p:cTn id="17" dur="50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anim calcmode="lin" valueType="num">
                                      <p:cBhvr>
                                        <p:cTn id="21" dur="500" fill="hold"/>
                                        <p:tgtEl>
                                          <p:spTgt spid="7"/>
                                        </p:tgtEl>
                                        <p:attrNameLst>
                                          <p:attrName>ppt_x</p:attrName>
                                        </p:attrNameLst>
                                      </p:cBhvr>
                                      <p:tavLst>
                                        <p:tav tm="0">
                                          <p:val>
                                            <p:strVal val="#ppt_x"/>
                                          </p:val>
                                        </p:tav>
                                        <p:tav tm="100000">
                                          <p:val>
                                            <p:strVal val="#ppt_x"/>
                                          </p:val>
                                        </p:tav>
                                      </p:tavLst>
                                    </p:anim>
                                    <p:anim calcmode="lin" valueType="num">
                                      <p:cBhvr>
                                        <p:cTn id="22" dur="50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06"/>
                                          </p:val>
                                        </p:tav>
                                        <p:tav tm="100000">
                                          <p:val>
                                            <p:strVal val="#ppt_y"/>
                                          </p:val>
                                        </p:tav>
                                      </p:tavLst>
                                    </p:anim>
                                  </p:childTnLst>
                                </p:cTn>
                              </p:par>
                            </p:childTnLst>
                          </p:cTn>
                        </p:par>
                        <p:par>
                          <p:cTn id="28" fill="hold">
                            <p:stCondLst>
                              <p:cond delay="1300"/>
                            </p:stCondLst>
                            <p:childTnLst>
                              <p:par>
                                <p:cTn id="29" presetID="10" presetClass="entr" presetSubtype="0" fill="hold" grpId="0" nodeType="afterEffect">
                                  <p:stCondLst>
                                    <p:cond delay="8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0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400"/>
                                        <p:tgtEl>
                                          <p:spTgt spid="10"/>
                                        </p:tgtEl>
                                      </p:cBhvr>
                                    </p:animEffect>
                                  </p:childTnLst>
                                </p:cTn>
                              </p:par>
                            </p:childTnLst>
                          </p:cTn>
                        </p:par>
                        <p:par>
                          <p:cTn id="35" fill="hold">
                            <p:stCondLst>
                              <p:cond delay="1780"/>
                            </p:stCondLst>
                            <p:childTnLst>
                              <p:par>
                                <p:cTn id="36" presetID="42" presetClass="entr" presetSubtype="0" fill="hold" grpId="0" nodeType="afterEffect">
                                  <p:stCondLst>
                                    <p:cond delay="3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400"/>
                                        <p:tgtEl>
                                          <p:spTgt spid="11"/>
                                        </p:tgtEl>
                                      </p:cBhvr>
                                    </p:animEffect>
                                    <p:anim calcmode="lin" valueType="num">
                                      <p:cBhvr>
                                        <p:cTn id="39" dur="400" fill="hold"/>
                                        <p:tgtEl>
                                          <p:spTgt spid="11"/>
                                        </p:tgtEl>
                                        <p:attrNameLst>
                                          <p:attrName>ppt_x</p:attrName>
                                        </p:attrNameLst>
                                      </p:cBhvr>
                                      <p:tavLst>
                                        <p:tav tm="0">
                                          <p:val>
                                            <p:strVal val="#ppt_x"/>
                                          </p:val>
                                        </p:tav>
                                        <p:tav tm="100000">
                                          <p:val>
                                            <p:strVal val="#ppt_x"/>
                                          </p:val>
                                        </p:tav>
                                      </p:tavLst>
                                    </p:anim>
                                    <p:anim calcmode="lin" valueType="num">
                                      <p:cBhvr>
                                        <p:cTn id="40" dur="400" fill="hold"/>
                                        <p:tgtEl>
                                          <p:spTgt spid="11"/>
                                        </p:tgtEl>
                                        <p:attrNameLst>
                                          <p:attrName>ppt_y</p:attrName>
                                        </p:attrNameLst>
                                      </p:cBhvr>
                                      <p:tavLst>
                                        <p:tav tm="0">
                                          <p:val>
                                            <p:strVal val="#ppt_y+.06"/>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400"/>
                                        <p:tgtEl>
                                          <p:spTgt spid="12"/>
                                        </p:tgtEl>
                                      </p:cBhvr>
                                    </p:animEffect>
                                    <p:anim calcmode="lin" valueType="num">
                                      <p:cBhvr>
                                        <p:cTn id="44" dur="400" fill="hold"/>
                                        <p:tgtEl>
                                          <p:spTgt spid="12"/>
                                        </p:tgtEl>
                                        <p:attrNameLst>
                                          <p:attrName>ppt_x</p:attrName>
                                        </p:attrNameLst>
                                      </p:cBhvr>
                                      <p:tavLst>
                                        <p:tav tm="0">
                                          <p:val>
                                            <p:strVal val="#ppt_x"/>
                                          </p:val>
                                        </p:tav>
                                        <p:tav tm="100000">
                                          <p:val>
                                            <p:strVal val="#ppt_x"/>
                                          </p:val>
                                        </p:tav>
                                      </p:tavLst>
                                    </p:anim>
                                    <p:anim calcmode="lin" valueType="num">
                                      <p:cBhvr>
                                        <p:cTn id="45" dur="400" fill="hold"/>
                                        <p:tgtEl>
                                          <p:spTgt spid="12"/>
                                        </p:tgtEl>
                                        <p:attrNameLst>
                                          <p:attrName>ppt_y</p:attrName>
                                        </p:attrNameLst>
                                      </p:cBhvr>
                                      <p:tavLst>
                                        <p:tav tm="0">
                                          <p:val>
                                            <p:strVal val="#ppt_y+.06"/>
                                          </p:val>
                                        </p:tav>
                                        <p:tav tm="100000">
                                          <p:val>
                                            <p:strVal val="#ppt_y"/>
                                          </p:val>
                                        </p:tav>
                                      </p:tavLst>
                                    </p:anim>
                                  </p:childTnLst>
                                </p:cTn>
                              </p:par>
                            </p:childTnLst>
                          </p:cTn>
                        </p:par>
                        <p:par>
                          <p:cTn id="46" fill="hold">
                            <p:stCondLst>
                              <p:cond delay="2210"/>
                            </p:stCondLst>
                            <p:childTnLst>
                              <p:par>
                                <p:cTn id="47" presetID="42" presetClass="entr" presetSubtype="0" fill="hold" grpId="0" nodeType="afterEffect">
                                  <p:stCondLst>
                                    <p:cond delay="3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400"/>
                                        <p:tgtEl>
                                          <p:spTgt spid="13"/>
                                        </p:tgtEl>
                                      </p:cBhvr>
                                    </p:animEffect>
                                    <p:anim calcmode="lin" valueType="num">
                                      <p:cBhvr>
                                        <p:cTn id="50" dur="400" fill="hold"/>
                                        <p:tgtEl>
                                          <p:spTgt spid="13"/>
                                        </p:tgtEl>
                                        <p:attrNameLst>
                                          <p:attrName>ppt_x</p:attrName>
                                        </p:attrNameLst>
                                      </p:cBhvr>
                                      <p:tavLst>
                                        <p:tav tm="0">
                                          <p:val>
                                            <p:strVal val="#ppt_x"/>
                                          </p:val>
                                        </p:tav>
                                        <p:tav tm="100000">
                                          <p:val>
                                            <p:strVal val="#ppt_x"/>
                                          </p:val>
                                        </p:tav>
                                      </p:tavLst>
                                    </p:anim>
                                    <p:anim calcmode="lin" valueType="num">
                                      <p:cBhvr>
                                        <p:cTn id="51" dur="400" fill="hold"/>
                                        <p:tgtEl>
                                          <p:spTgt spid="13"/>
                                        </p:tgtEl>
                                        <p:attrNameLst>
                                          <p:attrName>ppt_y</p:attrName>
                                        </p:attrNameLst>
                                      </p:cBhvr>
                                      <p:tavLst>
                                        <p:tav tm="0">
                                          <p:val>
                                            <p:strVal val="#ppt_y+.06"/>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400"/>
                                        <p:tgtEl>
                                          <p:spTgt spid="14"/>
                                        </p:tgtEl>
                                      </p:cBhvr>
                                    </p:animEffect>
                                    <p:anim calcmode="lin" valueType="num">
                                      <p:cBhvr>
                                        <p:cTn id="55" dur="400" fill="hold"/>
                                        <p:tgtEl>
                                          <p:spTgt spid="14"/>
                                        </p:tgtEl>
                                        <p:attrNameLst>
                                          <p:attrName>ppt_x</p:attrName>
                                        </p:attrNameLst>
                                      </p:cBhvr>
                                      <p:tavLst>
                                        <p:tav tm="0">
                                          <p:val>
                                            <p:strVal val="#ppt_x"/>
                                          </p:val>
                                        </p:tav>
                                        <p:tav tm="100000">
                                          <p:val>
                                            <p:strVal val="#ppt_x"/>
                                          </p:val>
                                        </p:tav>
                                      </p:tavLst>
                                    </p:anim>
                                    <p:anim calcmode="lin" valueType="num">
                                      <p:cBhvr>
                                        <p:cTn id="56" dur="400" fill="hold"/>
                                        <p:tgtEl>
                                          <p:spTgt spid="14"/>
                                        </p:tgtEl>
                                        <p:attrNameLst>
                                          <p:attrName>ppt_y</p:attrName>
                                        </p:attrNameLst>
                                      </p:cBhvr>
                                      <p:tavLst>
                                        <p:tav tm="0">
                                          <p:val>
                                            <p:strVal val="#ppt_y+.06"/>
                                          </p:val>
                                        </p:tav>
                                        <p:tav tm="100000">
                                          <p:val>
                                            <p:strVal val="#ppt_y"/>
                                          </p:val>
                                        </p:tav>
                                      </p:tavLst>
                                    </p:anim>
                                  </p:childTnLst>
                                </p:cTn>
                              </p:par>
                            </p:childTnLst>
                          </p:cTn>
                        </p:par>
                        <p:par>
                          <p:cTn id="57" fill="hold">
                            <p:stCondLst>
                              <p:cond delay="2640"/>
                            </p:stCondLst>
                            <p:childTnLst>
                              <p:par>
                                <p:cTn id="58" presetID="53" presetClass="entr" presetSubtype="16" fill="hold" grpId="0" nodeType="afterEffect">
                                  <p:stCondLst>
                                    <p:cond delay="120"/>
                                  </p:stCondLst>
                                  <p:childTnLst>
                                    <p:set>
                                      <p:cBhvr>
                                        <p:cTn id="59" dur="1" fill="hold">
                                          <p:stCondLst>
                                            <p:cond delay="0"/>
                                          </p:stCondLst>
                                        </p:cTn>
                                        <p:tgtEl>
                                          <p:spTgt spid="15"/>
                                        </p:tgtEl>
                                        <p:attrNameLst>
                                          <p:attrName>style.visibility</p:attrName>
                                        </p:attrNameLst>
                                      </p:cBhvr>
                                      <p:to>
                                        <p:strVal val="visible"/>
                                      </p:to>
                                    </p:set>
                                    <p:anim calcmode="lin" valueType="num">
                                      <p:cBhvr>
                                        <p:cTn id="60" dur="550" fill="hold"/>
                                        <p:tgtEl>
                                          <p:spTgt spid="15"/>
                                        </p:tgtEl>
                                        <p:attrNameLst>
                                          <p:attrName>ppt_w</p:attrName>
                                        </p:attrNameLst>
                                      </p:cBhvr>
                                      <p:tavLst>
                                        <p:tav tm="0">
                                          <p:val>
                                            <p:strVal val="#ppt_w*.82"/>
                                          </p:val>
                                        </p:tav>
                                        <p:tav tm="100000">
                                          <p:val>
                                            <p:strVal val="#ppt_w"/>
                                          </p:val>
                                        </p:tav>
                                      </p:tavLst>
                                    </p:anim>
                                    <p:anim calcmode="lin" valueType="num">
                                      <p:cBhvr>
                                        <p:cTn id="61" dur="550" fill="hold"/>
                                        <p:tgtEl>
                                          <p:spTgt spid="15"/>
                                        </p:tgtEl>
                                        <p:attrNameLst>
                                          <p:attrName>ppt_h</p:attrName>
                                        </p:attrNameLst>
                                      </p:cBhvr>
                                      <p:tavLst>
                                        <p:tav tm="0">
                                          <p:val>
                                            <p:strVal val="#ppt_h*.82"/>
                                          </p:val>
                                        </p:tav>
                                        <p:tav tm="100000">
                                          <p:val>
                                            <p:strVal val="#ppt_h"/>
                                          </p:val>
                                        </p:tav>
                                      </p:tavLst>
                                    </p:anim>
                                    <p:animEffect transition="in" filter="fade">
                                      <p:cBhvr>
                                        <p:cTn id="62" dur="550"/>
                                        <p:tgtEl>
                                          <p:spTgt spid="15"/>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 calcmode="lin" valueType="num">
                                      <p:cBhvr>
                                        <p:cTn id="65" dur="550" fill="hold"/>
                                        <p:tgtEl>
                                          <p:spTgt spid="16"/>
                                        </p:tgtEl>
                                        <p:attrNameLst>
                                          <p:attrName>ppt_w</p:attrName>
                                        </p:attrNameLst>
                                      </p:cBhvr>
                                      <p:tavLst>
                                        <p:tav tm="0">
                                          <p:val>
                                            <p:strVal val="#ppt_w*.82"/>
                                          </p:val>
                                        </p:tav>
                                        <p:tav tm="100000">
                                          <p:val>
                                            <p:strVal val="#ppt_w"/>
                                          </p:val>
                                        </p:tav>
                                      </p:tavLst>
                                    </p:anim>
                                    <p:anim calcmode="lin" valueType="num">
                                      <p:cBhvr>
                                        <p:cTn id="66" dur="550" fill="hold"/>
                                        <p:tgtEl>
                                          <p:spTgt spid="16"/>
                                        </p:tgtEl>
                                        <p:attrNameLst>
                                          <p:attrName>ppt_h</p:attrName>
                                        </p:attrNameLst>
                                      </p:cBhvr>
                                      <p:tavLst>
                                        <p:tav tm="0">
                                          <p:val>
                                            <p:strVal val="#ppt_h*.82"/>
                                          </p:val>
                                        </p:tav>
                                        <p:tav tm="100000">
                                          <p:val>
                                            <p:strVal val="#ppt_h"/>
                                          </p:val>
                                        </p:tav>
                                      </p:tavLst>
                                    </p:anim>
                                    <p:animEffect transition="in" filter="fade">
                                      <p:cBhvr>
                                        <p:cTn id="67" dur="550"/>
                                        <p:tgtEl>
                                          <p:spTgt spid="16"/>
                                        </p:tgtEl>
                                      </p:cBhvr>
                                    </p:animEffect>
                                  </p:childTnLst>
                                </p:cTn>
                              </p:par>
                            </p:childTnLst>
                          </p:cTn>
                        </p:par>
                        <p:par>
                          <p:cTn id="68" fill="hold">
                            <p:stCondLst>
                              <p:cond delay="3310"/>
                            </p:stCondLst>
                            <p:childTnLst>
                              <p:par>
                                <p:cTn id="69" presetID="22" presetClass="entr" presetSubtype="8" fill="hold" grpId="0" nodeType="afterEffect">
                                  <p:stCondLst>
                                    <p:cond delay="50"/>
                                  </p:stCondLst>
                                  <p:childTnLst>
                                    <p:set>
                                      <p:cBhvr>
                                        <p:cTn id="70" dur="1" fill="hold">
                                          <p:stCondLst>
                                            <p:cond delay="0"/>
                                          </p:stCondLst>
                                        </p:cTn>
                                        <p:tgtEl>
                                          <p:spTgt spid="17"/>
                                        </p:tgtEl>
                                        <p:attrNameLst>
                                          <p:attrName>style.visibility</p:attrName>
                                        </p:attrNameLst>
                                      </p:cBhvr>
                                      <p:to>
                                        <p:strVal val="visible"/>
                                      </p:to>
                                    </p:set>
                                    <p:animEffect transition="in" filter="wipe(left)">
                                      <p:cBhvr>
                                        <p:cTn id="71" dur="1100"/>
                                        <p:tgtEl>
                                          <p:spTgt spid="17"/>
                                        </p:tgtEl>
                                      </p:cBhvr>
                                    </p:animEffect>
                                  </p:childTnLst>
                                </p:cTn>
                              </p:par>
                            </p:childTnLst>
                          </p:cTn>
                        </p:par>
                        <p:par>
                          <p:cTn id="72" fill="hold">
                            <p:stCondLst>
                              <p:cond delay="4460"/>
                            </p:stCondLst>
                            <p:childTnLst>
                              <p:par>
                                <p:cTn id="73" presetID="10" presetClass="entr" presetSubtype="0" fill="hold" grpId="0" nodeType="afterEffect">
                                  <p:stCondLst>
                                    <p:cond delay="12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500"/>
                                        <p:tgtEl>
                                          <p:spTgt spid="1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8" grpId="0"/>
      <p:bldP spid="9" grpId="0" animBg="1"/>
      <p:bldP spid="10" grpId="0"/>
      <p:bldP spid="11" grpId="0" animBg="1"/>
      <p:bldP spid="12" grpId="0"/>
      <p:bldP spid="13" grpId="0" animBg="1"/>
      <p:bldP spid="14" grpId="0"/>
      <p:bldP spid="15" grpId="0" animBg="1"/>
      <p:bldP spid="16" grpId="0"/>
      <p:bldGraphic spid="17" grpId="0">
        <p:bldAsOne/>
      </p:bldGraphic>
      <p:bldP spid="18" grpId="0"/>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RAISING ACCURACY</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Combine sources, then let the data pick the best mix</a:t>
            </a:r>
            <a:endParaRPr lang="en-US" sz="3200" dirty="0"/>
          </a:p>
        </p:txBody>
      </p:sp>
      <p:sp>
        <p:nvSpPr>
          <p:cNvPr id="6" name="srcCard"/>
          <p:cNvSpPr/>
          <p:nvPr/>
        </p:nvSpPr>
        <p:spPr>
          <a:xfrm>
            <a:off x="548640" y="2057400"/>
            <a:ext cx="5257800" cy="3611880"/>
          </a:xfrm>
          <a:prstGeom prst="roundRect">
            <a:avLst>
              <a:gd name="adj" fmla="val 3038"/>
            </a:avLst>
          </a:prstGeom>
          <a:solidFill>
            <a:srgbClr val="141B36"/>
          </a:solidFill>
          <a:ln w="9525">
            <a:solidFill>
              <a:srgbClr val="2A3357"/>
            </a:solidFill>
            <a:prstDash val="solid"/>
          </a:ln>
        </p:spPr>
      </p:sp>
      <p:sp>
        <p:nvSpPr>
          <p:cNvPr id="7" name="srcK"/>
          <p:cNvSpPr txBox="1"/>
          <p:nvPr/>
        </p:nvSpPr>
        <p:spPr>
          <a:xfrm>
            <a:off x="777240" y="2194560"/>
            <a:ext cx="4846320" cy="274320"/>
          </a:xfrm>
          <a:prstGeom prst="rect">
            <a:avLst/>
          </a:prstGeom>
          <a:noFill/>
          <a:ln/>
        </p:spPr>
        <p:txBody>
          <a:bodyPr wrap="square" lIns="0" tIns="0" rIns="0" bIns="0" rtlCol="0" anchor="t"/>
          <a:lstStyle/>
          <a:p>
            <a:pPr indent="0" marL="0">
              <a:buNone/>
            </a:pPr>
            <a:r>
              <a:rPr lang="en-US" sz="1050" b="1" spc="200" kern="0" dirty="0">
                <a:solidFill>
                  <a:srgbClr val="F5A623"/>
                </a:solidFill>
                <a:latin typeface="Calibri" pitchFamily="34" charset="0"/>
                <a:ea typeface="Calibri" pitchFamily="34" charset="-122"/>
                <a:cs typeface="Calibri" pitchFamily="34" charset="-120"/>
              </a:rPr>
              <a:t>LAYER THE SOURCES, CHEAPEST FIRST</a:t>
            </a:r>
            <a:endParaRPr lang="en-US" sz="1050" dirty="0"/>
          </a:p>
        </p:txBody>
      </p:sp>
      <p:pic>
        <p:nvPicPr>
          <p:cNvPr id="8" name="srcI0" descr="preencoded.png">    </p:cNvPr>
          <p:cNvPicPr>
            <a:picLocks noChangeAspect="1"/>
          </p:cNvPicPr>
          <p:nvPr/>
        </p:nvPicPr>
        <p:blipFill>
          <a:blip r:embed="rId2"/>
          <a:stretch>
            <a:fillRect/>
          </a:stretch>
        </p:blipFill>
        <p:spPr>
          <a:xfrm>
            <a:off x="777240" y="2615184"/>
            <a:ext cx="292608" cy="292608"/>
          </a:xfrm>
          <a:prstGeom prst="rect">
            <a:avLst/>
          </a:prstGeom>
        </p:spPr>
      </p:pic>
      <p:sp>
        <p:nvSpPr>
          <p:cNvPr id="9" name="srcT0"/>
          <p:cNvSpPr txBox="1"/>
          <p:nvPr/>
        </p:nvSpPr>
        <p:spPr>
          <a:xfrm>
            <a:off x="1207008" y="2560320"/>
            <a:ext cx="324612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Jio microwave links</a:t>
            </a:r>
            <a:endParaRPr lang="en-US" sz="1400" dirty="0"/>
          </a:p>
        </p:txBody>
      </p:sp>
      <p:sp>
        <p:nvSpPr>
          <p:cNvPr id="10" name="srcP0"/>
          <p:cNvSpPr/>
          <p:nvPr/>
        </p:nvSpPr>
        <p:spPr>
          <a:xfrm>
            <a:off x="4572000" y="2624328"/>
            <a:ext cx="1051560" cy="292608"/>
          </a:xfrm>
          <a:prstGeom prst="roundRect">
            <a:avLst>
              <a:gd name="adj" fmla="val 25000"/>
            </a:avLst>
          </a:prstGeom>
          <a:solidFill>
            <a:srgbClr val="13253A"/>
          </a:solidFill>
          <a:ln w="9525">
            <a:solidFill>
              <a:srgbClr val="6FB3FF"/>
            </a:solidFill>
            <a:prstDash val="solid"/>
          </a:ln>
        </p:spPr>
      </p:sp>
      <p:sp>
        <p:nvSpPr>
          <p:cNvPr id="11" name="srcP0T"/>
          <p:cNvSpPr txBox="1"/>
          <p:nvPr/>
        </p:nvSpPr>
        <p:spPr>
          <a:xfrm>
            <a:off x="4572000" y="2624328"/>
            <a:ext cx="1051560" cy="292608"/>
          </a:xfrm>
          <a:prstGeom prst="rect">
            <a:avLst/>
          </a:prstGeom>
          <a:noFill/>
          <a:ln/>
        </p:spPr>
        <p:txBody>
          <a:bodyPr wrap="square" lIns="0" tIns="0" rIns="0" bIns="0" rtlCol="0" anchor="ctr"/>
          <a:lstStyle/>
          <a:p>
            <a:pPr algn="ctr" indent="0" marL="0">
              <a:buNone/>
            </a:pPr>
            <a:r>
              <a:rPr lang="en-US" sz="1050" b="1" dirty="0">
                <a:solidFill>
                  <a:srgbClr val="6FB3FF"/>
                </a:solidFill>
                <a:latin typeface="Calibri" pitchFamily="34" charset="0"/>
                <a:ea typeface="Calibri" pitchFamily="34" charset="-122"/>
                <a:cs typeface="Calibri" pitchFamily="34" charset="-120"/>
              </a:rPr>
              <a:t>Internal</a:t>
            </a:r>
            <a:endParaRPr lang="en-US" sz="1050" dirty="0"/>
          </a:p>
        </p:txBody>
      </p:sp>
      <p:pic>
        <p:nvPicPr>
          <p:cNvPr id="12" name="srcI1" descr="preencoded.png">    </p:cNvPr>
          <p:cNvPicPr>
            <a:picLocks noChangeAspect="1"/>
          </p:cNvPicPr>
          <p:nvPr/>
        </p:nvPicPr>
        <p:blipFill>
          <a:blip r:embed="rId3"/>
          <a:stretch>
            <a:fillRect/>
          </a:stretch>
        </p:blipFill>
        <p:spPr>
          <a:xfrm>
            <a:off x="777240" y="3118104"/>
            <a:ext cx="292608" cy="292608"/>
          </a:xfrm>
          <a:prstGeom prst="rect">
            <a:avLst/>
          </a:prstGeom>
        </p:spPr>
      </p:pic>
      <p:sp>
        <p:nvSpPr>
          <p:cNvPr id="13" name="srcT1"/>
          <p:cNvSpPr txBox="1"/>
          <p:nvPr/>
        </p:nvSpPr>
        <p:spPr>
          <a:xfrm>
            <a:off x="1207008" y="3063240"/>
            <a:ext cx="3246120" cy="411480"/>
          </a:xfrm>
          <a:prstGeom prst="rect">
            <a:avLst/>
          </a:prstGeom>
          <a:noFill/>
          <a:ln/>
        </p:spPr>
        <p:txBody>
          <a:bodyPr wrap="square" lIns="0" tIns="0" rIns="0" bIns="0" rtlCol="0" anchor="ctr"/>
          <a:lstStyle/>
          <a:p>
            <a:pPr indent="0" marL="0">
              <a:buNone/>
            </a:pPr>
            <a:r>
              <a:rPr lang="en-US" sz="1400" dirty="0">
                <a:solidFill>
                  <a:srgbClr val="EEF1F7"/>
                </a:solidFill>
                <a:latin typeface="Calibri" pitchFamily="34" charset="0"/>
                <a:ea typeface="Calibri" pitchFamily="34" charset="-122"/>
                <a:cs typeface="Calibri" pitchFamily="34" charset="-120"/>
              </a:rPr>
              <a:t>IMD Doppler radar</a:t>
            </a:r>
            <a:endParaRPr lang="en-US" sz="1400" dirty="0"/>
          </a:p>
        </p:txBody>
      </p:sp>
      <p:sp>
        <p:nvSpPr>
          <p:cNvPr id="14" name="srcP1"/>
          <p:cNvSpPr/>
          <p:nvPr/>
        </p:nvSpPr>
        <p:spPr>
          <a:xfrm>
            <a:off x="4572000" y="3127248"/>
            <a:ext cx="1051560" cy="292608"/>
          </a:xfrm>
          <a:prstGeom prst="roundRect">
            <a:avLst>
              <a:gd name="adj" fmla="val 25000"/>
            </a:avLst>
          </a:prstGeom>
          <a:solidFill>
            <a:srgbClr val="13253A"/>
          </a:solidFill>
          <a:ln w="9525">
            <a:solidFill>
              <a:srgbClr val="6FB3FF"/>
            </a:solidFill>
            <a:prstDash val="solid"/>
          </a:ln>
        </p:spPr>
      </p:sp>
      <p:sp>
        <p:nvSpPr>
          <p:cNvPr id="15" name="srcP1T"/>
          <p:cNvSpPr txBox="1"/>
          <p:nvPr/>
        </p:nvSpPr>
        <p:spPr>
          <a:xfrm>
            <a:off x="4572000" y="3127248"/>
            <a:ext cx="1051560" cy="292608"/>
          </a:xfrm>
          <a:prstGeom prst="rect">
            <a:avLst/>
          </a:prstGeom>
          <a:noFill/>
          <a:ln/>
        </p:spPr>
        <p:txBody>
          <a:bodyPr wrap="square" lIns="0" tIns="0" rIns="0" bIns="0" rtlCol="0" anchor="ctr"/>
          <a:lstStyle/>
          <a:p>
            <a:pPr algn="ctr" indent="0" marL="0">
              <a:buNone/>
            </a:pPr>
            <a:r>
              <a:rPr lang="en-US" sz="1050" b="1" dirty="0">
                <a:solidFill>
                  <a:srgbClr val="6FB3FF"/>
                </a:solidFill>
                <a:latin typeface="Calibri" pitchFamily="34" charset="0"/>
                <a:ea typeface="Calibri" pitchFamily="34" charset="-122"/>
                <a:cs typeface="Calibri" pitchFamily="34" charset="-120"/>
              </a:rPr>
              <a:t>Low cost</a:t>
            </a:r>
            <a:endParaRPr lang="en-US" sz="1050" dirty="0"/>
          </a:p>
        </p:txBody>
      </p:sp>
      <p:pic>
        <p:nvPicPr>
          <p:cNvPr id="16" name="srcI2" descr="preencoded.png">    </p:cNvPr>
          <p:cNvPicPr>
            <a:picLocks noChangeAspect="1"/>
          </p:cNvPicPr>
          <p:nvPr/>
        </p:nvPicPr>
        <p:blipFill>
          <a:blip r:embed="rId4"/>
          <a:stretch>
            <a:fillRect/>
          </a:stretch>
        </p:blipFill>
        <p:spPr>
          <a:xfrm>
            <a:off x="777240" y="3621024"/>
            <a:ext cx="292608" cy="292608"/>
          </a:xfrm>
          <a:prstGeom prst="rect">
            <a:avLst/>
          </a:prstGeom>
        </p:spPr>
      </p:pic>
      <p:sp>
        <p:nvSpPr>
          <p:cNvPr id="17" name="srcT2"/>
          <p:cNvSpPr txBox="1"/>
          <p:nvPr/>
        </p:nvSpPr>
        <p:spPr>
          <a:xfrm>
            <a:off x="1207008" y="3566160"/>
            <a:ext cx="3246120" cy="411480"/>
          </a:xfrm>
          <a:prstGeom prst="rect">
            <a:avLst/>
          </a:prstGeom>
          <a:noFill/>
          <a:ln/>
        </p:spPr>
        <p:txBody>
          <a:bodyPr wrap="square" lIns="0" tIns="0" rIns="0" bIns="0" rtlCol="0" anchor="ctr"/>
          <a:lstStyle/>
          <a:p>
            <a:pPr indent="0" marL="0">
              <a:buNone/>
            </a:pPr>
            <a:r>
              <a:rPr lang="en-US" sz="1400" dirty="0">
                <a:solidFill>
                  <a:srgbClr val="EEF1F7"/>
                </a:solidFill>
                <a:latin typeface="Calibri" pitchFamily="34" charset="0"/>
                <a:ea typeface="Calibri" pitchFamily="34" charset="-122"/>
                <a:cs typeface="Calibri" pitchFamily="34" charset="-120"/>
              </a:rPr>
              <a:t>IMD and BMC rain gauges</a:t>
            </a:r>
            <a:endParaRPr lang="en-US" sz="1400" dirty="0"/>
          </a:p>
        </p:txBody>
      </p:sp>
      <p:sp>
        <p:nvSpPr>
          <p:cNvPr id="18" name="srcP2"/>
          <p:cNvSpPr/>
          <p:nvPr/>
        </p:nvSpPr>
        <p:spPr>
          <a:xfrm>
            <a:off x="4572000" y="3630168"/>
            <a:ext cx="1051560" cy="292608"/>
          </a:xfrm>
          <a:prstGeom prst="roundRect">
            <a:avLst>
              <a:gd name="adj" fmla="val 25000"/>
            </a:avLst>
          </a:prstGeom>
          <a:solidFill>
            <a:srgbClr val="13253A"/>
          </a:solidFill>
          <a:ln w="9525">
            <a:solidFill>
              <a:srgbClr val="6FB3FF"/>
            </a:solidFill>
            <a:prstDash val="solid"/>
          </a:ln>
        </p:spPr>
      </p:sp>
      <p:sp>
        <p:nvSpPr>
          <p:cNvPr id="19" name="srcP2T"/>
          <p:cNvSpPr txBox="1"/>
          <p:nvPr/>
        </p:nvSpPr>
        <p:spPr>
          <a:xfrm>
            <a:off x="4572000" y="3630168"/>
            <a:ext cx="1051560" cy="292608"/>
          </a:xfrm>
          <a:prstGeom prst="rect">
            <a:avLst/>
          </a:prstGeom>
          <a:noFill/>
          <a:ln/>
        </p:spPr>
        <p:txBody>
          <a:bodyPr wrap="square" lIns="0" tIns="0" rIns="0" bIns="0" rtlCol="0" anchor="ctr"/>
          <a:lstStyle/>
          <a:p>
            <a:pPr algn="ctr" indent="0" marL="0">
              <a:buNone/>
            </a:pPr>
            <a:r>
              <a:rPr lang="en-US" sz="1050" b="1" dirty="0">
                <a:solidFill>
                  <a:srgbClr val="6FB3FF"/>
                </a:solidFill>
                <a:latin typeface="Calibri" pitchFamily="34" charset="0"/>
                <a:ea typeface="Calibri" pitchFamily="34" charset="-122"/>
                <a:cs typeface="Calibri" pitchFamily="34" charset="-120"/>
              </a:rPr>
              <a:t>Free / low</a:t>
            </a:r>
            <a:endParaRPr lang="en-US" sz="1050" dirty="0"/>
          </a:p>
        </p:txBody>
      </p:sp>
      <p:pic>
        <p:nvPicPr>
          <p:cNvPr id="20" name="srcI3" descr="preencoded.png">    </p:cNvPr>
          <p:cNvPicPr>
            <a:picLocks noChangeAspect="1"/>
          </p:cNvPicPr>
          <p:nvPr/>
        </p:nvPicPr>
        <p:blipFill>
          <a:blip r:embed="rId5"/>
          <a:stretch>
            <a:fillRect/>
          </a:stretch>
        </p:blipFill>
        <p:spPr>
          <a:xfrm>
            <a:off x="777240" y="4123944"/>
            <a:ext cx="292608" cy="292608"/>
          </a:xfrm>
          <a:prstGeom prst="rect">
            <a:avLst/>
          </a:prstGeom>
        </p:spPr>
      </p:pic>
      <p:sp>
        <p:nvSpPr>
          <p:cNvPr id="21" name="srcT3"/>
          <p:cNvSpPr txBox="1"/>
          <p:nvPr/>
        </p:nvSpPr>
        <p:spPr>
          <a:xfrm>
            <a:off x="1207008" y="4069080"/>
            <a:ext cx="3246120" cy="411480"/>
          </a:xfrm>
          <a:prstGeom prst="rect">
            <a:avLst/>
          </a:prstGeom>
          <a:noFill/>
          <a:ln/>
        </p:spPr>
        <p:txBody>
          <a:bodyPr wrap="square" lIns="0" tIns="0" rIns="0" bIns="0" rtlCol="0" anchor="ctr"/>
          <a:lstStyle/>
          <a:p>
            <a:pPr indent="0" marL="0">
              <a:buNone/>
            </a:pPr>
            <a:r>
              <a:rPr lang="en-US" sz="1400" dirty="0">
                <a:solidFill>
                  <a:srgbClr val="EEF1F7"/>
                </a:solidFill>
                <a:latin typeface="Calibri" pitchFamily="34" charset="0"/>
                <a:ea typeface="Calibri" pitchFamily="34" charset="-122"/>
                <a:cs typeface="Calibri" pitchFamily="34" charset="-120"/>
              </a:rPr>
              <a:t>Satellite (outage fallback)</a:t>
            </a:r>
            <a:endParaRPr lang="en-US" sz="1400" dirty="0"/>
          </a:p>
        </p:txBody>
      </p:sp>
      <p:sp>
        <p:nvSpPr>
          <p:cNvPr id="22" name="srcP3"/>
          <p:cNvSpPr/>
          <p:nvPr/>
        </p:nvSpPr>
        <p:spPr>
          <a:xfrm>
            <a:off x="4572000" y="4133088"/>
            <a:ext cx="1051560" cy="292608"/>
          </a:xfrm>
          <a:prstGeom prst="roundRect">
            <a:avLst>
              <a:gd name="adj" fmla="val 25000"/>
            </a:avLst>
          </a:prstGeom>
          <a:solidFill>
            <a:srgbClr val="13253A"/>
          </a:solidFill>
          <a:ln w="9525">
            <a:solidFill>
              <a:srgbClr val="6FB3FF"/>
            </a:solidFill>
            <a:prstDash val="solid"/>
          </a:ln>
        </p:spPr>
      </p:sp>
      <p:sp>
        <p:nvSpPr>
          <p:cNvPr id="23" name="srcP3T"/>
          <p:cNvSpPr txBox="1"/>
          <p:nvPr/>
        </p:nvSpPr>
        <p:spPr>
          <a:xfrm>
            <a:off x="4572000" y="4133088"/>
            <a:ext cx="1051560" cy="292608"/>
          </a:xfrm>
          <a:prstGeom prst="rect">
            <a:avLst/>
          </a:prstGeom>
          <a:noFill/>
          <a:ln/>
        </p:spPr>
        <p:txBody>
          <a:bodyPr wrap="square" lIns="0" tIns="0" rIns="0" bIns="0" rtlCol="0" anchor="ctr"/>
          <a:lstStyle/>
          <a:p>
            <a:pPr algn="ctr" indent="0" marL="0">
              <a:buNone/>
            </a:pPr>
            <a:r>
              <a:rPr lang="en-US" sz="1050" b="1" dirty="0">
                <a:solidFill>
                  <a:srgbClr val="6FB3FF"/>
                </a:solidFill>
                <a:latin typeface="Calibri" pitchFamily="34" charset="0"/>
                <a:ea typeface="Calibri" pitchFamily="34" charset="-122"/>
                <a:cs typeface="Calibri" pitchFamily="34" charset="-120"/>
              </a:rPr>
              <a:t>Free</a:t>
            </a:r>
            <a:endParaRPr lang="en-US" sz="1050" dirty="0"/>
          </a:p>
        </p:txBody>
      </p:sp>
      <p:pic>
        <p:nvPicPr>
          <p:cNvPr id="24" name="srcI4" descr="preencoded.png">    </p:cNvPr>
          <p:cNvPicPr>
            <a:picLocks noChangeAspect="1"/>
          </p:cNvPicPr>
          <p:nvPr/>
        </p:nvPicPr>
        <p:blipFill>
          <a:blip r:embed="rId6"/>
          <a:stretch>
            <a:fillRect/>
          </a:stretch>
        </p:blipFill>
        <p:spPr>
          <a:xfrm>
            <a:off x="777240" y="4626864"/>
            <a:ext cx="292608" cy="292608"/>
          </a:xfrm>
          <a:prstGeom prst="rect">
            <a:avLst/>
          </a:prstGeom>
        </p:spPr>
      </p:pic>
      <p:sp>
        <p:nvSpPr>
          <p:cNvPr id="25" name="srcT4"/>
          <p:cNvSpPr txBox="1"/>
          <p:nvPr/>
        </p:nvSpPr>
        <p:spPr>
          <a:xfrm>
            <a:off x="1207008" y="4572000"/>
            <a:ext cx="3246120" cy="411480"/>
          </a:xfrm>
          <a:prstGeom prst="rect">
            <a:avLst/>
          </a:prstGeom>
          <a:noFill/>
          <a:ln/>
        </p:spPr>
        <p:txBody>
          <a:bodyPr wrap="square" lIns="0" tIns="0" rIns="0" bIns="0" rtlCol="0" anchor="ctr"/>
          <a:lstStyle/>
          <a:p>
            <a:pPr indent="0" marL="0">
              <a:buNone/>
            </a:pPr>
            <a:r>
              <a:rPr lang="en-US" sz="1400" dirty="0">
                <a:solidFill>
                  <a:srgbClr val="EEF1F7"/>
                </a:solidFill>
                <a:latin typeface="Calibri" pitchFamily="34" charset="0"/>
                <a:ea typeface="Calibri" pitchFamily="34" charset="-122"/>
                <a:cs typeface="Calibri" pitchFamily="34" charset="-120"/>
              </a:rPr>
              <a:t>New gauges on Jio sites, where links are thin</a:t>
            </a:r>
            <a:endParaRPr lang="en-US" sz="1400" dirty="0"/>
          </a:p>
        </p:txBody>
      </p:sp>
      <p:sp>
        <p:nvSpPr>
          <p:cNvPr id="26" name="srcP4"/>
          <p:cNvSpPr/>
          <p:nvPr/>
        </p:nvSpPr>
        <p:spPr>
          <a:xfrm>
            <a:off x="4572000" y="4636008"/>
            <a:ext cx="1051560" cy="292608"/>
          </a:xfrm>
          <a:prstGeom prst="roundRect">
            <a:avLst>
              <a:gd name="adj" fmla="val 25000"/>
            </a:avLst>
          </a:prstGeom>
          <a:solidFill>
            <a:srgbClr val="2B2208"/>
          </a:solidFill>
          <a:ln w="9525">
            <a:solidFill>
              <a:srgbClr val="F5A623"/>
            </a:solidFill>
            <a:prstDash val="solid"/>
          </a:ln>
        </p:spPr>
      </p:sp>
      <p:sp>
        <p:nvSpPr>
          <p:cNvPr id="27" name="srcP4T"/>
          <p:cNvSpPr txBox="1"/>
          <p:nvPr/>
        </p:nvSpPr>
        <p:spPr>
          <a:xfrm>
            <a:off x="4572000" y="4636008"/>
            <a:ext cx="1051560" cy="292608"/>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Capex</a:t>
            </a:r>
            <a:endParaRPr lang="en-US" sz="1050" dirty="0"/>
          </a:p>
        </p:txBody>
      </p:sp>
      <p:pic>
        <p:nvPicPr>
          <p:cNvPr id="28" name="srcI5" descr="preencoded.png">    </p:cNvPr>
          <p:cNvPicPr>
            <a:picLocks noChangeAspect="1"/>
          </p:cNvPicPr>
          <p:nvPr/>
        </p:nvPicPr>
        <p:blipFill>
          <a:blip r:embed="rId7"/>
          <a:stretch>
            <a:fillRect/>
          </a:stretch>
        </p:blipFill>
        <p:spPr>
          <a:xfrm>
            <a:off x="777240" y="5129784"/>
            <a:ext cx="292608" cy="292608"/>
          </a:xfrm>
          <a:prstGeom prst="rect">
            <a:avLst/>
          </a:prstGeom>
        </p:spPr>
      </p:pic>
      <p:sp>
        <p:nvSpPr>
          <p:cNvPr id="29" name="srcT5"/>
          <p:cNvSpPr txBox="1"/>
          <p:nvPr/>
        </p:nvSpPr>
        <p:spPr>
          <a:xfrm>
            <a:off x="1207008" y="5074920"/>
            <a:ext cx="3246120" cy="411480"/>
          </a:xfrm>
          <a:prstGeom prst="rect">
            <a:avLst/>
          </a:prstGeom>
          <a:noFill/>
          <a:ln/>
        </p:spPr>
        <p:txBody>
          <a:bodyPr wrap="square" lIns="0" tIns="0" rIns="0" bIns="0" rtlCol="0" anchor="ctr"/>
          <a:lstStyle/>
          <a:p>
            <a:pPr indent="0" marL="0">
              <a:buNone/>
            </a:pPr>
            <a:r>
              <a:rPr lang="en-US" sz="1400" dirty="0">
                <a:solidFill>
                  <a:srgbClr val="EEF1F7"/>
                </a:solidFill>
                <a:latin typeface="Calibri" pitchFamily="34" charset="0"/>
                <a:ea typeface="Calibri" pitchFamily="34" charset="-122"/>
                <a:cs typeface="Calibri" pitchFamily="34" charset="-120"/>
              </a:rPr>
              <a:t>Commercial weather data, only for gaps</a:t>
            </a:r>
            <a:endParaRPr lang="en-US" sz="1400" dirty="0"/>
          </a:p>
        </p:txBody>
      </p:sp>
      <p:sp>
        <p:nvSpPr>
          <p:cNvPr id="30" name="srcP5"/>
          <p:cNvSpPr/>
          <p:nvPr/>
        </p:nvSpPr>
        <p:spPr>
          <a:xfrm>
            <a:off x="4572000" y="5138928"/>
            <a:ext cx="1051560" cy="292608"/>
          </a:xfrm>
          <a:prstGeom prst="roundRect">
            <a:avLst>
              <a:gd name="adj" fmla="val 25000"/>
            </a:avLst>
          </a:prstGeom>
          <a:solidFill>
            <a:srgbClr val="2B2208"/>
          </a:solidFill>
          <a:ln w="9525">
            <a:solidFill>
              <a:srgbClr val="F5A623"/>
            </a:solidFill>
            <a:prstDash val="solid"/>
          </a:ln>
        </p:spPr>
      </p:sp>
      <p:sp>
        <p:nvSpPr>
          <p:cNvPr id="31" name="srcP5T"/>
          <p:cNvSpPr txBox="1"/>
          <p:nvPr/>
        </p:nvSpPr>
        <p:spPr>
          <a:xfrm>
            <a:off x="4572000" y="5138928"/>
            <a:ext cx="1051560" cy="292608"/>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Paid</a:t>
            </a:r>
            <a:endParaRPr lang="en-US" sz="1050" dirty="0"/>
          </a:p>
        </p:txBody>
      </p:sp>
      <p:sp>
        <p:nvSpPr>
          <p:cNvPr id="32" name="mixCard"/>
          <p:cNvSpPr/>
          <p:nvPr/>
        </p:nvSpPr>
        <p:spPr>
          <a:xfrm>
            <a:off x="6080760" y="2057400"/>
            <a:ext cx="5562295" cy="3611880"/>
          </a:xfrm>
          <a:prstGeom prst="roundRect">
            <a:avLst>
              <a:gd name="adj" fmla="val 3038"/>
            </a:avLst>
          </a:prstGeom>
          <a:solidFill>
            <a:srgbClr val="1C2447"/>
          </a:solidFill>
          <a:ln w="15875">
            <a:solidFill>
              <a:srgbClr val="F5A623"/>
            </a:solidFill>
            <a:prstDash val="solid"/>
          </a:ln>
        </p:spPr>
      </p:sp>
      <p:sp>
        <p:nvSpPr>
          <p:cNvPr id="33" name="mixK"/>
          <p:cNvSpPr txBox="1"/>
          <p:nvPr/>
        </p:nvSpPr>
        <p:spPr>
          <a:xfrm>
            <a:off x="6309360" y="2194560"/>
            <a:ext cx="5105095" cy="274320"/>
          </a:xfrm>
          <a:prstGeom prst="rect">
            <a:avLst/>
          </a:prstGeom>
          <a:noFill/>
          <a:ln/>
        </p:spPr>
        <p:txBody>
          <a:bodyPr wrap="square" lIns="0" tIns="0" rIns="0" bIns="0" rtlCol="0" anchor="t"/>
          <a:lstStyle/>
          <a:p>
            <a:pPr indent="0" marL="0">
              <a:buNone/>
            </a:pPr>
            <a:r>
              <a:rPr lang="en-US" sz="1050" b="1" spc="200" kern="0" dirty="0">
                <a:solidFill>
                  <a:srgbClr val="F5A623"/>
                </a:solidFill>
                <a:latin typeface="Calibri" pitchFamily="34" charset="0"/>
                <a:ea typeface="Calibri" pitchFamily="34" charset="-122"/>
                <a:cs typeface="Calibri" pitchFamily="34" charset="-120"/>
              </a:rPr>
              <a:t>THE PILOT SCORES EVERY MIX AGAINST HIDDEN RAIN GAUGES</a:t>
            </a:r>
            <a:endParaRPr lang="en-US" sz="1050" dirty="0"/>
          </a:p>
        </p:txBody>
      </p:sp>
      <p:sp>
        <p:nvSpPr>
          <p:cNvPr id="34" name="mixL0"/>
          <p:cNvSpPr txBox="1"/>
          <p:nvPr/>
        </p:nvSpPr>
        <p:spPr>
          <a:xfrm>
            <a:off x="6309360" y="2606040"/>
            <a:ext cx="1783080" cy="384048"/>
          </a:xfrm>
          <a:prstGeom prst="rect">
            <a:avLst/>
          </a:prstGeom>
          <a:noFill/>
          <a:ln/>
        </p:spPr>
        <p:txBody>
          <a:bodyPr wrap="square" lIns="0" tIns="0" rIns="0" bIns="0" rtlCol="0" anchor="ctr"/>
          <a:lstStyle/>
          <a:p>
            <a:pPr indent="0" marL="0">
              <a:buNone/>
            </a:pPr>
            <a:r>
              <a:rPr lang="en-US" sz="1300" dirty="0">
                <a:solidFill>
                  <a:srgbClr val="EEF1F7"/>
                </a:solidFill>
                <a:latin typeface="Calibri" pitchFamily="34" charset="0"/>
                <a:ea typeface="Calibri" pitchFamily="34" charset="-122"/>
                <a:cs typeface="Calibri" pitchFamily="34" charset="-120"/>
              </a:rPr>
              <a:t>Links only</a:t>
            </a:r>
            <a:endParaRPr lang="en-US" sz="1300" dirty="0"/>
          </a:p>
        </p:txBody>
      </p:sp>
      <p:sp>
        <p:nvSpPr>
          <p:cNvPr id="35" name="mixB0"/>
          <p:cNvSpPr/>
          <p:nvPr/>
        </p:nvSpPr>
        <p:spPr>
          <a:xfrm>
            <a:off x="8138160" y="2670048"/>
            <a:ext cx="3230575" cy="256032"/>
          </a:xfrm>
          <a:prstGeom prst="roundRect">
            <a:avLst>
              <a:gd name="adj" fmla="val 21429"/>
            </a:avLst>
          </a:prstGeom>
          <a:solidFill>
            <a:srgbClr val="10162C"/>
          </a:solidFill>
          <a:ln w="9525">
            <a:solidFill>
              <a:srgbClr val="3A4570"/>
            </a:solidFill>
            <a:prstDash val="solid"/>
          </a:ln>
        </p:spPr>
      </p:sp>
      <p:sp>
        <p:nvSpPr>
          <p:cNvPr id="36" name="mixF0"/>
          <p:cNvSpPr/>
          <p:nvPr/>
        </p:nvSpPr>
        <p:spPr>
          <a:xfrm>
            <a:off x="8138160" y="2670048"/>
            <a:ext cx="2196791" cy="256032"/>
          </a:xfrm>
          <a:prstGeom prst="roundRect">
            <a:avLst>
              <a:gd name="adj" fmla="val 21429"/>
            </a:avLst>
          </a:prstGeom>
          <a:solidFill>
            <a:srgbClr val="3987E5"/>
          </a:solidFill>
          <a:ln w="12700">
            <a:solidFill>
              <a:srgbClr val="3987E5"/>
            </a:solidFill>
            <a:prstDash val="solid"/>
          </a:ln>
        </p:spPr>
      </p:sp>
      <p:sp>
        <p:nvSpPr>
          <p:cNvPr id="37" name="mixV0"/>
          <p:cNvSpPr txBox="1"/>
          <p:nvPr/>
        </p:nvSpPr>
        <p:spPr>
          <a:xfrm>
            <a:off x="8247888" y="2670048"/>
            <a:ext cx="3047695"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German test: 68%</a:t>
            </a:r>
            <a:endParaRPr lang="en-US" sz="1100" dirty="0"/>
          </a:p>
        </p:txBody>
      </p:sp>
      <p:sp>
        <p:nvSpPr>
          <p:cNvPr id="38" name="mixL1"/>
          <p:cNvSpPr txBox="1"/>
          <p:nvPr/>
        </p:nvSpPr>
        <p:spPr>
          <a:xfrm>
            <a:off x="6309360" y="3136392"/>
            <a:ext cx="1783080" cy="384048"/>
          </a:xfrm>
          <a:prstGeom prst="rect">
            <a:avLst/>
          </a:prstGeom>
          <a:noFill/>
          <a:ln/>
        </p:spPr>
        <p:txBody>
          <a:bodyPr wrap="square" lIns="0" tIns="0" rIns="0" bIns="0" rtlCol="0" anchor="ctr"/>
          <a:lstStyle/>
          <a:p>
            <a:pPr indent="0" marL="0">
              <a:buNone/>
            </a:pPr>
            <a:r>
              <a:rPr lang="en-US" sz="1300" dirty="0">
                <a:solidFill>
                  <a:srgbClr val="EEF1F7"/>
                </a:solidFill>
                <a:latin typeface="Calibri" pitchFamily="34" charset="0"/>
                <a:ea typeface="Calibri" pitchFamily="34" charset="-122"/>
                <a:cs typeface="Calibri" pitchFamily="34" charset="-120"/>
              </a:rPr>
              <a:t>Links + radar</a:t>
            </a:r>
            <a:endParaRPr lang="en-US" sz="1300" dirty="0"/>
          </a:p>
        </p:txBody>
      </p:sp>
      <p:sp>
        <p:nvSpPr>
          <p:cNvPr id="39" name="mixB1"/>
          <p:cNvSpPr/>
          <p:nvPr/>
        </p:nvSpPr>
        <p:spPr>
          <a:xfrm>
            <a:off x="8138160" y="3200400"/>
            <a:ext cx="3230575" cy="256032"/>
          </a:xfrm>
          <a:prstGeom prst="roundRect">
            <a:avLst>
              <a:gd name="adj" fmla="val 21429"/>
            </a:avLst>
          </a:prstGeom>
          <a:solidFill>
            <a:srgbClr val="10162C"/>
          </a:solidFill>
          <a:ln w="9525">
            <a:solidFill>
              <a:srgbClr val="3A4570"/>
            </a:solidFill>
            <a:prstDash val="dash"/>
          </a:ln>
        </p:spPr>
      </p:sp>
      <p:sp>
        <p:nvSpPr>
          <p:cNvPr id="40" name="mixV1"/>
          <p:cNvSpPr txBox="1"/>
          <p:nvPr/>
        </p:nvSpPr>
        <p:spPr>
          <a:xfrm>
            <a:off x="8247888" y="3200400"/>
            <a:ext cx="3047695" cy="256032"/>
          </a:xfrm>
          <a:prstGeom prst="rect">
            <a:avLst/>
          </a:prstGeom>
          <a:noFill/>
          <a:ln/>
        </p:spPr>
        <p:txBody>
          <a:bodyPr wrap="square" lIns="0" tIns="0" rIns="0" bIns="0" rtlCol="0" anchor="ctr"/>
          <a:lstStyle/>
          <a:p>
            <a:pPr indent="0" marL="0">
              <a:buNone/>
            </a:pPr>
            <a:r>
              <a:rPr lang="en-US" sz="1100" dirty="0">
                <a:solidFill>
                  <a:srgbClr val="98A2C0"/>
                </a:solidFill>
                <a:latin typeface="Calibri" pitchFamily="34" charset="0"/>
                <a:ea typeface="Calibri" pitchFamily="34" charset="-122"/>
                <a:cs typeface="Calibri" pitchFamily="34" charset="-120"/>
              </a:rPr>
              <a:t>measured in the pilot</a:t>
            </a:r>
            <a:endParaRPr lang="en-US" sz="1100" dirty="0"/>
          </a:p>
        </p:txBody>
      </p:sp>
      <p:sp>
        <p:nvSpPr>
          <p:cNvPr id="41" name="mixL2"/>
          <p:cNvSpPr txBox="1"/>
          <p:nvPr/>
        </p:nvSpPr>
        <p:spPr>
          <a:xfrm>
            <a:off x="6309360" y="3666744"/>
            <a:ext cx="1783080" cy="384048"/>
          </a:xfrm>
          <a:prstGeom prst="rect">
            <a:avLst/>
          </a:prstGeom>
          <a:noFill/>
          <a:ln/>
        </p:spPr>
        <p:txBody>
          <a:bodyPr wrap="square" lIns="0" tIns="0" rIns="0" bIns="0" rtlCol="0" anchor="ctr"/>
          <a:lstStyle/>
          <a:p>
            <a:pPr indent="0" marL="0">
              <a:buNone/>
            </a:pPr>
            <a:r>
              <a:rPr lang="en-US" sz="1300" dirty="0">
                <a:solidFill>
                  <a:srgbClr val="EEF1F7"/>
                </a:solidFill>
                <a:latin typeface="Calibri" pitchFamily="34" charset="0"/>
                <a:ea typeface="Calibri" pitchFamily="34" charset="-122"/>
                <a:cs typeface="Calibri" pitchFamily="34" charset="-120"/>
              </a:rPr>
              <a:t>Links + radar + gauges</a:t>
            </a:r>
            <a:endParaRPr lang="en-US" sz="1300" dirty="0"/>
          </a:p>
        </p:txBody>
      </p:sp>
      <p:sp>
        <p:nvSpPr>
          <p:cNvPr id="42" name="mixB2"/>
          <p:cNvSpPr/>
          <p:nvPr/>
        </p:nvSpPr>
        <p:spPr>
          <a:xfrm>
            <a:off x="8138160" y="3730752"/>
            <a:ext cx="3230575" cy="256032"/>
          </a:xfrm>
          <a:prstGeom prst="roundRect">
            <a:avLst>
              <a:gd name="adj" fmla="val 21429"/>
            </a:avLst>
          </a:prstGeom>
          <a:solidFill>
            <a:srgbClr val="10162C"/>
          </a:solidFill>
          <a:ln w="9525">
            <a:solidFill>
              <a:srgbClr val="3A4570"/>
            </a:solidFill>
            <a:prstDash val="dash"/>
          </a:ln>
        </p:spPr>
      </p:sp>
      <p:sp>
        <p:nvSpPr>
          <p:cNvPr id="43" name="mixV2"/>
          <p:cNvSpPr txBox="1"/>
          <p:nvPr/>
        </p:nvSpPr>
        <p:spPr>
          <a:xfrm>
            <a:off x="8247888" y="3730752"/>
            <a:ext cx="3047695" cy="256032"/>
          </a:xfrm>
          <a:prstGeom prst="rect">
            <a:avLst/>
          </a:prstGeom>
          <a:noFill/>
          <a:ln/>
        </p:spPr>
        <p:txBody>
          <a:bodyPr wrap="square" lIns="0" tIns="0" rIns="0" bIns="0" rtlCol="0" anchor="ctr"/>
          <a:lstStyle/>
          <a:p>
            <a:pPr indent="0" marL="0">
              <a:buNone/>
            </a:pPr>
            <a:r>
              <a:rPr lang="en-US" sz="1100" dirty="0">
                <a:solidFill>
                  <a:srgbClr val="98A2C0"/>
                </a:solidFill>
                <a:latin typeface="Calibri" pitchFamily="34" charset="0"/>
                <a:ea typeface="Calibri" pitchFamily="34" charset="-122"/>
                <a:cs typeface="Calibri" pitchFamily="34" charset="-120"/>
              </a:rPr>
              <a:t>measured in the pilot</a:t>
            </a:r>
            <a:endParaRPr lang="en-US" sz="1100" dirty="0"/>
          </a:p>
        </p:txBody>
      </p:sp>
      <p:sp>
        <p:nvSpPr>
          <p:cNvPr id="44" name="mixL3"/>
          <p:cNvSpPr txBox="1"/>
          <p:nvPr/>
        </p:nvSpPr>
        <p:spPr>
          <a:xfrm>
            <a:off x="6309360" y="4197096"/>
            <a:ext cx="1783080" cy="384048"/>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Radar + gauges, no links</a:t>
            </a:r>
            <a:endParaRPr lang="en-US" sz="1300" dirty="0"/>
          </a:p>
        </p:txBody>
      </p:sp>
      <p:sp>
        <p:nvSpPr>
          <p:cNvPr id="45" name="mixB3"/>
          <p:cNvSpPr/>
          <p:nvPr/>
        </p:nvSpPr>
        <p:spPr>
          <a:xfrm>
            <a:off x="8138160" y="4261104"/>
            <a:ext cx="3230575" cy="256032"/>
          </a:xfrm>
          <a:prstGeom prst="roundRect">
            <a:avLst>
              <a:gd name="adj" fmla="val 21429"/>
            </a:avLst>
          </a:prstGeom>
          <a:solidFill>
            <a:srgbClr val="10162C"/>
          </a:solidFill>
          <a:ln w="9525">
            <a:solidFill>
              <a:srgbClr val="3A4570"/>
            </a:solidFill>
            <a:prstDash val="dash"/>
          </a:ln>
        </p:spPr>
      </p:sp>
      <p:sp>
        <p:nvSpPr>
          <p:cNvPr id="46" name="mixV3"/>
          <p:cNvSpPr txBox="1"/>
          <p:nvPr/>
        </p:nvSpPr>
        <p:spPr>
          <a:xfrm>
            <a:off x="8247888" y="4261104"/>
            <a:ext cx="3047695" cy="256032"/>
          </a:xfrm>
          <a:prstGeom prst="rect">
            <a:avLst/>
          </a:prstGeom>
          <a:noFill/>
          <a:ln/>
        </p:spPr>
        <p:txBody>
          <a:bodyPr wrap="square" lIns="0" tIns="0" rIns="0" bIns="0" rtlCol="0" anchor="ctr"/>
          <a:lstStyle/>
          <a:p>
            <a:pPr indent="0" marL="0">
              <a:buNone/>
            </a:pPr>
            <a:r>
              <a:rPr lang="en-US" sz="1100" dirty="0">
                <a:solidFill>
                  <a:srgbClr val="98A2C0"/>
                </a:solidFill>
                <a:latin typeface="Calibri" pitchFamily="34" charset="0"/>
                <a:ea typeface="Calibri" pitchFamily="34" charset="-122"/>
                <a:cs typeface="Calibri" pitchFamily="34" charset="-120"/>
              </a:rPr>
              <a:t>shows what Jio adds</a:t>
            </a:r>
            <a:endParaRPr lang="en-US" sz="1100" dirty="0"/>
          </a:p>
        </p:txBody>
      </p:sp>
      <p:sp>
        <p:nvSpPr>
          <p:cNvPr id="47" name="mixL4"/>
          <p:cNvSpPr txBox="1"/>
          <p:nvPr/>
        </p:nvSpPr>
        <p:spPr>
          <a:xfrm>
            <a:off x="6309360" y="4727448"/>
            <a:ext cx="1783080" cy="384048"/>
          </a:xfrm>
          <a:prstGeom prst="rect">
            <a:avLst/>
          </a:prstGeom>
          <a:noFill/>
          <a:ln/>
        </p:spPr>
        <p:txBody>
          <a:bodyPr wrap="square" lIns="0" tIns="0" rIns="0" bIns="0" rtlCol="0" anchor="ctr"/>
          <a:lstStyle/>
          <a:p>
            <a:pPr indent="0" marL="0">
              <a:buNone/>
            </a:pPr>
            <a:r>
              <a:rPr lang="en-US" sz="1300" dirty="0">
                <a:solidFill>
                  <a:srgbClr val="EEF1F7"/>
                </a:solidFill>
                <a:latin typeface="Calibri" pitchFamily="34" charset="0"/>
                <a:ea typeface="Calibri" pitchFamily="34" charset="-122"/>
                <a:cs typeface="Calibri" pitchFamily="34" charset="-120"/>
              </a:rPr>
              <a:t>+ paid data</a:t>
            </a:r>
            <a:endParaRPr lang="en-US" sz="1300" dirty="0"/>
          </a:p>
        </p:txBody>
      </p:sp>
      <p:sp>
        <p:nvSpPr>
          <p:cNvPr id="48" name="mixB4"/>
          <p:cNvSpPr/>
          <p:nvPr/>
        </p:nvSpPr>
        <p:spPr>
          <a:xfrm>
            <a:off x="8138160" y="4791456"/>
            <a:ext cx="3230575" cy="256032"/>
          </a:xfrm>
          <a:prstGeom prst="roundRect">
            <a:avLst>
              <a:gd name="adj" fmla="val 21429"/>
            </a:avLst>
          </a:prstGeom>
          <a:solidFill>
            <a:srgbClr val="10162C"/>
          </a:solidFill>
          <a:ln w="9525">
            <a:solidFill>
              <a:srgbClr val="3A4570"/>
            </a:solidFill>
            <a:prstDash val="dash"/>
          </a:ln>
        </p:spPr>
      </p:sp>
      <p:sp>
        <p:nvSpPr>
          <p:cNvPr id="49" name="mixV4"/>
          <p:cNvSpPr txBox="1"/>
          <p:nvPr/>
        </p:nvSpPr>
        <p:spPr>
          <a:xfrm>
            <a:off x="8247888" y="4791456"/>
            <a:ext cx="3047695" cy="256032"/>
          </a:xfrm>
          <a:prstGeom prst="rect">
            <a:avLst/>
          </a:prstGeom>
          <a:noFill/>
          <a:ln/>
        </p:spPr>
        <p:txBody>
          <a:bodyPr wrap="square" lIns="0" tIns="0" rIns="0" bIns="0" rtlCol="0" anchor="ctr"/>
          <a:lstStyle/>
          <a:p>
            <a:pPr indent="0" marL="0">
              <a:buNone/>
            </a:pPr>
            <a:r>
              <a:rPr lang="en-US" sz="1100" dirty="0">
                <a:solidFill>
                  <a:srgbClr val="98A2C0"/>
                </a:solidFill>
                <a:latin typeface="Calibri" pitchFamily="34" charset="0"/>
                <a:ea typeface="Calibri" pitchFamily="34" charset="-122"/>
                <a:cs typeface="Calibri" pitchFamily="34" charset="-120"/>
              </a:rPr>
              <a:t>measured in the pilot</a:t>
            </a:r>
            <a:endParaRPr lang="en-US" sz="1100" dirty="0"/>
          </a:p>
        </p:txBody>
      </p:sp>
      <p:sp>
        <p:nvSpPr>
          <p:cNvPr id="50" name="tgtLine"/>
          <p:cNvSpPr/>
          <p:nvPr/>
        </p:nvSpPr>
        <p:spPr>
          <a:xfrm>
            <a:off x="10722620" y="2560320"/>
            <a:ext cx="0" cy="2651760"/>
          </a:xfrm>
          <a:prstGeom prst="line">
            <a:avLst/>
          </a:prstGeom>
          <a:noFill/>
          <a:ln w="22225">
            <a:solidFill>
              <a:srgbClr val="1BAF7A"/>
            </a:solidFill>
            <a:prstDash val="dash"/>
          </a:ln>
        </p:spPr>
      </p:sp>
      <p:sp>
        <p:nvSpPr>
          <p:cNvPr id="51" name="tgtLab"/>
          <p:cNvSpPr txBox="1"/>
          <p:nvPr/>
        </p:nvSpPr>
        <p:spPr>
          <a:xfrm>
            <a:off x="10173980" y="5212080"/>
            <a:ext cx="1097280" cy="256032"/>
          </a:xfrm>
          <a:prstGeom prst="rect">
            <a:avLst/>
          </a:prstGeom>
          <a:noFill/>
          <a:ln/>
        </p:spPr>
        <p:txBody>
          <a:bodyPr wrap="square" lIns="0" tIns="0" rIns="0" bIns="0" rtlCol="0" anchor="t"/>
          <a:lstStyle/>
          <a:p>
            <a:pPr algn="ctr" indent="0" marL="0">
              <a:buNone/>
            </a:pPr>
            <a:r>
              <a:rPr lang="en-US" sz="1150" b="1" dirty="0">
                <a:solidFill>
                  <a:srgbClr val="1BAF7A"/>
                </a:solidFill>
                <a:latin typeface="Calibri" pitchFamily="34" charset="0"/>
                <a:ea typeface="Calibri" pitchFamily="34" charset="-122"/>
                <a:cs typeface="Calibri" pitchFamily="34" charset="-120"/>
              </a:rPr>
              <a:t>target 80%</a:t>
            </a:r>
            <a:endParaRPr lang="en-US" sz="1150" dirty="0"/>
          </a:p>
        </p:txBody>
      </p:sp>
      <p:sp>
        <p:nvSpPr>
          <p:cNvPr id="52" name="rule"/>
          <p:cNvSpPr txBox="1"/>
          <p:nvPr/>
        </p:nvSpPr>
        <p:spPr>
          <a:xfrm>
            <a:off x="548640" y="5760720"/>
            <a:ext cx="11094415" cy="320040"/>
          </a:xfrm>
          <a:prstGeom prst="rect">
            <a:avLst/>
          </a:prstGeom>
          <a:noFill/>
          <a:ln/>
        </p:spPr>
        <p:txBody>
          <a:bodyPr wrap="square" lIns="0" tIns="0" rIns="0" bIns="0" rtlCol="0" anchor="t"/>
          <a:lstStyle/>
          <a:p>
            <a:pPr indent="0" marL="0">
              <a:buNone/>
            </a:pPr>
            <a:r>
              <a:rPr lang="en-US" sz="1400" dirty="0">
                <a:solidFill>
                  <a:srgbClr val="B9C2D8"/>
                </a:solidFill>
                <a:latin typeface="Calibri" pitchFamily="34" charset="0"/>
                <a:ea typeface="Calibri" pitchFamily="34" charset="-122"/>
                <a:cs typeface="Calibri" pitchFamily="34" charset="-120"/>
              </a:rPr>
              <a:t>A paid source joins only if it lifts accuracy enough per rupee.</a:t>
            </a:r>
            <a:endParaRPr lang="en-US" sz="1400" dirty="0"/>
          </a:p>
        </p:txBody>
      </p:sp>
      <p:sp>
        <p:nvSpPr>
          <p:cNvPr id="53" name="takeaway"/>
          <p:cNvSpPr txBox="1"/>
          <p:nvPr/>
        </p:nvSpPr>
        <p:spPr>
          <a:xfrm>
            <a:off x="548640" y="6108192"/>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The pilot ends with a cost-versus-accuracy answer: exactly what to scale.</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21"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10" presetClass="entr" presetSubtype="0" fill="hold" grpId="0" nodeType="afterEffect">
                                  <p:stCondLst>
                                    <p:cond delay="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par>
                          <p:cTn id="19" fill="hold">
                            <p:stCondLst>
                              <p:cond delay="1200"/>
                            </p:stCondLst>
                            <p:childTnLst>
                              <p:par>
                                <p:cTn id="20" presetID="42" presetClass="entr" presetSubtype="0" fill="hold" grpId="0" nodeType="afterEffect">
                                  <p:stCondLst>
                                    <p:cond delay="2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300"/>
                                        <p:tgtEl>
                                          <p:spTgt spid="8"/>
                                        </p:tgtEl>
                                      </p:cBhvr>
                                    </p:animEffect>
                                    <p:anim calcmode="lin" valueType="num">
                                      <p:cBhvr>
                                        <p:cTn id="23" dur="300" fill="hold"/>
                                        <p:tgtEl>
                                          <p:spTgt spid="8"/>
                                        </p:tgtEl>
                                        <p:attrNameLst>
                                          <p:attrName>ppt_x</p:attrName>
                                        </p:attrNameLst>
                                      </p:cBhvr>
                                      <p:tavLst>
                                        <p:tav tm="0">
                                          <p:val>
                                            <p:strVal val="#ppt_x"/>
                                          </p:val>
                                        </p:tav>
                                        <p:tav tm="100000">
                                          <p:val>
                                            <p:strVal val="#ppt_x"/>
                                          </p:val>
                                        </p:tav>
                                      </p:tavLst>
                                    </p:anim>
                                    <p:anim calcmode="lin" valueType="num">
                                      <p:cBhvr>
                                        <p:cTn id="24" dur="300" fill="hold"/>
                                        <p:tgtEl>
                                          <p:spTgt spid="8"/>
                                        </p:tgtEl>
                                        <p:attrNameLst>
                                          <p:attrName>ppt_y</p:attrName>
                                        </p:attrNameLst>
                                      </p:cBhvr>
                                      <p:tavLst>
                                        <p:tav tm="0">
                                          <p:val>
                                            <p:strVal val="#ppt_y+.06"/>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anim calcmode="lin" valueType="num">
                                      <p:cBhvr>
                                        <p:cTn id="28" dur="300" fill="hold"/>
                                        <p:tgtEl>
                                          <p:spTgt spid="9"/>
                                        </p:tgtEl>
                                        <p:attrNameLst>
                                          <p:attrName>ppt_x</p:attrName>
                                        </p:attrNameLst>
                                      </p:cBhvr>
                                      <p:tavLst>
                                        <p:tav tm="0">
                                          <p:val>
                                            <p:strVal val="#ppt_x"/>
                                          </p:val>
                                        </p:tav>
                                        <p:tav tm="100000">
                                          <p:val>
                                            <p:strVal val="#ppt_x"/>
                                          </p:val>
                                        </p:tav>
                                      </p:tavLst>
                                    </p:anim>
                                    <p:anim calcmode="lin" valueType="num">
                                      <p:cBhvr>
                                        <p:cTn id="29" dur="300" fill="hold"/>
                                        <p:tgtEl>
                                          <p:spTgt spid="9"/>
                                        </p:tgtEl>
                                        <p:attrNameLst>
                                          <p:attrName>ppt_y</p:attrName>
                                        </p:attrNameLst>
                                      </p:cBhvr>
                                      <p:tavLst>
                                        <p:tav tm="0">
                                          <p:val>
                                            <p:strVal val="#ppt_y+.06"/>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300"/>
                                        <p:tgtEl>
                                          <p:spTgt spid="10"/>
                                        </p:tgtEl>
                                      </p:cBhvr>
                                    </p:animEffect>
                                    <p:anim calcmode="lin" valueType="num">
                                      <p:cBhvr>
                                        <p:cTn id="33" dur="300" fill="hold"/>
                                        <p:tgtEl>
                                          <p:spTgt spid="10"/>
                                        </p:tgtEl>
                                        <p:attrNameLst>
                                          <p:attrName>ppt_x</p:attrName>
                                        </p:attrNameLst>
                                      </p:cBhvr>
                                      <p:tavLst>
                                        <p:tav tm="0">
                                          <p:val>
                                            <p:strVal val="#ppt_x"/>
                                          </p:val>
                                        </p:tav>
                                        <p:tav tm="100000">
                                          <p:val>
                                            <p:strVal val="#ppt_x"/>
                                          </p:val>
                                        </p:tav>
                                      </p:tavLst>
                                    </p:anim>
                                    <p:anim calcmode="lin" valueType="num">
                                      <p:cBhvr>
                                        <p:cTn id="34" dur="300" fill="hold"/>
                                        <p:tgtEl>
                                          <p:spTgt spid="10"/>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300"/>
                                        <p:tgtEl>
                                          <p:spTgt spid="11"/>
                                        </p:tgtEl>
                                      </p:cBhvr>
                                    </p:animEffect>
                                    <p:anim calcmode="lin" valueType="num">
                                      <p:cBhvr>
                                        <p:cTn id="38" dur="300" fill="hold"/>
                                        <p:tgtEl>
                                          <p:spTgt spid="11"/>
                                        </p:tgtEl>
                                        <p:attrNameLst>
                                          <p:attrName>ppt_x</p:attrName>
                                        </p:attrNameLst>
                                      </p:cBhvr>
                                      <p:tavLst>
                                        <p:tav tm="0">
                                          <p:val>
                                            <p:strVal val="#ppt_x"/>
                                          </p:val>
                                        </p:tav>
                                        <p:tav tm="100000">
                                          <p:val>
                                            <p:strVal val="#ppt_x"/>
                                          </p:val>
                                        </p:tav>
                                      </p:tavLst>
                                    </p:anim>
                                    <p:anim calcmode="lin" valueType="num">
                                      <p:cBhvr>
                                        <p:cTn id="39" dur="300" fill="hold"/>
                                        <p:tgtEl>
                                          <p:spTgt spid="11"/>
                                        </p:tgtEl>
                                        <p:attrNameLst>
                                          <p:attrName>ppt_y</p:attrName>
                                        </p:attrNameLst>
                                      </p:cBhvr>
                                      <p:tavLst>
                                        <p:tav tm="0">
                                          <p:val>
                                            <p:strVal val="#ppt_y+.06"/>
                                          </p:val>
                                        </p:tav>
                                        <p:tav tm="100000">
                                          <p:val>
                                            <p:strVal val="#ppt_y"/>
                                          </p:val>
                                        </p:tav>
                                      </p:tavLst>
                                    </p:anim>
                                  </p:childTnLst>
                                </p:cTn>
                              </p:par>
                            </p:childTnLst>
                          </p:cTn>
                        </p:par>
                        <p:par>
                          <p:cTn id="40" fill="hold">
                            <p:stCondLst>
                              <p:cond delay="1520"/>
                            </p:stCondLst>
                            <p:childTnLst>
                              <p:par>
                                <p:cTn id="41" presetID="42" presetClass="entr" presetSubtype="0" fill="hold" grpId="0" nodeType="afterEffect">
                                  <p:stCondLst>
                                    <p:cond delay="2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300"/>
                                        <p:tgtEl>
                                          <p:spTgt spid="12"/>
                                        </p:tgtEl>
                                      </p:cBhvr>
                                    </p:animEffect>
                                    <p:anim calcmode="lin" valueType="num">
                                      <p:cBhvr>
                                        <p:cTn id="44" dur="300" fill="hold"/>
                                        <p:tgtEl>
                                          <p:spTgt spid="12"/>
                                        </p:tgtEl>
                                        <p:attrNameLst>
                                          <p:attrName>ppt_x</p:attrName>
                                        </p:attrNameLst>
                                      </p:cBhvr>
                                      <p:tavLst>
                                        <p:tav tm="0">
                                          <p:val>
                                            <p:strVal val="#ppt_x"/>
                                          </p:val>
                                        </p:tav>
                                        <p:tav tm="100000">
                                          <p:val>
                                            <p:strVal val="#ppt_x"/>
                                          </p:val>
                                        </p:tav>
                                      </p:tavLst>
                                    </p:anim>
                                    <p:anim calcmode="lin" valueType="num">
                                      <p:cBhvr>
                                        <p:cTn id="45" dur="300" fill="hold"/>
                                        <p:tgtEl>
                                          <p:spTgt spid="12"/>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300"/>
                                        <p:tgtEl>
                                          <p:spTgt spid="13"/>
                                        </p:tgtEl>
                                      </p:cBhvr>
                                    </p:animEffect>
                                    <p:anim calcmode="lin" valueType="num">
                                      <p:cBhvr>
                                        <p:cTn id="49" dur="300" fill="hold"/>
                                        <p:tgtEl>
                                          <p:spTgt spid="13"/>
                                        </p:tgtEl>
                                        <p:attrNameLst>
                                          <p:attrName>ppt_x</p:attrName>
                                        </p:attrNameLst>
                                      </p:cBhvr>
                                      <p:tavLst>
                                        <p:tav tm="0">
                                          <p:val>
                                            <p:strVal val="#ppt_x"/>
                                          </p:val>
                                        </p:tav>
                                        <p:tav tm="100000">
                                          <p:val>
                                            <p:strVal val="#ppt_x"/>
                                          </p:val>
                                        </p:tav>
                                      </p:tavLst>
                                    </p:anim>
                                    <p:anim calcmode="lin" valueType="num">
                                      <p:cBhvr>
                                        <p:cTn id="50" dur="300" fill="hold"/>
                                        <p:tgtEl>
                                          <p:spTgt spid="13"/>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300"/>
                                        <p:tgtEl>
                                          <p:spTgt spid="14"/>
                                        </p:tgtEl>
                                      </p:cBhvr>
                                    </p:animEffect>
                                    <p:anim calcmode="lin" valueType="num">
                                      <p:cBhvr>
                                        <p:cTn id="54" dur="300" fill="hold"/>
                                        <p:tgtEl>
                                          <p:spTgt spid="14"/>
                                        </p:tgtEl>
                                        <p:attrNameLst>
                                          <p:attrName>ppt_x</p:attrName>
                                        </p:attrNameLst>
                                      </p:cBhvr>
                                      <p:tavLst>
                                        <p:tav tm="0">
                                          <p:val>
                                            <p:strVal val="#ppt_x"/>
                                          </p:val>
                                        </p:tav>
                                        <p:tav tm="100000">
                                          <p:val>
                                            <p:strVal val="#ppt_x"/>
                                          </p:val>
                                        </p:tav>
                                      </p:tavLst>
                                    </p:anim>
                                    <p:anim calcmode="lin" valueType="num">
                                      <p:cBhvr>
                                        <p:cTn id="55" dur="300" fill="hold"/>
                                        <p:tgtEl>
                                          <p:spTgt spid="14"/>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300"/>
                                        <p:tgtEl>
                                          <p:spTgt spid="15"/>
                                        </p:tgtEl>
                                      </p:cBhvr>
                                    </p:animEffect>
                                    <p:anim calcmode="lin" valueType="num">
                                      <p:cBhvr>
                                        <p:cTn id="59" dur="300" fill="hold"/>
                                        <p:tgtEl>
                                          <p:spTgt spid="15"/>
                                        </p:tgtEl>
                                        <p:attrNameLst>
                                          <p:attrName>ppt_x</p:attrName>
                                        </p:attrNameLst>
                                      </p:cBhvr>
                                      <p:tavLst>
                                        <p:tav tm="0">
                                          <p:val>
                                            <p:strVal val="#ppt_x"/>
                                          </p:val>
                                        </p:tav>
                                        <p:tav tm="100000">
                                          <p:val>
                                            <p:strVal val="#ppt_x"/>
                                          </p:val>
                                        </p:tav>
                                      </p:tavLst>
                                    </p:anim>
                                    <p:anim calcmode="lin" valueType="num">
                                      <p:cBhvr>
                                        <p:cTn id="60" dur="300" fill="hold"/>
                                        <p:tgtEl>
                                          <p:spTgt spid="15"/>
                                        </p:tgtEl>
                                        <p:attrNameLst>
                                          <p:attrName>ppt_y</p:attrName>
                                        </p:attrNameLst>
                                      </p:cBhvr>
                                      <p:tavLst>
                                        <p:tav tm="0">
                                          <p:val>
                                            <p:strVal val="#ppt_y+.06"/>
                                          </p:val>
                                        </p:tav>
                                        <p:tav tm="100000">
                                          <p:val>
                                            <p:strVal val="#ppt_y"/>
                                          </p:val>
                                        </p:tav>
                                      </p:tavLst>
                                    </p:anim>
                                  </p:childTnLst>
                                </p:cTn>
                              </p:par>
                            </p:childTnLst>
                          </p:cTn>
                        </p:par>
                        <p:par>
                          <p:cTn id="61" fill="hold">
                            <p:stCondLst>
                              <p:cond delay="1840"/>
                            </p:stCondLst>
                            <p:childTnLst>
                              <p:par>
                                <p:cTn id="62" presetID="42" presetClass="entr" presetSubtype="0" fill="hold" grpId="0" nodeType="afterEffect">
                                  <p:stCondLst>
                                    <p:cond delay="2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300"/>
                                        <p:tgtEl>
                                          <p:spTgt spid="16"/>
                                        </p:tgtEl>
                                      </p:cBhvr>
                                    </p:animEffect>
                                    <p:anim calcmode="lin" valueType="num">
                                      <p:cBhvr>
                                        <p:cTn id="65" dur="300" fill="hold"/>
                                        <p:tgtEl>
                                          <p:spTgt spid="16"/>
                                        </p:tgtEl>
                                        <p:attrNameLst>
                                          <p:attrName>ppt_x</p:attrName>
                                        </p:attrNameLst>
                                      </p:cBhvr>
                                      <p:tavLst>
                                        <p:tav tm="0">
                                          <p:val>
                                            <p:strVal val="#ppt_x"/>
                                          </p:val>
                                        </p:tav>
                                        <p:tav tm="100000">
                                          <p:val>
                                            <p:strVal val="#ppt_x"/>
                                          </p:val>
                                        </p:tav>
                                      </p:tavLst>
                                    </p:anim>
                                    <p:anim calcmode="lin" valueType="num">
                                      <p:cBhvr>
                                        <p:cTn id="66" dur="300" fill="hold"/>
                                        <p:tgtEl>
                                          <p:spTgt spid="16"/>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300"/>
                                        <p:tgtEl>
                                          <p:spTgt spid="17"/>
                                        </p:tgtEl>
                                      </p:cBhvr>
                                    </p:animEffect>
                                    <p:anim calcmode="lin" valueType="num">
                                      <p:cBhvr>
                                        <p:cTn id="70" dur="300" fill="hold"/>
                                        <p:tgtEl>
                                          <p:spTgt spid="17"/>
                                        </p:tgtEl>
                                        <p:attrNameLst>
                                          <p:attrName>ppt_x</p:attrName>
                                        </p:attrNameLst>
                                      </p:cBhvr>
                                      <p:tavLst>
                                        <p:tav tm="0">
                                          <p:val>
                                            <p:strVal val="#ppt_x"/>
                                          </p:val>
                                        </p:tav>
                                        <p:tav tm="100000">
                                          <p:val>
                                            <p:strVal val="#ppt_x"/>
                                          </p:val>
                                        </p:tav>
                                      </p:tavLst>
                                    </p:anim>
                                    <p:anim calcmode="lin" valueType="num">
                                      <p:cBhvr>
                                        <p:cTn id="71" dur="300" fill="hold"/>
                                        <p:tgtEl>
                                          <p:spTgt spid="17"/>
                                        </p:tgtEl>
                                        <p:attrNameLst>
                                          <p:attrName>ppt_y</p:attrName>
                                        </p:attrNameLst>
                                      </p:cBhvr>
                                      <p:tavLst>
                                        <p:tav tm="0">
                                          <p:val>
                                            <p:strVal val="#ppt_y+.06"/>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300"/>
                                        <p:tgtEl>
                                          <p:spTgt spid="18"/>
                                        </p:tgtEl>
                                      </p:cBhvr>
                                    </p:animEffect>
                                    <p:anim calcmode="lin" valueType="num">
                                      <p:cBhvr>
                                        <p:cTn id="75" dur="300" fill="hold"/>
                                        <p:tgtEl>
                                          <p:spTgt spid="18"/>
                                        </p:tgtEl>
                                        <p:attrNameLst>
                                          <p:attrName>ppt_x</p:attrName>
                                        </p:attrNameLst>
                                      </p:cBhvr>
                                      <p:tavLst>
                                        <p:tav tm="0">
                                          <p:val>
                                            <p:strVal val="#ppt_x"/>
                                          </p:val>
                                        </p:tav>
                                        <p:tav tm="100000">
                                          <p:val>
                                            <p:strVal val="#ppt_x"/>
                                          </p:val>
                                        </p:tav>
                                      </p:tavLst>
                                    </p:anim>
                                    <p:anim calcmode="lin" valueType="num">
                                      <p:cBhvr>
                                        <p:cTn id="76" dur="300" fill="hold"/>
                                        <p:tgtEl>
                                          <p:spTgt spid="18"/>
                                        </p:tgtEl>
                                        <p:attrNameLst>
                                          <p:attrName>ppt_y</p:attrName>
                                        </p:attrNameLst>
                                      </p:cBhvr>
                                      <p:tavLst>
                                        <p:tav tm="0">
                                          <p:val>
                                            <p:strVal val="#ppt_y+.06"/>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300"/>
                                        <p:tgtEl>
                                          <p:spTgt spid="19"/>
                                        </p:tgtEl>
                                      </p:cBhvr>
                                    </p:animEffect>
                                    <p:anim calcmode="lin" valueType="num">
                                      <p:cBhvr>
                                        <p:cTn id="80" dur="300" fill="hold"/>
                                        <p:tgtEl>
                                          <p:spTgt spid="19"/>
                                        </p:tgtEl>
                                        <p:attrNameLst>
                                          <p:attrName>ppt_x</p:attrName>
                                        </p:attrNameLst>
                                      </p:cBhvr>
                                      <p:tavLst>
                                        <p:tav tm="0">
                                          <p:val>
                                            <p:strVal val="#ppt_x"/>
                                          </p:val>
                                        </p:tav>
                                        <p:tav tm="100000">
                                          <p:val>
                                            <p:strVal val="#ppt_x"/>
                                          </p:val>
                                        </p:tav>
                                      </p:tavLst>
                                    </p:anim>
                                    <p:anim calcmode="lin" valueType="num">
                                      <p:cBhvr>
                                        <p:cTn id="81" dur="300" fill="hold"/>
                                        <p:tgtEl>
                                          <p:spTgt spid="19"/>
                                        </p:tgtEl>
                                        <p:attrNameLst>
                                          <p:attrName>ppt_y</p:attrName>
                                        </p:attrNameLst>
                                      </p:cBhvr>
                                      <p:tavLst>
                                        <p:tav tm="0">
                                          <p:val>
                                            <p:strVal val="#ppt_y+.06"/>
                                          </p:val>
                                        </p:tav>
                                        <p:tav tm="100000">
                                          <p:val>
                                            <p:strVal val="#ppt_y"/>
                                          </p:val>
                                        </p:tav>
                                      </p:tavLst>
                                    </p:anim>
                                  </p:childTnLst>
                                </p:cTn>
                              </p:par>
                            </p:childTnLst>
                          </p:cTn>
                        </p:par>
                        <p:par>
                          <p:cTn id="82" fill="hold">
                            <p:stCondLst>
                              <p:cond delay="2160"/>
                            </p:stCondLst>
                            <p:childTnLst>
                              <p:par>
                                <p:cTn id="83" presetID="42" presetClass="entr" presetSubtype="0" fill="hold" grpId="0" nodeType="afterEffect">
                                  <p:stCondLst>
                                    <p:cond delay="2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300"/>
                                        <p:tgtEl>
                                          <p:spTgt spid="20"/>
                                        </p:tgtEl>
                                      </p:cBhvr>
                                    </p:animEffect>
                                    <p:anim calcmode="lin" valueType="num">
                                      <p:cBhvr>
                                        <p:cTn id="86" dur="300" fill="hold"/>
                                        <p:tgtEl>
                                          <p:spTgt spid="20"/>
                                        </p:tgtEl>
                                        <p:attrNameLst>
                                          <p:attrName>ppt_x</p:attrName>
                                        </p:attrNameLst>
                                      </p:cBhvr>
                                      <p:tavLst>
                                        <p:tav tm="0">
                                          <p:val>
                                            <p:strVal val="#ppt_x"/>
                                          </p:val>
                                        </p:tav>
                                        <p:tav tm="100000">
                                          <p:val>
                                            <p:strVal val="#ppt_x"/>
                                          </p:val>
                                        </p:tav>
                                      </p:tavLst>
                                    </p:anim>
                                    <p:anim calcmode="lin" valueType="num">
                                      <p:cBhvr>
                                        <p:cTn id="87" dur="300" fill="hold"/>
                                        <p:tgtEl>
                                          <p:spTgt spid="20"/>
                                        </p:tgtEl>
                                        <p:attrNameLst>
                                          <p:attrName>ppt_y</p:attrName>
                                        </p:attrNameLst>
                                      </p:cBhvr>
                                      <p:tavLst>
                                        <p:tav tm="0">
                                          <p:val>
                                            <p:strVal val="#ppt_y+.06"/>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300"/>
                                        <p:tgtEl>
                                          <p:spTgt spid="21"/>
                                        </p:tgtEl>
                                      </p:cBhvr>
                                    </p:animEffect>
                                    <p:anim calcmode="lin" valueType="num">
                                      <p:cBhvr>
                                        <p:cTn id="91" dur="300" fill="hold"/>
                                        <p:tgtEl>
                                          <p:spTgt spid="21"/>
                                        </p:tgtEl>
                                        <p:attrNameLst>
                                          <p:attrName>ppt_x</p:attrName>
                                        </p:attrNameLst>
                                      </p:cBhvr>
                                      <p:tavLst>
                                        <p:tav tm="0">
                                          <p:val>
                                            <p:strVal val="#ppt_x"/>
                                          </p:val>
                                        </p:tav>
                                        <p:tav tm="100000">
                                          <p:val>
                                            <p:strVal val="#ppt_x"/>
                                          </p:val>
                                        </p:tav>
                                      </p:tavLst>
                                    </p:anim>
                                    <p:anim calcmode="lin" valueType="num">
                                      <p:cBhvr>
                                        <p:cTn id="92" dur="300" fill="hold"/>
                                        <p:tgtEl>
                                          <p:spTgt spid="21"/>
                                        </p:tgtEl>
                                        <p:attrNameLst>
                                          <p:attrName>ppt_y</p:attrName>
                                        </p:attrNameLst>
                                      </p:cBhvr>
                                      <p:tavLst>
                                        <p:tav tm="0">
                                          <p:val>
                                            <p:strVal val="#ppt_y+.06"/>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300"/>
                                        <p:tgtEl>
                                          <p:spTgt spid="22"/>
                                        </p:tgtEl>
                                      </p:cBhvr>
                                    </p:animEffect>
                                    <p:anim calcmode="lin" valueType="num">
                                      <p:cBhvr>
                                        <p:cTn id="96" dur="300" fill="hold"/>
                                        <p:tgtEl>
                                          <p:spTgt spid="22"/>
                                        </p:tgtEl>
                                        <p:attrNameLst>
                                          <p:attrName>ppt_x</p:attrName>
                                        </p:attrNameLst>
                                      </p:cBhvr>
                                      <p:tavLst>
                                        <p:tav tm="0">
                                          <p:val>
                                            <p:strVal val="#ppt_x"/>
                                          </p:val>
                                        </p:tav>
                                        <p:tav tm="100000">
                                          <p:val>
                                            <p:strVal val="#ppt_x"/>
                                          </p:val>
                                        </p:tav>
                                      </p:tavLst>
                                    </p:anim>
                                    <p:anim calcmode="lin" valueType="num">
                                      <p:cBhvr>
                                        <p:cTn id="97" dur="300" fill="hold"/>
                                        <p:tgtEl>
                                          <p:spTgt spid="22"/>
                                        </p:tgtEl>
                                        <p:attrNameLst>
                                          <p:attrName>ppt_y</p:attrName>
                                        </p:attrNameLst>
                                      </p:cBhvr>
                                      <p:tavLst>
                                        <p:tav tm="0">
                                          <p:val>
                                            <p:strVal val="#ppt_y+.06"/>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300"/>
                                        <p:tgtEl>
                                          <p:spTgt spid="23"/>
                                        </p:tgtEl>
                                      </p:cBhvr>
                                    </p:animEffect>
                                    <p:anim calcmode="lin" valueType="num">
                                      <p:cBhvr>
                                        <p:cTn id="101" dur="300" fill="hold"/>
                                        <p:tgtEl>
                                          <p:spTgt spid="23"/>
                                        </p:tgtEl>
                                        <p:attrNameLst>
                                          <p:attrName>ppt_x</p:attrName>
                                        </p:attrNameLst>
                                      </p:cBhvr>
                                      <p:tavLst>
                                        <p:tav tm="0">
                                          <p:val>
                                            <p:strVal val="#ppt_x"/>
                                          </p:val>
                                        </p:tav>
                                        <p:tav tm="100000">
                                          <p:val>
                                            <p:strVal val="#ppt_x"/>
                                          </p:val>
                                        </p:tav>
                                      </p:tavLst>
                                    </p:anim>
                                    <p:anim calcmode="lin" valueType="num">
                                      <p:cBhvr>
                                        <p:cTn id="102" dur="300" fill="hold"/>
                                        <p:tgtEl>
                                          <p:spTgt spid="23"/>
                                        </p:tgtEl>
                                        <p:attrNameLst>
                                          <p:attrName>ppt_y</p:attrName>
                                        </p:attrNameLst>
                                      </p:cBhvr>
                                      <p:tavLst>
                                        <p:tav tm="0">
                                          <p:val>
                                            <p:strVal val="#ppt_y+.06"/>
                                          </p:val>
                                        </p:tav>
                                        <p:tav tm="100000">
                                          <p:val>
                                            <p:strVal val="#ppt_y"/>
                                          </p:val>
                                        </p:tav>
                                      </p:tavLst>
                                    </p:anim>
                                  </p:childTnLst>
                                </p:cTn>
                              </p:par>
                            </p:childTnLst>
                          </p:cTn>
                        </p:par>
                        <p:par>
                          <p:cTn id="103" fill="hold">
                            <p:stCondLst>
                              <p:cond delay="2480"/>
                            </p:stCondLst>
                            <p:childTnLst>
                              <p:par>
                                <p:cTn id="104" presetID="42" presetClass="entr" presetSubtype="0" fill="hold" grpId="0" nodeType="afterEffect">
                                  <p:stCondLst>
                                    <p:cond delay="2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300"/>
                                        <p:tgtEl>
                                          <p:spTgt spid="24"/>
                                        </p:tgtEl>
                                      </p:cBhvr>
                                    </p:animEffect>
                                    <p:anim calcmode="lin" valueType="num">
                                      <p:cBhvr>
                                        <p:cTn id="107" dur="300" fill="hold"/>
                                        <p:tgtEl>
                                          <p:spTgt spid="24"/>
                                        </p:tgtEl>
                                        <p:attrNameLst>
                                          <p:attrName>ppt_x</p:attrName>
                                        </p:attrNameLst>
                                      </p:cBhvr>
                                      <p:tavLst>
                                        <p:tav tm="0">
                                          <p:val>
                                            <p:strVal val="#ppt_x"/>
                                          </p:val>
                                        </p:tav>
                                        <p:tav tm="100000">
                                          <p:val>
                                            <p:strVal val="#ppt_x"/>
                                          </p:val>
                                        </p:tav>
                                      </p:tavLst>
                                    </p:anim>
                                    <p:anim calcmode="lin" valueType="num">
                                      <p:cBhvr>
                                        <p:cTn id="108" dur="300" fill="hold"/>
                                        <p:tgtEl>
                                          <p:spTgt spid="24"/>
                                        </p:tgtEl>
                                        <p:attrNameLst>
                                          <p:attrName>ppt_y</p:attrName>
                                        </p:attrNameLst>
                                      </p:cBhvr>
                                      <p:tavLst>
                                        <p:tav tm="0">
                                          <p:val>
                                            <p:strVal val="#ppt_y+.06"/>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25"/>
                                        </p:tgtEl>
                                        <p:attrNameLst>
                                          <p:attrName>style.visibility</p:attrName>
                                        </p:attrNameLst>
                                      </p:cBhvr>
                                      <p:to>
                                        <p:strVal val="visible"/>
                                      </p:to>
                                    </p:set>
                                    <p:animEffect transition="in" filter="fade">
                                      <p:cBhvr>
                                        <p:cTn id="111" dur="300"/>
                                        <p:tgtEl>
                                          <p:spTgt spid="25"/>
                                        </p:tgtEl>
                                      </p:cBhvr>
                                    </p:animEffect>
                                    <p:anim calcmode="lin" valueType="num">
                                      <p:cBhvr>
                                        <p:cTn id="112" dur="300" fill="hold"/>
                                        <p:tgtEl>
                                          <p:spTgt spid="25"/>
                                        </p:tgtEl>
                                        <p:attrNameLst>
                                          <p:attrName>ppt_x</p:attrName>
                                        </p:attrNameLst>
                                      </p:cBhvr>
                                      <p:tavLst>
                                        <p:tav tm="0">
                                          <p:val>
                                            <p:strVal val="#ppt_x"/>
                                          </p:val>
                                        </p:tav>
                                        <p:tav tm="100000">
                                          <p:val>
                                            <p:strVal val="#ppt_x"/>
                                          </p:val>
                                        </p:tav>
                                      </p:tavLst>
                                    </p:anim>
                                    <p:anim calcmode="lin" valueType="num">
                                      <p:cBhvr>
                                        <p:cTn id="113" dur="300" fill="hold"/>
                                        <p:tgtEl>
                                          <p:spTgt spid="25"/>
                                        </p:tgtEl>
                                        <p:attrNameLst>
                                          <p:attrName>ppt_y</p:attrName>
                                        </p:attrNameLst>
                                      </p:cBhvr>
                                      <p:tavLst>
                                        <p:tav tm="0">
                                          <p:val>
                                            <p:strVal val="#ppt_y+.06"/>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26"/>
                                        </p:tgtEl>
                                        <p:attrNameLst>
                                          <p:attrName>style.visibility</p:attrName>
                                        </p:attrNameLst>
                                      </p:cBhvr>
                                      <p:to>
                                        <p:strVal val="visible"/>
                                      </p:to>
                                    </p:set>
                                    <p:animEffect transition="in" filter="fade">
                                      <p:cBhvr>
                                        <p:cTn id="116" dur="300"/>
                                        <p:tgtEl>
                                          <p:spTgt spid="26"/>
                                        </p:tgtEl>
                                      </p:cBhvr>
                                    </p:animEffect>
                                    <p:anim calcmode="lin" valueType="num">
                                      <p:cBhvr>
                                        <p:cTn id="117" dur="300" fill="hold"/>
                                        <p:tgtEl>
                                          <p:spTgt spid="26"/>
                                        </p:tgtEl>
                                        <p:attrNameLst>
                                          <p:attrName>ppt_x</p:attrName>
                                        </p:attrNameLst>
                                      </p:cBhvr>
                                      <p:tavLst>
                                        <p:tav tm="0">
                                          <p:val>
                                            <p:strVal val="#ppt_x"/>
                                          </p:val>
                                        </p:tav>
                                        <p:tav tm="100000">
                                          <p:val>
                                            <p:strVal val="#ppt_x"/>
                                          </p:val>
                                        </p:tav>
                                      </p:tavLst>
                                    </p:anim>
                                    <p:anim calcmode="lin" valueType="num">
                                      <p:cBhvr>
                                        <p:cTn id="118" dur="300" fill="hold"/>
                                        <p:tgtEl>
                                          <p:spTgt spid="26"/>
                                        </p:tgtEl>
                                        <p:attrNameLst>
                                          <p:attrName>ppt_y</p:attrName>
                                        </p:attrNameLst>
                                      </p:cBhvr>
                                      <p:tavLst>
                                        <p:tav tm="0">
                                          <p:val>
                                            <p:strVal val="#ppt_y+.06"/>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27"/>
                                        </p:tgtEl>
                                        <p:attrNameLst>
                                          <p:attrName>style.visibility</p:attrName>
                                        </p:attrNameLst>
                                      </p:cBhvr>
                                      <p:to>
                                        <p:strVal val="visible"/>
                                      </p:to>
                                    </p:set>
                                    <p:animEffect transition="in" filter="fade">
                                      <p:cBhvr>
                                        <p:cTn id="121" dur="300"/>
                                        <p:tgtEl>
                                          <p:spTgt spid="27"/>
                                        </p:tgtEl>
                                      </p:cBhvr>
                                    </p:animEffect>
                                    <p:anim calcmode="lin" valueType="num">
                                      <p:cBhvr>
                                        <p:cTn id="122" dur="300" fill="hold"/>
                                        <p:tgtEl>
                                          <p:spTgt spid="27"/>
                                        </p:tgtEl>
                                        <p:attrNameLst>
                                          <p:attrName>ppt_x</p:attrName>
                                        </p:attrNameLst>
                                      </p:cBhvr>
                                      <p:tavLst>
                                        <p:tav tm="0">
                                          <p:val>
                                            <p:strVal val="#ppt_x"/>
                                          </p:val>
                                        </p:tav>
                                        <p:tav tm="100000">
                                          <p:val>
                                            <p:strVal val="#ppt_x"/>
                                          </p:val>
                                        </p:tav>
                                      </p:tavLst>
                                    </p:anim>
                                    <p:anim calcmode="lin" valueType="num">
                                      <p:cBhvr>
                                        <p:cTn id="123" dur="300" fill="hold"/>
                                        <p:tgtEl>
                                          <p:spTgt spid="27"/>
                                        </p:tgtEl>
                                        <p:attrNameLst>
                                          <p:attrName>ppt_y</p:attrName>
                                        </p:attrNameLst>
                                      </p:cBhvr>
                                      <p:tavLst>
                                        <p:tav tm="0">
                                          <p:val>
                                            <p:strVal val="#ppt_y+.06"/>
                                          </p:val>
                                        </p:tav>
                                        <p:tav tm="100000">
                                          <p:val>
                                            <p:strVal val="#ppt_y"/>
                                          </p:val>
                                        </p:tav>
                                      </p:tavLst>
                                    </p:anim>
                                  </p:childTnLst>
                                </p:cTn>
                              </p:par>
                            </p:childTnLst>
                          </p:cTn>
                        </p:par>
                        <p:par>
                          <p:cTn id="124" fill="hold">
                            <p:stCondLst>
                              <p:cond delay="2800"/>
                            </p:stCondLst>
                            <p:childTnLst>
                              <p:par>
                                <p:cTn id="125" presetID="42" presetClass="entr" presetSubtype="0" fill="hold" grpId="0" nodeType="afterEffect">
                                  <p:stCondLst>
                                    <p:cond delay="2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300"/>
                                        <p:tgtEl>
                                          <p:spTgt spid="28"/>
                                        </p:tgtEl>
                                      </p:cBhvr>
                                    </p:animEffect>
                                    <p:anim calcmode="lin" valueType="num">
                                      <p:cBhvr>
                                        <p:cTn id="128" dur="300" fill="hold"/>
                                        <p:tgtEl>
                                          <p:spTgt spid="28"/>
                                        </p:tgtEl>
                                        <p:attrNameLst>
                                          <p:attrName>ppt_x</p:attrName>
                                        </p:attrNameLst>
                                      </p:cBhvr>
                                      <p:tavLst>
                                        <p:tav tm="0">
                                          <p:val>
                                            <p:strVal val="#ppt_x"/>
                                          </p:val>
                                        </p:tav>
                                        <p:tav tm="100000">
                                          <p:val>
                                            <p:strVal val="#ppt_x"/>
                                          </p:val>
                                        </p:tav>
                                      </p:tavLst>
                                    </p:anim>
                                    <p:anim calcmode="lin" valueType="num">
                                      <p:cBhvr>
                                        <p:cTn id="129" dur="300" fill="hold"/>
                                        <p:tgtEl>
                                          <p:spTgt spid="28"/>
                                        </p:tgtEl>
                                        <p:attrNameLst>
                                          <p:attrName>ppt_y</p:attrName>
                                        </p:attrNameLst>
                                      </p:cBhvr>
                                      <p:tavLst>
                                        <p:tav tm="0">
                                          <p:val>
                                            <p:strVal val="#ppt_y+.06"/>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300"/>
                                        <p:tgtEl>
                                          <p:spTgt spid="29"/>
                                        </p:tgtEl>
                                      </p:cBhvr>
                                    </p:animEffect>
                                    <p:anim calcmode="lin" valueType="num">
                                      <p:cBhvr>
                                        <p:cTn id="133" dur="300" fill="hold"/>
                                        <p:tgtEl>
                                          <p:spTgt spid="29"/>
                                        </p:tgtEl>
                                        <p:attrNameLst>
                                          <p:attrName>ppt_x</p:attrName>
                                        </p:attrNameLst>
                                      </p:cBhvr>
                                      <p:tavLst>
                                        <p:tav tm="0">
                                          <p:val>
                                            <p:strVal val="#ppt_x"/>
                                          </p:val>
                                        </p:tav>
                                        <p:tav tm="100000">
                                          <p:val>
                                            <p:strVal val="#ppt_x"/>
                                          </p:val>
                                        </p:tav>
                                      </p:tavLst>
                                    </p:anim>
                                    <p:anim calcmode="lin" valueType="num">
                                      <p:cBhvr>
                                        <p:cTn id="134" dur="300" fill="hold"/>
                                        <p:tgtEl>
                                          <p:spTgt spid="29"/>
                                        </p:tgtEl>
                                        <p:attrNameLst>
                                          <p:attrName>ppt_y</p:attrName>
                                        </p:attrNameLst>
                                      </p:cBhvr>
                                      <p:tavLst>
                                        <p:tav tm="0">
                                          <p:val>
                                            <p:strVal val="#ppt_y+.06"/>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300"/>
                                        <p:tgtEl>
                                          <p:spTgt spid="30"/>
                                        </p:tgtEl>
                                      </p:cBhvr>
                                    </p:animEffect>
                                    <p:anim calcmode="lin" valueType="num">
                                      <p:cBhvr>
                                        <p:cTn id="138" dur="300" fill="hold"/>
                                        <p:tgtEl>
                                          <p:spTgt spid="30"/>
                                        </p:tgtEl>
                                        <p:attrNameLst>
                                          <p:attrName>ppt_x</p:attrName>
                                        </p:attrNameLst>
                                      </p:cBhvr>
                                      <p:tavLst>
                                        <p:tav tm="0">
                                          <p:val>
                                            <p:strVal val="#ppt_x"/>
                                          </p:val>
                                        </p:tav>
                                        <p:tav tm="100000">
                                          <p:val>
                                            <p:strVal val="#ppt_x"/>
                                          </p:val>
                                        </p:tav>
                                      </p:tavLst>
                                    </p:anim>
                                    <p:anim calcmode="lin" valueType="num">
                                      <p:cBhvr>
                                        <p:cTn id="139" dur="300" fill="hold"/>
                                        <p:tgtEl>
                                          <p:spTgt spid="30"/>
                                        </p:tgtEl>
                                        <p:attrNameLst>
                                          <p:attrName>ppt_y</p:attrName>
                                        </p:attrNameLst>
                                      </p:cBhvr>
                                      <p:tavLst>
                                        <p:tav tm="0">
                                          <p:val>
                                            <p:strVal val="#ppt_y+.06"/>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300"/>
                                        <p:tgtEl>
                                          <p:spTgt spid="31"/>
                                        </p:tgtEl>
                                      </p:cBhvr>
                                    </p:animEffect>
                                    <p:anim calcmode="lin" valueType="num">
                                      <p:cBhvr>
                                        <p:cTn id="143" dur="300" fill="hold"/>
                                        <p:tgtEl>
                                          <p:spTgt spid="31"/>
                                        </p:tgtEl>
                                        <p:attrNameLst>
                                          <p:attrName>ppt_x</p:attrName>
                                        </p:attrNameLst>
                                      </p:cBhvr>
                                      <p:tavLst>
                                        <p:tav tm="0">
                                          <p:val>
                                            <p:strVal val="#ppt_x"/>
                                          </p:val>
                                        </p:tav>
                                        <p:tav tm="100000">
                                          <p:val>
                                            <p:strVal val="#ppt_x"/>
                                          </p:val>
                                        </p:tav>
                                      </p:tavLst>
                                    </p:anim>
                                    <p:anim calcmode="lin" valueType="num">
                                      <p:cBhvr>
                                        <p:cTn id="144" dur="300" fill="hold"/>
                                        <p:tgtEl>
                                          <p:spTgt spid="31"/>
                                        </p:tgtEl>
                                        <p:attrNameLst>
                                          <p:attrName>ppt_y</p:attrName>
                                        </p:attrNameLst>
                                      </p:cBhvr>
                                      <p:tavLst>
                                        <p:tav tm="0">
                                          <p:val>
                                            <p:strVal val="#ppt_y+.06"/>
                                          </p:val>
                                        </p:tav>
                                        <p:tav tm="100000">
                                          <p:val>
                                            <p:strVal val="#ppt_y"/>
                                          </p:val>
                                        </p:tav>
                                      </p:tavLst>
                                    </p:anim>
                                  </p:childTnLst>
                                </p:cTn>
                              </p:par>
                            </p:childTnLst>
                          </p:cTn>
                        </p:par>
                        <p:par>
                          <p:cTn id="145" fill="hold">
                            <p:stCondLst>
                              <p:cond delay="3120"/>
                            </p:stCondLst>
                            <p:childTnLst>
                              <p:par>
                                <p:cTn id="146" presetID="10" presetClass="entr" presetSubtype="0" fill="hold" grpId="0" nodeType="afterEffect">
                                  <p:stCondLst>
                                    <p:cond delay="80"/>
                                  </p:stCondLst>
                                  <p:childTnLst>
                                    <p:set>
                                      <p:cBhvr>
                                        <p:cTn id="147" dur="1" fill="hold">
                                          <p:stCondLst>
                                            <p:cond delay="0"/>
                                          </p:stCondLst>
                                        </p:cTn>
                                        <p:tgtEl>
                                          <p:spTgt spid="32"/>
                                        </p:tgtEl>
                                        <p:attrNameLst>
                                          <p:attrName>style.visibility</p:attrName>
                                        </p:attrNameLst>
                                      </p:cBhvr>
                                      <p:to>
                                        <p:strVal val="visible"/>
                                      </p:to>
                                    </p:set>
                                    <p:animEffect transition="in" filter="fade">
                                      <p:cBhvr>
                                        <p:cTn id="148" dur="450"/>
                                        <p:tgtEl>
                                          <p:spTgt spid="32"/>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33"/>
                                        </p:tgtEl>
                                        <p:attrNameLst>
                                          <p:attrName>style.visibility</p:attrName>
                                        </p:attrNameLst>
                                      </p:cBhvr>
                                      <p:to>
                                        <p:strVal val="visible"/>
                                      </p:to>
                                    </p:set>
                                    <p:animEffect transition="in" filter="fade">
                                      <p:cBhvr>
                                        <p:cTn id="151" dur="450"/>
                                        <p:tgtEl>
                                          <p:spTgt spid="33"/>
                                        </p:tgtEl>
                                      </p:cBhvr>
                                    </p:animEffect>
                                  </p:childTnLst>
                                </p:cTn>
                              </p:par>
                            </p:childTnLst>
                          </p:cTn>
                        </p:par>
                        <p:par>
                          <p:cTn id="152" fill="hold">
                            <p:stCondLst>
                              <p:cond delay="3650"/>
                            </p:stCondLst>
                            <p:childTnLst>
                              <p:par>
                                <p:cTn id="153" presetID="10" presetClass="entr" presetSubtype="0" fill="hold" grpId="0" nodeType="afterEffect">
                                  <p:stCondLst>
                                    <p:cond delay="0"/>
                                  </p:stCondLst>
                                  <p:childTnLst>
                                    <p:set>
                                      <p:cBhvr>
                                        <p:cTn id="154" dur="1" fill="hold">
                                          <p:stCondLst>
                                            <p:cond delay="0"/>
                                          </p:stCondLst>
                                        </p:cTn>
                                        <p:tgtEl>
                                          <p:spTgt spid="34"/>
                                        </p:tgtEl>
                                        <p:attrNameLst>
                                          <p:attrName>style.visibility</p:attrName>
                                        </p:attrNameLst>
                                      </p:cBhvr>
                                      <p:to>
                                        <p:strVal val="visible"/>
                                      </p:to>
                                    </p:set>
                                    <p:animEffect transition="in" filter="fade">
                                      <p:cBhvr>
                                        <p:cTn id="155" dur="300"/>
                                        <p:tgtEl>
                                          <p:spTgt spid="34"/>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35"/>
                                        </p:tgtEl>
                                        <p:attrNameLst>
                                          <p:attrName>style.visibility</p:attrName>
                                        </p:attrNameLst>
                                      </p:cBhvr>
                                      <p:to>
                                        <p:strVal val="visible"/>
                                      </p:to>
                                    </p:set>
                                    <p:animEffect transition="in" filter="fade">
                                      <p:cBhvr>
                                        <p:cTn id="158" dur="300"/>
                                        <p:tgtEl>
                                          <p:spTgt spid="35"/>
                                        </p:tgtEl>
                                      </p:cBhvr>
                                    </p:animEffect>
                                  </p:childTnLst>
                                </p:cTn>
                              </p:par>
                            </p:childTnLst>
                          </p:cTn>
                        </p:par>
                        <p:par>
                          <p:cTn id="159" fill="hold">
                            <p:stCondLst>
                              <p:cond delay="3950"/>
                            </p:stCondLst>
                            <p:childTnLst>
                              <p:par>
                                <p:cTn id="160" presetID="22" presetClass="entr" presetSubtype="8" fill="hold" grpId="0" nodeType="afterEffect">
                                  <p:stCondLst>
                                    <p:cond delay="0"/>
                                  </p:stCondLst>
                                  <p:childTnLst>
                                    <p:set>
                                      <p:cBhvr>
                                        <p:cTn id="161" dur="1" fill="hold">
                                          <p:stCondLst>
                                            <p:cond delay="0"/>
                                          </p:stCondLst>
                                        </p:cTn>
                                        <p:tgtEl>
                                          <p:spTgt spid="36"/>
                                        </p:tgtEl>
                                        <p:attrNameLst>
                                          <p:attrName>style.visibility</p:attrName>
                                        </p:attrNameLst>
                                      </p:cBhvr>
                                      <p:to>
                                        <p:strVal val="visible"/>
                                      </p:to>
                                    </p:set>
                                    <p:animEffect transition="in" filter="wipe(left)">
                                      <p:cBhvr>
                                        <p:cTn id="162" dur="600"/>
                                        <p:tgtEl>
                                          <p:spTgt spid="36"/>
                                        </p:tgtEl>
                                      </p:cBhvr>
                                    </p:animEffect>
                                  </p:childTnLst>
                                </p:cTn>
                              </p:par>
                              <p:par>
                                <p:cTn id="163" presetID="10" presetClass="entr" presetSubtype="0" fill="hold" grpId="0" nodeType="withEffect">
                                  <p:stCondLst>
                                    <p:cond delay="300"/>
                                  </p:stCondLst>
                                  <p:childTnLst>
                                    <p:set>
                                      <p:cBhvr>
                                        <p:cTn id="164" dur="1" fill="hold">
                                          <p:stCondLst>
                                            <p:cond delay="0"/>
                                          </p:stCondLst>
                                        </p:cTn>
                                        <p:tgtEl>
                                          <p:spTgt spid="37"/>
                                        </p:tgtEl>
                                        <p:attrNameLst>
                                          <p:attrName>style.visibility</p:attrName>
                                        </p:attrNameLst>
                                      </p:cBhvr>
                                      <p:to>
                                        <p:strVal val="visible"/>
                                      </p:to>
                                    </p:set>
                                    <p:animEffect transition="in" filter="fade">
                                      <p:cBhvr>
                                        <p:cTn id="165" dur="300"/>
                                        <p:tgtEl>
                                          <p:spTgt spid="37"/>
                                        </p:tgtEl>
                                      </p:cBhvr>
                                    </p:animEffect>
                                  </p:childTnLst>
                                </p:cTn>
                              </p:par>
                            </p:childTnLst>
                          </p:cTn>
                        </p:par>
                        <p:par>
                          <p:cTn id="166" fill="hold">
                            <p:stCondLst>
                              <p:cond delay="4550"/>
                            </p:stCondLst>
                            <p:childTnLst>
                              <p:par>
                                <p:cTn id="167" presetID="10" presetClass="entr" presetSubtype="0" fill="hold" grpId="0" nodeType="afterEffect">
                                  <p:stCondLst>
                                    <p:cond delay="20"/>
                                  </p:stCondLst>
                                  <p:childTnLst>
                                    <p:set>
                                      <p:cBhvr>
                                        <p:cTn id="168" dur="1" fill="hold">
                                          <p:stCondLst>
                                            <p:cond delay="0"/>
                                          </p:stCondLst>
                                        </p:cTn>
                                        <p:tgtEl>
                                          <p:spTgt spid="38"/>
                                        </p:tgtEl>
                                        <p:attrNameLst>
                                          <p:attrName>style.visibility</p:attrName>
                                        </p:attrNameLst>
                                      </p:cBhvr>
                                      <p:to>
                                        <p:strVal val="visible"/>
                                      </p:to>
                                    </p:set>
                                    <p:animEffect transition="in" filter="fade">
                                      <p:cBhvr>
                                        <p:cTn id="169" dur="300"/>
                                        <p:tgtEl>
                                          <p:spTgt spid="38"/>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39"/>
                                        </p:tgtEl>
                                        <p:attrNameLst>
                                          <p:attrName>style.visibility</p:attrName>
                                        </p:attrNameLst>
                                      </p:cBhvr>
                                      <p:to>
                                        <p:strVal val="visible"/>
                                      </p:to>
                                    </p:set>
                                    <p:animEffect transition="in" filter="fade">
                                      <p:cBhvr>
                                        <p:cTn id="172" dur="300"/>
                                        <p:tgtEl>
                                          <p:spTgt spid="39"/>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40"/>
                                        </p:tgtEl>
                                        <p:attrNameLst>
                                          <p:attrName>style.visibility</p:attrName>
                                        </p:attrNameLst>
                                      </p:cBhvr>
                                      <p:to>
                                        <p:strVal val="visible"/>
                                      </p:to>
                                    </p:set>
                                    <p:animEffect transition="in" filter="fade">
                                      <p:cBhvr>
                                        <p:cTn id="175" dur="300"/>
                                        <p:tgtEl>
                                          <p:spTgt spid="40"/>
                                        </p:tgtEl>
                                      </p:cBhvr>
                                    </p:animEffect>
                                  </p:childTnLst>
                                </p:cTn>
                              </p:par>
                            </p:childTnLst>
                          </p:cTn>
                        </p:par>
                        <p:par>
                          <p:cTn id="176" fill="hold">
                            <p:stCondLst>
                              <p:cond delay="4870"/>
                            </p:stCondLst>
                            <p:childTnLst>
                              <p:par>
                                <p:cTn id="177" presetID="10" presetClass="entr" presetSubtype="0" fill="hold" grpId="0" nodeType="afterEffect">
                                  <p:stCondLst>
                                    <p:cond delay="20"/>
                                  </p:stCondLst>
                                  <p:childTnLst>
                                    <p:set>
                                      <p:cBhvr>
                                        <p:cTn id="178" dur="1" fill="hold">
                                          <p:stCondLst>
                                            <p:cond delay="0"/>
                                          </p:stCondLst>
                                        </p:cTn>
                                        <p:tgtEl>
                                          <p:spTgt spid="41"/>
                                        </p:tgtEl>
                                        <p:attrNameLst>
                                          <p:attrName>style.visibility</p:attrName>
                                        </p:attrNameLst>
                                      </p:cBhvr>
                                      <p:to>
                                        <p:strVal val="visible"/>
                                      </p:to>
                                    </p:set>
                                    <p:animEffect transition="in" filter="fade">
                                      <p:cBhvr>
                                        <p:cTn id="179" dur="300"/>
                                        <p:tgtEl>
                                          <p:spTgt spid="41"/>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42"/>
                                        </p:tgtEl>
                                        <p:attrNameLst>
                                          <p:attrName>style.visibility</p:attrName>
                                        </p:attrNameLst>
                                      </p:cBhvr>
                                      <p:to>
                                        <p:strVal val="visible"/>
                                      </p:to>
                                    </p:set>
                                    <p:animEffect transition="in" filter="fade">
                                      <p:cBhvr>
                                        <p:cTn id="182" dur="300"/>
                                        <p:tgtEl>
                                          <p:spTgt spid="42"/>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43"/>
                                        </p:tgtEl>
                                        <p:attrNameLst>
                                          <p:attrName>style.visibility</p:attrName>
                                        </p:attrNameLst>
                                      </p:cBhvr>
                                      <p:to>
                                        <p:strVal val="visible"/>
                                      </p:to>
                                    </p:set>
                                    <p:animEffect transition="in" filter="fade">
                                      <p:cBhvr>
                                        <p:cTn id="185" dur="300"/>
                                        <p:tgtEl>
                                          <p:spTgt spid="43"/>
                                        </p:tgtEl>
                                      </p:cBhvr>
                                    </p:animEffect>
                                  </p:childTnLst>
                                </p:cTn>
                              </p:par>
                            </p:childTnLst>
                          </p:cTn>
                        </p:par>
                        <p:par>
                          <p:cTn id="186" fill="hold">
                            <p:stCondLst>
                              <p:cond delay="5190"/>
                            </p:stCondLst>
                            <p:childTnLst>
                              <p:par>
                                <p:cTn id="187" presetID="10" presetClass="entr" presetSubtype="0" fill="hold" grpId="0" nodeType="afterEffect">
                                  <p:stCondLst>
                                    <p:cond delay="20"/>
                                  </p:stCondLst>
                                  <p:childTnLst>
                                    <p:set>
                                      <p:cBhvr>
                                        <p:cTn id="188" dur="1" fill="hold">
                                          <p:stCondLst>
                                            <p:cond delay="0"/>
                                          </p:stCondLst>
                                        </p:cTn>
                                        <p:tgtEl>
                                          <p:spTgt spid="44"/>
                                        </p:tgtEl>
                                        <p:attrNameLst>
                                          <p:attrName>style.visibility</p:attrName>
                                        </p:attrNameLst>
                                      </p:cBhvr>
                                      <p:to>
                                        <p:strVal val="visible"/>
                                      </p:to>
                                    </p:set>
                                    <p:animEffect transition="in" filter="fade">
                                      <p:cBhvr>
                                        <p:cTn id="189" dur="300"/>
                                        <p:tgtEl>
                                          <p:spTgt spid="44"/>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45"/>
                                        </p:tgtEl>
                                        <p:attrNameLst>
                                          <p:attrName>style.visibility</p:attrName>
                                        </p:attrNameLst>
                                      </p:cBhvr>
                                      <p:to>
                                        <p:strVal val="visible"/>
                                      </p:to>
                                    </p:set>
                                    <p:animEffect transition="in" filter="fade">
                                      <p:cBhvr>
                                        <p:cTn id="192" dur="300"/>
                                        <p:tgtEl>
                                          <p:spTgt spid="45"/>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46"/>
                                        </p:tgtEl>
                                        <p:attrNameLst>
                                          <p:attrName>style.visibility</p:attrName>
                                        </p:attrNameLst>
                                      </p:cBhvr>
                                      <p:to>
                                        <p:strVal val="visible"/>
                                      </p:to>
                                    </p:set>
                                    <p:animEffect transition="in" filter="fade">
                                      <p:cBhvr>
                                        <p:cTn id="195" dur="300"/>
                                        <p:tgtEl>
                                          <p:spTgt spid="46"/>
                                        </p:tgtEl>
                                      </p:cBhvr>
                                    </p:animEffect>
                                  </p:childTnLst>
                                </p:cTn>
                              </p:par>
                            </p:childTnLst>
                          </p:cTn>
                        </p:par>
                        <p:par>
                          <p:cTn id="196" fill="hold">
                            <p:stCondLst>
                              <p:cond delay="5510"/>
                            </p:stCondLst>
                            <p:childTnLst>
                              <p:par>
                                <p:cTn id="197" presetID="10" presetClass="entr" presetSubtype="0" fill="hold" grpId="0" nodeType="afterEffect">
                                  <p:stCondLst>
                                    <p:cond delay="20"/>
                                  </p:stCondLst>
                                  <p:childTnLst>
                                    <p:set>
                                      <p:cBhvr>
                                        <p:cTn id="198" dur="1" fill="hold">
                                          <p:stCondLst>
                                            <p:cond delay="0"/>
                                          </p:stCondLst>
                                        </p:cTn>
                                        <p:tgtEl>
                                          <p:spTgt spid="47"/>
                                        </p:tgtEl>
                                        <p:attrNameLst>
                                          <p:attrName>style.visibility</p:attrName>
                                        </p:attrNameLst>
                                      </p:cBhvr>
                                      <p:to>
                                        <p:strVal val="visible"/>
                                      </p:to>
                                    </p:set>
                                    <p:animEffect transition="in" filter="fade">
                                      <p:cBhvr>
                                        <p:cTn id="199" dur="300"/>
                                        <p:tgtEl>
                                          <p:spTgt spid="47"/>
                                        </p:tgtEl>
                                      </p:cBhvr>
                                    </p:animEffect>
                                  </p:childTnLst>
                                </p:cTn>
                              </p:par>
                              <p:par>
                                <p:cTn id="200" presetID="10" presetClass="entr" presetSubtype="0" fill="hold" grpId="0" nodeType="withEffect">
                                  <p:stCondLst>
                                    <p:cond delay="0"/>
                                  </p:stCondLst>
                                  <p:childTnLst>
                                    <p:set>
                                      <p:cBhvr>
                                        <p:cTn id="201" dur="1" fill="hold">
                                          <p:stCondLst>
                                            <p:cond delay="0"/>
                                          </p:stCondLst>
                                        </p:cTn>
                                        <p:tgtEl>
                                          <p:spTgt spid="48"/>
                                        </p:tgtEl>
                                        <p:attrNameLst>
                                          <p:attrName>style.visibility</p:attrName>
                                        </p:attrNameLst>
                                      </p:cBhvr>
                                      <p:to>
                                        <p:strVal val="visible"/>
                                      </p:to>
                                    </p:set>
                                    <p:animEffect transition="in" filter="fade">
                                      <p:cBhvr>
                                        <p:cTn id="202" dur="300"/>
                                        <p:tgtEl>
                                          <p:spTgt spid="48"/>
                                        </p:tgtEl>
                                      </p:cBhvr>
                                    </p:animEffect>
                                  </p:childTnLst>
                                </p:cTn>
                              </p:par>
                              <p:par>
                                <p:cTn id="203" presetID="10" presetClass="entr" presetSubtype="0" fill="hold" grpId="0" nodeType="withEffect">
                                  <p:stCondLst>
                                    <p:cond delay="0"/>
                                  </p:stCondLst>
                                  <p:childTnLst>
                                    <p:set>
                                      <p:cBhvr>
                                        <p:cTn id="204" dur="1" fill="hold">
                                          <p:stCondLst>
                                            <p:cond delay="0"/>
                                          </p:stCondLst>
                                        </p:cTn>
                                        <p:tgtEl>
                                          <p:spTgt spid="49"/>
                                        </p:tgtEl>
                                        <p:attrNameLst>
                                          <p:attrName>style.visibility</p:attrName>
                                        </p:attrNameLst>
                                      </p:cBhvr>
                                      <p:to>
                                        <p:strVal val="visible"/>
                                      </p:to>
                                    </p:set>
                                    <p:animEffect transition="in" filter="fade">
                                      <p:cBhvr>
                                        <p:cTn id="205" dur="300"/>
                                        <p:tgtEl>
                                          <p:spTgt spid="49"/>
                                        </p:tgtEl>
                                      </p:cBhvr>
                                    </p:animEffect>
                                  </p:childTnLst>
                                </p:cTn>
                              </p:par>
                            </p:childTnLst>
                          </p:cTn>
                        </p:par>
                        <p:par>
                          <p:cTn id="206" fill="hold">
                            <p:stCondLst>
                              <p:cond delay="5830"/>
                            </p:stCondLst>
                            <p:childTnLst>
                              <p:par>
                                <p:cTn id="207" presetID="10" presetClass="entr" presetSubtype="0" fill="hold" grpId="0" nodeType="afterEffect">
                                  <p:stCondLst>
                                    <p:cond delay="80"/>
                                  </p:stCondLst>
                                  <p:childTnLst>
                                    <p:set>
                                      <p:cBhvr>
                                        <p:cTn id="208" dur="1" fill="hold">
                                          <p:stCondLst>
                                            <p:cond delay="0"/>
                                          </p:stCondLst>
                                        </p:cTn>
                                        <p:tgtEl>
                                          <p:spTgt spid="50"/>
                                        </p:tgtEl>
                                        <p:attrNameLst>
                                          <p:attrName>style.visibility</p:attrName>
                                        </p:attrNameLst>
                                      </p:cBhvr>
                                      <p:to>
                                        <p:strVal val="visible"/>
                                      </p:to>
                                    </p:set>
                                    <p:animEffect transition="in" filter="fade">
                                      <p:cBhvr>
                                        <p:cTn id="209" dur="450"/>
                                        <p:tgtEl>
                                          <p:spTgt spid="50"/>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51"/>
                                        </p:tgtEl>
                                        <p:attrNameLst>
                                          <p:attrName>style.visibility</p:attrName>
                                        </p:attrNameLst>
                                      </p:cBhvr>
                                      <p:to>
                                        <p:strVal val="visible"/>
                                      </p:to>
                                    </p:set>
                                    <p:animEffect transition="in" filter="fade">
                                      <p:cBhvr>
                                        <p:cTn id="212" dur="450"/>
                                        <p:tgtEl>
                                          <p:spTgt spid="51"/>
                                        </p:tgtEl>
                                      </p:cBhvr>
                                    </p:animEffect>
                                  </p:childTnLst>
                                </p:cTn>
                              </p:par>
                            </p:childTnLst>
                          </p:cTn>
                        </p:par>
                        <p:par>
                          <p:cTn id="213" fill="hold">
                            <p:stCondLst>
                              <p:cond delay="6360"/>
                            </p:stCondLst>
                            <p:childTnLst>
                              <p:par>
                                <p:cTn id="214" presetID="10" presetClass="entr" presetSubtype="0" fill="hold" grpId="0" nodeType="afterEffect">
                                  <p:stCondLst>
                                    <p:cond delay="60"/>
                                  </p:stCondLst>
                                  <p:childTnLst>
                                    <p:set>
                                      <p:cBhvr>
                                        <p:cTn id="215" dur="1" fill="hold">
                                          <p:stCondLst>
                                            <p:cond delay="0"/>
                                          </p:stCondLst>
                                        </p:cTn>
                                        <p:tgtEl>
                                          <p:spTgt spid="52"/>
                                        </p:tgtEl>
                                        <p:attrNameLst>
                                          <p:attrName>style.visibility</p:attrName>
                                        </p:attrNameLst>
                                      </p:cBhvr>
                                      <p:to>
                                        <p:strVal val="visible"/>
                                      </p:to>
                                    </p:set>
                                    <p:animEffect transition="in" filter="fade">
                                      <p:cBhvr>
                                        <p:cTn id="216" dur="400"/>
                                        <p:tgtEl>
                                          <p:spTgt spid="52"/>
                                        </p:tgtEl>
                                      </p:cBhvr>
                                    </p:animEffect>
                                  </p:childTnLst>
                                </p:cTn>
                              </p:par>
                            </p:childTnLst>
                          </p:cTn>
                        </p:par>
                        <p:par>
                          <p:cTn id="217" fill="hold">
                            <p:stCondLst>
                              <p:cond delay="6820"/>
                            </p:stCondLst>
                            <p:childTnLst>
                              <p:par>
                                <p:cTn id="218" presetID="10" presetClass="entr" presetSubtype="0" fill="hold" grpId="0" nodeType="afterEffect">
                                  <p:stCondLst>
                                    <p:cond delay="120"/>
                                  </p:stCondLst>
                                  <p:childTnLst>
                                    <p:set>
                                      <p:cBhvr>
                                        <p:cTn id="219" dur="1" fill="hold">
                                          <p:stCondLst>
                                            <p:cond delay="0"/>
                                          </p:stCondLst>
                                        </p:cTn>
                                        <p:tgtEl>
                                          <p:spTgt spid="53"/>
                                        </p:tgtEl>
                                        <p:attrNameLst>
                                          <p:attrName>style.visibility</p:attrName>
                                        </p:attrNameLst>
                                      </p:cBhvr>
                                      <p:to>
                                        <p:strVal val="visible"/>
                                      </p:to>
                                    </p:set>
                                    <p:animEffect transition="in" filter="fade">
                                      <p:cBhvr>
                                        <p:cTn id="220"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9" grpId="0"/>
      <p:bldP spid="10" grpId="0" animBg="1"/>
      <p:bldP spid="11" grpId="0"/>
      <p:bldP spid="13" grpId="0"/>
      <p:bldP spid="14" grpId="0" animBg="1"/>
      <p:bldP spid="15" grpId="0"/>
      <p:bldP spid="17" grpId="0"/>
      <p:bldP spid="18" grpId="0" animBg="1"/>
      <p:bldP spid="19" grpId="0"/>
      <p:bldP spid="21" grpId="0"/>
      <p:bldP spid="22" grpId="0" animBg="1"/>
      <p:bldP spid="23" grpId="0"/>
      <p:bldP spid="25" grpId="0"/>
      <p:bldP spid="26" grpId="0" animBg="1"/>
      <p:bldP spid="27" grpId="0"/>
      <p:bldP spid="29" grpId="0"/>
      <p:bldP spid="30" grpId="0" animBg="1"/>
      <p:bldP spid="31" grpId="0"/>
      <p:bldP spid="32" grpId="0" animBg="1"/>
      <p:bldP spid="33" grpId="0"/>
      <p:bldP spid="34" grpId="0"/>
      <p:bldP spid="35" grpId="0" animBg="1"/>
      <p:bldP spid="36" grpId="0" animBg="1"/>
      <p:bldP spid="37" grpId="0"/>
      <p:bldP spid="38" grpId="0"/>
      <p:bldP spid="39" grpId="0" animBg="1"/>
      <p:bldP spid="40" grpId="0"/>
      <p:bldP spid="41" grpId="0"/>
      <p:bldP spid="42" grpId="0" animBg="1"/>
      <p:bldP spid="43" grpId="0"/>
      <p:bldP spid="44" grpId="0"/>
      <p:bldP spid="45" grpId="0" animBg="1"/>
      <p:bldP spid="46" grpId="0"/>
      <p:bldP spid="47" grpId="0"/>
      <p:bldP spid="48" grpId="0" animBg="1"/>
      <p:bldP spid="49" grpId="0"/>
      <p:bldP spid="50" grpId="0" animBg="1"/>
      <p:bldP spid="51" grpId="0"/>
      <p:bldP spid="52" grpId="0"/>
      <p:bldP spid="53"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COMMERCIAL USE · INSIDE RELIANCE</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Reliance is the first customer</a:t>
            </a:r>
            <a:endParaRPr lang="en-US" sz="3200" dirty="0"/>
          </a:p>
        </p:txBody>
      </p:sp>
      <p:sp>
        <p:nvSpPr>
          <p:cNvPr id="6" name="use0"/>
          <p:cNvSpPr/>
          <p:nvPr/>
        </p:nvSpPr>
        <p:spPr>
          <a:xfrm>
            <a:off x="548640" y="2057400"/>
            <a:ext cx="3545738" cy="1664208"/>
          </a:xfrm>
          <a:prstGeom prst="roundRect">
            <a:avLst>
              <a:gd name="adj" fmla="val 6593"/>
            </a:avLst>
          </a:prstGeom>
          <a:solidFill>
            <a:srgbClr val="1C2447"/>
          </a:solidFill>
          <a:ln w="15875">
            <a:solidFill>
              <a:srgbClr val="F5A623"/>
            </a:solidFill>
            <a:prstDash val="solid"/>
          </a:ln>
        </p:spPr>
      </p:sp>
      <p:pic>
        <p:nvPicPr>
          <p:cNvPr id="7" name="useI0" descr="preencoded.png">    </p:cNvPr>
          <p:cNvPicPr>
            <a:picLocks noChangeAspect="1"/>
          </p:cNvPicPr>
          <p:nvPr/>
        </p:nvPicPr>
        <p:blipFill>
          <a:blip r:embed="rId2"/>
          <a:stretch>
            <a:fillRect/>
          </a:stretch>
        </p:blipFill>
        <p:spPr>
          <a:xfrm>
            <a:off x="749808" y="2240280"/>
            <a:ext cx="347472" cy="347472"/>
          </a:xfrm>
          <a:prstGeom prst="rect">
            <a:avLst/>
          </a:prstGeom>
        </p:spPr>
      </p:pic>
      <p:sp>
        <p:nvSpPr>
          <p:cNvPr id="8" name="useH0"/>
          <p:cNvSpPr txBox="1"/>
          <p:nvPr/>
        </p:nvSpPr>
        <p:spPr>
          <a:xfrm>
            <a:off x="1234440" y="2221992"/>
            <a:ext cx="2677058" cy="38404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Jio network operations</a:t>
            </a:r>
            <a:endParaRPr lang="en-US" sz="1550" dirty="0"/>
          </a:p>
        </p:txBody>
      </p:sp>
      <p:sp>
        <p:nvSpPr>
          <p:cNvPr id="9" name="useT0"/>
          <p:cNvSpPr txBox="1"/>
          <p:nvPr/>
        </p:nvSpPr>
        <p:spPr>
          <a:xfrm>
            <a:off x="749808" y="2715768"/>
            <a:ext cx="3161690" cy="932688"/>
          </a:xfrm>
          <a:prstGeom prst="rect">
            <a:avLst/>
          </a:prstGeom>
          <a:noFill/>
          <a:ln/>
        </p:spPr>
        <p:txBody>
          <a:bodyPr wrap="square" lIns="0" tIns="0" rIns="0" bIns="0" rtlCol="0" anchor="t"/>
          <a:lstStyle/>
          <a:p>
            <a:pPr indent="0" marL="0">
              <a:spcAft>
                <a:spcPts val="400"/>
              </a:spcAft>
              <a:buNone/>
            </a:pPr>
            <a:r>
              <a:rPr lang="en-US" sz="1300" dirty="0">
                <a:solidFill>
                  <a:srgbClr val="B9C2D8"/>
                </a:solidFill>
                <a:latin typeface="Calibri" pitchFamily="34" charset="0"/>
                <a:ea typeface="Calibri" pitchFamily="34" charset="-122"/>
                <a:cs typeface="Calibri" pitchFamily="34" charset="-120"/>
              </a:rPr>
              <a:t>Tell rain fade from equipment faults; fewer wasted site visits; flood alerts for sites.</a:t>
            </a:r>
            <a:endParaRPr lang="en-US" sz="1300" dirty="0"/>
          </a:p>
          <a:p>
            <a:pPr indent="0" marL="0">
              <a:spcAft>
                <a:spcPts val="400"/>
              </a:spcAft>
              <a:buNone/>
            </a:pPr>
            <a:r>
              <a:rPr lang="en-US" sz="1200" b="1" dirty="0">
                <a:solidFill>
                  <a:srgbClr val="F5A623"/>
                </a:solidFill>
                <a:latin typeface="Calibri" pitchFamily="34" charset="0"/>
                <a:ea typeface="Calibri" pitchFamily="34" charset="-122"/>
                <a:cs typeface="Calibri" pitchFamily="34" charset="-120"/>
              </a:rPr>
              <a:t>Proves accuracy and saves money</a:t>
            </a:r>
            <a:endParaRPr lang="en-US" sz="1300" dirty="0"/>
          </a:p>
        </p:txBody>
      </p:sp>
      <p:sp>
        <p:nvSpPr>
          <p:cNvPr id="10" name="use1"/>
          <p:cNvSpPr/>
          <p:nvPr/>
        </p:nvSpPr>
        <p:spPr>
          <a:xfrm>
            <a:off x="4322978" y="2057400"/>
            <a:ext cx="3545738" cy="1664208"/>
          </a:xfrm>
          <a:prstGeom prst="roundRect">
            <a:avLst>
              <a:gd name="adj" fmla="val 6593"/>
            </a:avLst>
          </a:prstGeom>
          <a:solidFill>
            <a:srgbClr val="1C2447"/>
          </a:solidFill>
          <a:ln w="15875">
            <a:solidFill>
              <a:srgbClr val="F5A623"/>
            </a:solidFill>
            <a:prstDash val="solid"/>
          </a:ln>
        </p:spPr>
      </p:sp>
      <p:pic>
        <p:nvPicPr>
          <p:cNvPr id="11" name="useI1" descr="preencoded.png">    </p:cNvPr>
          <p:cNvPicPr>
            <a:picLocks noChangeAspect="1"/>
          </p:cNvPicPr>
          <p:nvPr/>
        </p:nvPicPr>
        <p:blipFill>
          <a:blip r:embed="rId3"/>
          <a:stretch>
            <a:fillRect/>
          </a:stretch>
        </p:blipFill>
        <p:spPr>
          <a:xfrm>
            <a:off x="4524146" y="2240280"/>
            <a:ext cx="347472" cy="347472"/>
          </a:xfrm>
          <a:prstGeom prst="rect">
            <a:avLst/>
          </a:prstGeom>
        </p:spPr>
      </p:pic>
      <p:sp>
        <p:nvSpPr>
          <p:cNvPr id="12" name="useH1"/>
          <p:cNvSpPr txBox="1"/>
          <p:nvPr/>
        </p:nvSpPr>
        <p:spPr>
          <a:xfrm>
            <a:off x="5008778" y="2221992"/>
            <a:ext cx="2677058" cy="38404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JioMart and Reliance Retail</a:t>
            </a:r>
            <a:endParaRPr lang="en-US" sz="1550" dirty="0"/>
          </a:p>
        </p:txBody>
      </p:sp>
      <p:sp>
        <p:nvSpPr>
          <p:cNvPr id="13" name="useT1"/>
          <p:cNvSpPr txBox="1"/>
          <p:nvPr/>
        </p:nvSpPr>
        <p:spPr>
          <a:xfrm>
            <a:off x="4524146" y="2715768"/>
            <a:ext cx="3161690" cy="932688"/>
          </a:xfrm>
          <a:prstGeom prst="rect">
            <a:avLst/>
          </a:prstGeom>
          <a:noFill/>
          <a:ln/>
        </p:spPr>
        <p:txBody>
          <a:bodyPr wrap="square" lIns="0" tIns="0" rIns="0" bIns="0" rtlCol="0" anchor="t"/>
          <a:lstStyle/>
          <a:p>
            <a:pPr indent="0" marL="0">
              <a:spcAft>
                <a:spcPts val="400"/>
              </a:spcAft>
              <a:buNone/>
            </a:pPr>
            <a:r>
              <a:rPr lang="en-US" sz="1300" dirty="0">
                <a:solidFill>
                  <a:srgbClr val="B9C2D8"/>
                </a:solidFill>
                <a:latin typeface="Calibri" pitchFamily="34" charset="0"/>
                <a:ea typeface="Calibri" pitchFamily="34" charset="-122"/>
                <a:cs typeface="Calibri" pitchFamily="34" charset="-120"/>
              </a:rPr>
              <a:t>Rain-aware dispatch, delivery promises and zone pauses; stock for rain-driven demand.</a:t>
            </a:r>
            <a:endParaRPr lang="en-US" sz="1300" dirty="0"/>
          </a:p>
          <a:p>
            <a:pPr indent="0" marL="0">
              <a:spcAft>
                <a:spcPts val="400"/>
              </a:spcAft>
              <a:buNone/>
            </a:pPr>
            <a:r>
              <a:rPr lang="en-US" sz="1200" b="1" dirty="0">
                <a:solidFill>
                  <a:srgbClr val="F5A623"/>
                </a:solidFill>
                <a:latin typeface="Calibri" pitchFamily="34" charset="0"/>
                <a:ea typeface="Calibri" pitchFamily="34" charset="-122"/>
                <a:cs typeface="Calibri" pitchFamily="34" charset="-120"/>
              </a:rPr>
              <a:t>Proves the delivery case</a:t>
            </a:r>
            <a:endParaRPr lang="en-US" sz="1300" dirty="0"/>
          </a:p>
        </p:txBody>
      </p:sp>
      <p:sp>
        <p:nvSpPr>
          <p:cNvPr id="14" name="use2"/>
          <p:cNvSpPr/>
          <p:nvPr/>
        </p:nvSpPr>
        <p:spPr>
          <a:xfrm>
            <a:off x="8097317" y="2057400"/>
            <a:ext cx="3545738" cy="1664208"/>
          </a:xfrm>
          <a:prstGeom prst="roundRect">
            <a:avLst>
              <a:gd name="adj" fmla="val 6593"/>
            </a:avLst>
          </a:prstGeom>
          <a:solidFill>
            <a:srgbClr val="141B36"/>
          </a:solidFill>
          <a:ln w="9525">
            <a:solidFill>
              <a:srgbClr val="2A3357"/>
            </a:solidFill>
            <a:prstDash val="solid"/>
          </a:ln>
        </p:spPr>
      </p:sp>
      <p:pic>
        <p:nvPicPr>
          <p:cNvPr id="15" name="useI2" descr="preencoded.png">    </p:cNvPr>
          <p:cNvPicPr>
            <a:picLocks noChangeAspect="1"/>
          </p:cNvPicPr>
          <p:nvPr/>
        </p:nvPicPr>
        <p:blipFill>
          <a:blip r:embed="rId4"/>
          <a:stretch>
            <a:fillRect/>
          </a:stretch>
        </p:blipFill>
        <p:spPr>
          <a:xfrm>
            <a:off x="8298485" y="2240280"/>
            <a:ext cx="347472" cy="347472"/>
          </a:xfrm>
          <a:prstGeom prst="rect">
            <a:avLst/>
          </a:prstGeom>
        </p:spPr>
      </p:pic>
      <p:sp>
        <p:nvSpPr>
          <p:cNvPr id="16" name="useH2"/>
          <p:cNvSpPr txBox="1"/>
          <p:nvPr/>
        </p:nvSpPr>
        <p:spPr>
          <a:xfrm>
            <a:off x="8783117" y="2221992"/>
            <a:ext cx="2677058" cy="38404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MyJio</a:t>
            </a:r>
            <a:endParaRPr lang="en-US" sz="1550" dirty="0"/>
          </a:p>
        </p:txBody>
      </p:sp>
      <p:sp>
        <p:nvSpPr>
          <p:cNvPr id="17" name="useT2"/>
          <p:cNvSpPr txBox="1"/>
          <p:nvPr/>
        </p:nvSpPr>
        <p:spPr>
          <a:xfrm>
            <a:off x="8298485" y="2715768"/>
            <a:ext cx="3161690" cy="932688"/>
          </a:xfrm>
          <a:prstGeom prst="rect">
            <a:avLst/>
          </a:prstGeom>
          <a:noFill/>
          <a:ln/>
        </p:spPr>
        <p:txBody>
          <a:bodyPr wrap="square" lIns="0" tIns="0" rIns="0" bIns="0" rtlCol="0" anchor="t"/>
          <a:lstStyle/>
          <a:p>
            <a:pPr indent="0" marL="0">
              <a:spcAft>
                <a:spcPts val="400"/>
              </a:spcAft>
              <a:buNone/>
            </a:pPr>
            <a:r>
              <a:rPr lang="en-US" sz="1300" dirty="0">
                <a:solidFill>
                  <a:srgbClr val="B9C2D8"/>
                </a:solidFill>
                <a:latin typeface="Calibri" pitchFamily="34" charset="0"/>
                <a:ea typeface="Calibri" pitchFamily="34" charset="-122"/>
                <a:cs typeface="Calibri" pitchFamily="34" charset="-120"/>
              </a:rPr>
              <a:t>Street-level rain alerts for users, plus one-tap “is it raining here?” checks.</a:t>
            </a:r>
            <a:endParaRPr lang="en-US" sz="1300" dirty="0"/>
          </a:p>
          <a:p>
            <a:pPr indent="0" marL="0">
              <a:spcAft>
                <a:spcPts val="400"/>
              </a:spcAft>
              <a:buNone/>
            </a:pPr>
            <a:r>
              <a:rPr lang="en-US" sz="1200" b="1" dirty="0">
                <a:solidFill>
                  <a:srgbClr val="F5A623"/>
                </a:solidFill>
                <a:latin typeface="Calibri" pitchFamily="34" charset="0"/>
                <a:ea typeface="Calibri" pitchFamily="34" charset="-122"/>
                <a:cs typeface="Calibri" pitchFamily="34" charset="-120"/>
              </a:rPr>
              <a:t>Proves scale; crowd confirmation</a:t>
            </a:r>
            <a:endParaRPr lang="en-US" sz="1300" dirty="0"/>
          </a:p>
        </p:txBody>
      </p:sp>
      <p:sp>
        <p:nvSpPr>
          <p:cNvPr id="18" name="use3"/>
          <p:cNvSpPr/>
          <p:nvPr/>
        </p:nvSpPr>
        <p:spPr>
          <a:xfrm>
            <a:off x="548640" y="3867912"/>
            <a:ext cx="3545738" cy="1664208"/>
          </a:xfrm>
          <a:prstGeom prst="roundRect">
            <a:avLst>
              <a:gd name="adj" fmla="val 6593"/>
            </a:avLst>
          </a:prstGeom>
          <a:solidFill>
            <a:srgbClr val="141B36"/>
          </a:solidFill>
          <a:ln w="9525">
            <a:solidFill>
              <a:srgbClr val="2A3357"/>
            </a:solidFill>
            <a:prstDash val="solid"/>
          </a:ln>
        </p:spPr>
      </p:sp>
      <p:pic>
        <p:nvPicPr>
          <p:cNvPr id="19" name="useI3" descr="preencoded.png">    </p:cNvPr>
          <p:cNvPicPr>
            <a:picLocks noChangeAspect="1"/>
          </p:cNvPicPr>
          <p:nvPr/>
        </p:nvPicPr>
        <p:blipFill>
          <a:blip r:embed="rId5"/>
          <a:stretch>
            <a:fillRect/>
          </a:stretch>
        </p:blipFill>
        <p:spPr>
          <a:xfrm>
            <a:off x="749808" y="4050792"/>
            <a:ext cx="347472" cy="347472"/>
          </a:xfrm>
          <a:prstGeom prst="rect">
            <a:avLst/>
          </a:prstGeom>
        </p:spPr>
      </p:pic>
      <p:sp>
        <p:nvSpPr>
          <p:cNvPr id="20" name="useH3"/>
          <p:cNvSpPr txBox="1"/>
          <p:nvPr/>
        </p:nvSpPr>
        <p:spPr>
          <a:xfrm>
            <a:off x="1234440" y="4032504"/>
            <a:ext cx="2677058" cy="38404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JioAds</a:t>
            </a:r>
            <a:endParaRPr lang="en-US" sz="1550" dirty="0"/>
          </a:p>
        </p:txBody>
      </p:sp>
      <p:sp>
        <p:nvSpPr>
          <p:cNvPr id="21" name="useT3"/>
          <p:cNvSpPr txBox="1"/>
          <p:nvPr/>
        </p:nvSpPr>
        <p:spPr>
          <a:xfrm>
            <a:off x="749808" y="4526280"/>
            <a:ext cx="3161690" cy="932688"/>
          </a:xfrm>
          <a:prstGeom prst="rect">
            <a:avLst/>
          </a:prstGeom>
          <a:noFill/>
          <a:ln/>
        </p:spPr>
        <p:txBody>
          <a:bodyPr wrap="square" lIns="0" tIns="0" rIns="0" bIns="0" rtlCol="0" anchor="t"/>
          <a:lstStyle/>
          <a:p>
            <a:pPr indent="0" marL="0">
              <a:spcAft>
                <a:spcPts val="400"/>
              </a:spcAft>
              <a:buNone/>
            </a:pPr>
            <a:r>
              <a:rPr lang="en-US" sz="1300" dirty="0">
                <a:solidFill>
                  <a:srgbClr val="B9C2D8"/>
                </a:solidFill>
                <a:latin typeface="Calibri" pitchFamily="34" charset="0"/>
                <a:ea typeface="Calibri" pitchFamily="34" charset="-122"/>
                <a:cs typeface="Calibri" pitchFamily="34" charset="-120"/>
              </a:rPr>
              <a:t>Weather-triggered ads: tea, cabs, umbrellas when it rains.</a:t>
            </a:r>
            <a:endParaRPr lang="en-US" sz="1300" dirty="0"/>
          </a:p>
          <a:p>
            <a:pPr indent="0" marL="0">
              <a:spcAft>
                <a:spcPts val="400"/>
              </a:spcAft>
              <a:buNone/>
            </a:pPr>
            <a:r>
              <a:rPr lang="en-US" sz="1200" b="1" dirty="0">
                <a:solidFill>
                  <a:srgbClr val="F5A623"/>
                </a:solidFill>
                <a:latin typeface="Calibri" pitchFamily="34" charset="0"/>
                <a:ea typeface="Calibri" pitchFamily="34" charset="-122"/>
                <a:cs typeface="Calibri" pitchFamily="34" charset="-120"/>
              </a:rPr>
              <a:t>New revenue</a:t>
            </a:r>
            <a:endParaRPr lang="en-US" sz="1300" dirty="0"/>
          </a:p>
        </p:txBody>
      </p:sp>
      <p:sp>
        <p:nvSpPr>
          <p:cNvPr id="22" name="use4"/>
          <p:cNvSpPr/>
          <p:nvPr/>
        </p:nvSpPr>
        <p:spPr>
          <a:xfrm>
            <a:off x="4322978" y="3867912"/>
            <a:ext cx="3545738" cy="1664208"/>
          </a:xfrm>
          <a:prstGeom prst="roundRect">
            <a:avLst>
              <a:gd name="adj" fmla="val 6593"/>
            </a:avLst>
          </a:prstGeom>
          <a:solidFill>
            <a:srgbClr val="141B36"/>
          </a:solidFill>
          <a:ln w="9525">
            <a:solidFill>
              <a:srgbClr val="2A3357"/>
            </a:solidFill>
            <a:prstDash val="solid"/>
          </a:ln>
        </p:spPr>
      </p:sp>
      <p:pic>
        <p:nvPicPr>
          <p:cNvPr id="23" name="useI4" descr="preencoded.png">    </p:cNvPr>
          <p:cNvPicPr>
            <a:picLocks noChangeAspect="1"/>
          </p:cNvPicPr>
          <p:nvPr/>
        </p:nvPicPr>
        <p:blipFill>
          <a:blip r:embed="rId6"/>
          <a:stretch>
            <a:fillRect/>
          </a:stretch>
        </p:blipFill>
        <p:spPr>
          <a:xfrm>
            <a:off x="4524146" y="4050792"/>
            <a:ext cx="347472" cy="347472"/>
          </a:xfrm>
          <a:prstGeom prst="rect">
            <a:avLst/>
          </a:prstGeom>
        </p:spPr>
      </p:pic>
      <p:sp>
        <p:nvSpPr>
          <p:cNvPr id="24" name="useH4"/>
          <p:cNvSpPr txBox="1"/>
          <p:nvPr/>
        </p:nvSpPr>
        <p:spPr>
          <a:xfrm>
            <a:off x="5008778" y="4032504"/>
            <a:ext cx="2677058" cy="38404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Reliance Foundation</a:t>
            </a:r>
            <a:endParaRPr lang="en-US" sz="1550" dirty="0"/>
          </a:p>
        </p:txBody>
      </p:sp>
      <p:sp>
        <p:nvSpPr>
          <p:cNvPr id="25" name="useT4"/>
          <p:cNvSpPr txBox="1"/>
          <p:nvPr/>
        </p:nvSpPr>
        <p:spPr>
          <a:xfrm>
            <a:off x="4524146" y="4526280"/>
            <a:ext cx="3161690" cy="932688"/>
          </a:xfrm>
          <a:prstGeom prst="rect">
            <a:avLst/>
          </a:prstGeom>
          <a:noFill/>
          <a:ln/>
        </p:spPr>
        <p:txBody>
          <a:bodyPr wrap="square" lIns="0" tIns="0" rIns="0" bIns="0" rtlCol="0" anchor="t"/>
          <a:lstStyle/>
          <a:p>
            <a:pPr indent="0" marL="0">
              <a:spcAft>
                <a:spcPts val="400"/>
              </a:spcAft>
              <a:buNone/>
            </a:pPr>
            <a:r>
              <a:rPr lang="en-US" sz="1300" dirty="0">
                <a:solidFill>
                  <a:srgbClr val="B9C2D8"/>
                </a:solidFill>
                <a:latin typeface="Calibri" pitchFamily="34" charset="0"/>
                <a:ea typeface="Calibri" pitchFamily="34" charset="-122"/>
                <a:cs typeface="Calibri" pitchFamily="34" charset="-120"/>
              </a:rPr>
              <a:t>Flood and heavy-rain warnings for communities.</a:t>
            </a:r>
            <a:endParaRPr lang="en-US" sz="1300" dirty="0"/>
          </a:p>
          <a:p>
            <a:pPr indent="0" marL="0">
              <a:spcAft>
                <a:spcPts val="400"/>
              </a:spcAft>
              <a:buNone/>
            </a:pPr>
            <a:r>
              <a:rPr lang="en-US" sz="1200" b="1" dirty="0">
                <a:solidFill>
                  <a:srgbClr val="F5A623"/>
                </a:solidFill>
                <a:latin typeface="Calibri" pitchFamily="34" charset="0"/>
                <a:ea typeface="Calibri" pitchFamily="34" charset="-122"/>
                <a:cs typeface="Calibri" pitchFamily="34" charset="-120"/>
              </a:rPr>
              <a:t>Social impact</a:t>
            </a:r>
            <a:endParaRPr lang="en-US" sz="1300" dirty="0"/>
          </a:p>
        </p:txBody>
      </p:sp>
      <p:sp>
        <p:nvSpPr>
          <p:cNvPr id="26" name="use5"/>
          <p:cNvSpPr/>
          <p:nvPr/>
        </p:nvSpPr>
        <p:spPr>
          <a:xfrm>
            <a:off x="8097317" y="3867912"/>
            <a:ext cx="3545738" cy="1664208"/>
          </a:xfrm>
          <a:prstGeom prst="roundRect">
            <a:avLst>
              <a:gd name="adj" fmla="val 6593"/>
            </a:avLst>
          </a:prstGeom>
          <a:solidFill>
            <a:srgbClr val="141B36"/>
          </a:solidFill>
          <a:ln w="9525">
            <a:solidFill>
              <a:srgbClr val="2A3357"/>
            </a:solidFill>
            <a:prstDash val="solid"/>
          </a:ln>
        </p:spPr>
      </p:sp>
      <p:pic>
        <p:nvPicPr>
          <p:cNvPr id="27" name="useI5" descr="preencoded.png">    </p:cNvPr>
          <p:cNvPicPr>
            <a:picLocks noChangeAspect="1"/>
          </p:cNvPicPr>
          <p:nvPr/>
        </p:nvPicPr>
        <p:blipFill>
          <a:blip r:embed="rId7"/>
          <a:stretch>
            <a:fillRect/>
          </a:stretch>
        </p:blipFill>
        <p:spPr>
          <a:xfrm>
            <a:off x="8298485" y="4050792"/>
            <a:ext cx="347472" cy="347472"/>
          </a:xfrm>
          <a:prstGeom prst="rect">
            <a:avLst/>
          </a:prstGeom>
        </p:spPr>
      </p:pic>
      <p:sp>
        <p:nvSpPr>
          <p:cNvPr id="28" name="useH5"/>
          <p:cNvSpPr txBox="1"/>
          <p:nvPr/>
        </p:nvSpPr>
        <p:spPr>
          <a:xfrm>
            <a:off x="8783117" y="4032504"/>
            <a:ext cx="2677058" cy="38404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Jio Financial Services</a:t>
            </a:r>
            <a:endParaRPr lang="en-US" sz="1550" dirty="0"/>
          </a:p>
        </p:txBody>
      </p:sp>
      <p:sp>
        <p:nvSpPr>
          <p:cNvPr id="29" name="useT5"/>
          <p:cNvSpPr txBox="1"/>
          <p:nvPr/>
        </p:nvSpPr>
        <p:spPr>
          <a:xfrm>
            <a:off x="8298485" y="4526280"/>
            <a:ext cx="3161690" cy="932688"/>
          </a:xfrm>
          <a:prstGeom prst="rect">
            <a:avLst/>
          </a:prstGeom>
          <a:noFill/>
          <a:ln/>
        </p:spPr>
        <p:txBody>
          <a:bodyPr wrap="square" lIns="0" tIns="0" rIns="0" bIns="0" rtlCol="0" anchor="t"/>
          <a:lstStyle/>
          <a:p>
            <a:pPr indent="0" marL="0">
              <a:spcAft>
                <a:spcPts val="400"/>
              </a:spcAft>
              <a:buNone/>
            </a:pPr>
            <a:r>
              <a:rPr lang="en-US" sz="1300" dirty="0">
                <a:solidFill>
                  <a:srgbClr val="B9C2D8"/>
                </a:solidFill>
                <a:latin typeface="Calibri" pitchFamily="34" charset="0"/>
                <a:ea typeface="Calibri" pitchFamily="34" charset="-122"/>
                <a:cs typeface="Calibri" pitchFamily="34" charset="-120"/>
              </a:rPr>
              <a:t>Prepares the insurance option with a licensed insurer.</a:t>
            </a:r>
            <a:endParaRPr lang="en-US" sz="1300" dirty="0"/>
          </a:p>
          <a:p>
            <a:pPr indent="0" marL="0">
              <a:spcAft>
                <a:spcPts val="400"/>
              </a:spcAft>
              <a:buNone/>
            </a:pPr>
            <a:r>
              <a:rPr lang="en-US" sz="1200" b="1" dirty="0">
                <a:solidFill>
                  <a:srgbClr val="F5A623"/>
                </a:solidFill>
                <a:latin typeface="Calibri" pitchFamily="34" charset="0"/>
                <a:ea typeface="Calibri" pitchFamily="34" charset="-122"/>
                <a:cs typeface="Calibri" pitchFamily="34" charset="-120"/>
              </a:rPr>
              <a:t>Readiness, not dependence</a:t>
            </a:r>
            <a:endParaRPr lang="en-US" sz="1300" dirty="0"/>
          </a:p>
        </p:txBody>
      </p:sp>
      <p:sp>
        <p:nvSpPr>
          <p:cNvPr id="30" name="takeaway"/>
          <p:cNvSpPr txBox="1"/>
          <p:nvPr/>
        </p:nvSpPr>
        <p:spPr>
          <a:xfrm>
            <a:off x="548640" y="576072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Prove accuracy and value at home before selling outside.</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42"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42" presetClass="entr" presetSubtype="0" fill="hold" grpId="0" nodeType="afterEffect">
                                  <p:stCondLst>
                                    <p:cond delay="3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80"/>
                                        <p:tgtEl>
                                          <p:spTgt spid="6"/>
                                        </p:tgtEl>
                                      </p:cBhvr>
                                    </p:animEffect>
                                    <p:anim calcmode="lin" valueType="num">
                                      <p:cBhvr>
                                        <p:cTn id="16" dur="380" fill="hold"/>
                                        <p:tgtEl>
                                          <p:spTgt spid="6"/>
                                        </p:tgtEl>
                                        <p:attrNameLst>
                                          <p:attrName>ppt_x</p:attrName>
                                        </p:attrNameLst>
                                      </p:cBhvr>
                                      <p:tavLst>
                                        <p:tav tm="0">
                                          <p:val>
                                            <p:strVal val="#ppt_x"/>
                                          </p:val>
                                        </p:tav>
                                        <p:tav tm="100000">
                                          <p:val>
                                            <p:strVal val="#ppt_x"/>
                                          </p:val>
                                        </p:tav>
                                      </p:tavLst>
                                    </p:anim>
                                    <p:anim calcmode="lin" valueType="num">
                                      <p:cBhvr>
                                        <p:cTn id="17" dur="38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380"/>
                                        <p:tgtEl>
                                          <p:spTgt spid="7"/>
                                        </p:tgtEl>
                                      </p:cBhvr>
                                    </p:animEffect>
                                    <p:anim calcmode="lin" valueType="num">
                                      <p:cBhvr>
                                        <p:cTn id="21" dur="380" fill="hold"/>
                                        <p:tgtEl>
                                          <p:spTgt spid="7"/>
                                        </p:tgtEl>
                                        <p:attrNameLst>
                                          <p:attrName>ppt_x</p:attrName>
                                        </p:attrNameLst>
                                      </p:cBhvr>
                                      <p:tavLst>
                                        <p:tav tm="0">
                                          <p:val>
                                            <p:strVal val="#ppt_x"/>
                                          </p:val>
                                        </p:tav>
                                        <p:tav tm="100000">
                                          <p:val>
                                            <p:strVal val="#ppt_x"/>
                                          </p:val>
                                        </p:tav>
                                      </p:tavLst>
                                    </p:anim>
                                    <p:anim calcmode="lin" valueType="num">
                                      <p:cBhvr>
                                        <p:cTn id="22" dur="38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380"/>
                                        <p:tgtEl>
                                          <p:spTgt spid="8"/>
                                        </p:tgtEl>
                                      </p:cBhvr>
                                    </p:animEffect>
                                    <p:anim calcmode="lin" valueType="num">
                                      <p:cBhvr>
                                        <p:cTn id="26" dur="380" fill="hold"/>
                                        <p:tgtEl>
                                          <p:spTgt spid="8"/>
                                        </p:tgtEl>
                                        <p:attrNameLst>
                                          <p:attrName>ppt_x</p:attrName>
                                        </p:attrNameLst>
                                      </p:cBhvr>
                                      <p:tavLst>
                                        <p:tav tm="0">
                                          <p:val>
                                            <p:strVal val="#ppt_x"/>
                                          </p:val>
                                        </p:tav>
                                        <p:tav tm="100000">
                                          <p:val>
                                            <p:strVal val="#ppt_x"/>
                                          </p:val>
                                        </p:tav>
                                      </p:tavLst>
                                    </p:anim>
                                    <p:anim calcmode="lin" valueType="num">
                                      <p:cBhvr>
                                        <p:cTn id="27" dur="38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380"/>
                                        <p:tgtEl>
                                          <p:spTgt spid="9"/>
                                        </p:tgtEl>
                                      </p:cBhvr>
                                    </p:animEffect>
                                    <p:anim calcmode="lin" valueType="num">
                                      <p:cBhvr>
                                        <p:cTn id="31" dur="380" fill="hold"/>
                                        <p:tgtEl>
                                          <p:spTgt spid="9"/>
                                        </p:tgtEl>
                                        <p:attrNameLst>
                                          <p:attrName>ppt_x</p:attrName>
                                        </p:attrNameLst>
                                      </p:cBhvr>
                                      <p:tavLst>
                                        <p:tav tm="0">
                                          <p:val>
                                            <p:strVal val="#ppt_x"/>
                                          </p:val>
                                        </p:tav>
                                        <p:tav tm="100000">
                                          <p:val>
                                            <p:strVal val="#ppt_x"/>
                                          </p:val>
                                        </p:tav>
                                      </p:tavLst>
                                    </p:anim>
                                    <p:anim calcmode="lin" valueType="num">
                                      <p:cBhvr>
                                        <p:cTn id="32" dur="380" fill="hold"/>
                                        <p:tgtEl>
                                          <p:spTgt spid="9"/>
                                        </p:tgtEl>
                                        <p:attrNameLst>
                                          <p:attrName>ppt_y</p:attrName>
                                        </p:attrNameLst>
                                      </p:cBhvr>
                                      <p:tavLst>
                                        <p:tav tm="0">
                                          <p:val>
                                            <p:strVal val="#ppt_y+.06"/>
                                          </p:val>
                                        </p:tav>
                                        <p:tav tm="100000">
                                          <p:val>
                                            <p:strVal val="#ppt_y"/>
                                          </p:val>
                                        </p:tav>
                                      </p:tavLst>
                                    </p:anim>
                                  </p:childTnLst>
                                </p:cTn>
                              </p:par>
                            </p:childTnLst>
                          </p:cTn>
                        </p:par>
                        <p:par>
                          <p:cTn id="33" fill="hold">
                            <p:stCondLst>
                              <p:cond delay="1160"/>
                            </p:stCondLst>
                            <p:childTnLst>
                              <p:par>
                                <p:cTn id="34" presetID="42" presetClass="entr" presetSubtype="0" fill="hold" grpId="0" nodeType="afterEffect">
                                  <p:stCondLst>
                                    <p:cond delay="3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380"/>
                                        <p:tgtEl>
                                          <p:spTgt spid="10"/>
                                        </p:tgtEl>
                                      </p:cBhvr>
                                    </p:animEffect>
                                    <p:anim calcmode="lin" valueType="num">
                                      <p:cBhvr>
                                        <p:cTn id="37" dur="380" fill="hold"/>
                                        <p:tgtEl>
                                          <p:spTgt spid="10"/>
                                        </p:tgtEl>
                                        <p:attrNameLst>
                                          <p:attrName>ppt_x</p:attrName>
                                        </p:attrNameLst>
                                      </p:cBhvr>
                                      <p:tavLst>
                                        <p:tav tm="0">
                                          <p:val>
                                            <p:strVal val="#ppt_x"/>
                                          </p:val>
                                        </p:tav>
                                        <p:tav tm="100000">
                                          <p:val>
                                            <p:strVal val="#ppt_x"/>
                                          </p:val>
                                        </p:tav>
                                      </p:tavLst>
                                    </p:anim>
                                    <p:anim calcmode="lin" valueType="num">
                                      <p:cBhvr>
                                        <p:cTn id="38" dur="380" fill="hold"/>
                                        <p:tgtEl>
                                          <p:spTgt spid="10"/>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380"/>
                                        <p:tgtEl>
                                          <p:spTgt spid="11"/>
                                        </p:tgtEl>
                                      </p:cBhvr>
                                    </p:animEffect>
                                    <p:anim calcmode="lin" valueType="num">
                                      <p:cBhvr>
                                        <p:cTn id="42" dur="380" fill="hold"/>
                                        <p:tgtEl>
                                          <p:spTgt spid="11"/>
                                        </p:tgtEl>
                                        <p:attrNameLst>
                                          <p:attrName>ppt_x</p:attrName>
                                        </p:attrNameLst>
                                      </p:cBhvr>
                                      <p:tavLst>
                                        <p:tav tm="0">
                                          <p:val>
                                            <p:strVal val="#ppt_x"/>
                                          </p:val>
                                        </p:tav>
                                        <p:tav tm="100000">
                                          <p:val>
                                            <p:strVal val="#ppt_x"/>
                                          </p:val>
                                        </p:tav>
                                      </p:tavLst>
                                    </p:anim>
                                    <p:anim calcmode="lin" valueType="num">
                                      <p:cBhvr>
                                        <p:cTn id="43" dur="380" fill="hold"/>
                                        <p:tgtEl>
                                          <p:spTgt spid="11"/>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380"/>
                                        <p:tgtEl>
                                          <p:spTgt spid="12"/>
                                        </p:tgtEl>
                                      </p:cBhvr>
                                    </p:animEffect>
                                    <p:anim calcmode="lin" valueType="num">
                                      <p:cBhvr>
                                        <p:cTn id="47" dur="380" fill="hold"/>
                                        <p:tgtEl>
                                          <p:spTgt spid="12"/>
                                        </p:tgtEl>
                                        <p:attrNameLst>
                                          <p:attrName>ppt_x</p:attrName>
                                        </p:attrNameLst>
                                      </p:cBhvr>
                                      <p:tavLst>
                                        <p:tav tm="0">
                                          <p:val>
                                            <p:strVal val="#ppt_x"/>
                                          </p:val>
                                        </p:tav>
                                        <p:tav tm="100000">
                                          <p:val>
                                            <p:strVal val="#ppt_x"/>
                                          </p:val>
                                        </p:tav>
                                      </p:tavLst>
                                    </p:anim>
                                    <p:anim calcmode="lin" valueType="num">
                                      <p:cBhvr>
                                        <p:cTn id="48" dur="380" fill="hold"/>
                                        <p:tgtEl>
                                          <p:spTgt spid="12"/>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380"/>
                                        <p:tgtEl>
                                          <p:spTgt spid="13"/>
                                        </p:tgtEl>
                                      </p:cBhvr>
                                    </p:animEffect>
                                    <p:anim calcmode="lin" valueType="num">
                                      <p:cBhvr>
                                        <p:cTn id="52" dur="380" fill="hold"/>
                                        <p:tgtEl>
                                          <p:spTgt spid="13"/>
                                        </p:tgtEl>
                                        <p:attrNameLst>
                                          <p:attrName>ppt_x</p:attrName>
                                        </p:attrNameLst>
                                      </p:cBhvr>
                                      <p:tavLst>
                                        <p:tav tm="0">
                                          <p:val>
                                            <p:strVal val="#ppt_x"/>
                                          </p:val>
                                        </p:tav>
                                        <p:tav tm="100000">
                                          <p:val>
                                            <p:strVal val="#ppt_x"/>
                                          </p:val>
                                        </p:tav>
                                      </p:tavLst>
                                    </p:anim>
                                    <p:anim calcmode="lin" valueType="num">
                                      <p:cBhvr>
                                        <p:cTn id="53" dur="380" fill="hold"/>
                                        <p:tgtEl>
                                          <p:spTgt spid="13"/>
                                        </p:tgtEl>
                                        <p:attrNameLst>
                                          <p:attrName>ppt_y</p:attrName>
                                        </p:attrNameLst>
                                      </p:cBhvr>
                                      <p:tavLst>
                                        <p:tav tm="0">
                                          <p:val>
                                            <p:strVal val="#ppt_y+.06"/>
                                          </p:val>
                                        </p:tav>
                                        <p:tav tm="100000">
                                          <p:val>
                                            <p:strVal val="#ppt_y"/>
                                          </p:val>
                                        </p:tav>
                                      </p:tavLst>
                                    </p:anim>
                                  </p:childTnLst>
                                </p:cTn>
                              </p:par>
                            </p:childTnLst>
                          </p:cTn>
                        </p:par>
                        <p:par>
                          <p:cTn id="54" fill="hold">
                            <p:stCondLst>
                              <p:cond delay="1570"/>
                            </p:stCondLst>
                            <p:childTnLst>
                              <p:par>
                                <p:cTn id="55" presetID="42" presetClass="entr" presetSubtype="0" fill="hold" grpId="0" nodeType="afterEffect">
                                  <p:stCondLst>
                                    <p:cond delay="3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380"/>
                                        <p:tgtEl>
                                          <p:spTgt spid="14"/>
                                        </p:tgtEl>
                                      </p:cBhvr>
                                    </p:animEffect>
                                    <p:anim calcmode="lin" valueType="num">
                                      <p:cBhvr>
                                        <p:cTn id="58" dur="380" fill="hold"/>
                                        <p:tgtEl>
                                          <p:spTgt spid="14"/>
                                        </p:tgtEl>
                                        <p:attrNameLst>
                                          <p:attrName>ppt_x</p:attrName>
                                        </p:attrNameLst>
                                      </p:cBhvr>
                                      <p:tavLst>
                                        <p:tav tm="0">
                                          <p:val>
                                            <p:strVal val="#ppt_x"/>
                                          </p:val>
                                        </p:tav>
                                        <p:tav tm="100000">
                                          <p:val>
                                            <p:strVal val="#ppt_x"/>
                                          </p:val>
                                        </p:tav>
                                      </p:tavLst>
                                    </p:anim>
                                    <p:anim calcmode="lin" valueType="num">
                                      <p:cBhvr>
                                        <p:cTn id="59" dur="380" fill="hold"/>
                                        <p:tgtEl>
                                          <p:spTgt spid="14"/>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380"/>
                                        <p:tgtEl>
                                          <p:spTgt spid="15"/>
                                        </p:tgtEl>
                                      </p:cBhvr>
                                    </p:animEffect>
                                    <p:anim calcmode="lin" valueType="num">
                                      <p:cBhvr>
                                        <p:cTn id="63" dur="380" fill="hold"/>
                                        <p:tgtEl>
                                          <p:spTgt spid="15"/>
                                        </p:tgtEl>
                                        <p:attrNameLst>
                                          <p:attrName>ppt_x</p:attrName>
                                        </p:attrNameLst>
                                      </p:cBhvr>
                                      <p:tavLst>
                                        <p:tav tm="0">
                                          <p:val>
                                            <p:strVal val="#ppt_x"/>
                                          </p:val>
                                        </p:tav>
                                        <p:tav tm="100000">
                                          <p:val>
                                            <p:strVal val="#ppt_x"/>
                                          </p:val>
                                        </p:tav>
                                      </p:tavLst>
                                    </p:anim>
                                    <p:anim calcmode="lin" valueType="num">
                                      <p:cBhvr>
                                        <p:cTn id="64" dur="380" fill="hold"/>
                                        <p:tgtEl>
                                          <p:spTgt spid="15"/>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380"/>
                                        <p:tgtEl>
                                          <p:spTgt spid="16"/>
                                        </p:tgtEl>
                                      </p:cBhvr>
                                    </p:animEffect>
                                    <p:anim calcmode="lin" valueType="num">
                                      <p:cBhvr>
                                        <p:cTn id="68" dur="380" fill="hold"/>
                                        <p:tgtEl>
                                          <p:spTgt spid="16"/>
                                        </p:tgtEl>
                                        <p:attrNameLst>
                                          <p:attrName>ppt_x</p:attrName>
                                        </p:attrNameLst>
                                      </p:cBhvr>
                                      <p:tavLst>
                                        <p:tav tm="0">
                                          <p:val>
                                            <p:strVal val="#ppt_x"/>
                                          </p:val>
                                        </p:tav>
                                        <p:tav tm="100000">
                                          <p:val>
                                            <p:strVal val="#ppt_x"/>
                                          </p:val>
                                        </p:tav>
                                      </p:tavLst>
                                    </p:anim>
                                    <p:anim calcmode="lin" valueType="num">
                                      <p:cBhvr>
                                        <p:cTn id="69" dur="380" fill="hold"/>
                                        <p:tgtEl>
                                          <p:spTgt spid="16"/>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380"/>
                                        <p:tgtEl>
                                          <p:spTgt spid="17"/>
                                        </p:tgtEl>
                                      </p:cBhvr>
                                    </p:animEffect>
                                    <p:anim calcmode="lin" valueType="num">
                                      <p:cBhvr>
                                        <p:cTn id="73" dur="380" fill="hold"/>
                                        <p:tgtEl>
                                          <p:spTgt spid="17"/>
                                        </p:tgtEl>
                                        <p:attrNameLst>
                                          <p:attrName>ppt_x</p:attrName>
                                        </p:attrNameLst>
                                      </p:cBhvr>
                                      <p:tavLst>
                                        <p:tav tm="0">
                                          <p:val>
                                            <p:strVal val="#ppt_x"/>
                                          </p:val>
                                        </p:tav>
                                        <p:tav tm="100000">
                                          <p:val>
                                            <p:strVal val="#ppt_x"/>
                                          </p:val>
                                        </p:tav>
                                      </p:tavLst>
                                    </p:anim>
                                    <p:anim calcmode="lin" valueType="num">
                                      <p:cBhvr>
                                        <p:cTn id="74" dur="380" fill="hold"/>
                                        <p:tgtEl>
                                          <p:spTgt spid="17"/>
                                        </p:tgtEl>
                                        <p:attrNameLst>
                                          <p:attrName>ppt_y</p:attrName>
                                        </p:attrNameLst>
                                      </p:cBhvr>
                                      <p:tavLst>
                                        <p:tav tm="0">
                                          <p:val>
                                            <p:strVal val="#ppt_y+.06"/>
                                          </p:val>
                                        </p:tav>
                                        <p:tav tm="100000">
                                          <p:val>
                                            <p:strVal val="#ppt_y"/>
                                          </p:val>
                                        </p:tav>
                                      </p:tavLst>
                                    </p:anim>
                                  </p:childTnLst>
                                </p:cTn>
                              </p:par>
                            </p:childTnLst>
                          </p:cTn>
                        </p:par>
                        <p:par>
                          <p:cTn id="75" fill="hold">
                            <p:stCondLst>
                              <p:cond delay="1980"/>
                            </p:stCondLst>
                            <p:childTnLst>
                              <p:par>
                                <p:cTn id="76" presetID="42" presetClass="entr" presetSubtype="0" fill="hold" grpId="0" nodeType="afterEffect">
                                  <p:stCondLst>
                                    <p:cond delay="3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380"/>
                                        <p:tgtEl>
                                          <p:spTgt spid="18"/>
                                        </p:tgtEl>
                                      </p:cBhvr>
                                    </p:animEffect>
                                    <p:anim calcmode="lin" valueType="num">
                                      <p:cBhvr>
                                        <p:cTn id="79" dur="380" fill="hold"/>
                                        <p:tgtEl>
                                          <p:spTgt spid="18"/>
                                        </p:tgtEl>
                                        <p:attrNameLst>
                                          <p:attrName>ppt_x</p:attrName>
                                        </p:attrNameLst>
                                      </p:cBhvr>
                                      <p:tavLst>
                                        <p:tav tm="0">
                                          <p:val>
                                            <p:strVal val="#ppt_x"/>
                                          </p:val>
                                        </p:tav>
                                        <p:tav tm="100000">
                                          <p:val>
                                            <p:strVal val="#ppt_x"/>
                                          </p:val>
                                        </p:tav>
                                      </p:tavLst>
                                    </p:anim>
                                    <p:anim calcmode="lin" valueType="num">
                                      <p:cBhvr>
                                        <p:cTn id="80" dur="380" fill="hold"/>
                                        <p:tgtEl>
                                          <p:spTgt spid="18"/>
                                        </p:tgtEl>
                                        <p:attrNameLst>
                                          <p:attrName>ppt_y</p:attrName>
                                        </p:attrNameLst>
                                      </p:cBhvr>
                                      <p:tavLst>
                                        <p:tav tm="0">
                                          <p:val>
                                            <p:strVal val="#ppt_y+.06"/>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380"/>
                                        <p:tgtEl>
                                          <p:spTgt spid="19"/>
                                        </p:tgtEl>
                                      </p:cBhvr>
                                    </p:animEffect>
                                    <p:anim calcmode="lin" valueType="num">
                                      <p:cBhvr>
                                        <p:cTn id="84" dur="380" fill="hold"/>
                                        <p:tgtEl>
                                          <p:spTgt spid="19"/>
                                        </p:tgtEl>
                                        <p:attrNameLst>
                                          <p:attrName>ppt_x</p:attrName>
                                        </p:attrNameLst>
                                      </p:cBhvr>
                                      <p:tavLst>
                                        <p:tav tm="0">
                                          <p:val>
                                            <p:strVal val="#ppt_x"/>
                                          </p:val>
                                        </p:tav>
                                        <p:tav tm="100000">
                                          <p:val>
                                            <p:strVal val="#ppt_x"/>
                                          </p:val>
                                        </p:tav>
                                      </p:tavLst>
                                    </p:anim>
                                    <p:anim calcmode="lin" valueType="num">
                                      <p:cBhvr>
                                        <p:cTn id="85" dur="380" fill="hold"/>
                                        <p:tgtEl>
                                          <p:spTgt spid="19"/>
                                        </p:tgtEl>
                                        <p:attrNameLst>
                                          <p:attrName>ppt_y</p:attrName>
                                        </p:attrNameLst>
                                      </p:cBhvr>
                                      <p:tavLst>
                                        <p:tav tm="0">
                                          <p:val>
                                            <p:strVal val="#ppt_y+.06"/>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380"/>
                                        <p:tgtEl>
                                          <p:spTgt spid="20"/>
                                        </p:tgtEl>
                                      </p:cBhvr>
                                    </p:animEffect>
                                    <p:anim calcmode="lin" valueType="num">
                                      <p:cBhvr>
                                        <p:cTn id="89" dur="380" fill="hold"/>
                                        <p:tgtEl>
                                          <p:spTgt spid="20"/>
                                        </p:tgtEl>
                                        <p:attrNameLst>
                                          <p:attrName>ppt_x</p:attrName>
                                        </p:attrNameLst>
                                      </p:cBhvr>
                                      <p:tavLst>
                                        <p:tav tm="0">
                                          <p:val>
                                            <p:strVal val="#ppt_x"/>
                                          </p:val>
                                        </p:tav>
                                        <p:tav tm="100000">
                                          <p:val>
                                            <p:strVal val="#ppt_x"/>
                                          </p:val>
                                        </p:tav>
                                      </p:tavLst>
                                    </p:anim>
                                    <p:anim calcmode="lin" valueType="num">
                                      <p:cBhvr>
                                        <p:cTn id="90" dur="380" fill="hold"/>
                                        <p:tgtEl>
                                          <p:spTgt spid="20"/>
                                        </p:tgtEl>
                                        <p:attrNameLst>
                                          <p:attrName>ppt_y</p:attrName>
                                        </p:attrNameLst>
                                      </p:cBhvr>
                                      <p:tavLst>
                                        <p:tav tm="0">
                                          <p:val>
                                            <p:strVal val="#ppt_y+.06"/>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380"/>
                                        <p:tgtEl>
                                          <p:spTgt spid="21"/>
                                        </p:tgtEl>
                                      </p:cBhvr>
                                    </p:animEffect>
                                    <p:anim calcmode="lin" valueType="num">
                                      <p:cBhvr>
                                        <p:cTn id="94" dur="380" fill="hold"/>
                                        <p:tgtEl>
                                          <p:spTgt spid="21"/>
                                        </p:tgtEl>
                                        <p:attrNameLst>
                                          <p:attrName>ppt_x</p:attrName>
                                        </p:attrNameLst>
                                      </p:cBhvr>
                                      <p:tavLst>
                                        <p:tav tm="0">
                                          <p:val>
                                            <p:strVal val="#ppt_x"/>
                                          </p:val>
                                        </p:tav>
                                        <p:tav tm="100000">
                                          <p:val>
                                            <p:strVal val="#ppt_x"/>
                                          </p:val>
                                        </p:tav>
                                      </p:tavLst>
                                    </p:anim>
                                    <p:anim calcmode="lin" valueType="num">
                                      <p:cBhvr>
                                        <p:cTn id="95" dur="380" fill="hold"/>
                                        <p:tgtEl>
                                          <p:spTgt spid="21"/>
                                        </p:tgtEl>
                                        <p:attrNameLst>
                                          <p:attrName>ppt_y</p:attrName>
                                        </p:attrNameLst>
                                      </p:cBhvr>
                                      <p:tavLst>
                                        <p:tav tm="0">
                                          <p:val>
                                            <p:strVal val="#ppt_y+.06"/>
                                          </p:val>
                                        </p:tav>
                                        <p:tav tm="100000">
                                          <p:val>
                                            <p:strVal val="#ppt_y"/>
                                          </p:val>
                                        </p:tav>
                                      </p:tavLst>
                                    </p:anim>
                                  </p:childTnLst>
                                </p:cTn>
                              </p:par>
                            </p:childTnLst>
                          </p:cTn>
                        </p:par>
                        <p:par>
                          <p:cTn id="96" fill="hold">
                            <p:stCondLst>
                              <p:cond delay="2390"/>
                            </p:stCondLst>
                            <p:childTnLst>
                              <p:par>
                                <p:cTn id="97" presetID="42" presetClass="entr" presetSubtype="0" fill="hold" grpId="0" nodeType="afterEffect">
                                  <p:stCondLst>
                                    <p:cond delay="3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380"/>
                                        <p:tgtEl>
                                          <p:spTgt spid="22"/>
                                        </p:tgtEl>
                                      </p:cBhvr>
                                    </p:animEffect>
                                    <p:anim calcmode="lin" valueType="num">
                                      <p:cBhvr>
                                        <p:cTn id="100" dur="380" fill="hold"/>
                                        <p:tgtEl>
                                          <p:spTgt spid="22"/>
                                        </p:tgtEl>
                                        <p:attrNameLst>
                                          <p:attrName>ppt_x</p:attrName>
                                        </p:attrNameLst>
                                      </p:cBhvr>
                                      <p:tavLst>
                                        <p:tav tm="0">
                                          <p:val>
                                            <p:strVal val="#ppt_x"/>
                                          </p:val>
                                        </p:tav>
                                        <p:tav tm="100000">
                                          <p:val>
                                            <p:strVal val="#ppt_x"/>
                                          </p:val>
                                        </p:tav>
                                      </p:tavLst>
                                    </p:anim>
                                    <p:anim calcmode="lin" valueType="num">
                                      <p:cBhvr>
                                        <p:cTn id="101" dur="380" fill="hold"/>
                                        <p:tgtEl>
                                          <p:spTgt spid="22"/>
                                        </p:tgtEl>
                                        <p:attrNameLst>
                                          <p:attrName>ppt_y</p:attrName>
                                        </p:attrNameLst>
                                      </p:cBhvr>
                                      <p:tavLst>
                                        <p:tav tm="0">
                                          <p:val>
                                            <p:strVal val="#ppt_y+.06"/>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3"/>
                                        </p:tgtEl>
                                        <p:attrNameLst>
                                          <p:attrName>style.visibility</p:attrName>
                                        </p:attrNameLst>
                                      </p:cBhvr>
                                      <p:to>
                                        <p:strVal val="visible"/>
                                      </p:to>
                                    </p:set>
                                    <p:animEffect transition="in" filter="fade">
                                      <p:cBhvr>
                                        <p:cTn id="104" dur="380"/>
                                        <p:tgtEl>
                                          <p:spTgt spid="23"/>
                                        </p:tgtEl>
                                      </p:cBhvr>
                                    </p:animEffect>
                                    <p:anim calcmode="lin" valueType="num">
                                      <p:cBhvr>
                                        <p:cTn id="105" dur="380" fill="hold"/>
                                        <p:tgtEl>
                                          <p:spTgt spid="23"/>
                                        </p:tgtEl>
                                        <p:attrNameLst>
                                          <p:attrName>ppt_x</p:attrName>
                                        </p:attrNameLst>
                                      </p:cBhvr>
                                      <p:tavLst>
                                        <p:tav tm="0">
                                          <p:val>
                                            <p:strVal val="#ppt_x"/>
                                          </p:val>
                                        </p:tav>
                                        <p:tav tm="100000">
                                          <p:val>
                                            <p:strVal val="#ppt_x"/>
                                          </p:val>
                                        </p:tav>
                                      </p:tavLst>
                                    </p:anim>
                                    <p:anim calcmode="lin" valueType="num">
                                      <p:cBhvr>
                                        <p:cTn id="106" dur="380" fill="hold"/>
                                        <p:tgtEl>
                                          <p:spTgt spid="23"/>
                                        </p:tgtEl>
                                        <p:attrNameLst>
                                          <p:attrName>ppt_y</p:attrName>
                                        </p:attrNameLst>
                                      </p:cBhvr>
                                      <p:tavLst>
                                        <p:tav tm="0">
                                          <p:val>
                                            <p:strVal val="#ppt_y+.06"/>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24"/>
                                        </p:tgtEl>
                                        <p:attrNameLst>
                                          <p:attrName>style.visibility</p:attrName>
                                        </p:attrNameLst>
                                      </p:cBhvr>
                                      <p:to>
                                        <p:strVal val="visible"/>
                                      </p:to>
                                    </p:set>
                                    <p:animEffect transition="in" filter="fade">
                                      <p:cBhvr>
                                        <p:cTn id="109" dur="380"/>
                                        <p:tgtEl>
                                          <p:spTgt spid="24"/>
                                        </p:tgtEl>
                                      </p:cBhvr>
                                    </p:animEffect>
                                    <p:anim calcmode="lin" valueType="num">
                                      <p:cBhvr>
                                        <p:cTn id="110" dur="380" fill="hold"/>
                                        <p:tgtEl>
                                          <p:spTgt spid="24"/>
                                        </p:tgtEl>
                                        <p:attrNameLst>
                                          <p:attrName>ppt_x</p:attrName>
                                        </p:attrNameLst>
                                      </p:cBhvr>
                                      <p:tavLst>
                                        <p:tav tm="0">
                                          <p:val>
                                            <p:strVal val="#ppt_x"/>
                                          </p:val>
                                        </p:tav>
                                        <p:tav tm="100000">
                                          <p:val>
                                            <p:strVal val="#ppt_x"/>
                                          </p:val>
                                        </p:tav>
                                      </p:tavLst>
                                    </p:anim>
                                    <p:anim calcmode="lin" valueType="num">
                                      <p:cBhvr>
                                        <p:cTn id="111" dur="380" fill="hold"/>
                                        <p:tgtEl>
                                          <p:spTgt spid="24"/>
                                        </p:tgtEl>
                                        <p:attrNameLst>
                                          <p:attrName>ppt_y</p:attrName>
                                        </p:attrNameLst>
                                      </p:cBhvr>
                                      <p:tavLst>
                                        <p:tav tm="0">
                                          <p:val>
                                            <p:strVal val="#ppt_y+.06"/>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25"/>
                                        </p:tgtEl>
                                        <p:attrNameLst>
                                          <p:attrName>style.visibility</p:attrName>
                                        </p:attrNameLst>
                                      </p:cBhvr>
                                      <p:to>
                                        <p:strVal val="visible"/>
                                      </p:to>
                                    </p:set>
                                    <p:animEffect transition="in" filter="fade">
                                      <p:cBhvr>
                                        <p:cTn id="114" dur="380"/>
                                        <p:tgtEl>
                                          <p:spTgt spid="25"/>
                                        </p:tgtEl>
                                      </p:cBhvr>
                                    </p:animEffect>
                                    <p:anim calcmode="lin" valueType="num">
                                      <p:cBhvr>
                                        <p:cTn id="115" dur="380" fill="hold"/>
                                        <p:tgtEl>
                                          <p:spTgt spid="25"/>
                                        </p:tgtEl>
                                        <p:attrNameLst>
                                          <p:attrName>ppt_x</p:attrName>
                                        </p:attrNameLst>
                                      </p:cBhvr>
                                      <p:tavLst>
                                        <p:tav tm="0">
                                          <p:val>
                                            <p:strVal val="#ppt_x"/>
                                          </p:val>
                                        </p:tav>
                                        <p:tav tm="100000">
                                          <p:val>
                                            <p:strVal val="#ppt_x"/>
                                          </p:val>
                                        </p:tav>
                                      </p:tavLst>
                                    </p:anim>
                                    <p:anim calcmode="lin" valueType="num">
                                      <p:cBhvr>
                                        <p:cTn id="116" dur="380" fill="hold"/>
                                        <p:tgtEl>
                                          <p:spTgt spid="25"/>
                                        </p:tgtEl>
                                        <p:attrNameLst>
                                          <p:attrName>ppt_y</p:attrName>
                                        </p:attrNameLst>
                                      </p:cBhvr>
                                      <p:tavLst>
                                        <p:tav tm="0">
                                          <p:val>
                                            <p:strVal val="#ppt_y+.06"/>
                                          </p:val>
                                        </p:tav>
                                        <p:tav tm="100000">
                                          <p:val>
                                            <p:strVal val="#ppt_y"/>
                                          </p:val>
                                        </p:tav>
                                      </p:tavLst>
                                    </p:anim>
                                  </p:childTnLst>
                                </p:cTn>
                              </p:par>
                            </p:childTnLst>
                          </p:cTn>
                        </p:par>
                        <p:par>
                          <p:cTn id="117" fill="hold">
                            <p:stCondLst>
                              <p:cond delay="2800"/>
                            </p:stCondLst>
                            <p:childTnLst>
                              <p:par>
                                <p:cTn id="118" presetID="42" presetClass="entr" presetSubtype="0" fill="hold" grpId="0" nodeType="afterEffect">
                                  <p:stCondLst>
                                    <p:cond delay="30"/>
                                  </p:stCondLst>
                                  <p:childTnLst>
                                    <p:set>
                                      <p:cBhvr>
                                        <p:cTn id="119" dur="1" fill="hold">
                                          <p:stCondLst>
                                            <p:cond delay="0"/>
                                          </p:stCondLst>
                                        </p:cTn>
                                        <p:tgtEl>
                                          <p:spTgt spid="26"/>
                                        </p:tgtEl>
                                        <p:attrNameLst>
                                          <p:attrName>style.visibility</p:attrName>
                                        </p:attrNameLst>
                                      </p:cBhvr>
                                      <p:to>
                                        <p:strVal val="visible"/>
                                      </p:to>
                                    </p:set>
                                    <p:animEffect transition="in" filter="fade">
                                      <p:cBhvr>
                                        <p:cTn id="120" dur="380"/>
                                        <p:tgtEl>
                                          <p:spTgt spid="26"/>
                                        </p:tgtEl>
                                      </p:cBhvr>
                                    </p:animEffect>
                                    <p:anim calcmode="lin" valueType="num">
                                      <p:cBhvr>
                                        <p:cTn id="121" dur="380" fill="hold"/>
                                        <p:tgtEl>
                                          <p:spTgt spid="26"/>
                                        </p:tgtEl>
                                        <p:attrNameLst>
                                          <p:attrName>ppt_x</p:attrName>
                                        </p:attrNameLst>
                                      </p:cBhvr>
                                      <p:tavLst>
                                        <p:tav tm="0">
                                          <p:val>
                                            <p:strVal val="#ppt_x"/>
                                          </p:val>
                                        </p:tav>
                                        <p:tav tm="100000">
                                          <p:val>
                                            <p:strVal val="#ppt_x"/>
                                          </p:val>
                                        </p:tav>
                                      </p:tavLst>
                                    </p:anim>
                                    <p:anim calcmode="lin" valueType="num">
                                      <p:cBhvr>
                                        <p:cTn id="122" dur="380" fill="hold"/>
                                        <p:tgtEl>
                                          <p:spTgt spid="26"/>
                                        </p:tgtEl>
                                        <p:attrNameLst>
                                          <p:attrName>ppt_y</p:attrName>
                                        </p:attrNameLst>
                                      </p:cBhvr>
                                      <p:tavLst>
                                        <p:tav tm="0">
                                          <p:val>
                                            <p:strVal val="#ppt_y+.06"/>
                                          </p:val>
                                        </p:tav>
                                        <p:tav tm="100000">
                                          <p:val>
                                            <p:strVal val="#ppt_y"/>
                                          </p:val>
                                        </p:tav>
                                      </p:tavLst>
                                    </p:anim>
                                  </p:childTnLst>
                                </p:cTn>
                              </p:par>
                              <p:par>
                                <p:cTn id="123" presetID="42" presetClass="entr" presetSubtype="0" fill="hold" grpId="0" nodeType="withEffect">
                                  <p:stCondLst>
                                    <p:cond delay="0"/>
                                  </p:stCondLst>
                                  <p:childTnLst>
                                    <p:set>
                                      <p:cBhvr>
                                        <p:cTn id="124" dur="1" fill="hold">
                                          <p:stCondLst>
                                            <p:cond delay="0"/>
                                          </p:stCondLst>
                                        </p:cTn>
                                        <p:tgtEl>
                                          <p:spTgt spid="27"/>
                                        </p:tgtEl>
                                        <p:attrNameLst>
                                          <p:attrName>style.visibility</p:attrName>
                                        </p:attrNameLst>
                                      </p:cBhvr>
                                      <p:to>
                                        <p:strVal val="visible"/>
                                      </p:to>
                                    </p:set>
                                    <p:animEffect transition="in" filter="fade">
                                      <p:cBhvr>
                                        <p:cTn id="125" dur="380"/>
                                        <p:tgtEl>
                                          <p:spTgt spid="27"/>
                                        </p:tgtEl>
                                      </p:cBhvr>
                                    </p:animEffect>
                                    <p:anim calcmode="lin" valueType="num">
                                      <p:cBhvr>
                                        <p:cTn id="126" dur="380" fill="hold"/>
                                        <p:tgtEl>
                                          <p:spTgt spid="27"/>
                                        </p:tgtEl>
                                        <p:attrNameLst>
                                          <p:attrName>ppt_x</p:attrName>
                                        </p:attrNameLst>
                                      </p:cBhvr>
                                      <p:tavLst>
                                        <p:tav tm="0">
                                          <p:val>
                                            <p:strVal val="#ppt_x"/>
                                          </p:val>
                                        </p:tav>
                                        <p:tav tm="100000">
                                          <p:val>
                                            <p:strVal val="#ppt_x"/>
                                          </p:val>
                                        </p:tav>
                                      </p:tavLst>
                                    </p:anim>
                                    <p:anim calcmode="lin" valueType="num">
                                      <p:cBhvr>
                                        <p:cTn id="127" dur="380" fill="hold"/>
                                        <p:tgtEl>
                                          <p:spTgt spid="27"/>
                                        </p:tgtEl>
                                        <p:attrNameLst>
                                          <p:attrName>ppt_y</p:attrName>
                                        </p:attrNameLst>
                                      </p:cBhvr>
                                      <p:tavLst>
                                        <p:tav tm="0">
                                          <p:val>
                                            <p:strVal val="#ppt_y+.06"/>
                                          </p:val>
                                        </p:tav>
                                        <p:tav tm="100000">
                                          <p:val>
                                            <p:strVal val="#ppt_y"/>
                                          </p:val>
                                        </p:tav>
                                      </p:tavLst>
                                    </p:anim>
                                  </p:childTnLst>
                                </p:cTn>
                              </p:par>
                              <p:par>
                                <p:cTn id="128" presetID="42" presetClass="entr" presetSubtype="0" fill="hold" grpId="0" nodeType="withEffect">
                                  <p:stCondLst>
                                    <p:cond delay="0"/>
                                  </p:stCondLst>
                                  <p:childTnLst>
                                    <p:set>
                                      <p:cBhvr>
                                        <p:cTn id="129" dur="1" fill="hold">
                                          <p:stCondLst>
                                            <p:cond delay="0"/>
                                          </p:stCondLst>
                                        </p:cTn>
                                        <p:tgtEl>
                                          <p:spTgt spid="28"/>
                                        </p:tgtEl>
                                        <p:attrNameLst>
                                          <p:attrName>style.visibility</p:attrName>
                                        </p:attrNameLst>
                                      </p:cBhvr>
                                      <p:to>
                                        <p:strVal val="visible"/>
                                      </p:to>
                                    </p:set>
                                    <p:animEffect transition="in" filter="fade">
                                      <p:cBhvr>
                                        <p:cTn id="130" dur="380"/>
                                        <p:tgtEl>
                                          <p:spTgt spid="28"/>
                                        </p:tgtEl>
                                      </p:cBhvr>
                                    </p:animEffect>
                                    <p:anim calcmode="lin" valueType="num">
                                      <p:cBhvr>
                                        <p:cTn id="131" dur="380" fill="hold"/>
                                        <p:tgtEl>
                                          <p:spTgt spid="28"/>
                                        </p:tgtEl>
                                        <p:attrNameLst>
                                          <p:attrName>ppt_x</p:attrName>
                                        </p:attrNameLst>
                                      </p:cBhvr>
                                      <p:tavLst>
                                        <p:tav tm="0">
                                          <p:val>
                                            <p:strVal val="#ppt_x"/>
                                          </p:val>
                                        </p:tav>
                                        <p:tav tm="100000">
                                          <p:val>
                                            <p:strVal val="#ppt_x"/>
                                          </p:val>
                                        </p:tav>
                                      </p:tavLst>
                                    </p:anim>
                                    <p:anim calcmode="lin" valueType="num">
                                      <p:cBhvr>
                                        <p:cTn id="132" dur="380" fill="hold"/>
                                        <p:tgtEl>
                                          <p:spTgt spid="28"/>
                                        </p:tgtEl>
                                        <p:attrNameLst>
                                          <p:attrName>ppt_y</p:attrName>
                                        </p:attrNameLst>
                                      </p:cBhvr>
                                      <p:tavLst>
                                        <p:tav tm="0">
                                          <p:val>
                                            <p:strVal val="#ppt_y+.06"/>
                                          </p:val>
                                        </p:tav>
                                        <p:tav tm="100000">
                                          <p:val>
                                            <p:strVal val="#ppt_y"/>
                                          </p:val>
                                        </p:tav>
                                      </p:tavLst>
                                    </p:anim>
                                  </p:childTnLst>
                                </p:cTn>
                              </p:par>
                              <p:par>
                                <p:cTn id="133" presetID="42" presetClass="entr" presetSubtype="0" fill="hold" grpId="0" nodeType="withEffect">
                                  <p:stCondLst>
                                    <p:cond delay="0"/>
                                  </p:stCondLst>
                                  <p:childTnLst>
                                    <p:set>
                                      <p:cBhvr>
                                        <p:cTn id="134" dur="1" fill="hold">
                                          <p:stCondLst>
                                            <p:cond delay="0"/>
                                          </p:stCondLst>
                                        </p:cTn>
                                        <p:tgtEl>
                                          <p:spTgt spid="29"/>
                                        </p:tgtEl>
                                        <p:attrNameLst>
                                          <p:attrName>style.visibility</p:attrName>
                                        </p:attrNameLst>
                                      </p:cBhvr>
                                      <p:to>
                                        <p:strVal val="visible"/>
                                      </p:to>
                                    </p:set>
                                    <p:animEffect transition="in" filter="fade">
                                      <p:cBhvr>
                                        <p:cTn id="135" dur="380"/>
                                        <p:tgtEl>
                                          <p:spTgt spid="29"/>
                                        </p:tgtEl>
                                      </p:cBhvr>
                                    </p:animEffect>
                                    <p:anim calcmode="lin" valueType="num">
                                      <p:cBhvr>
                                        <p:cTn id="136" dur="380" fill="hold"/>
                                        <p:tgtEl>
                                          <p:spTgt spid="29"/>
                                        </p:tgtEl>
                                        <p:attrNameLst>
                                          <p:attrName>ppt_x</p:attrName>
                                        </p:attrNameLst>
                                      </p:cBhvr>
                                      <p:tavLst>
                                        <p:tav tm="0">
                                          <p:val>
                                            <p:strVal val="#ppt_x"/>
                                          </p:val>
                                        </p:tav>
                                        <p:tav tm="100000">
                                          <p:val>
                                            <p:strVal val="#ppt_x"/>
                                          </p:val>
                                        </p:tav>
                                      </p:tavLst>
                                    </p:anim>
                                    <p:anim calcmode="lin" valueType="num">
                                      <p:cBhvr>
                                        <p:cTn id="137" dur="380" fill="hold"/>
                                        <p:tgtEl>
                                          <p:spTgt spid="29"/>
                                        </p:tgtEl>
                                        <p:attrNameLst>
                                          <p:attrName>ppt_y</p:attrName>
                                        </p:attrNameLst>
                                      </p:cBhvr>
                                      <p:tavLst>
                                        <p:tav tm="0">
                                          <p:val>
                                            <p:strVal val="#ppt_y+.06"/>
                                          </p:val>
                                        </p:tav>
                                        <p:tav tm="100000">
                                          <p:val>
                                            <p:strVal val="#ppt_y"/>
                                          </p:val>
                                        </p:tav>
                                      </p:tavLst>
                                    </p:anim>
                                  </p:childTnLst>
                                </p:cTn>
                              </p:par>
                            </p:childTnLst>
                          </p:cTn>
                        </p:par>
                        <p:par>
                          <p:cTn id="138" fill="hold">
                            <p:stCondLst>
                              <p:cond delay="3210"/>
                            </p:stCondLst>
                            <p:childTnLst>
                              <p:par>
                                <p:cTn id="139" presetID="10" presetClass="entr" presetSubtype="0" fill="hold" grpId="0" nodeType="afterEffect">
                                  <p:stCondLst>
                                    <p:cond delay="120"/>
                                  </p:stCondLst>
                                  <p:childTnLst>
                                    <p:set>
                                      <p:cBhvr>
                                        <p:cTn id="140" dur="1" fill="hold">
                                          <p:stCondLst>
                                            <p:cond delay="0"/>
                                          </p:stCondLst>
                                        </p:cTn>
                                        <p:tgtEl>
                                          <p:spTgt spid="30"/>
                                        </p:tgtEl>
                                        <p:attrNameLst>
                                          <p:attrName>style.visibility</p:attrName>
                                        </p:attrNameLst>
                                      </p:cBhvr>
                                      <p:to>
                                        <p:strVal val="visible"/>
                                      </p:to>
                                    </p:set>
                                    <p:animEffect transition="in" filter="fade">
                                      <p:cBhvr>
                                        <p:cTn id="14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8" grpId="0"/>
      <p:bldP spid="9" grpId="0"/>
      <p:bldP spid="10" grpId="0" animBg="1"/>
      <p:bldP spid="12" grpId="0"/>
      <p:bldP spid="13" grpId="0"/>
      <p:bldP spid="14" grpId="0" animBg="1"/>
      <p:bldP spid="16" grpId="0"/>
      <p:bldP spid="17" grpId="0"/>
      <p:bldP spid="18" grpId="0" animBg="1"/>
      <p:bldP spid="20" grpId="0"/>
      <p:bldP spid="21" grpId="0"/>
      <p:bldP spid="22" grpId="0" animBg="1"/>
      <p:bldP spid="24" grpId="0"/>
      <p:bldP spid="25" grpId="0"/>
      <p:bldP spid="26" grpId="0" animBg="1"/>
      <p:bldP spid="28" grpId="0"/>
      <p:bldP spid="29"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COMMERCIAL USE · THE MARKET</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Then sell decisions and data to the market</a:t>
            </a:r>
            <a:endParaRPr lang="en-US" sz="3200" dirty="0"/>
          </a:p>
        </p:txBody>
      </p:sp>
      <p:sp>
        <p:nvSpPr>
          <p:cNvPr id="6" name="mk0"/>
          <p:cNvSpPr/>
          <p:nvPr/>
        </p:nvSpPr>
        <p:spPr>
          <a:xfrm>
            <a:off x="548640" y="2057400"/>
            <a:ext cx="7086600" cy="1097280"/>
          </a:xfrm>
          <a:prstGeom prst="roundRect">
            <a:avLst>
              <a:gd name="adj" fmla="val 10000"/>
            </a:avLst>
          </a:prstGeom>
          <a:solidFill>
            <a:srgbClr val="1C2447"/>
          </a:solidFill>
          <a:ln w="15875">
            <a:solidFill>
              <a:srgbClr val="F5A623"/>
            </a:solidFill>
            <a:prstDash val="solid"/>
          </a:ln>
        </p:spPr>
      </p:sp>
      <p:sp>
        <p:nvSpPr>
          <p:cNvPr id="7" name="mkO0"/>
          <p:cNvSpPr/>
          <p:nvPr/>
        </p:nvSpPr>
        <p:spPr>
          <a:xfrm>
            <a:off x="749808" y="2350008"/>
            <a:ext cx="512064" cy="512064"/>
          </a:xfrm>
          <a:prstGeom prst="ellipse">
            <a:avLst/>
          </a:prstGeom>
          <a:solidFill>
            <a:srgbClr val="F5A623"/>
          </a:solidFill>
          <a:ln w="12700">
            <a:solidFill>
              <a:srgbClr val="F5A623"/>
            </a:solidFill>
            <a:prstDash val="solid"/>
          </a:ln>
        </p:spPr>
      </p:sp>
      <p:sp>
        <p:nvSpPr>
          <p:cNvPr id="8" name="mkN0"/>
          <p:cNvSpPr txBox="1"/>
          <p:nvPr/>
        </p:nvSpPr>
        <p:spPr>
          <a:xfrm>
            <a:off x="749808" y="2350008"/>
            <a:ext cx="512064" cy="512064"/>
          </a:xfrm>
          <a:prstGeom prst="rect">
            <a:avLst/>
          </a:prstGeom>
          <a:noFill/>
          <a:ln/>
        </p:spPr>
        <p:txBody>
          <a:bodyPr wrap="square" lIns="0" tIns="0" rIns="0" bIns="0" rtlCol="0" anchor="ctr"/>
          <a:lstStyle/>
          <a:p>
            <a:pPr algn="ctr" indent="0" marL="0">
              <a:buNone/>
            </a:pPr>
            <a:r>
              <a:rPr lang="en-US" sz="1800" b="1" dirty="0">
                <a:solidFill>
                  <a:srgbClr val="1A1200"/>
                </a:solidFill>
                <a:latin typeface="Cambria" pitchFamily="34" charset="0"/>
                <a:ea typeface="Cambria" pitchFamily="34" charset="-122"/>
                <a:cs typeface="Cambria" pitchFamily="34" charset="-120"/>
              </a:rPr>
              <a:t>1</a:t>
            </a:r>
            <a:endParaRPr lang="en-US" sz="1800" dirty="0"/>
          </a:p>
        </p:txBody>
      </p:sp>
      <p:sp>
        <p:nvSpPr>
          <p:cNvPr id="9" name="mkT0"/>
          <p:cNvSpPr txBox="1"/>
          <p:nvPr/>
        </p:nvSpPr>
        <p:spPr>
          <a:xfrm>
            <a:off x="1463040" y="2148840"/>
            <a:ext cx="4434840" cy="932688"/>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Delivery, quick commerce, ride-hailing</a:t>
            </a:r>
            <a:endParaRPr lang="en-US" sz="1550" dirty="0"/>
          </a:p>
          <a:p>
            <a:pPr indent="0" marL="0">
              <a:buNone/>
            </a:pPr>
            <a:r>
              <a:rPr lang="en-US" sz="1200" dirty="0">
                <a:solidFill>
                  <a:srgbClr val="98A2C0"/>
                </a:solidFill>
                <a:latin typeface="Calibri" pitchFamily="34" charset="0"/>
                <a:ea typeface="Calibri" pitchFamily="34" charset="-122"/>
                <a:cs typeface="Calibri" pitchFamily="34" charset="-120"/>
              </a:rPr>
              <a:t>e.g. Swiggy, Zomato, Zepto, Uber, Rapido</a:t>
            </a:r>
            <a:endParaRPr lang="en-US" sz="1550" dirty="0"/>
          </a:p>
          <a:p>
            <a:pPr indent="0" marL="0">
              <a:buNone/>
            </a:pPr>
            <a:r>
              <a:rPr lang="en-US" sz="1300" dirty="0">
                <a:solidFill>
                  <a:srgbClr val="B9C2D8"/>
                </a:solidFill>
                <a:latin typeface="Calibri" pitchFamily="34" charset="0"/>
                <a:ea typeface="Calibri" pitchFamily="34" charset="-122"/>
                <a:cs typeface="Calibri" pitchFamily="34" charset="-120"/>
              </a:rPr>
              <a:t>Dispatch, incentives, weather-linked pricing, pause alerts</a:t>
            </a:r>
            <a:endParaRPr lang="en-US" sz="1550" dirty="0"/>
          </a:p>
        </p:txBody>
      </p:sp>
      <p:sp>
        <p:nvSpPr>
          <p:cNvPr id="10" name="mkP0"/>
          <p:cNvSpPr/>
          <p:nvPr/>
        </p:nvSpPr>
        <p:spPr>
          <a:xfrm>
            <a:off x="6035040" y="2459736"/>
            <a:ext cx="1417320" cy="292608"/>
          </a:xfrm>
          <a:prstGeom prst="roundRect">
            <a:avLst>
              <a:gd name="adj" fmla="val 25000"/>
            </a:avLst>
          </a:prstGeom>
          <a:solidFill>
            <a:srgbClr val="2B2208"/>
          </a:solidFill>
          <a:ln w="9525">
            <a:solidFill>
              <a:srgbClr val="F5A623"/>
            </a:solidFill>
            <a:prstDash val="solid"/>
          </a:ln>
        </p:spPr>
      </p:sp>
      <p:sp>
        <p:nvSpPr>
          <p:cNvPr id="11" name="mkP0T"/>
          <p:cNvSpPr txBox="1"/>
          <p:nvPr/>
        </p:nvSpPr>
        <p:spPr>
          <a:xfrm>
            <a:off x="6035040" y="2459736"/>
            <a:ext cx="1417320" cy="292608"/>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Decisions</a:t>
            </a:r>
            <a:endParaRPr lang="en-US" sz="1050" dirty="0"/>
          </a:p>
        </p:txBody>
      </p:sp>
      <p:sp>
        <p:nvSpPr>
          <p:cNvPr id="12" name="mk1"/>
          <p:cNvSpPr/>
          <p:nvPr/>
        </p:nvSpPr>
        <p:spPr>
          <a:xfrm>
            <a:off x="548640" y="3273552"/>
            <a:ext cx="7086600" cy="1097280"/>
          </a:xfrm>
          <a:prstGeom prst="roundRect">
            <a:avLst>
              <a:gd name="adj" fmla="val 10000"/>
            </a:avLst>
          </a:prstGeom>
          <a:solidFill>
            <a:srgbClr val="141B36"/>
          </a:solidFill>
          <a:ln w="9525">
            <a:solidFill>
              <a:srgbClr val="2A3357"/>
            </a:solidFill>
            <a:prstDash val="solid"/>
          </a:ln>
        </p:spPr>
      </p:sp>
      <p:sp>
        <p:nvSpPr>
          <p:cNvPr id="13" name="mkO1"/>
          <p:cNvSpPr/>
          <p:nvPr/>
        </p:nvSpPr>
        <p:spPr>
          <a:xfrm>
            <a:off x="749808" y="3566160"/>
            <a:ext cx="512064" cy="512064"/>
          </a:xfrm>
          <a:prstGeom prst="ellipse">
            <a:avLst/>
          </a:prstGeom>
          <a:solidFill>
            <a:srgbClr val="2A3357"/>
          </a:solidFill>
          <a:ln w="12700">
            <a:solidFill>
              <a:srgbClr val="2A3357"/>
            </a:solidFill>
            <a:prstDash val="solid"/>
          </a:ln>
        </p:spPr>
      </p:sp>
      <p:sp>
        <p:nvSpPr>
          <p:cNvPr id="14" name="mkN1"/>
          <p:cNvSpPr txBox="1"/>
          <p:nvPr/>
        </p:nvSpPr>
        <p:spPr>
          <a:xfrm>
            <a:off x="749808" y="356616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mkT1"/>
          <p:cNvSpPr txBox="1"/>
          <p:nvPr/>
        </p:nvSpPr>
        <p:spPr>
          <a:xfrm>
            <a:off x="1463040" y="3364992"/>
            <a:ext cx="4434840" cy="932688"/>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Logistics · cities and transport · insurers</a:t>
            </a:r>
            <a:endParaRPr lang="en-US" sz="1550" dirty="0"/>
          </a:p>
          <a:p>
            <a:pPr indent="0" marL="0">
              <a:buNone/>
            </a:pPr>
            <a:r>
              <a:rPr lang="en-US" sz="1200" dirty="0">
                <a:solidFill>
                  <a:srgbClr val="98A2C0"/>
                </a:solidFill>
                <a:latin typeface="Calibri" pitchFamily="34" charset="0"/>
                <a:ea typeface="Calibri" pitchFamily="34" charset="-122"/>
                <a:cs typeface="Calibri" pitchFamily="34" charset="-120"/>
              </a:rPr>
              <a:t>e.g. Delhivery, Porter, BMC, railways, insurers</a:t>
            </a:r>
            <a:endParaRPr lang="en-US" sz="1550" dirty="0"/>
          </a:p>
          <a:p>
            <a:pPr indent="0" marL="0">
              <a:buNone/>
            </a:pPr>
            <a:r>
              <a:rPr lang="en-US" sz="1300" dirty="0">
                <a:solidFill>
                  <a:srgbClr val="B9C2D8"/>
                </a:solidFill>
                <a:latin typeface="Calibri" pitchFamily="34" charset="0"/>
                <a:ea typeface="Calibri" pitchFamily="34" charset="-122"/>
                <a:cs typeface="Calibri" pitchFamily="34" charset="-120"/>
              </a:rPr>
              <a:t>Routes, flood response, auditable rain records</a:t>
            </a:r>
            <a:endParaRPr lang="en-US" sz="1550" dirty="0"/>
          </a:p>
        </p:txBody>
      </p:sp>
      <p:sp>
        <p:nvSpPr>
          <p:cNvPr id="16" name="mkP1"/>
          <p:cNvSpPr/>
          <p:nvPr/>
        </p:nvSpPr>
        <p:spPr>
          <a:xfrm>
            <a:off x="6035040" y="3675888"/>
            <a:ext cx="1417320" cy="292608"/>
          </a:xfrm>
          <a:prstGeom prst="roundRect">
            <a:avLst>
              <a:gd name="adj" fmla="val 25000"/>
            </a:avLst>
          </a:prstGeom>
          <a:solidFill>
            <a:srgbClr val="2B2208"/>
          </a:solidFill>
          <a:ln w="9525">
            <a:solidFill>
              <a:srgbClr val="F5A623"/>
            </a:solidFill>
            <a:prstDash val="solid"/>
          </a:ln>
        </p:spPr>
      </p:sp>
      <p:sp>
        <p:nvSpPr>
          <p:cNvPr id="17" name="mkP1T"/>
          <p:cNvSpPr txBox="1"/>
          <p:nvPr/>
        </p:nvSpPr>
        <p:spPr>
          <a:xfrm>
            <a:off x="6035040" y="3675888"/>
            <a:ext cx="1417320" cy="292608"/>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Decisions + data</a:t>
            </a:r>
            <a:endParaRPr lang="en-US" sz="1050" dirty="0"/>
          </a:p>
        </p:txBody>
      </p:sp>
      <p:sp>
        <p:nvSpPr>
          <p:cNvPr id="18" name="mk2"/>
          <p:cNvSpPr/>
          <p:nvPr/>
        </p:nvSpPr>
        <p:spPr>
          <a:xfrm>
            <a:off x="548640" y="4489704"/>
            <a:ext cx="7086600" cy="1097280"/>
          </a:xfrm>
          <a:prstGeom prst="roundRect">
            <a:avLst>
              <a:gd name="adj" fmla="val 10000"/>
            </a:avLst>
          </a:prstGeom>
          <a:solidFill>
            <a:srgbClr val="141B36"/>
          </a:solidFill>
          <a:ln w="9525">
            <a:solidFill>
              <a:srgbClr val="2A3357"/>
            </a:solidFill>
            <a:prstDash val="solid"/>
          </a:ln>
        </p:spPr>
      </p:sp>
      <p:sp>
        <p:nvSpPr>
          <p:cNvPr id="19" name="mkO2"/>
          <p:cNvSpPr/>
          <p:nvPr/>
        </p:nvSpPr>
        <p:spPr>
          <a:xfrm>
            <a:off x="749808" y="4782312"/>
            <a:ext cx="512064" cy="512064"/>
          </a:xfrm>
          <a:prstGeom prst="ellipse">
            <a:avLst/>
          </a:prstGeom>
          <a:solidFill>
            <a:srgbClr val="2A3357"/>
          </a:solidFill>
          <a:ln w="12700">
            <a:solidFill>
              <a:srgbClr val="2A3357"/>
            </a:solidFill>
            <a:prstDash val="solid"/>
          </a:ln>
        </p:spPr>
      </p:sp>
      <p:sp>
        <p:nvSpPr>
          <p:cNvPr id="20" name="mkN2"/>
          <p:cNvSpPr txBox="1"/>
          <p:nvPr/>
        </p:nvSpPr>
        <p:spPr>
          <a:xfrm>
            <a:off x="749808" y="478231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mkT2"/>
          <p:cNvSpPr txBox="1"/>
          <p:nvPr/>
        </p:nvSpPr>
        <p:spPr>
          <a:xfrm>
            <a:off x="1463040" y="4581144"/>
            <a:ext cx="4434840" cy="932688"/>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Agriculture · power · construction · retail</a:t>
            </a:r>
            <a:endParaRPr lang="en-US" sz="1550" dirty="0"/>
          </a:p>
          <a:p>
            <a:pPr indent="0" marL="0">
              <a:buNone/>
            </a:pPr>
            <a:r>
              <a:rPr lang="en-US" sz="1200" dirty="0">
                <a:solidFill>
                  <a:srgbClr val="98A2C0"/>
                </a:solidFill>
                <a:latin typeface="Calibri" pitchFamily="34" charset="0"/>
                <a:ea typeface="Calibri" pitchFamily="34" charset="-122"/>
                <a:cs typeface="Calibri" pitchFamily="34" charset="-120"/>
              </a:rPr>
              <a:t>e.g. crop insurance, discoms, metro projects, FMCG</a:t>
            </a:r>
            <a:endParaRPr lang="en-US" sz="1550" dirty="0"/>
          </a:p>
          <a:p>
            <a:pPr indent="0" marL="0">
              <a:buNone/>
            </a:pPr>
            <a:r>
              <a:rPr lang="en-US" sz="1300" dirty="0">
                <a:solidFill>
                  <a:srgbClr val="B9C2D8"/>
                </a:solidFill>
                <a:latin typeface="Calibri" pitchFamily="34" charset="0"/>
                <a:ea typeface="Calibri" pitchFamily="34" charset="-122"/>
                <a:cs typeface="Calibri" pitchFamily="34" charset="-120"/>
              </a:rPr>
              <a:t>Crop cover, storm outages, work pauses, demand</a:t>
            </a:r>
            <a:endParaRPr lang="en-US" sz="1550" dirty="0"/>
          </a:p>
        </p:txBody>
      </p:sp>
      <p:sp>
        <p:nvSpPr>
          <p:cNvPr id="22" name="mkP2"/>
          <p:cNvSpPr/>
          <p:nvPr/>
        </p:nvSpPr>
        <p:spPr>
          <a:xfrm>
            <a:off x="6035040" y="4892040"/>
            <a:ext cx="1417320" cy="292608"/>
          </a:xfrm>
          <a:prstGeom prst="roundRect">
            <a:avLst>
              <a:gd name="adj" fmla="val 25000"/>
            </a:avLst>
          </a:prstGeom>
          <a:solidFill>
            <a:srgbClr val="2B2208"/>
          </a:solidFill>
          <a:ln w="9525">
            <a:solidFill>
              <a:srgbClr val="F5A623"/>
            </a:solidFill>
            <a:prstDash val="solid"/>
          </a:ln>
        </p:spPr>
      </p:sp>
      <p:sp>
        <p:nvSpPr>
          <p:cNvPr id="23" name="mkP2T"/>
          <p:cNvSpPr txBox="1"/>
          <p:nvPr/>
        </p:nvSpPr>
        <p:spPr>
          <a:xfrm>
            <a:off x="6035040" y="4892040"/>
            <a:ext cx="1417320" cy="292608"/>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Data + decisions</a:t>
            </a:r>
            <a:endParaRPr lang="en-US" sz="1050" dirty="0"/>
          </a:p>
        </p:txBody>
      </p:sp>
      <p:sp>
        <p:nvSpPr>
          <p:cNvPr id="24" name="whyCard"/>
          <p:cNvSpPr/>
          <p:nvPr/>
        </p:nvSpPr>
        <p:spPr>
          <a:xfrm>
            <a:off x="7863840" y="2057400"/>
            <a:ext cx="3776472" cy="3529584"/>
          </a:xfrm>
          <a:prstGeom prst="roundRect">
            <a:avLst>
              <a:gd name="adj" fmla="val 3109"/>
            </a:avLst>
          </a:prstGeom>
          <a:solidFill>
            <a:srgbClr val="141B36"/>
          </a:solidFill>
          <a:ln w="9525">
            <a:solidFill>
              <a:srgbClr val="2A3357"/>
            </a:solidFill>
            <a:prstDash val="solid"/>
          </a:ln>
        </p:spPr>
      </p:sp>
      <p:sp>
        <p:nvSpPr>
          <p:cNvPr id="25" name="whyT"/>
          <p:cNvSpPr txBox="1"/>
          <p:nvPr/>
        </p:nvSpPr>
        <p:spPr>
          <a:xfrm>
            <a:off x="8092440" y="2194560"/>
            <a:ext cx="3383280" cy="3291840"/>
          </a:xfrm>
          <a:prstGeom prst="rect">
            <a:avLst/>
          </a:prstGeom>
          <a:noFill/>
          <a:ln/>
        </p:spPr>
        <p:txBody>
          <a:bodyPr wrap="square" lIns="0" tIns="0" rIns="0" bIns="0" rtlCol="0" anchor="t"/>
          <a:lstStyle/>
          <a:p>
            <a:pPr indent="0" marL="0">
              <a:spcAft>
                <a:spcPts val="600"/>
              </a:spcAft>
              <a:buNone/>
            </a:pPr>
            <a:r>
              <a:rPr lang="en-US" sz="1050" b="1" spc="200" kern="0" dirty="0">
                <a:solidFill>
                  <a:srgbClr val="F5A623"/>
                </a:solidFill>
                <a:latin typeface="Calibri" pitchFamily="34" charset="0"/>
                <a:ea typeface="Calibri" pitchFamily="34" charset="-122"/>
                <a:cs typeface="Calibri" pitchFamily="34" charset="-120"/>
              </a:rPr>
              <a:t>WHY BUY FROM US</a:t>
            </a:r>
            <a:endParaRPr lang="en-US" sz="1050" dirty="0"/>
          </a:p>
          <a:p>
            <a:pPr marL="342900" indent="-342900">
              <a:spcAft>
                <a:spcPts val="600"/>
              </a:spcAft>
              <a:buSzPct val="100000"/>
              <a:buChar char="•"/>
            </a:pPr>
            <a:r>
              <a:rPr lang="en-US" sz="1300" dirty="0">
                <a:solidFill>
                  <a:srgbClr val="EEF1F7"/>
                </a:solidFill>
                <a:latin typeface="Calibri" pitchFamily="34" charset="0"/>
                <a:ea typeface="Calibri" pitchFamily="34" charset="-122"/>
                <a:cs typeface="Calibri" pitchFamily="34" charset="-120"/>
              </a:rPr>
              <a:t>A sensor on every link: far denser than gauges</a:t>
            </a:r>
            <a:endParaRPr lang="en-US" sz="1050" dirty="0"/>
          </a:p>
          <a:p>
            <a:pPr marL="342900" indent="-342900">
              <a:spcAft>
                <a:spcPts val="600"/>
              </a:spcAft>
              <a:buSzPct val="100000"/>
              <a:buChar char="•"/>
            </a:pPr>
            <a:r>
              <a:rPr lang="en-US" sz="1300" dirty="0">
                <a:solidFill>
                  <a:srgbClr val="EEF1F7"/>
                </a:solidFill>
                <a:latin typeface="Calibri" pitchFamily="34" charset="0"/>
                <a:ea typeface="Calibri" pitchFamily="34" charset="-122"/>
                <a:cs typeface="Calibri" pitchFamily="34" charset="-120"/>
              </a:rPr>
              <a:t>Minute by minute, with short-term early warning</a:t>
            </a:r>
            <a:endParaRPr lang="en-US" sz="1050" dirty="0"/>
          </a:p>
          <a:p>
            <a:pPr marL="342900" indent="-342900">
              <a:spcAft>
                <a:spcPts val="600"/>
              </a:spcAft>
              <a:buSzPct val="100000"/>
              <a:buChar char="•"/>
            </a:pPr>
            <a:r>
              <a:rPr lang="en-US" sz="1300" dirty="0">
                <a:solidFill>
                  <a:srgbClr val="EEF1F7"/>
                </a:solidFill>
                <a:latin typeface="Calibri" pitchFamily="34" charset="0"/>
                <a:ea typeface="Calibri" pitchFamily="34" charset="-122"/>
                <a:cs typeface="Calibri" pitchFamily="34" charset="-120"/>
              </a:rPr>
              <a:t>Ground-level rain, where people are</a:t>
            </a:r>
            <a:endParaRPr lang="en-US" sz="1050" dirty="0"/>
          </a:p>
          <a:p>
            <a:pPr marL="342900" indent="-342900">
              <a:spcAft>
                <a:spcPts val="600"/>
              </a:spcAft>
              <a:buSzPct val="100000"/>
              <a:buChar char="•"/>
            </a:pPr>
            <a:r>
              <a:rPr lang="en-US" sz="1300" dirty="0">
                <a:solidFill>
                  <a:srgbClr val="EEF1F7"/>
                </a:solidFill>
                <a:latin typeface="Calibri" pitchFamily="34" charset="0"/>
                <a:ea typeface="Calibri" pitchFamily="34" charset="-122"/>
                <a:cs typeface="Calibri" pitchFamily="34" charset="-120"/>
              </a:rPr>
              <a:t>Strongest in rural areas, where microwave links dominate</a:t>
            </a:r>
            <a:endParaRPr lang="en-US" sz="1050" dirty="0"/>
          </a:p>
          <a:p>
            <a:pPr marL="342900" indent="-342900">
              <a:spcAft>
                <a:spcPts val="600"/>
              </a:spcAft>
              <a:buSzPct val="100000"/>
              <a:buChar char="•"/>
            </a:pPr>
            <a:r>
              <a:rPr lang="en-US" sz="1300" dirty="0">
                <a:solidFill>
                  <a:srgbClr val="EEF1F7"/>
                </a:solidFill>
                <a:latin typeface="Calibri" pitchFamily="34" charset="0"/>
                <a:ea typeface="Calibri" pitchFamily="34" charset="-122"/>
                <a:cs typeface="Calibri" pitchFamily="34" charset="-120"/>
              </a:rPr>
              <a:t>One national supplier, via Jio’s enterprise sales</a:t>
            </a:r>
            <a:endParaRPr lang="en-US" sz="1050" dirty="0"/>
          </a:p>
          <a:p>
            <a:pPr marL="342900" indent="-342900">
              <a:spcAft>
                <a:spcPts val="600"/>
              </a:spcAft>
              <a:buSzPct val="100000"/>
              <a:buChar char="•"/>
            </a:pPr>
            <a:r>
              <a:rPr lang="en-US" sz="1300" dirty="0">
                <a:solidFill>
                  <a:srgbClr val="EEF1F7"/>
                </a:solidFill>
                <a:latin typeface="Calibri" pitchFamily="34" charset="0"/>
                <a:ea typeface="Calibri" pitchFamily="34" charset="-122"/>
                <a:cs typeface="Calibri" pitchFamily="34" charset="-120"/>
              </a:rPr>
              <a:t>An independent trigger that no party controls</a:t>
            </a:r>
            <a:endParaRPr lang="en-US" sz="1050" dirty="0"/>
          </a:p>
        </p:txBody>
      </p:sp>
      <p:sp>
        <p:nvSpPr>
          <p:cNvPr id="26" name="takeaway"/>
          <p:cNvSpPr txBox="1"/>
          <p:nvPr/>
        </p:nvSpPr>
        <p:spPr>
          <a:xfrm>
            <a:off x="548640" y="580644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Decisions for those who act in real time. Data for those who need proof.</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16"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42" presetClass="entr" presetSubtype="0" fill="hold" grpId="0" nodeType="afterEffect">
                                  <p:stCondLst>
                                    <p:cond delay="4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20"/>
                                        <p:tgtEl>
                                          <p:spTgt spid="6"/>
                                        </p:tgtEl>
                                      </p:cBhvr>
                                    </p:animEffect>
                                    <p:anim calcmode="lin" valueType="num">
                                      <p:cBhvr>
                                        <p:cTn id="16" dur="420" fill="hold"/>
                                        <p:tgtEl>
                                          <p:spTgt spid="6"/>
                                        </p:tgtEl>
                                        <p:attrNameLst>
                                          <p:attrName>ppt_x</p:attrName>
                                        </p:attrNameLst>
                                      </p:cBhvr>
                                      <p:tavLst>
                                        <p:tav tm="0">
                                          <p:val>
                                            <p:strVal val="#ppt_x"/>
                                          </p:val>
                                        </p:tav>
                                        <p:tav tm="100000">
                                          <p:val>
                                            <p:strVal val="#ppt_x"/>
                                          </p:val>
                                        </p:tav>
                                      </p:tavLst>
                                    </p:anim>
                                    <p:anim calcmode="lin" valueType="num">
                                      <p:cBhvr>
                                        <p:cTn id="17" dur="42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20"/>
                                        <p:tgtEl>
                                          <p:spTgt spid="7"/>
                                        </p:tgtEl>
                                      </p:cBhvr>
                                    </p:animEffect>
                                    <p:anim calcmode="lin" valueType="num">
                                      <p:cBhvr>
                                        <p:cTn id="21" dur="420" fill="hold"/>
                                        <p:tgtEl>
                                          <p:spTgt spid="7"/>
                                        </p:tgtEl>
                                        <p:attrNameLst>
                                          <p:attrName>ppt_x</p:attrName>
                                        </p:attrNameLst>
                                      </p:cBhvr>
                                      <p:tavLst>
                                        <p:tav tm="0">
                                          <p:val>
                                            <p:strVal val="#ppt_x"/>
                                          </p:val>
                                        </p:tav>
                                        <p:tav tm="100000">
                                          <p:val>
                                            <p:strVal val="#ppt_x"/>
                                          </p:val>
                                        </p:tav>
                                      </p:tavLst>
                                    </p:anim>
                                    <p:anim calcmode="lin" valueType="num">
                                      <p:cBhvr>
                                        <p:cTn id="22" dur="42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20"/>
                                        <p:tgtEl>
                                          <p:spTgt spid="8"/>
                                        </p:tgtEl>
                                      </p:cBhvr>
                                    </p:animEffect>
                                    <p:anim calcmode="lin" valueType="num">
                                      <p:cBhvr>
                                        <p:cTn id="26" dur="420" fill="hold"/>
                                        <p:tgtEl>
                                          <p:spTgt spid="8"/>
                                        </p:tgtEl>
                                        <p:attrNameLst>
                                          <p:attrName>ppt_x</p:attrName>
                                        </p:attrNameLst>
                                      </p:cBhvr>
                                      <p:tavLst>
                                        <p:tav tm="0">
                                          <p:val>
                                            <p:strVal val="#ppt_x"/>
                                          </p:val>
                                        </p:tav>
                                        <p:tav tm="100000">
                                          <p:val>
                                            <p:strVal val="#ppt_x"/>
                                          </p:val>
                                        </p:tav>
                                      </p:tavLst>
                                    </p:anim>
                                    <p:anim calcmode="lin" valueType="num">
                                      <p:cBhvr>
                                        <p:cTn id="27" dur="42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20"/>
                                        <p:tgtEl>
                                          <p:spTgt spid="9"/>
                                        </p:tgtEl>
                                      </p:cBhvr>
                                    </p:animEffect>
                                    <p:anim calcmode="lin" valueType="num">
                                      <p:cBhvr>
                                        <p:cTn id="31" dur="420" fill="hold"/>
                                        <p:tgtEl>
                                          <p:spTgt spid="9"/>
                                        </p:tgtEl>
                                        <p:attrNameLst>
                                          <p:attrName>ppt_x</p:attrName>
                                        </p:attrNameLst>
                                      </p:cBhvr>
                                      <p:tavLst>
                                        <p:tav tm="0">
                                          <p:val>
                                            <p:strVal val="#ppt_x"/>
                                          </p:val>
                                        </p:tav>
                                        <p:tav tm="100000">
                                          <p:val>
                                            <p:strVal val="#ppt_x"/>
                                          </p:val>
                                        </p:tav>
                                      </p:tavLst>
                                    </p:anim>
                                    <p:anim calcmode="lin" valueType="num">
                                      <p:cBhvr>
                                        <p:cTn id="32" dur="420" fill="hold"/>
                                        <p:tgtEl>
                                          <p:spTgt spid="9"/>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420"/>
                                        <p:tgtEl>
                                          <p:spTgt spid="10"/>
                                        </p:tgtEl>
                                      </p:cBhvr>
                                    </p:animEffect>
                                    <p:anim calcmode="lin" valueType="num">
                                      <p:cBhvr>
                                        <p:cTn id="36" dur="420" fill="hold"/>
                                        <p:tgtEl>
                                          <p:spTgt spid="10"/>
                                        </p:tgtEl>
                                        <p:attrNameLst>
                                          <p:attrName>ppt_x</p:attrName>
                                        </p:attrNameLst>
                                      </p:cBhvr>
                                      <p:tavLst>
                                        <p:tav tm="0">
                                          <p:val>
                                            <p:strVal val="#ppt_x"/>
                                          </p:val>
                                        </p:tav>
                                        <p:tav tm="100000">
                                          <p:val>
                                            <p:strVal val="#ppt_x"/>
                                          </p:val>
                                        </p:tav>
                                      </p:tavLst>
                                    </p:anim>
                                    <p:anim calcmode="lin" valueType="num">
                                      <p:cBhvr>
                                        <p:cTn id="37" dur="420" fill="hold"/>
                                        <p:tgtEl>
                                          <p:spTgt spid="10"/>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420"/>
                                        <p:tgtEl>
                                          <p:spTgt spid="11"/>
                                        </p:tgtEl>
                                      </p:cBhvr>
                                    </p:animEffect>
                                    <p:anim calcmode="lin" valueType="num">
                                      <p:cBhvr>
                                        <p:cTn id="41" dur="420" fill="hold"/>
                                        <p:tgtEl>
                                          <p:spTgt spid="11"/>
                                        </p:tgtEl>
                                        <p:attrNameLst>
                                          <p:attrName>ppt_x</p:attrName>
                                        </p:attrNameLst>
                                      </p:cBhvr>
                                      <p:tavLst>
                                        <p:tav tm="0">
                                          <p:val>
                                            <p:strVal val="#ppt_x"/>
                                          </p:val>
                                        </p:tav>
                                        <p:tav tm="100000">
                                          <p:val>
                                            <p:strVal val="#ppt_x"/>
                                          </p:val>
                                        </p:tav>
                                      </p:tavLst>
                                    </p:anim>
                                    <p:anim calcmode="lin" valueType="num">
                                      <p:cBhvr>
                                        <p:cTn id="42" dur="420" fill="hold"/>
                                        <p:tgtEl>
                                          <p:spTgt spid="11"/>
                                        </p:tgtEl>
                                        <p:attrNameLst>
                                          <p:attrName>ppt_y</p:attrName>
                                        </p:attrNameLst>
                                      </p:cBhvr>
                                      <p:tavLst>
                                        <p:tav tm="0">
                                          <p:val>
                                            <p:strVal val="#ppt_y+.06"/>
                                          </p:val>
                                        </p:tav>
                                        <p:tav tm="100000">
                                          <p:val>
                                            <p:strVal val="#ppt_y"/>
                                          </p:val>
                                        </p:tav>
                                      </p:tavLst>
                                    </p:anim>
                                  </p:childTnLst>
                                </p:cTn>
                              </p:par>
                            </p:childTnLst>
                          </p:cTn>
                        </p:par>
                        <p:par>
                          <p:cTn id="43" fill="hold">
                            <p:stCondLst>
                              <p:cond delay="1210"/>
                            </p:stCondLst>
                            <p:childTnLst>
                              <p:par>
                                <p:cTn id="44" presetID="42" presetClass="entr" presetSubtype="0" fill="hold" grpId="0" nodeType="afterEffect">
                                  <p:stCondLst>
                                    <p:cond delay="4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20"/>
                                        <p:tgtEl>
                                          <p:spTgt spid="12"/>
                                        </p:tgtEl>
                                      </p:cBhvr>
                                    </p:animEffect>
                                    <p:anim calcmode="lin" valueType="num">
                                      <p:cBhvr>
                                        <p:cTn id="47" dur="420" fill="hold"/>
                                        <p:tgtEl>
                                          <p:spTgt spid="12"/>
                                        </p:tgtEl>
                                        <p:attrNameLst>
                                          <p:attrName>ppt_x</p:attrName>
                                        </p:attrNameLst>
                                      </p:cBhvr>
                                      <p:tavLst>
                                        <p:tav tm="0">
                                          <p:val>
                                            <p:strVal val="#ppt_x"/>
                                          </p:val>
                                        </p:tav>
                                        <p:tav tm="100000">
                                          <p:val>
                                            <p:strVal val="#ppt_x"/>
                                          </p:val>
                                        </p:tav>
                                      </p:tavLst>
                                    </p:anim>
                                    <p:anim calcmode="lin" valueType="num">
                                      <p:cBhvr>
                                        <p:cTn id="48" dur="420" fill="hold"/>
                                        <p:tgtEl>
                                          <p:spTgt spid="12"/>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p:cTn id="52" dur="420" fill="hold"/>
                                        <p:tgtEl>
                                          <p:spTgt spid="13"/>
                                        </p:tgtEl>
                                        <p:attrNameLst>
                                          <p:attrName>ppt_x</p:attrName>
                                        </p:attrNameLst>
                                      </p:cBhvr>
                                      <p:tavLst>
                                        <p:tav tm="0">
                                          <p:val>
                                            <p:strVal val="#ppt_x"/>
                                          </p:val>
                                        </p:tav>
                                        <p:tav tm="100000">
                                          <p:val>
                                            <p:strVal val="#ppt_x"/>
                                          </p:val>
                                        </p:tav>
                                      </p:tavLst>
                                    </p:anim>
                                    <p:anim calcmode="lin" valueType="num">
                                      <p:cBhvr>
                                        <p:cTn id="53" dur="420" fill="hold"/>
                                        <p:tgtEl>
                                          <p:spTgt spid="13"/>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420"/>
                                        <p:tgtEl>
                                          <p:spTgt spid="14"/>
                                        </p:tgtEl>
                                      </p:cBhvr>
                                    </p:animEffect>
                                    <p:anim calcmode="lin" valueType="num">
                                      <p:cBhvr>
                                        <p:cTn id="57" dur="420" fill="hold"/>
                                        <p:tgtEl>
                                          <p:spTgt spid="14"/>
                                        </p:tgtEl>
                                        <p:attrNameLst>
                                          <p:attrName>ppt_x</p:attrName>
                                        </p:attrNameLst>
                                      </p:cBhvr>
                                      <p:tavLst>
                                        <p:tav tm="0">
                                          <p:val>
                                            <p:strVal val="#ppt_x"/>
                                          </p:val>
                                        </p:tav>
                                        <p:tav tm="100000">
                                          <p:val>
                                            <p:strVal val="#ppt_x"/>
                                          </p:val>
                                        </p:tav>
                                      </p:tavLst>
                                    </p:anim>
                                    <p:anim calcmode="lin" valueType="num">
                                      <p:cBhvr>
                                        <p:cTn id="58" dur="420" fill="hold"/>
                                        <p:tgtEl>
                                          <p:spTgt spid="14"/>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420"/>
                                        <p:tgtEl>
                                          <p:spTgt spid="15"/>
                                        </p:tgtEl>
                                      </p:cBhvr>
                                    </p:animEffect>
                                    <p:anim calcmode="lin" valueType="num">
                                      <p:cBhvr>
                                        <p:cTn id="62" dur="420" fill="hold"/>
                                        <p:tgtEl>
                                          <p:spTgt spid="15"/>
                                        </p:tgtEl>
                                        <p:attrNameLst>
                                          <p:attrName>ppt_x</p:attrName>
                                        </p:attrNameLst>
                                      </p:cBhvr>
                                      <p:tavLst>
                                        <p:tav tm="0">
                                          <p:val>
                                            <p:strVal val="#ppt_x"/>
                                          </p:val>
                                        </p:tav>
                                        <p:tav tm="100000">
                                          <p:val>
                                            <p:strVal val="#ppt_x"/>
                                          </p:val>
                                        </p:tav>
                                      </p:tavLst>
                                    </p:anim>
                                    <p:anim calcmode="lin" valueType="num">
                                      <p:cBhvr>
                                        <p:cTn id="63" dur="420" fill="hold"/>
                                        <p:tgtEl>
                                          <p:spTgt spid="15"/>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420"/>
                                        <p:tgtEl>
                                          <p:spTgt spid="16"/>
                                        </p:tgtEl>
                                      </p:cBhvr>
                                    </p:animEffect>
                                    <p:anim calcmode="lin" valueType="num">
                                      <p:cBhvr>
                                        <p:cTn id="67" dur="420" fill="hold"/>
                                        <p:tgtEl>
                                          <p:spTgt spid="16"/>
                                        </p:tgtEl>
                                        <p:attrNameLst>
                                          <p:attrName>ppt_x</p:attrName>
                                        </p:attrNameLst>
                                      </p:cBhvr>
                                      <p:tavLst>
                                        <p:tav tm="0">
                                          <p:val>
                                            <p:strVal val="#ppt_x"/>
                                          </p:val>
                                        </p:tav>
                                        <p:tav tm="100000">
                                          <p:val>
                                            <p:strVal val="#ppt_x"/>
                                          </p:val>
                                        </p:tav>
                                      </p:tavLst>
                                    </p:anim>
                                    <p:anim calcmode="lin" valueType="num">
                                      <p:cBhvr>
                                        <p:cTn id="68" dur="420" fill="hold"/>
                                        <p:tgtEl>
                                          <p:spTgt spid="16"/>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420"/>
                                        <p:tgtEl>
                                          <p:spTgt spid="17"/>
                                        </p:tgtEl>
                                      </p:cBhvr>
                                    </p:animEffect>
                                    <p:anim calcmode="lin" valueType="num">
                                      <p:cBhvr>
                                        <p:cTn id="72" dur="420" fill="hold"/>
                                        <p:tgtEl>
                                          <p:spTgt spid="17"/>
                                        </p:tgtEl>
                                        <p:attrNameLst>
                                          <p:attrName>ppt_x</p:attrName>
                                        </p:attrNameLst>
                                      </p:cBhvr>
                                      <p:tavLst>
                                        <p:tav tm="0">
                                          <p:val>
                                            <p:strVal val="#ppt_x"/>
                                          </p:val>
                                        </p:tav>
                                        <p:tav tm="100000">
                                          <p:val>
                                            <p:strVal val="#ppt_x"/>
                                          </p:val>
                                        </p:tav>
                                      </p:tavLst>
                                    </p:anim>
                                    <p:anim calcmode="lin" valueType="num">
                                      <p:cBhvr>
                                        <p:cTn id="73" dur="420" fill="hold"/>
                                        <p:tgtEl>
                                          <p:spTgt spid="17"/>
                                        </p:tgtEl>
                                        <p:attrNameLst>
                                          <p:attrName>ppt_y</p:attrName>
                                        </p:attrNameLst>
                                      </p:cBhvr>
                                      <p:tavLst>
                                        <p:tav tm="0">
                                          <p:val>
                                            <p:strVal val="#ppt_y+.06"/>
                                          </p:val>
                                        </p:tav>
                                        <p:tav tm="100000">
                                          <p:val>
                                            <p:strVal val="#ppt_y"/>
                                          </p:val>
                                        </p:tav>
                                      </p:tavLst>
                                    </p:anim>
                                  </p:childTnLst>
                                </p:cTn>
                              </p:par>
                            </p:childTnLst>
                          </p:cTn>
                        </p:par>
                        <p:par>
                          <p:cTn id="74" fill="hold">
                            <p:stCondLst>
                              <p:cond delay="1670"/>
                            </p:stCondLst>
                            <p:childTnLst>
                              <p:par>
                                <p:cTn id="75" presetID="42" presetClass="entr" presetSubtype="0" fill="hold" grpId="0" nodeType="afterEffect">
                                  <p:stCondLst>
                                    <p:cond delay="4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420"/>
                                        <p:tgtEl>
                                          <p:spTgt spid="18"/>
                                        </p:tgtEl>
                                      </p:cBhvr>
                                    </p:animEffect>
                                    <p:anim calcmode="lin" valueType="num">
                                      <p:cBhvr>
                                        <p:cTn id="78" dur="420" fill="hold"/>
                                        <p:tgtEl>
                                          <p:spTgt spid="18"/>
                                        </p:tgtEl>
                                        <p:attrNameLst>
                                          <p:attrName>ppt_x</p:attrName>
                                        </p:attrNameLst>
                                      </p:cBhvr>
                                      <p:tavLst>
                                        <p:tav tm="0">
                                          <p:val>
                                            <p:strVal val="#ppt_x"/>
                                          </p:val>
                                        </p:tav>
                                        <p:tav tm="100000">
                                          <p:val>
                                            <p:strVal val="#ppt_x"/>
                                          </p:val>
                                        </p:tav>
                                      </p:tavLst>
                                    </p:anim>
                                    <p:anim calcmode="lin" valueType="num">
                                      <p:cBhvr>
                                        <p:cTn id="79" dur="420" fill="hold"/>
                                        <p:tgtEl>
                                          <p:spTgt spid="18"/>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420"/>
                                        <p:tgtEl>
                                          <p:spTgt spid="19"/>
                                        </p:tgtEl>
                                      </p:cBhvr>
                                    </p:animEffect>
                                    <p:anim calcmode="lin" valueType="num">
                                      <p:cBhvr>
                                        <p:cTn id="83" dur="420" fill="hold"/>
                                        <p:tgtEl>
                                          <p:spTgt spid="19"/>
                                        </p:tgtEl>
                                        <p:attrNameLst>
                                          <p:attrName>ppt_x</p:attrName>
                                        </p:attrNameLst>
                                      </p:cBhvr>
                                      <p:tavLst>
                                        <p:tav tm="0">
                                          <p:val>
                                            <p:strVal val="#ppt_x"/>
                                          </p:val>
                                        </p:tav>
                                        <p:tav tm="100000">
                                          <p:val>
                                            <p:strVal val="#ppt_x"/>
                                          </p:val>
                                        </p:tav>
                                      </p:tavLst>
                                    </p:anim>
                                    <p:anim calcmode="lin" valueType="num">
                                      <p:cBhvr>
                                        <p:cTn id="84" dur="420" fill="hold"/>
                                        <p:tgtEl>
                                          <p:spTgt spid="19"/>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420"/>
                                        <p:tgtEl>
                                          <p:spTgt spid="20"/>
                                        </p:tgtEl>
                                      </p:cBhvr>
                                    </p:animEffect>
                                    <p:anim calcmode="lin" valueType="num">
                                      <p:cBhvr>
                                        <p:cTn id="88" dur="420" fill="hold"/>
                                        <p:tgtEl>
                                          <p:spTgt spid="20"/>
                                        </p:tgtEl>
                                        <p:attrNameLst>
                                          <p:attrName>ppt_x</p:attrName>
                                        </p:attrNameLst>
                                      </p:cBhvr>
                                      <p:tavLst>
                                        <p:tav tm="0">
                                          <p:val>
                                            <p:strVal val="#ppt_x"/>
                                          </p:val>
                                        </p:tav>
                                        <p:tav tm="100000">
                                          <p:val>
                                            <p:strVal val="#ppt_x"/>
                                          </p:val>
                                        </p:tav>
                                      </p:tavLst>
                                    </p:anim>
                                    <p:anim calcmode="lin" valueType="num">
                                      <p:cBhvr>
                                        <p:cTn id="89" dur="420" fill="hold"/>
                                        <p:tgtEl>
                                          <p:spTgt spid="20"/>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420"/>
                                        <p:tgtEl>
                                          <p:spTgt spid="21"/>
                                        </p:tgtEl>
                                      </p:cBhvr>
                                    </p:animEffect>
                                    <p:anim calcmode="lin" valueType="num">
                                      <p:cBhvr>
                                        <p:cTn id="93" dur="420" fill="hold"/>
                                        <p:tgtEl>
                                          <p:spTgt spid="21"/>
                                        </p:tgtEl>
                                        <p:attrNameLst>
                                          <p:attrName>ppt_x</p:attrName>
                                        </p:attrNameLst>
                                      </p:cBhvr>
                                      <p:tavLst>
                                        <p:tav tm="0">
                                          <p:val>
                                            <p:strVal val="#ppt_x"/>
                                          </p:val>
                                        </p:tav>
                                        <p:tav tm="100000">
                                          <p:val>
                                            <p:strVal val="#ppt_x"/>
                                          </p:val>
                                        </p:tav>
                                      </p:tavLst>
                                    </p:anim>
                                    <p:anim calcmode="lin" valueType="num">
                                      <p:cBhvr>
                                        <p:cTn id="94" dur="420" fill="hold"/>
                                        <p:tgtEl>
                                          <p:spTgt spid="21"/>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420"/>
                                        <p:tgtEl>
                                          <p:spTgt spid="22"/>
                                        </p:tgtEl>
                                      </p:cBhvr>
                                    </p:animEffect>
                                    <p:anim calcmode="lin" valueType="num">
                                      <p:cBhvr>
                                        <p:cTn id="98" dur="420" fill="hold"/>
                                        <p:tgtEl>
                                          <p:spTgt spid="22"/>
                                        </p:tgtEl>
                                        <p:attrNameLst>
                                          <p:attrName>ppt_x</p:attrName>
                                        </p:attrNameLst>
                                      </p:cBhvr>
                                      <p:tavLst>
                                        <p:tav tm="0">
                                          <p:val>
                                            <p:strVal val="#ppt_x"/>
                                          </p:val>
                                        </p:tav>
                                        <p:tav tm="100000">
                                          <p:val>
                                            <p:strVal val="#ppt_x"/>
                                          </p:val>
                                        </p:tav>
                                      </p:tavLst>
                                    </p:anim>
                                    <p:anim calcmode="lin" valueType="num">
                                      <p:cBhvr>
                                        <p:cTn id="99" dur="420" fill="hold"/>
                                        <p:tgtEl>
                                          <p:spTgt spid="22"/>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420"/>
                                        <p:tgtEl>
                                          <p:spTgt spid="23"/>
                                        </p:tgtEl>
                                      </p:cBhvr>
                                    </p:animEffect>
                                    <p:anim calcmode="lin" valueType="num">
                                      <p:cBhvr>
                                        <p:cTn id="103" dur="420" fill="hold"/>
                                        <p:tgtEl>
                                          <p:spTgt spid="23"/>
                                        </p:tgtEl>
                                        <p:attrNameLst>
                                          <p:attrName>ppt_x</p:attrName>
                                        </p:attrNameLst>
                                      </p:cBhvr>
                                      <p:tavLst>
                                        <p:tav tm="0">
                                          <p:val>
                                            <p:strVal val="#ppt_x"/>
                                          </p:val>
                                        </p:tav>
                                        <p:tav tm="100000">
                                          <p:val>
                                            <p:strVal val="#ppt_x"/>
                                          </p:val>
                                        </p:tav>
                                      </p:tavLst>
                                    </p:anim>
                                    <p:anim calcmode="lin" valueType="num">
                                      <p:cBhvr>
                                        <p:cTn id="104" dur="420" fill="hold"/>
                                        <p:tgtEl>
                                          <p:spTgt spid="23"/>
                                        </p:tgtEl>
                                        <p:attrNameLst>
                                          <p:attrName>ppt_y</p:attrName>
                                        </p:attrNameLst>
                                      </p:cBhvr>
                                      <p:tavLst>
                                        <p:tav tm="0">
                                          <p:val>
                                            <p:strVal val="#ppt_y+.06"/>
                                          </p:val>
                                        </p:tav>
                                        <p:tav tm="100000">
                                          <p:val>
                                            <p:strVal val="#ppt_y"/>
                                          </p:val>
                                        </p:tav>
                                      </p:tavLst>
                                    </p:anim>
                                  </p:childTnLst>
                                </p:cTn>
                              </p:par>
                            </p:childTnLst>
                          </p:cTn>
                        </p:par>
                        <p:par>
                          <p:cTn id="105" fill="hold">
                            <p:stCondLst>
                              <p:cond delay="2130"/>
                            </p:stCondLst>
                            <p:childTnLst>
                              <p:par>
                                <p:cTn id="106" presetID="10" presetClass="entr" presetSubtype="0" fill="hold" grpId="0" nodeType="afterEffect">
                                  <p:stCondLst>
                                    <p:cond delay="80"/>
                                  </p:stCondLst>
                                  <p:childTnLst>
                                    <p:set>
                                      <p:cBhvr>
                                        <p:cTn id="107" dur="1" fill="hold">
                                          <p:stCondLst>
                                            <p:cond delay="0"/>
                                          </p:stCondLst>
                                        </p:cTn>
                                        <p:tgtEl>
                                          <p:spTgt spid="24"/>
                                        </p:tgtEl>
                                        <p:attrNameLst>
                                          <p:attrName>style.visibility</p:attrName>
                                        </p:attrNameLst>
                                      </p:cBhvr>
                                      <p:to>
                                        <p:strVal val="visible"/>
                                      </p:to>
                                    </p:set>
                                    <p:animEffect transition="in" filter="fade">
                                      <p:cBhvr>
                                        <p:cTn id="108" dur="500"/>
                                        <p:tgtEl>
                                          <p:spTgt spid="24"/>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25"/>
                                        </p:tgtEl>
                                        <p:attrNameLst>
                                          <p:attrName>style.visibility</p:attrName>
                                        </p:attrNameLst>
                                      </p:cBhvr>
                                      <p:to>
                                        <p:strVal val="visible"/>
                                      </p:to>
                                    </p:set>
                                    <p:animEffect transition="in" filter="fade">
                                      <p:cBhvr>
                                        <p:cTn id="111" dur="500"/>
                                        <p:tgtEl>
                                          <p:spTgt spid="25"/>
                                        </p:tgtEl>
                                      </p:cBhvr>
                                    </p:animEffect>
                                  </p:childTnLst>
                                </p:cTn>
                              </p:par>
                            </p:childTnLst>
                          </p:cTn>
                        </p:par>
                        <p:par>
                          <p:cTn id="112" fill="hold">
                            <p:stCondLst>
                              <p:cond delay="2710"/>
                            </p:stCondLst>
                            <p:childTnLst>
                              <p:par>
                                <p:cTn id="113" presetID="10" presetClass="entr" presetSubtype="0" fill="hold" grpId="0" nodeType="afterEffect">
                                  <p:stCondLst>
                                    <p:cond delay="120"/>
                                  </p:stCondLst>
                                  <p:childTnLst>
                                    <p:set>
                                      <p:cBhvr>
                                        <p:cTn id="114" dur="1" fill="hold">
                                          <p:stCondLst>
                                            <p:cond delay="0"/>
                                          </p:stCondLst>
                                        </p:cTn>
                                        <p:tgtEl>
                                          <p:spTgt spid="26"/>
                                        </p:tgtEl>
                                        <p:attrNameLst>
                                          <p:attrName>style.visibility</p:attrName>
                                        </p:attrNameLst>
                                      </p:cBhvr>
                                      <p:to>
                                        <p:strVal val="visible"/>
                                      </p:to>
                                    </p:set>
                                    <p:animEffect transition="in" filter="fade">
                                      <p:cBhvr>
                                        <p:cTn id="11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p:bldP spid="9" grpId="0"/>
      <p:bldP spid="10" grpId="0" animBg="1"/>
      <p:bldP spid="11" grpId="0"/>
      <p:bldP spid="12" grpId="0" animBg="1"/>
      <p:bldP spid="13" grpId="0" animBg="1"/>
      <p:bldP spid="14" grpId="0"/>
      <p:bldP spid="15" grpId="0"/>
      <p:bldP spid="16" grpId="0" animBg="1"/>
      <p:bldP spid="17" grpId="0"/>
      <p:bldP spid="18" grpId="0" animBg="1"/>
      <p:bldP spid="19" grpId="0" animBg="1"/>
      <p:bldP spid="20" grpId="0"/>
      <p:bldP spid="21" grpId="0"/>
      <p:bldP spid="22" grpId="0" animBg="1"/>
      <p:bldP spid="23" grpId="0"/>
      <p:bldP spid="24" grpId="0" animBg="1"/>
      <p:bldP spid="25" grpId="0"/>
      <p:bldP spid="26"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HOW JIO EARNS</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Earn from intelligence, carry no insurance risk</a:t>
            </a:r>
            <a:endParaRPr lang="en-US" sz="3200" dirty="0"/>
          </a:p>
        </p:txBody>
      </p:sp>
      <p:sp>
        <p:nvSpPr>
          <p:cNvPr id="6" name="rev0"/>
          <p:cNvSpPr/>
          <p:nvPr/>
        </p:nvSpPr>
        <p:spPr>
          <a:xfrm>
            <a:off x="548640" y="2057400"/>
            <a:ext cx="6400800" cy="1051560"/>
          </a:xfrm>
          <a:prstGeom prst="roundRect">
            <a:avLst>
              <a:gd name="adj" fmla="val 10435"/>
            </a:avLst>
          </a:prstGeom>
          <a:solidFill>
            <a:srgbClr val="1C2447"/>
          </a:solidFill>
          <a:ln w="15875">
            <a:solidFill>
              <a:srgbClr val="F5A623"/>
            </a:solidFill>
            <a:prstDash val="solid"/>
          </a:ln>
        </p:spPr>
      </p:sp>
      <p:sp>
        <p:nvSpPr>
          <p:cNvPr id="7" name="revN0"/>
          <p:cNvSpPr txBox="1"/>
          <p:nvPr/>
        </p:nvSpPr>
        <p:spPr>
          <a:xfrm>
            <a:off x="749808" y="2221992"/>
            <a:ext cx="594360" cy="548640"/>
          </a:xfrm>
          <a:prstGeom prst="rect">
            <a:avLst/>
          </a:prstGeom>
          <a:noFill/>
          <a:ln/>
        </p:spPr>
        <p:txBody>
          <a:bodyPr wrap="square" lIns="0" tIns="0" rIns="0" bIns="0" rtlCol="0" anchor="t"/>
          <a:lstStyle/>
          <a:p>
            <a:pPr indent="0" marL="0">
              <a:buNone/>
            </a:pPr>
            <a:r>
              <a:rPr lang="en-US" sz="2400" b="1" dirty="0">
                <a:solidFill>
                  <a:srgbClr val="F5A623"/>
                </a:solidFill>
                <a:latin typeface="Cambria" pitchFamily="34" charset="0"/>
                <a:ea typeface="Cambria" pitchFamily="34" charset="-122"/>
                <a:cs typeface="Cambria" pitchFamily="34" charset="-120"/>
              </a:rPr>
              <a:t>01</a:t>
            </a:r>
            <a:endParaRPr lang="en-US" sz="2400" dirty="0"/>
          </a:p>
        </p:txBody>
      </p:sp>
      <p:sp>
        <p:nvSpPr>
          <p:cNvPr id="8" name="revT0"/>
          <p:cNvSpPr txBox="1"/>
          <p:nvPr/>
        </p:nvSpPr>
        <p:spPr>
          <a:xfrm>
            <a:off x="1417320" y="2185416"/>
            <a:ext cx="5394960" cy="84124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Decision and data fees</a:t>
            </a:r>
            <a:endParaRPr lang="en-US" sz="1600" dirty="0"/>
          </a:p>
          <a:p>
            <a:pPr indent="0" marL="0">
              <a:buNone/>
            </a:pPr>
            <a:r>
              <a:rPr lang="en-US" sz="1300" dirty="0">
                <a:solidFill>
                  <a:srgbClr val="B9C2D8"/>
                </a:solidFill>
                <a:latin typeface="Calibri" pitchFamily="34" charset="0"/>
                <a:ea typeface="Calibri" pitchFamily="34" charset="-122"/>
                <a:cs typeface="Calibri" pitchFamily="34" charset="-120"/>
              </a:rPr>
              <a:t>Weather API, alerts and operational decisions: recurring B2B revenue</a:t>
            </a:r>
            <a:endParaRPr lang="en-US" sz="1600" dirty="0"/>
          </a:p>
        </p:txBody>
      </p:sp>
      <p:sp>
        <p:nvSpPr>
          <p:cNvPr id="9" name="rev1"/>
          <p:cNvSpPr/>
          <p:nvPr/>
        </p:nvSpPr>
        <p:spPr>
          <a:xfrm>
            <a:off x="548640" y="3246120"/>
            <a:ext cx="6400800" cy="1051560"/>
          </a:xfrm>
          <a:prstGeom prst="roundRect">
            <a:avLst>
              <a:gd name="adj" fmla="val 10435"/>
            </a:avLst>
          </a:prstGeom>
          <a:solidFill>
            <a:srgbClr val="141B36"/>
          </a:solidFill>
          <a:ln w="9525">
            <a:solidFill>
              <a:srgbClr val="2A3357"/>
            </a:solidFill>
            <a:prstDash val="solid"/>
          </a:ln>
        </p:spPr>
      </p:sp>
      <p:sp>
        <p:nvSpPr>
          <p:cNvPr id="10" name="revN1"/>
          <p:cNvSpPr txBox="1"/>
          <p:nvPr/>
        </p:nvSpPr>
        <p:spPr>
          <a:xfrm>
            <a:off x="749808" y="3410712"/>
            <a:ext cx="594360" cy="548640"/>
          </a:xfrm>
          <a:prstGeom prst="rect">
            <a:avLst/>
          </a:prstGeom>
          <a:noFill/>
          <a:ln/>
        </p:spPr>
        <p:txBody>
          <a:bodyPr wrap="square" lIns="0" tIns="0" rIns="0" bIns="0" rtlCol="0" anchor="t"/>
          <a:lstStyle/>
          <a:p>
            <a:pPr indent="0" marL="0">
              <a:buNone/>
            </a:pPr>
            <a:r>
              <a:rPr lang="en-US" sz="2400" b="1" dirty="0">
                <a:solidFill>
                  <a:srgbClr val="F5A623"/>
                </a:solidFill>
                <a:latin typeface="Cambria" pitchFamily="34" charset="0"/>
                <a:ea typeface="Cambria" pitchFamily="34" charset="-122"/>
                <a:cs typeface="Cambria" pitchFamily="34" charset="-120"/>
              </a:rPr>
              <a:t>02</a:t>
            </a:r>
            <a:endParaRPr lang="en-US" sz="2400" dirty="0"/>
          </a:p>
        </p:txBody>
      </p:sp>
      <p:sp>
        <p:nvSpPr>
          <p:cNvPr id="11" name="revT1"/>
          <p:cNvSpPr txBox="1"/>
          <p:nvPr/>
        </p:nvSpPr>
        <p:spPr>
          <a:xfrm>
            <a:off x="1417320" y="3374136"/>
            <a:ext cx="5394960" cy="84124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Savings and new revenue inside Reliance</a:t>
            </a:r>
            <a:endParaRPr lang="en-US" sz="1600" dirty="0"/>
          </a:p>
          <a:p>
            <a:pPr indent="0" marL="0">
              <a:buNone/>
            </a:pPr>
            <a:r>
              <a:rPr lang="en-US" sz="1300" dirty="0">
                <a:solidFill>
                  <a:srgbClr val="B9C2D8"/>
                </a:solidFill>
                <a:latin typeface="Calibri" pitchFamily="34" charset="0"/>
                <a:ea typeface="Calibri" pitchFamily="34" charset="-122"/>
                <a:cs typeface="Calibri" pitchFamily="34" charset="-120"/>
              </a:rPr>
              <a:t>Fewer wasted network site visits, better delivery operations, weather-triggered ads</a:t>
            </a:r>
            <a:endParaRPr lang="en-US" sz="1600" dirty="0"/>
          </a:p>
        </p:txBody>
      </p:sp>
      <p:sp>
        <p:nvSpPr>
          <p:cNvPr id="12" name="rev2"/>
          <p:cNvSpPr/>
          <p:nvPr/>
        </p:nvSpPr>
        <p:spPr>
          <a:xfrm>
            <a:off x="548640" y="4434840"/>
            <a:ext cx="6400800" cy="1051560"/>
          </a:xfrm>
          <a:prstGeom prst="roundRect">
            <a:avLst>
              <a:gd name="adj" fmla="val 10435"/>
            </a:avLst>
          </a:prstGeom>
          <a:solidFill>
            <a:srgbClr val="141B36"/>
          </a:solidFill>
          <a:ln w="9525">
            <a:solidFill>
              <a:srgbClr val="2A3357"/>
            </a:solidFill>
            <a:prstDash val="solid"/>
          </a:ln>
        </p:spPr>
      </p:sp>
      <p:sp>
        <p:nvSpPr>
          <p:cNvPr id="13" name="revN2"/>
          <p:cNvSpPr txBox="1"/>
          <p:nvPr/>
        </p:nvSpPr>
        <p:spPr>
          <a:xfrm>
            <a:off x="749808" y="4599432"/>
            <a:ext cx="594360" cy="548640"/>
          </a:xfrm>
          <a:prstGeom prst="rect">
            <a:avLst/>
          </a:prstGeom>
          <a:noFill/>
          <a:ln/>
        </p:spPr>
        <p:txBody>
          <a:bodyPr wrap="square" lIns="0" tIns="0" rIns="0" bIns="0" rtlCol="0" anchor="t"/>
          <a:lstStyle/>
          <a:p>
            <a:pPr indent="0" marL="0">
              <a:buNone/>
            </a:pPr>
            <a:r>
              <a:rPr lang="en-US" sz="2400" b="1" dirty="0">
                <a:solidFill>
                  <a:srgbClr val="98A2C0"/>
                </a:solidFill>
                <a:latin typeface="Cambria" pitchFamily="34" charset="0"/>
                <a:ea typeface="Cambria" pitchFamily="34" charset="-122"/>
                <a:cs typeface="Cambria" pitchFamily="34" charset="-120"/>
              </a:rPr>
              <a:t>03</a:t>
            </a:r>
            <a:endParaRPr lang="en-US" sz="2400" dirty="0"/>
          </a:p>
        </p:txBody>
      </p:sp>
      <p:sp>
        <p:nvSpPr>
          <p:cNvPr id="14" name="revT2"/>
          <p:cNvSpPr txBox="1"/>
          <p:nvPr/>
        </p:nvSpPr>
        <p:spPr>
          <a:xfrm>
            <a:off x="1417320" y="4562856"/>
            <a:ext cx="5394960" cy="84124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Insurance distribution fees (optional)</a:t>
            </a:r>
            <a:endParaRPr lang="en-US" sz="1600" dirty="0"/>
          </a:p>
          <a:p>
            <a:pPr indent="0" marL="0">
              <a:buNone/>
            </a:pPr>
            <a:r>
              <a:rPr lang="en-US" sz="1300" dirty="0">
                <a:solidFill>
                  <a:srgbClr val="B9C2D8"/>
                </a:solidFill>
                <a:latin typeface="Calibri" pitchFamily="34" charset="0"/>
                <a:ea typeface="Calibri" pitchFamily="34" charset="-122"/>
                <a:cs typeface="Calibri" pitchFamily="34" charset="-120"/>
              </a:rPr>
              <a:t>If Kavach launches: the insurer carries the risk; Jio earns data, technology and distribution fees</a:t>
            </a:r>
            <a:endParaRPr lang="en-US" sz="1600" dirty="0"/>
          </a:p>
        </p:txBody>
      </p:sp>
      <p:sp>
        <p:nvSpPr>
          <p:cNvPr id="15" name="moatK"/>
          <p:cNvSpPr txBox="1"/>
          <p:nvPr/>
        </p:nvSpPr>
        <p:spPr>
          <a:xfrm>
            <a:off x="7269480" y="2103120"/>
            <a:ext cx="4370832" cy="274320"/>
          </a:xfrm>
          <a:prstGeom prst="rect">
            <a:avLst/>
          </a:prstGeom>
          <a:noFill/>
          <a:ln/>
        </p:spPr>
        <p:txBody>
          <a:bodyPr wrap="square" lIns="0" tIns="0" rIns="0" bIns="0" rtlCol="0" anchor="t"/>
          <a:lstStyle/>
          <a:p>
            <a:pPr indent="0" marL="0">
              <a:buNone/>
            </a:pPr>
            <a:r>
              <a:rPr lang="en-US" sz="1050" b="1" spc="200" kern="0" dirty="0">
                <a:solidFill>
                  <a:srgbClr val="F5A623"/>
                </a:solidFill>
                <a:latin typeface="Calibri" pitchFamily="34" charset="0"/>
                <a:ea typeface="Calibri" pitchFamily="34" charset="-122"/>
                <a:cs typeface="Calibri" pitchFamily="34" charset="-120"/>
              </a:rPr>
              <a:t>WHY JIO: RELIANCE CAN CONNECT EVERY LAYER</a:t>
            </a:r>
            <a:endParaRPr lang="en-US" sz="1050" dirty="0"/>
          </a:p>
        </p:txBody>
      </p:sp>
      <p:sp>
        <p:nvSpPr>
          <p:cNvPr id="16" name="moat0"/>
          <p:cNvSpPr/>
          <p:nvPr/>
        </p:nvSpPr>
        <p:spPr>
          <a:xfrm>
            <a:off x="7269480" y="2514600"/>
            <a:ext cx="4370832" cy="640080"/>
          </a:xfrm>
          <a:prstGeom prst="roundRect">
            <a:avLst>
              <a:gd name="adj" fmla="val 17143"/>
            </a:avLst>
          </a:prstGeom>
          <a:solidFill>
            <a:srgbClr val="141B36"/>
          </a:solidFill>
          <a:ln w="9525">
            <a:solidFill>
              <a:srgbClr val="2A3357"/>
            </a:solidFill>
            <a:prstDash val="solid"/>
          </a:ln>
        </p:spPr>
      </p:sp>
      <p:sp>
        <p:nvSpPr>
          <p:cNvPr id="17" name="moatK0"/>
          <p:cNvSpPr/>
          <p:nvPr/>
        </p:nvSpPr>
        <p:spPr>
          <a:xfrm>
            <a:off x="7406640" y="2633472"/>
            <a:ext cx="1417320" cy="402336"/>
          </a:xfrm>
          <a:prstGeom prst="roundRect">
            <a:avLst>
              <a:gd name="adj" fmla="val 18182"/>
            </a:avLst>
          </a:prstGeom>
          <a:solidFill>
            <a:srgbClr val="F5A623"/>
          </a:solidFill>
          <a:ln w="12700">
            <a:solidFill>
              <a:srgbClr val="F5A623"/>
            </a:solidFill>
            <a:prstDash val="solid"/>
          </a:ln>
        </p:spPr>
      </p:sp>
      <p:sp>
        <p:nvSpPr>
          <p:cNvPr id="18" name="moatKT0"/>
          <p:cNvSpPr txBox="1"/>
          <p:nvPr/>
        </p:nvSpPr>
        <p:spPr>
          <a:xfrm>
            <a:off x="7406640" y="2633472"/>
            <a:ext cx="1417320" cy="402336"/>
          </a:xfrm>
          <a:prstGeom prst="rect">
            <a:avLst/>
          </a:prstGeom>
          <a:noFill/>
          <a:ln/>
        </p:spPr>
        <p:txBody>
          <a:bodyPr wrap="square" lIns="0" tIns="0" rIns="0" bIns="0" rtlCol="0" anchor="ctr"/>
          <a:lstStyle/>
          <a:p>
            <a:pPr algn="ctr" indent="0" marL="0">
              <a:buNone/>
            </a:pPr>
            <a:r>
              <a:rPr lang="en-US" sz="1250" b="1" spc="100" kern="0" dirty="0">
                <a:solidFill>
                  <a:srgbClr val="1A1200"/>
                </a:solidFill>
                <a:latin typeface="Cambria" pitchFamily="34" charset="0"/>
                <a:ea typeface="Cambria" pitchFamily="34" charset="-122"/>
                <a:cs typeface="Cambria" pitchFamily="34" charset="-120"/>
              </a:rPr>
              <a:t>SENSE</a:t>
            </a:r>
            <a:endParaRPr lang="en-US" sz="1250" dirty="0"/>
          </a:p>
        </p:txBody>
      </p:sp>
      <p:sp>
        <p:nvSpPr>
          <p:cNvPr id="19" name="moatT0"/>
          <p:cNvSpPr txBox="1"/>
          <p:nvPr/>
        </p:nvSpPr>
        <p:spPr>
          <a:xfrm>
            <a:off x="9006840" y="2514600"/>
            <a:ext cx="256032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Jio network</a:t>
            </a:r>
            <a:endParaRPr lang="en-US" sz="1500" dirty="0"/>
          </a:p>
        </p:txBody>
      </p:sp>
      <p:sp>
        <p:nvSpPr>
          <p:cNvPr id="20" name="moatA0"/>
          <p:cNvSpPr/>
          <p:nvPr/>
        </p:nvSpPr>
        <p:spPr>
          <a:xfrm>
            <a:off x="8110728" y="3154680"/>
            <a:ext cx="914" cy="146304"/>
          </a:xfrm>
          <a:prstGeom prst="line">
            <a:avLst/>
          </a:prstGeom>
          <a:noFill/>
          <a:ln w="19050">
            <a:solidFill>
              <a:srgbClr val="5A6690"/>
            </a:solidFill>
            <a:prstDash val="solid"/>
            <a:tailEnd type="triangle"/>
          </a:ln>
        </p:spPr>
      </p:sp>
      <p:sp>
        <p:nvSpPr>
          <p:cNvPr id="21" name="moat1"/>
          <p:cNvSpPr/>
          <p:nvPr/>
        </p:nvSpPr>
        <p:spPr>
          <a:xfrm>
            <a:off x="7269480" y="3300984"/>
            <a:ext cx="4370832" cy="640080"/>
          </a:xfrm>
          <a:prstGeom prst="roundRect">
            <a:avLst>
              <a:gd name="adj" fmla="val 17143"/>
            </a:avLst>
          </a:prstGeom>
          <a:solidFill>
            <a:srgbClr val="1C2447"/>
          </a:solidFill>
          <a:ln w="9525">
            <a:solidFill>
              <a:srgbClr val="F5A623"/>
            </a:solidFill>
            <a:prstDash val="solid"/>
          </a:ln>
        </p:spPr>
      </p:sp>
      <p:sp>
        <p:nvSpPr>
          <p:cNvPr id="22" name="moatK1"/>
          <p:cNvSpPr/>
          <p:nvPr/>
        </p:nvSpPr>
        <p:spPr>
          <a:xfrm>
            <a:off x="7406640" y="3419856"/>
            <a:ext cx="1417320" cy="402336"/>
          </a:xfrm>
          <a:prstGeom prst="roundRect">
            <a:avLst>
              <a:gd name="adj" fmla="val 18182"/>
            </a:avLst>
          </a:prstGeom>
          <a:solidFill>
            <a:srgbClr val="F5A623"/>
          </a:solidFill>
          <a:ln w="12700">
            <a:solidFill>
              <a:srgbClr val="F5A623"/>
            </a:solidFill>
            <a:prstDash val="solid"/>
          </a:ln>
        </p:spPr>
      </p:sp>
      <p:sp>
        <p:nvSpPr>
          <p:cNvPr id="23" name="moatKT1"/>
          <p:cNvSpPr txBox="1"/>
          <p:nvPr/>
        </p:nvSpPr>
        <p:spPr>
          <a:xfrm>
            <a:off x="7406640" y="3419856"/>
            <a:ext cx="1417320" cy="402336"/>
          </a:xfrm>
          <a:prstGeom prst="rect">
            <a:avLst/>
          </a:prstGeom>
          <a:noFill/>
          <a:ln/>
        </p:spPr>
        <p:txBody>
          <a:bodyPr wrap="square" lIns="0" tIns="0" rIns="0" bIns="0" rtlCol="0" anchor="ctr"/>
          <a:lstStyle/>
          <a:p>
            <a:pPr algn="ctr" indent="0" marL="0">
              <a:buNone/>
            </a:pPr>
            <a:r>
              <a:rPr lang="en-US" sz="1250" b="1" spc="100" kern="0" dirty="0">
                <a:solidFill>
                  <a:srgbClr val="1A1200"/>
                </a:solidFill>
                <a:latin typeface="Cambria" pitchFamily="34" charset="0"/>
                <a:ea typeface="Cambria" pitchFamily="34" charset="-122"/>
                <a:cs typeface="Cambria" pitchFamily="34" charset="-120"/>
              </a:rPr>
              <a:t>UNDERSTAND</a:t>
            </a:r>
            <a:endParaRPr lang="en-US" sz="1250" dirty="0"/>
          </a:p>
        </p:txBody>
      </p:sp>
      <p:sp>
        <p:nvSpPr>
          <p:cNvPr id="24" name="moatT1"/>
          <p:cNvSpPr txBox="1"/>
          <p:nvPr/>
        </p:nvSpPr>
        <p:spPr>
          <a:xfrm>
            <a:off x="9006840" y="3300984"/>
            <a:ext cx="256032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JioMausam</a:t>
            </a:r>
            <a:endParaRPr lang="en-US" sz="1500" dirty="0"/>
          </a:p>
        </p:txBody>
      </p:sp>
      <p:sp>
        <p:nvSpPr>
          <p:cNvPr id="25" name="moatA1"/>
          <p:cNvSpPr/>
          <p:nvPr/>
        </p:nvSpPr>
        <p:spPr>
          <a:xfrm>
            <a:off x="8110728" y="3941064"/>
            <a:ext cx="914" cy="146304"/>
          </a:xfrm>
          <a:prstGeom prst="line">
            <a:avLst/>
          </a:prstGeom>
          <a:noFill/>
          <a:ln w="19050">
            <a:solidFill>
              <a:srgbClr val="5A6690"/>
            </a:solidFill>
            <a:prstDash val="solid"/>
            <a:tailEnd type="triangle"/>
          </a:ln>
        </p:spPr>
      </p:sp>
      <p:sp>
        <p:nvSpPr>
          <p:cNvPr id="26" name="moat2"/>
          <p:cNvSpPr/>
          <p:nvPr/>
        </p:nvSpPr>
        <p:spPr>
          <a:xfrm>
            <a:off x="7269480" y="4087368"/>
            <a:ext cx="4370832" cy="640080"/>
          </a:xfrm>
          <a:prstGeom prst="roundRect">
            <a:avLst>
              <a:gd name="adj" fmla="val 17143"/>
            </a:avLst>
          </a:prstGeom>
          <a:solidFill>
            <a:srgbClr val="141B36"/>
          </a:solidFill>
          <a:ln w="9525">
            <a:solidFill>
              <a:srgbClr val="2A3357"/>
            </a:solidFill>
            <a:prstDash val="solid"/>
          </a:ln>
        </p:spPr>
      </p:sp>
      <p:sp>
        <p:nvSpPr>
          <p:cNvPr id="27" name="moatK2"/>
          <p:cNvSpPr/>
          <p:nvPr/>
        </p:nvSpPr>
        <p:spPr>
          <a:xfrm>
            <a:off x="7406640" y="4206240"/>
            <a:ext cx="1417320" cy="402336"/>
          </a:xfrm>
          <a:prstGeom prst="roundRect">
            <a:avLst>
              <a:gd name="adj" fmla="val 18182"/>
            </a:avLst>
          </a:prstGeom>
          <a:solidFill>
            <a:srgbClr val="F5A623"/>
          </a:solidFill>
          <a:ln w="12700">
            <a:solidFill>
              <a:srgbClr val="F5A623"/>
            </a:solidFill>
            <a:prstDash val="solid"/>
          </a:ln>
        </p:spPr>
      </p:sp>
      <p:sp>
        <p:nvSpPr>
          <p:cNvPr id="28" name="moatKT2"/>
          <p:cNvSpPr txBox="1"/>
          <p:nvPr/>
        </p:nvSpPr>
        <p:spPr>
          <a:xfrm>
            <a:off x="7406640" y="4206240"/>
            <a:ext cx="1417320" cy="402336"/>
          </a:xfrm>
          <a:prstGeom prst="rect">
            <a:avLst/>
          </a:prstGeom>
          <a:noFill/>
          <a:ln/>
        </p:spPr>
        <p:txBody>
          <a:bodyPr wrap="square" lIns="0" tIns="0" rIns="0" bIns="0" rtlCol="0" anchor="ctr"/>
          <a:lstStyle/>
          <a:p>
            <a:pPr algn="ctr" indent="0" marL="0">
              <a:buNone/>
            </a:pPr>
            <a:r>
              <a:rPr lang="en-US" sz="1250" b="1" spc="100" kern="0" dirty="0">
                <a:solidFill>
                  <a:srgbClr val="1A1200"/>
                </a:solidFill>
                <a:latin typeface="Cambria" pitchFamily="34" charset="0"/>
                <a:ea typeface="Cambria" pitchFamily="34" charset="-122"/>
                <a:cs typeface="Cambria" pitchFamily="34" charset="-120"/>
              </a:rPr>
              <a:t>REACH</a:t>
            </a:r>
            <a:endParaRPr lang="en-US" sz="1250" dirty="0"/>
          </a:p>
        </p:txBody>
      </p:sp>
      <p:sp>
        <p:nvSpPr>
          <p:cNvPr id="29" name="moatT2"/>
          <p:cNvSpPr txBox="1"/>
          <p:nvPr/>
        </p:nvSpPr>
        <p:spPr>
          <a:xfrm>
            <a:off x="9006840" y="4087368"/>
            <a:ext cx="256032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Reliance ecosystem</a:t>
            </a:r>
            <a:endParaRPr lang="en-US" sz="1500" dirty="0"/>
          </a:p>
        </p:txBody>
      </p:sp>
      <p:sp>
        <p:nvSpPr>
          <p:cNvPr id="30" name="moatA2"/>
          <p:cNvSpPr/>
          <p:nvPr/>
        </p:nvSpPr>
        <p:spPr>
          <a:xfrm>
            <a:off x="8110728" y="4727448"/>
            <a:ext cx="914" cy="146304"/>
          </a:xfrm>
          <a:prstGeom prst="line">
            <a:avLst/>
          </a:prstGeom>
          <a:noFill/>
          <a:ln w="19050">
            <a:solidFill>
              <a:srgbClr val="5A6690"/>
            </a:solidFill>
            <a:prstDash val="solid"/>
            <a:tailEnd type="triangle"/>
          </a:ln>
        </p:spPr>
      </p:sp>
      <p:sp>
        <p:nvSpPr>
          <p:cNvPr id="31" name="moat3"/>
          <p:cNvSpPr/>
          <p:nvPr/>
        </p:nvSpPr>
        <p:spPr>
          <a:xfrm>
            <a:off x="7269480" y="4873752"/>
            <a:ext cx="4370832" cy="640080"/>
          </a:xfrm>
          <a:prstGeom prst="roundRect">
            <a:avLst>
              <a:gd name="adj" fmla="val 17143"/>
            </a:avLst>
          </a:prstGeom>
          <a:solidFill>
            <a:srgbClr val="141B36"/>
          </a:solidFill>
          <a:ln w="9525">
            <a:solidFill>
              <a:srgbClr val="2A3357"/>
            </a:solidFill>
            <a:prstDash val="solid"/>
          </a:ln>
        </p:spPr>
      </p:sp>
      <p:sp>
        <p:nvSpPr>
          <p:cNvPr id="32" name="moatK3"/>
          <p:cNvSpPr/>
          <p:nvPr/>
        </p:nvSpPr>
        <p:spPr>
          <a:xfrm>
            <a:off x="7406640" y="4992624"/>
            <a:ext cx="1417320" cy="402336"/>
          </a:xfrm>
          <a:prstGeom prst="roundRect">
            <a:avLst>
              <a:gd name="adj" fmla="val 18182"/>
            </a:avLst>
          </a:prstGeom>
          <a:solidFill>
            <a:srgbClr val="F5A623"/>
          </a:solidFill>
          <a:ln w="12700">
            <a:solidFill>
              <a:srgbClr val="F5A623"/>
            </a:solidFill>
            <a:prstDash val="solid"/>
          </a:ln>
        </p:spPr>
      </p:sp>
      <p:sp>
        <p:nvSpPr>
          <p:cNvPr id="33" name="moatKT3"/>
          <p:cNvSpPr txBox="1"/>
          <p:nvPr/>
        </p:nvSpPr>
        <p:spPr>
          <a:xfrm>
            <a:off x="7406640" y="4992624"/>
            <a:ext cx="1417320" cy="402336"/>
          </a:xfrm>
          <a:prstGeom prst="rect">
            <a:avLst/>
          </a:prstGeom>
          <a:noFill/>
          <a:ln/>
        </p:spPr>
        <p:txBody>
          <a:bodyPr wrap="square" lIns="0" tIns="0" rIns="0" bIns="0" rtlCol="0" anchor="ctr"/>
          <a:lstStyle/>
          <a:p>
            <a:pPr algn="ctr" indent="0" marL="0">
              <a:buNone/>
            </a:pPr>
            <a:r>
              <a:rPr lang="en-US" sz="1250" b="1" spc="100" kern="0" dirty="0">
                <a:solidFill>
                  <a:srgbClr val="1A1200"/>
                </a:solidFill>
                <a:latin typeface="Cambria" pitchFamily="34" charset="0"/>
                <a:ea typeface="Cambria" pitchFamily="34" charset="-122"/>
                <a:cs typeface="Cambria" pitchFamily="34" charset="-120"/>
              </a:rPr>
              <a:t>PROTECT</a:t>
            </a:r>
            <a:endParaRPr lang="en-US" sz="1250" dirty="0"/>
          </a:p>
        </p:txBody>
      </p:sp>
      <p:sp>
        <p:nvSpPr>
          <p:cNvPr id="34" name="moatT3"/>
          <p:cNvSpPr txBox="1"/>
          <p:nvPr/>
        </p:nvSpPr>
        <p:spPr>
          <a:xfrm>
            <a:off x="9006840" y="4873752"/>
            <a:ext cx="256032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JFS + licensed insurers</a:t>
            </a:r>
            <a:endParaRPr lang="en-US" sz="1500" dirty="0"/>
          </a:p>
        </p:txBody>
      </p:sp>
      <p:sp>
        <p:nvSpPr>
          <p:cNvPr id="35" name="takeaway"/>
          <p:cNvSpPr txBox="1"/>
          <p:nvPr/>
        </p:nvSpPr>
        <p:spPr>
          <a:xfrm>
            <a:off x="548640" y="576072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The business stands even if insurance never launches.</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29"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42" presetClass="entr" presetSubtype="0" fill="hold" grpId="0" nodeType="afterEffect">
                                  <p:stCondLst>
                                    <p:cond delay="4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20"/>
                                        <p:tgtEl>
                                          <p:spTgt spid="6"/>
                                        </p:tgtEl>
                                      </p:cBhvr>
                                    </p:animEffect>
                                    <p:anim calcmode="lin" valueType="num">
                                      <p:cBhvr>
                                        <p:cTn id="16" dur="420" fill="hold"/>
                                        <p:tgtEl>
                                          <p:spTgt spid="6"/>
                                        </p:tgtEl>
                                        <p:attrNameLst>
                                          <p:attrName>ppt_x</p:attrName>
                                        </p:attrNameLst>
                                      </p:cBhvr>
                                      <p:tavLst>
                                        <p:tav tm="0">
                                          <p:val>
                                            <p:strVal val="#ppt_x"/>
                                          </p:val>
                                        </p:tav>
                                        <p:tav tm="100000">
                                          <p:val>
                                            <p:strVal val="#ppt_x"/>
                                          </p:val>
                                        </p:tav>
                                      </p:tavLst>
                                    </p:anim>
                                    <p:anim calcmode="lin" valueType="num">
                                      <p:cBhvr>
                                        <p:cTn id="17" dur="42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20"/>
                                        <p:tgtEl>
                                          <p:spTgt spid="7"/>
                                        </p:tgtEl>
                                      </p:cBhvr>
                                    </p:animEffect>
                                    <p:anim calcmode="lin" valueType="num">
                                      <p:cBhvr>
                                        <p:cTn id="21" dur="420" fill="hold"/>
                                        <p:tgtEl>
                                          <p:spTgt spid="7"/>
                                        </p:tgtEl>
                                        <p:attrNameLst>
                                          <p:attrName>ppt_x</p:attrName>
                                        </p:attrNameLst>
                                      </p:cBhvr>
                                      <p:tavLst>
                                        <p:tav tm="0">
                                          <p:val>
                                            <p:strVal val="#ppt_x"/>
                                          </p:val>
                                        </p:tav>
                                        <p:tav tm="100000">
                                          <p:val>
                                            <p:strVal val="#ppt_x"/>
                                          </p:val>
                                        </p:tav>
                                      </p:tavLst>
                                    </p:anim>
                                    <p:anim calcmode="lin" valueType="num">
                                      <p:cBhvr>
                                        <p:cTn id="22" dur="42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20"/>
                                        <p:tgtEl>
                                          <p:spTgt spid="8"/>
                                        </p:tgtEl>
                                      </p:cBhvr>
                                    </p:animEffect>
                                    <p:anim calcmode="lin" valueType="num">
                                      <p:cBhvr>
                                        <p:cTn id="26" dur="420" fill="hold"/>
                                        <p:tgtEl>
                                          <p:spTgt spid="8"/>
                                        </p:tgtEl>
                                        <p:attrNameLst>
                                          <p:attrName>ppt_x</p:attrName>
                                        </p:attrNameLst>
                                      </p:cBhvr>
                                      <p:tavLst>
                                        <p:tav tm="0">
                                          <p:val>
                                            <p:strVal val="#ppt_x"/>
                                          </p:val>
                                        </p:tav>
                                        <p:tav tm="100000">
                                          <p:val>
                                            <p:strVal val="#ppt_x"/>
                                          </p:val>
                                        </p:tav>
                                      </p:tavLst>
                                    </p:anim>
                                    <p:anim calcmode="lin" valueType="num">
                                      <p:cBhvr>
                                        <p:cTn id="27" dur="420" fill="hold"/>
                                        <p:tgtEl>
                                          <p:spTgt spid="8"/>
                                        </p:tgtEl>
                                        <p:attrNameLst>
                                          <p:attrName>ppt_y</p:attrName>
                                        </p:attrNameLst>
                                      </p:cBhvr>
                                      <p:tavLst>
                                        <p:tav tm="0">
                                          <p:val>
                                            <p:strVal val="#ppt_y+.06"/>
                                          </p:val>
                                        </p:tav>
                                        <p:tav tm="100000">
                                          <p:val>
                                            <p:strVal val="#ppt_y"/>
                                          </p:val>
                                        </p:tav>
                                      </p:tavLst>
                                    </p:anim>
                                  </p:childTnLst>
                                </p:cTn>
                              </p:par>
                            </p:childTnLst>
                          </p:cTn>
                        </p:par>
                        <p:par>
                          <p:cTn id="28" fill="hold">
                            <p:stCondLst>
                              <p:cond delay="1210"/>
                            </p:stCondLst>
                            <p:childTnLst>
                              <p:par>
                                <p:cTn id="29" presetID="42" presetClass="entr" presetSubtype="0" fill="hold" grpId="0" nodeType="afterEffect">
                                  <p:stCondLst>
                                    <p:cond delay="4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20"/>
                                        <p:tgtEl>
                                          <p:spTgt spid="9"/>
                                        </p:tgtEl>
                                      </p:cBhvr>
                                    </p:animEffect>
                                    <p:anim calcmode="lin" valueType="num">
                                      <p:cBhvr>
                                        <p:cTn id="32" dur="420" fill="hold"/>
                                        <p:tgtEl>
                                          <p:spTgt spid="9"/>
                                        </p:tgtEl>
                                        <p:attrNameLst>
                                          <p:attrName>ppt_x</p:attrName>
                                        </p:attrNameLst>
                                      </p:cBhvr>
                                      <p:tavLst>
                                        <p:tav tm="0">
                                          <p:val>
                                            <p:strVal val="#ppt_x"/>
                                          </p:val>
                                        </p:tav>
                                        <p:tav tm="100000">
                                          <p:val>
                                            <p:strVal val="#ppt_x"/>
                                          </p:val>
                                        </p:tav>
                                      </p:tavLst>
                                    </p:anim>
                                    <p:anim calcmode="lin" valueType="num">
                                      <p:cBhvr>
                                        <p:cTn id="33" dur="420" fill="hold"/>
                                        <p:tgtEl>
                                          <p:spTgt spid="9"/>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420"/>
                                        <p:tgtEl>
                                          <p:spTgt spid="10"/>
                                        </p:tgtEl>
                                      </p:cBhvr>
                                    </p:animEffect>
                                    <p:anim calcmode="lin" valueType="num">
                                      <p:cBhvr>
                                        <p:cTn id="37" dur="420" fill="hold"/>
                                        <p:tgtEl>
                                          <p:spTgt spid="10"/>
                                        </p:tgtEl>
                                        <p:attrNameLst>
                                          <p:attrName>ppt_x</p:attrName>
                                        </p:attrNameLst>
                                      </p:cBhvr>
                                      <p:tavLst>
                                        <p:tav tm="0">
                                          <p:val>
                                            <p:strVal val="#ppt_x"/>
                                          </p:val>
                                        </p:tav>
                                        <p:tav tm="100000">
                                          <p:val>
                                            <p:strVal val="#ppt_x"/>
                                          </p:val>
                                        </p:tav>
                                      </p:tavLst>
                                    </p:anim>
                                    <p:anim calcmode="lin" valueType="num">
                                      <p:cBhvr>
                                        <p:cTn id="38" dur="420" fill="hold"/>
                                        <p:tgtEl>
                                          <p:spTgt spid="10"/>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420"/>
                                        <p:tgtEl>
                                          <p:spTgt spid="11"/>
                                        </p:tgtEl>
                                      </p:cBhvr>
                                    </p:animEffect>
                                    <p:anim calcmode="lin" valueType="num">
                                      <p:cBhvr>
                                        <p:cTn id="42" dur="420" fill="hold"/>
                                        <p:tgtEl>
                                          <p:spTgt spid="11"/>
                                        </p:tgtEl>
                                        <p:attrNameLst>
                                          <p:attrName>ppt_x</p:attrName>
                                        </p:attrNameLst>
                                      </p:cBhvr>
                                      <p:tavLst>
                                        <p:tav tm="0">
                                          <p:val>
                                            <p:strVal val="#ppt_x"/>
                                          </p:val>
                                        </p:tav>
                                        <p:tav tm="100000">
                                          <p:val>
                                            <p:strVal val="#ppt_x"/>
                                          </p:val>
                                        </p:tav>
                                      </p:tavLst>
                                    </p:anim>
                                    <p:anim calcmode="lin" valueType="num">
                                      <p:cBhvr>
                                        <p:cTn id="43" dur="420" fill="hold"/>
                                        <p:tgtEl>
                                          <p:spTgt spid="11"/>
                                        </p:tgtEl>
                                        <p:attrNameLst>
                                          <p:attrName>ppt_y</p:attrName>
                                        </p:attrNameLst>
                                      </p:cBhvr>
                                      <p:tavLst>
                                        <p:tav tm="0">
                                          <p:val>
                                            <p:strVal val="#ppt_y+.06"/>
                                          </p:val>
                                        </p:tav>
                                        <p:tav tm="100000">
                                          <p:val>
                                            <p:strVal val="#ppt_y"/>
                                          </p:val>
                                        </p:tav>
                                      </p:tavLst>
                                    </p:anim>
                                  </p:childTnLst>
                                </p:cTn>
                              </p:par>
                            </p:childTnLst>
                          </p:cTn>
                        </p:par>
                        <p:par>
                          <p:cTn id="44" fill="hold">
                            <p:stCondLst>
                              <p:cond delay="1670"/>
                            </p:stCondLst>
                            <p:childTnLst>
                              <p:par>
                                <p:cTn id="45" presetID="42" presetClass="entr" presetSubtype="0" fill="hold" grpId="0" nodeType="afterEffect">
                                  <p:stCondLst>
                                    <p:cond delay="4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20"/>
                                        <p:tgtEl>
                                          <p:spTgt spid="12"/>
                                        </p:tgtEl>
                                      </p:cBhvr>
                                    </p:animEffect>
                                    <p:anim calcmode="lin" valueType="num">
                                      <p:cBhvr>
                                        <p:cTn id="48" dur="420" fill="hold"/>
                                        <p:tgtEl>
                                          <p:spTgt spid="12"/>
                                        </p:tgtEl>
                                        <p:attrNameLst>
                                          <p:attrName>ppt_x</p:attrName>
                                        </p:attrNameLst>
                                      </p:cBhvr>
                                      <p:tavLst>
                                        <p:tav tm="0">
                                          <p:val>
                                            <p:strVal val="#ppt_x"/>
                                          </p:val>
                                        </p:tav>
                                        <p:tav tm="100000">
                                          <p:val>
                                            <p:strVal val="#ppt_x"/>
                                          </p:val>
                                        </p:tav>
                                      </p:tavLst>
                                    </p:anim>
                                    <p:anim calcmode="lin" valueType="num">
                                      <p:cBhvr>
                                        <p:cTn id="49" dur="420" fill="hold"/>
                                        <p:tgtEl>
                                          <p:spTgt spid="12"/>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420"/>
                                        <p:tgtEl>
                                          <p:spTgt spid="13"/>
                                        </p:tgtEl>
                                      </p:cBhvr>
                                    </p:animEffect>
                                    <p:anim calcmode="lin" valueType="num">
                                      <p:cBhvr>
                                        <p:cTn id="53" dur="420" fill="hold"/>
                                        <p:tgtEl>
                                          <p:spTgt spid="13"/>
                                        </p:tgtEl>
                                        <p:attrNameLst>
                                          <p:attrName>ppt_x</p:attrName>
                                        </p:attrNameLst>
                                      </p:cBhvr>
                                      <p:tavLst>
                                        <p:tav tm="0">
                                          <p:val>
                                            <p:strVal val="#ppt_x"/>
                                          </p:val>
                                        </p:tav>
                                        <p:tav tm="100000">
                                          <p:val>
                                            <p:strVal val="#ppt_x"/>
                                          </p:val>
                                        </p:tav>
                                      </p:tavLst>
                                    </p:anim>
                                    <p:anim calcmode="lin" valueType="num">
                                      <p:cBhvr>
                                        <p:cTn id="54" dur="420" fill="hold"/>
                                        <p:tgtEl>
                                          <p:spTgt spid="13"/>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420"/>
                                        <p:tgtEl>
                                          <p:spTgt spid="14"/>
                                        </p:tgtEl>
                                      </p:cBhvr>
                                    </p:animEffect>
                                    <p:anim calcmode="lin" valueType="num">
                                      <p:cBhvr>
                                        <p:cTn id="58" dur="420" fill="hold"/>
                                        <p:tgtEl>
                                          <p:spTgt spid="14"/>
                                        </p:tgtEl>
                                        <p:attrNameLst>
                                          <p:attrName>ppt_x</p:attrName>
                                        </p:attrNameLst>
                                      </p:cBhvr>
                                      <p:tavLst>
                                        <p:tav tm="0">
                                          <p:val>
                                            <p:strVal val="#ppt_x"/>
                                          </p:val>
                                        </p:tav>
                                        <p:tav tm="100000">
                                          <p:val>
                                            <p:strVal val="#ppt_x"/>
                                          </p:val>
                                        </p:tav>
                                      </p:tavLst>
                                    </p:anim>
                                    <p:anim calcmode="lin" valueType="num">
                                      <p:cBhvr>
                                        <p:cTn id="59" dur="420" fill="hold"/>
                                        <p:tgtEl>
                                          <p:spTgt spid="14"/>
                                        </p:tgtEl>
                                        <p:attrNameLst>
                                          <p:attrName>ppt_y</p:attrName>
                                        </p:attrNameLst>
                                      </p:cBhvr>
                                      <p:tavLst>
                                        <p:tav tm="0">
                                          <p:val>
                                            <p:strVal val="#ppt_y+.06"/>
                                          </p:val>
                                        </p:tav>
                                        <p:tav tm="100000">
                                          <p:val>
                                            <p:strVal val="#ppt_y"/>
                                          </p:val>
                                        </p:tav>
                                      </p:tavLst>
                                    </p:anim>
                                  </p:childTnLst>
                                </p:cTn>
                              </p:par>
                            </p:childTnLst>
                          </p:cTn>
                        </p:par>
                        <p:par>
                          <p:cTn id="60" fill="hold">
                            <p:stCondLst>
                              <p:cond delay="2130"/>
                            </p:stCondLst>
                            <p:childTnLst>
                              <p:par>
                                <p:cTn id="61" presetID="10" presetClass="entr" presetSubtype="0" fill="hold" grpId="0" nodeType="afterEffect">
                                  <p:stCondLst>
                                    <p:cond delay="6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50"/>
                                        <p:tgtEl>
                                          <p:spTgt spid="15"/>
                                        </p:tgtEl>
                                      </p:cBhvr>
                                    </p:animEffect>
                                  </p:childTnLst>
                                </p:cTn>
                              </p:par>
                            </p:childTnLst>
                          </p:cTn>
                        </p:par>
                        <p:par>
                          <p:cTn id="64" fill="hold">
                            <p:stCondLst>
                              <p:cond delay="2540"/>
                            </p:stCondLst>
                            <p:childTnLst>
                              <p:par>
                                <p:cTn id="65" presetID="22" presetClass="entr" presetSubtype="8" fill="hold" grpId="0" nodeType="afterEffect">
                                  <p:stCondLst>
                                    <p:cond delay="20"/>
                                  </p:stCondLst>
                                  <p:childTnLst>
                                    <p:set>
                                      <p:cBhvr>
                                        <p:cTn id="66" dur="1" fill="hold">
                                          <p:stCondLst>
                                            <p:cond delay="0"/>
                                          </p:stCondLst>
                                        </p:cTn>
                                        <p:tgtEl>
                                          <p:spTgt spid="16"/>
                                        </p:tgtEl>
                                        <p:attrNameLst>
                                          <p:attrName>style.visibility</p:attrName>
                                        </p:attrNameLst>
                                      </p:cBhvr>
                                      <p:to>
                                        <p:strVal val="visible"/>
                                      </p:to>
                                    </p:set>
                                    <p:animEffect transition="in" filter="wipe(left)">
                                      <p:cBhvr>
                                        <p:cTn id="67" dur="350"/>
                                        <p:tgtEl>
                                          <p:spTgt spid="16"/>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wipe(left)">
                                      <p:cBhvr>
                                        <p:cTn id="70" dur="350"/>
                                        <p:tgtEl>
                                          <p:spTgt spid="17"/>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wipe(left)">
                                      <p:cBhvr>
                                        <p:cTn id="73" dur="350"/>
                                        <p:tgtEl>
                                          <p:spTgt spid="18"/>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wipe(left)">
                                      <p:cBhvr>
                                        <p:cTn id="76" dur="350"/>
                                        <p:tgtEl>
                                          <p:spTgt spid="19"/>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wipe(left)">
                                      <p:cBhvr>
                                        <p:cTn id="79" dur="350"/>
                                        <p:tgtEl>
                                          <p:spTgt spid="20"/>
                                        </p:tgtEl>
                                      </p:cBhvr>
                                    </p:animEffect>
                                  </p:childTnLst>
                                </p:cTn>
                              </p:par>
                            </p:childTnLst>
                          </p:cTn>
                        </p:par>
                        <p:par>
                          <p:cTn id="80" fill="hold">
                            <p:stCondLst>
                              <p:cond delay="2910"/>
                            </p:stCondLst>
                            <p:childTnLst>
                              <p:par>
                                <p:cTn id="81" presetID="22" presetClass="entr" presetSubtype="8" fill="hold" grpId="0" nodeType="afterEffect">
                                  <p:stCondLst>
                                    <p:cond delay="20"/>
                                  </p:stCondLst>
                                  <p:childTnLst>
                                    <p:set>
                                      <p:cBhvr>
                                        <p:cTn id="82" dur="1" fill="hold">
                                          <p:stCondLst>
                                            <p:cond delay="0"/>
                                          </p:stCondLst>
                                        </p:cTn>
                                        <p:tgtEl>
                                          <p:spTgt spid="21"/>
                                        </p:tgtEl>
                                        <p:attrNameLst>
                                          <p:attrName>style.visibility</p:attrName>
                                        </p:attrNameLst>
                                      </p:cBhvr>
                                      <p:to>
                                        <p:strVal val="visible"/>
                                      </p:to>
                                    </p:set>
                                    <p:animEffect transition="in" filter="wipe(left)">
                                      <p:cBhvr>
                                        <p:cTn id="83" dur="350"/>
                                        <p:tgtEl>
                                          <p:spTgt spid="21"/>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wipe(left)">
                                      <p:cBhvr>
                                        <p:cTn id="86" dur="350"/>
                                        <p:tgtEl>
                                          <p:spTgt spid="22"/>
                                        </p:tgtEl>
                                      </p:cBhvr>
                                    </p:animEffect>
                                  </p:childTnLst>
                                </p:cTn>
                              </p:par>
                              <p:par>
                                <p:cTn id="87" presetID="22" presetClass="entr" presetSubtype="8" fill="hold" grpId="0" nodeType="withEffect">
                                  <p:stCondLst>
                                    <p:cond delay="0"/>
                                  </p:stCondLst>
                                  <p:childTnLst>
                                    <p:set>
                                      <p:cBhvr>
                                        <p:cTn id="88" dur="1" fill="hold">
                                          <p:stCondLst>
                                            <p:cond delay="0"/>
                                          </p:stCondLst>
                                        </p:cTn>
                                        <p:tgtEl>
                                          <p:spTgt spid="23"/>
                                        </p:tgtEl>
                                        <p:attrNameLst>
                                          <p:attrName>style.visibility</p:attrName>
                                        </p:attrNameLst>
                                      </p:cBhvr>
                                      <p:to>
                                        <p:strVal val="visible"/>
                                      </p:to>
                                    </p:set>
                                    <p:animEffect transition="in" filter="wipe(left)">
                                      <p:cBhvr>
                                        <p:cTn id="89" dur="350"/>
                                        <p:tgtEl>
                                          <p:spTgt spid="23"/>
                                        </p:tgtEl>
                                      </p:cBhvr>
                                    </p:animEffect>
                                  </p:childTnLst>
                                </p:cTn>
                              </p:par>
                              <p:par>
                                <p:cTn id="90" presetID="22" presetClass="entr" presetSubtype="8" fill="hold" grpId="0" nodeType="with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wipe(left)">
                                      <p:cBhvr>
                                        <p:cTn id="92" dur="350"/>
                                        <p:tgtEl>
                                          <p:spTgt spid="24"/>
                                        </p:tgtEl>
                                      </p:cBhvr>
                                    </p:animEffect>
                                  </p:childTnLst>
                                </p:cTn>
                              </p:par>
                              <p:par>
                                <p:cTn id="93" presetID="22" presetClass="entr" presetSubtype="8" fill="hold" grpId="0" nodeType="withEffect">
                                  <p:stCondLst>
                                    <p:cond delay="0"/>
                                  </p:stCondLst>
                                  <p:childTnLst>
                                    <p:set>
                                      <p:cBhvr>
                                        <p:cTn id="94" dur="1" fill="hold">
                                          <p:stCondLst>
                                            <p:cond delay="0"/>
                                          </p:stCondLst>
                                        </p:cTn>
                                        <p:tgtEl>
                                          <p:spTgt spid="25"/>
                                        </p:tgtEl>
                                        <p:attrNameLst>
                                          <p:attrName>style.visibility</p:attrName>
                                        </p:attrNameLst>
                                      </p:cBhvr>
                                      <p:to>
                                        <p:strVal val="visible"/>
                                      </p:to>
                                    </p:set>
                                    <p:animEffect transition="in" filter="wipe(left)">
                                      <p:cBhvr>
                                        <p:cTn id="95" dur="350"/>
                                        <p:tgtEl>
                                          <p:spTgt spid="25"/>
                                        </p:tgtEl>
                                      </p:cBhvr>
                                    </p:animEffect>
                                  </p:childTnLst>
                                </p:cTn>
                              </p:par>
                            </p:childTnLst>
                          </p:cTn>
                        </p:par>
                        <p:par>
                          <p:cTn id="96" fill="hold">
                            <p:stCondLst>
                              <p:cond delay="3280"/>
                            </p:stCondLst>
                            <p:childTnLst>
                              <p:par>
                                <p:cTn id="97" presetID="22" presetClass="entr" presetSubtype="8" fill="hold" grpId="0" nodeType="afterEffect">
                                  <p:stCondLst>
                                    <p:cond delay="20"/>
                                  </p:stCondLst>
                                  <p:childTnLst>
                                    <p:set>
                                      <p:cBhvr>
                                        <p:cTn id="98" dur="1" fill="hold">
                                          <p:stCondLst>
                                            <p:cond delay="0"/>
                                          </p:stCondLst>
                                        </p:cTn>
                                        <p:tgtEl>
                                          <p:spTgt spid="26"/>
                                        </p:tgtEl>
                                        <p:attrNameLst>
                                          <p:attrName>style.visibility</p:attrName>
                                        </p:attrNameLst>
                                      </p:cBhvr>
                                      <p:to>
                                        <p:strVal val="visible"/>
                                      </p:to>
                                    </p:set>
                                    <p:animEffect transition="in" filter="wipe(left)">
                                      <p:cBhvr>
                                        <p:cTn id="99" dur="350"/>
                                        <p:tgtEl>
                                          <p:spTgt spid="26"/>
                                        </p:tgtEl>
                                      </p:cBhvr>
                                    </p:animEffect>
                                  </p:childTnLst>
                                </p:cTn>
                              </p:par>
                              <p:par>
                                <p:cTn id="100" presetID="22" presetClass="entr" presetSubtype="8" fill="hold" grpId="0" nodeType="with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wipe(left)">
                                      <p:cBhvr>
                                        <p:cTn id="102" dur="350"/>
                                        <p:tgtEl>
                                          <p:spTgt spid="27"/>
                                        </p:tgtEl>
                                      </p:cBhvr>
                                    </p:animEffect>
                                  </p:childTnLst>
                                </p:cTn>
                              </p:par>
                              <p:par>
                                <p:cTn id="103" presetID="22" presetClass="entr" presetSubtype="8" fill="hold" grpId="0" nodeType="withEffect">
                                  <p:stCondLst>
                                    <p:cond delay="0"/>
                                  </p:stCondLst>
                                  <p:childTnLst>
                                    <p:set>
                                      <p:cBhvr>
                                        <p:cTn id="104" dur="1" fill="hold">
                                          <p:stCondLst>
                                            <p:cond delay="0"/>
                                          </p:stCondLst>
                                        </p:cTn>
                                        <p:tgtEl>
                                          <p:spTgt spid="28"/>
                                        </p:tgtEl>
                                        <p:attrNameLst>
                                          <p:attrName>style.visibility</p:attrName>
                                        </p:attrNameLst>
                                      </p:cBhvr>
                                      <p:to>
                                        <p:strVal val="visible"/>
                                      </p:to>
                                    </p:set>
                                    <p:animEffect transition="in" filter="wipe(left)">
                                      <p:cBhvr>
                                        <p:cTn id="105" dur="350"/>
                                        <p:tgtEl>
                                          <p:spTgt spid="28"/>
                                        </p:tgtEl>
                                      </p:cBhvr>
                                    </p:animEffect>
                                  </p:childTnLst>
                                </p:cTn>
                              </p:par>
                              <p:par>
                                <p:cTn id="106" presetID="22" presetClass="entr" presetSubtype="8" fill="hold" grpId="0" nodeType="withEffect">
                                  <p:stCondLst>
                                    <p:cond delay="0"/>
                                  </p:stCondLst>
                                  <p:childTnLst>
                                    <p:set>
                                      <p:cBhvr>
                                        <p:cTn id="107" dur="1" fill="hold">
                                          <p:stCondLst>
                                            <p:cond delay="0"/>
                                          </p:stCondLst>
                                        </p:cTn>
                                        <p:tgtEl>
                                          <p:spTgt spid="29"/>
                                        </p:tgtEl>
                                        <p:attrNameLst>
                                          <p:attrName>style.visibility</p:attrName>
                                        </p:attrNameLst>
                                      </p:cBhvr>
                                      <p:to>
                                        <p:strVal val="visible"/>
                                      </p:to>
                                    </p:set>
                                    <p:animEffect transition="in" filter="wipe(left)">
                                      <p:cBhvr>
                                        <p:cTn id="108" dur="350"/>
                                        <p:tgtEl>
                                          <p:spTgt spid="29"/>
                                        </p:tgtEl>
                                      </p:cBhvr>
                                    </p:animEffect>
                                  </p:childTnLst>
                                </p:cTn>
                              </p:par>
                              <p:par>
                                <p:cTn id="109" presetID="22" presetClass="entr" presetSubtype="8" fill="hold" grpId="0" nodeType="withEffect">
                                  <p:stCondLst>
                                    <p:cond delay="0"/>
                                  </p:stCondLst>
                                  <p:childTnLst>
                                    <p:set>
                                      <p:cBhvr>
                                        <p:cTn id="110" dur="1" fill="hold">
                                          <p:stCondLst>
                                            <p:cond delay="0"/>
                                          </p:stCondLst>
                                        </p:cTn>
                                        <p:tgtEl>
                                          <p:spTgt spid="30"/>
                                        </p:tgtEl>
                                        <p:attrNameLst>
                                          <p:attrName>style.visibility</p:attrName>
                                        </p:attrNameLst>
                                      </p:cBhvr>
                                      <p:to>
                                        <p:strVal val="visible"/>
                                      </p:to>
                                    </p:set>
                                    <p:animEffect transition="in" filter="wipe(left)">
                                      <p:cBhvr>
                                        <p:cTn id="111" dur="350"/>
                                        <p:tgtEl>
                                          <p:spTgt spid="30"/>
                                        </p:tgtEl>
                                      </p:cBhvr>
                                    </p:animEffect>
                                  </p:childTnLst>
                                </p:cTn>
                              </p:par>
                            </p:childTnLst>
                          </p:cTn>
                        </p:par>
                        <p:par>
                          <p:cTn id="112" fill="hold">
                            <p:stCondLst>
                              <p:cond delay="3650"/>
                            </p:stCondLst>
                            <p:childTnLst>
                              <p:par>
                                <p:cTn id="113" presetID="22" presetClass="entr" presetSubtype="8" fill="hold" grpId="0" nodeType="afterEffect">
                                  <p:stCondLst>
                                    <p:cond delay="20"/>
                                  </p:stCondLst>
                                  <p:childTnLst>
                                    <p:set>
                                      <p:cBhvr>
                                        <p:cTn id="114" dur="1" fill="hold">
                                          <p:stCondLst>
                                            <p:cond delay="0"/>
                                          </p:stCondLst>
                                        </p:cTn>
                                        <p:tgtEl>
                                          <p:spTgt spid="31"/>
                                        </p:tgtEl>
                                        <p:attrNameLst>
                                          <p:attrName>style.visibility</p:attrName>
                                        </p:attrNameLst>
                                      </p:cBhvr>
                                      <p:to>
                                        <p:strVal val="visible"/>
                                      </p:to>
                                    </p:set>
                                    <p:animEffect transition="in" filter="wipe(left)">
                                      <p:cBhvr>
                                        <p:cTn id="115" dur="350"/>
                                        <p:tgtEl>
                                          <p:spTgt spid="31"/>
                                        </p:tgtEl>
                                      </p:cBhvr>
                                    </p:animEffect>
                                  </p:childTnLst>
                                </p:cTn>
                              </p:par>
                              <p:par>
                                <p:cTn id="116" presetID="22" presetClass="entr" presetSubtype="8" fill="hold" grpId="0" nodeType="withEffect">
                                  <p:stCondLst>
                                    <p:cond delay="0"/>
                                  </p:stCondLst>
                                  <p:childTnLst>
                                    <p:set>
                                      <p:cBhvr>
                                        <p:cTn id="117" dur="1" fill="hold">
                                          <p:stCondLst>
                                            <p:cond delay="0"/>
                                          </p:stCondLst>
                                        </p:cTn>
                                        <p:tgtEl>
                                          <p:spTgt spid="32"/>
                                        </p:tgtEl>
                                        <p:attrNameLst>
                                          <p:attrName>style.visibility</p:attrName>
                                        </p:attrNameLst>
                                      </p:cBhvr>
                                      <p:to>
                                        <p:strVal val="visible"/>
                                      </p:to>
                                    </p:set>
                                    <p:animEffect transition="in" filter="wipe(left)">
                                      <p:cBhvr>
                                        <p:cTn id="118" dur="350"/>
                                        <p:tgtEl>
                                          <p:spTgt spid="32"/>
                                        </p:tgtEl>
                                      </p:cBhvr>
                                    </p:animEffect>
                                  </p:childTnLst>
                                </p:cTn>
                              </p:par>
                              <p:par>
                                <p:cTn id="119" presetID="22" presetClass="entr" presetSubtype="8" fill="hold" grpId="0" nodeType="withEffect">
                                  <p:stCondLst>
                                    <p:cond delay="0"/>
                                  </p:stCondLst>
                                  <p:childTnLst>
                                    <p:set>
                                      <p:cBhvr>
                                        <p:cTn id="120" dur="1" fill="hold">
                                          <p:stCondLst>
                                            <p:cond delay="0"/>
                                          </p:stCondLst>
                                        </p:cTn>
                                        <p:tgtEl>
                                          <p:spTgt spid="33"/>
                                        </p:tgtEl>
                                        <p:attrNameLst>
                                          <p:attrName>style.visibility</p:attrName>
                                        </p:attrNameLst>
                                      </p:cBhvr>
                                      <p:to>
                                        <p:strVal val="visible"/>
                                      </p:to>
                                    </p:set>
                                    <p:animEffect transition="in" filter="wipe(left)">
                                      <p:cBhvr>
                                        <p:cTn id="121" dur="350"/>
                                        <p:tgtEl>
                                          <p:spTgt spid="33"/>
                                        </p:tgtEl>
                                      </p:cBhvr>
                                    </p:animEffect>
                                  </p:childTnLst>
                                </p:cTn>
                              </p:par>
                              <p:par>
                                <p:cTn id="122" presetID="22" presetClass="entr" presetSubtype="8" fill="hold" grpId="0" nodeType="withEffect">
                                  <p:stCondLst>
                                    <p:cond delay="0"/>
                                  </p:stCondLst>
                                  <p:childTnLst>
                                    <p:set>
                                      <p:cBhvr>
                                        <p:cTn id="123" dur="1" fill="hold">
                                          <p:stCondLst>
                                            <p:cond delay="0"/>
                                          </p:stCondLst>
                                        </p:cTn>
                                        <p:tgtEl>
                                          <p:spTgt spid="34"/>
                                        </p:tgtEl>
                                        <p:attrNameLst>
                                          <p:attrName>style.visibility</p:attrName>
                                        </p:attrNameLst>
                                      </p:cBhvr>
                                      <p:to>
                                        <p:strVal val="visible"/>
                                      </p:to>
                                    </p:set>
                                    <p:animEffect transition="in" filter="wipe(left)">
                                      <p:cBhvr>
                                        <p:cTn id="124" dur="350"/>
                                        <p:tgtEl>
                                          <p:spTgt spid="34"/>
                                        </p:tgtEl>
                                      </p:cBhvr>
                                    </p:animEffect>
                                  </p:childTnLst>
                                </p:cTn>
                              </p:par>
                            </p:childTnLst>
                          </p:cTn>
                        </p:par>
                        <p:par>
                          <p:cTn id="125" fill="hold">
                            <p:stCondLst>
                              <p:cond delay="4020"/>
                            </p:stCondLst>
                            <p:childTnLst>
                              <p:par>
                                <p:cTn id="126" presetID="10" presetClass="entr" presetSubtype="0" fill="hold" grpId="0" nodeType="afterEffect">
                                  <p:stCondLst>
                                    <p:cond delay="120"/>
                                  </p:stCondLst>
                                  <p:childTnLst>
                                    <p:set>
                                      <p:cBhvr>
                                        <p:cTn id="127" dur="1" fill="hold">
                                          <p:stCondLst>
                                            <p:cond delay="0"/>
                                          </p:stCondLst>
                                        </p:cTn>
                                        <p:tgtEl>
                                          <p:spTgt spid="35"/>
                                        </p:tgtEl>
                                        <p:attrNameLst>
                                          <p:attrName>style.visibility</p:attrName>
                                        </p:attrNameLst>
                                      </p:cBhvr>
                                      <p:to>
                                        <p:strVal val="visible"/>
                                      </p:to>
                                    </p:set>
                                    <p:animEffect transition="in" filter="fade">
                                      <p:cBhvr>
                                        <p:cTn id="128"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p:bldP spid="9" grpId="0" animBg="1"/>
      <p:bldP spid="10" grpId="0"/>
      <p:bldP spid="11" grpId="0"/>
      <p:bldP spid="12" grpId="0" animBg="1"/>
      <p:bldP spid="13" grpId="0"/>
      <p:bldP spid="14" grpId="0"/>
      <p:bldP spid="15" grpId="0"/>
      <p:bldP spid="16" grpId="0" animBg="1"/>
      <p:bldP spid="17" grpId="0" animBg="1"/>
      <p:bldP spid="18" grpId="0"/>
      <p:bldP spid="19" grpId="0"/>
      <p:bldP spid="20" grpId="0" animBg="1"/>
      <p:bldP spid="21" grpId="0" animBg="1"/>
      <p:bldP spid="22" grpId="0" animBg="1"/>
      <p:bldP spid="23" grpId="0"/>
      <p:bldP spid="24" grpId="0"/>
      <p:bldP spid="25" grpId="0" animBg="1"/>
      <p:bldP spid="26" grpId="0" animBg="1"/>
      <p:bldP spid="27" grpId="0" animBg="1"/>
      <p:bldP spid="28" grpId="0"/>
      <p:bldP spid="29" grpId="0"/>
      <p:bldP spid="30" grpId="0" animBg="1"/>
      <p:bldP spid="31" grpId="0" animBg="1"/>
      <p:bldP spid="32" grpId="0" animBg="1"/>
      <p:bldP spid="33" grpId="0"/>
      <p:bldP spid="34" grpId="0"/>
      <p:bldP spid="35"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ONE APPLICATION: MAUSAM KAVACH</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Insurance is one application, not the anchor</a:t>
            </a:r>
            <a:endParaRPr lang="en-US" sz="3200" dirty="0"/>
          </a:p>
        </p:txBody>
      </p:sp>
      <p:sp>
        <p:nvSpPr>
          <p:cNvPr id="6" name="fl0"/>
          <p:cNvSpPr/>
          <p:nvPr/>
        </p:nvSpPr>
        <p:spPr>
          <a:xfrm>
            <a:off x="548640" y="2057400"/>
            <a:ext cx="5394960" cy="713232"/>
          </a:xfrm>
          <a:prstGeom prst="roundRect">
            <a:avLst>
              <a:gd name="adj" fmla="val 15385"/>
            </a:avLst>
          </a:prstGeom>
          <a:solidFill>
            <a:srgbClr val="141B36"/>
          </a:solidFill>
          <a:ln w="9525">
            <a:solidFill>
              <a:srgbClr val="2A3357"/>
            </a:solidFill>
            <a:prstDash val="solid"/>
          </a:ln>
        </p:spPr>
      </p:sp>
      <p:pic>
        <p:nvPicPr>
          <p:cNvPr id="7" name="flI0" descr="preencoded.png">    </p:cNvPr>
          <p:cNvPicPr>
            <a:picLocks noChangeAspect="1"/>
          </p:cNvPicPr>
          <p:nvPr/>
        </p:nvPicPr>
        <p:blipFill>
          <a:blip r:embed="rId2"/>
          <a:stretch>
            <a:fillRect/>
          </a:stretch>
        </p:blipFill>
        <p:spPr>
          <a:xfrm>
            <a:off x="749808" y="2231136"/>
            <a:ext cx="365760" cy="365760"/>
          </a:xfrm>
          <a:prstGeom prst="rect">
            <a:avLst/>
          </a:prstGeom>
        </p:spPr>
      </p:pic>
      <p:sp>
        <p:nvSpPr>
          <p:cNvPr id="8" name="flT0"/>
          <p:cNvSpPr txBox="1"/>
          <p:nvPr/>
        </p:nvSpPr>
        <p:spPr>
          <a:xfrm>
            <a:off x="1280160" y="2057400"/>
            <a:ext cx="4480560" cy="7132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Qualifying weather event in a zone</a:t>
            </a:r>
            <a:endParaRPr lang="en-US" sz="1600" dirty="0"/>
          </a:p>
        </p:txBody>
      </p:sp>
      <p:sp>
        <p:nvSpPr>
          <p:cNvPr id="9" name="flA0"/>
          <p:cNvSpPr/>
          <p:nvPr/>
        </p:nvSpPr>
        <p:spPr>
          <a:xfrm>
            <a:off x="932688" y="2770632"/>
            <a:ext cx="914" cy="155448"/>
          </a:xfrm>
          <a:prstGeom prst="line">
            <a:avLst/>
          </a:prstGeom>
          <a:noFill/>
          <a:ln w="19050">
            <a:solidFill>
              <a:srgbClr val="5A6690"/>
            </a:solidFill>
            <a:prstDash val="solid"/>
            <a:tailEnd type="triangle"/>
          </a:ln>
        </p:spPr>
      </p:sp>
      <p:sp>
        <p:nvSpPr>
          <p:cNvPr id="10" name="fl1"/>
          <p:cNvSpPr/>
          <p:nvPr/>
        </p:nvSpPr>
        <p:spPr>
          <a:xfrm>
            <a:off x="548640" y="2926080"/>
            <a:ext cx="5394960" cy="713232"/>
          </a:xfrm>
          <a:prstGeom prst="roundRect">
            <a:avLst>
              <a:gd name="adj" fmla="val 15385"/>
            </a:avLst>
          </a:prstGeom>
          <a:solidFill>
            <a:srgbClr val="141B36"/>
          </a:solidFill>
          <a:ln w="9525">
            <a:solidFill>
              <a:srgbClr val="2A3357"/>
            </a:solidFill>
            <a:prstDash val="solid"/>
          </a:ln>
        </p:spPr>
      </p:sp>
      <p:pic>
        <p:nvPicPr>
          <p:cNvPr id="11" name="flI1" descr="preencoded.png">    </p:cNvPr>
          <p:cNvPicPr>
            <a:picLocks noChangeAspect="1"/>
          </p:cNvPicPr>
          <p:nvPr/>
        </p:nvPicPr>
        <p:blipFill>
          <a:blip r:embed="rId3"/>
          <a:stretch>
            <a:fillRect/>
          </a:stretch>
        </p:blipFill>
        <p:spPr>
          <a:xfrm>
            <a:off x="749808" y="3099816"/>
            <a:ext cx="365760" cy="365760"/>
          </a:xfrm>
          <a:prstGeom prst="rect">
            <a:avLst/>
          </a:prstGeom>
        </p:spPr>
      </p:pic>
      <p:sp>
        <p:nvSpPr>
          <p:cNvPr id="12" name="flT1"/>
          <p:cNvSpPr txBox="1"/>
          <p:nvPr/>
        </p:nvSpPr>
        <p:spPr>
          <a:xfrm>
            <a:off x="1280160" y="2926080"/>
            <a:ext cx="4480560" cy="7132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JioMausam verifies the trigger</a:t>
            </a:r>
            <a:endParaRPr lang="en-US" sz="1600" dirty="0"/>
          </a:p>
        </p:txBody>
      </p:sp>
      <p:sp>
        <p:nvSpPr>
          <p:cNvPr id="13" name="flA1"/>
          <p:cNvSpPr/>
          <p:nvPr/>
        </p:nvSpPr>
        <p:spPr>
          <a:xfrm>
            <a:off x="932688" y="3639312"/>
            <a:ext cx="914" cy="155448"/>
          </a:xfrm>
          <a:prstGeom prst="line">
            <a:avLst/>
          </a:prstGeom>
          <a:noFill/>
          <a:ln w="19050">
            <a:solidFill>
              <a:srgbClr val="5A6690"/>
            </a:solidFill>
            <a:prstDash val="solid"/>
            <a:tailEnd type="triangle"/>
          </a:ln>
        </p:spPr>
      </p:sp>
      <p:sp>
        <p:nvSpPr>
          <p:cNvPr id="14" name="fl2"/>
          <p:cNvSpPr/>
          <p:nvPr/>
        </p:nvSpPr>
        <p:spPr>
          <a:xfrm>
            <a:off x="548640" y="3794760"/>
            <a:ext cx="5394960" cy="713232"/>
          </a:xfrm>
          <a:prstGeom prst="roundRect">
            <a:avLst>
              <a:gd name="adj" fmla="val 15385"/>
            </a:avLst>
          </a:prstGeom>
          <a:solidFill>
            <a:srgbClr val="141B36"/>
          </a:solidFill>
          <a:ln w="9525">
            <a:solidFill>
              <a:srgbClr val="2A3357"/>
            </a:solidFill>
            <a:prstDash val="solid"/>
          </a:ln>
        </p:spPr>
      </p:sp>
      <p:pic>
        <p:nvPicPr>
          <p:cNvPr id="15" name="flI2" descr="preencoded.png">    </p:cNvPr>
          <p:cNvPicPr>
            <a:picLocks noChangeAspect="1"/>
          </p:cNvPicPr>
          <p:nvPr/>
        </p:nvPicPr>
        <p:blipFill>
          <a:blip r:embed="rId4"/>
          <a:stretch>
            <a:fillRect/>
          </a:stretch>
        </p:blipFill>
        <p:spPr>
          <a:xfrm>
            <a:off x="749808" y="3968496"/>
            <a:ext cx="365760" cy="365760"/>
          </a:xfrm>
          <a:prstGeom prst="rect">
            <a:avLst/>
          </a:prstGeom>
        </p:spPr>
      </p:pic>
      <p:sp>
        <p:nvSpPr>
          <p:cNvPr id="16" name="flT2"/>
          <p:cNvSpPr txBox="1"/>
          <p:nvPr/>
        </p:nvSpPr>
        <p:spPr>
          <a:xfrm>
            <a:off x="1280160" y="3794760"/>
            <a:ext cx="4480560" cy="7132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 licensed insurer pays</a:t>
            </a:r>
            <a:endParaRPr lang="en-US" sz="1600" dirty="0"/>
          </a:p>
        </p:txBody>
      </p:sp>
      <p:sp>
        <p:nvSpPr>
          <p:cNvPr id="17" name="flA2"/>
          <p:cNvSpPr/>
          <p:nvPr/>
        </p:nvSpPr>
        <p:spPr>
          <a:xfrm>
            <a:off x="932688" y="4507992"/>
            <a:ext cx="914" cy="155448"/>
          </a:xfrm>
          <a:prstGeom prst="line">
            <a:avLst/>
          </a:prstGeom>
          <a:noFill/>
          <a:ln w="19050">
            <a:solidFill>
              <a:srgbClr val="5A6690"/>
            </a:solidFill>
            <a:prstDash val="solid"/>
            <a:tailEnd type="triangle"/>
          </a:ln>
        </p:spPr>
      </p:sp>
      <p:sp>
        <p:nvSpPr>
          <p:cNvPr id="18" name="fl3"/>
          <p:cNvSpPr/>
          <p:nvPr/>
        </p:nvSpPr>
        <p:spPr>
          <a:xfrm>
            <a:off x="548640" y="4663440"/>
            <a:ext cx="5394960" cy="713232"/>
          </a:xfrm>
          <a:prstGeom prst="roundRect">
            <a:avLst>
              <a:gd name="adj" fmla="val 15385"/>
            </a:avLst>
          </a:prstGeom>
          <a:solidFill>
            <a:srgbClr val="2B2208"/>
          </a:solidFill>
          <a:ln w="15875">
            <a:solidFill>
              <a:srgbClr val="F5A623"/>
            </a:solidFill>
            <a:prstDash val="solid"/>
          </a:ln>
        </p:spPr>
      </p:sp>
      <p:pic>
        <p:nvPicPr>
          <p:cNvPr id="19" name="flI3" descr="preencoded.png">    </p:cNvPr>
          <p:cNvPicPr>
            <a:picLocks noChangeAspect="1"/>
          </p:cNvPicPr>
          <p:nvPr/>
        </p:nvPicPr>
        <p:blipFill>
          <a:blip r:embed="rId5"/>
          <a:stretch>
            <a:fillRect/>
          </a:stretch>
        </p:blipFill>
        <p:spPr>
          <a:xfrm>
            <a:off x="749808" y="4837176"/>
            <a:ext cx="365760" cy="365760"/>
          </a:xfrm>
          <a:prstGeom prst="rect">
            <a:avLst/>
          </a:prstGeom>
        </p:spPr>
      </p:pic>
      <p:sp>
        <p:nvSpPr>
          <p:cNvPr id="20" name="flT3"/>
          <p:cNvSpPr txBox="1"/>
          <p:nvPr/>
        </p:nvSpPr>
        <p:spPr>
          <a:xfrm>
            <a:off x="1280160" y="4663440"/>
            <a:ext cx="4480560" cy="713232"/>
          </a:xfrm>
          <a:prstGeom prst="rect">
            <a:avLst/>
          </a:prstGeom>
          <a:noFill/>
          <a:ln/>
        </p:spPr>
        <p:txBody>
          <a:bodyPr wrap="square" lIns="0" tIns="0" rIns="0" bIns="0" rtlCol="0" anchor="ctr"/>
          <a:lstStyle/>
          <a:p>
            <a:pPr indent="0" marL="0">
              <a:buNone/>
            </a:pPr>
            <a:r>
              <a:rPr lang="en-US" sz="1600" b="1" dirty="0">
                <a:solidFill>
                  <a:srgbClr val="F5A623"/>
                </a:solidFill>
                <a:latin typeface="Calibri" pitchFamily="34" charset="0"/>
                <a:ea typeface="Calibri" pitchFamily="34" charset="-122"/>
                <a:cs typeface="Calibri" pitchFamily="34" charset="-120"/>
              </a:rPr>
              <a:t>Fixed benefit to the worker, e.g. ₹300</a:t>
            </a:r>
            <a:endParaRPr lang="en-US" sz="1600" dirty="0"/>
          </a:p>
        </p:txBody>
      </p:sp>
      <p:sp>
        <p:nvSpPr>
          <p:cNvPr id="21" name="flNote"/>
          <p:cNvSpPr txBox="1"/>
          <p:nvPr/>
        </p:nvSpPr>
        <p:spPr>
          <a:xfrm>
            <a:off x="548640" y="5504688"/>
            <a:ext cx="11094415" cy="320040"/>
          </a:xfrm>
          <a:prstGeom prst="rect">
            <a:avLst/>
          </a:prstGeom>
          <a:noFill/>
          <a:ln/>
        </p:spPr>
        <p:txBody>
          <a:bodyPr wrap="square" lIns="0" tIns="0" rIns="0" bIns="0" rtlCol="0" anchor="t"/>
          <a:lstStyle/>
          <a:p>
            <a:pPr indent="0" marL="0">
              <a:buNone/>
            </a:pPr>
            <a:r>
              <a:rPr lang="en-US" sz="1300" dirty="0">
                <a:solidFill>
                  <a:srgbClr val="98A2C0"/>
                </a:solidFill>
                <a:latin typeface="Calibri" pitchFamily="34" charset="0"/>
                <a:ea typeface="Calibri" pitchFamily="34" charset="-122"/>
                <a:cs typeface="Calibri" pitchFamily="34" charset="-120"/>
              </a:rPr>
              <a:t>No claim, no proof of loss. Eligible = active in the zone when the event began. ₹300 is a prototype assumption.</a:t>
            </a:r>
            <a:endParaRPr lang="en-US" sz="1300" dirty="0"/>
          </a:p>
        </p:txBody>
      </p:sp>
      <p:sp>
        <p:nvSpPr>
          <p:cNvPr id="22" name="gateCard"/>
          <p:cNvSpPr/>
          <p:nvPr/>
        </p:nvSpPr>
        <p:spPr>
          <a:xfrm>
            <a:off x="6263640" y="2057400"/>
            <a:ext cx="5376672" cy="3291840"/>
          </a:xfrm>
          <a:prstGeom prst="roundRect">
            <a:avLst>
              <a:gd name="adj" fmla="val 3333"/>
            </a:avLst>
          </a:prstGeom>
          <a:solidFill>
            <a:srgbClr val="1C2447"/>
          </a:solidFill>
          <a:ln w="15875">
            <a:solidFill>
              <a:srgbClr val="F5A623"/>
            </a:solidFill>
            <a:prstDash val="solid"/>
          </a:ln>
        </p:spPr>
      </p:sp>
      <p:sp>
        <p:nvSpPr>
          <p:cNvPr id="23" name="gateT"/>
          <p:cNvSpPr txBox="1"/>
          <p:nvPr/>
        </p:nvSpPr>
        <p:spPr>
          <a:xfrm>
            <a:off x="6537960" y="2212848"/>
            <a:ext cx="4892040" cy="3063240"/>
          </a:xfrm>
          <a:prstGeom prst="rect">
            <a:avLst/>
          </a:prstGeom>
          <a:noFill/>
          <a:ln/>
        </p:spPr>
        <p:txBody>
          <a:bodyPr wrap="square" lIns="0" tIns="0" rIns="0" bIns="0" rtlCol="0" anchor="t"/>
          <a:lstStyle/>
          <a:p>
            <a:pPr indent="0" marL="0">
              <a:spcAft>
                <a:spcPts val="500"/>
              </a:spcAft>
              <a:buNone/>
            </a:pPr>
            <a:r>
              <a:rPr lang="en-US" sz="1050" b="1" spc="200" kern="0" dirty="0">
                <a:solidFill>
                  <a:srgbClr val="F5A623"/>
                </a:solidFill>
                <a:latin typeface="Calibri" pitchFamily="34" charset="0"/>
                <a:ea typeface="Calibri" pitchFamily="34" charset="-122"/>
                <a:cs typeface="Calibri" pitchFamily="34" charset="-120"/>
              </a:rPr>
              <a:t>WHY IT’S AN OPTION, NOT THE ANCHOR</a:t>
            </a:r>
            <a:endParaRPr lang="en-US" sz="1050" dirty="0"/>
          </a:p>
          <a:p>
            <a:pPr indent="0" marL="0">
              <a:spcAft>
                <a:spcPts val="500"/>
              </a:spcAft>
              <a:buNone/>
            </a:pPr>
            <a:r>
              <a:rPr lang="en-US" sz="1600" b="1" dirty="0">
                <a:solidFill>
                  <a:srgbClr val="FFFFFF"/>
                </a:solidFill>
                <a:latin typeface="Calibri" pitchFamily="34" charset="0"/>
                <a:ea typeface="Calibri" pitchFamily="34" charset="-122"/>
                <a:cs typeface="Calibri" pitchFamily="34" charset="-120"/>
              </a:rPr>
              <a:t>Launches only after accuracy passes 80%</a:t>
            </a:r>
            <a:endParaRPr lang="en-US" sz="1050" dirty="0"/>
          </a:p>
          <a:p>
            <a:pPr indent="0" marL="0">
              <a:spcAft>
                <a:spcPts val="500"/>
              </a:spcAft>
              <a:buNone/>
            </a:pPr>
            <a:r>
              <a:rPr lang="en-US" sz="1350" dirty="0">
                <a:solidFill>
                  <a:srgbClr val="B9C2D8"/>
                </a:solidFill>
                <a:latin typeface="Calibri" pitchFamily="34" charset="0"/>
                <a:ea typeface="Calibri" pitchFamily="34" charset="-122"/>
                <a:cs typeface="Calibri" pitchFamily="34" charset="-120"/>
              </a:rPr>
              <a:t>shadow payouts until then</a:t>
            </a:r>
            <a:endParaRPr lang="en-US" sz="1050" dirty="0"/>
          </a:p>
          <a:p>
            <a:pPr indent="0" marL="0">
              <a:spcAft>
                <a:spcPts val="500"/>
              </a:spcAft>
              <a:buNone/>
            </a:pPr>
            <a:r>
              <a:rPr lang="en-US" sz="1600" b="1" dirty="0">
                <a:solidFill>
                  <a:srgbClr val="FFFFFF"/>
                </a:solidFill>
                <a:latin typeface="Calibri" pitchFamily="34" charset="0"/>
                <a:ea typeface="Calibri" pitchFamily="34" charset="-122"/>
                <a:cs typeface="Calibri" pitchFamily="34" charset="-120"/>
              </a:rPr>
              <a:t>Who pays is still unproven</a:t>
            </a:r>
            <a:endParaRPr lang="en-US" sz="1050" dirty="0"/>
          </a:p>
          <a:p>
            <a:pPr indent="0" marL="0">
              <a:spcAft>
                <a:spcPts val="500"/>
              </a:spcAft>
              <a:buNone/>
            </a:pPr>
            <a:r>
              <a:rPr lang="en-US" sz="1350" dirty="0">
                <a:solidFill>
                  <a:srgbClr val="B9C2D8"/>
                </a:solidFill>
                <a:latin typeface="Calibri" pitchFamily="34" charset="0"/>
                <a:ea typeface="Calibri" pitchFamily="34" charset="-122"/>
                <a:cs typeface="Calibri" pitchFamily="34" charset="-120"/>
              </a:rPr>
              <a:t>platform, co-funded or individual: the pilot tests it</a:t>
            </a:r>
            <a:endParaRPr lang="en-US" sz="1050" dirty="0"/>
          </a:p>
          <a:p>
            <a:pPr indent="0" marL="0">
              <a:spcAft>
                <a:spcPts val="500"/>
              </a:spcAft>
              <a:buNone/>
            </a:pPr>
            <a:r>
              <a:rPr lang="en-US" sz="1600" b="1" dirty="0">
                <a:solidFill>
                  <a:srgbClr val="FFFFFF"/>
                </a:solidFill>
                <a:latin typeface="Calibri" pitchFamily="34" charset="0"/>
                <a:ea typeface="Calibri" pitchFamily="34" charset="-122"/>
                <a:cs typeface="Calibri" pitchFamily="34" charset="-120"/>
              </a:rPr>
              <a:t>A licensed insurer carries the risk</a:t>
            </a:r>
            <a:endParaRPr lang="en-US" sz="1050" dirty="0"/>
          </a:p>
          <a:p>
            <a:pPr indent="0" marL="0">
              <a:spcAft>
                <a:spcPts val="500"/>
              </a:spcAft>
              <a:buNone/>
            </a:pPr>
            <a:r>
              <a:rPr lang="en-US" sz="1350" dirty="0">
                <a:solidFill>
                  <a:srgbClr val="B9C2D8"/>
                </a:solidFill>
                <a:latin typeface="Calibri" pitchFamily="34" charset="0"/>
                <a:ea typeface="Calibri" pitchFamily="34" charset="-122"/>
                <a:cs typeface="Calibri" pitchFamily="34" charset="-120"/>
              </a:rPr>
              <a:t>never Jio</a:t>
            </a:r>
            <a:endParaRPr lang="en-US" sz="1050" dirty="0"/>
          </a:p>
          <a:p>
            <a:pPr indent="0" marL="0">
              <a:spcAft>
                <a:spcPts val="500"/>
              </a:spcAft>
              <a:buNone/>
            </a:pPr>
            <a:r>
              <a:rPr lang="en-US" sz="1600" b="1" dirty="0">
                <a:solidFill>
                  <a:srgbClr val="FFFFFF"/>
                </a:solidFill>
                <a:latin typeface="Calibri" pitchFamily="34" charset="0"/>
                <a:ea typeface="Calibri" pitchFamily="34" charset="-122"/>
                <a:cs typeface="Calibri" pitchFamily="34" charset="-120"/>
              </a:rPr>
              <a:t>If it doesn’t work, nothing breaks</a:t>
            </a:r>
            <a:endParaRPr lang="en-US" sz="1050" dirty="0"/>
          </a:p>
          <a:p>
            <a:pPr indent="0" marL="0">
              <a:spcAft>
                <a:spcPts val="500"/>
              </a:spcAft>
              <a:buNone/>
            </a:pPr>
            <a:r>
              <a:rPr lang="en-US" sz="1350" dirty="0">
                <a:solidFill>
                  <a:srgbClr val="B9C2D8"/>
                </a:solidFill>
                <a:latin typeface="Calibri" pitchFamily="34" charset="0"/>
                <a:ea typeface="Calibri" pitchFamily="34" charset="-122"/>
                <a:cs typeface="Calibri" pitchFamily="34" charset="-120"/>
              </a:rPr>
              <a:t>the intelligence business is untouched</a:t>
            </a:r>
            <a:endParaRPr lang="en-US" sz="1050" dirty="0"/>
          </a:p>
        </p:txBody>
      </p:sp>
      <p:sp>
        <p:nvSpPr>
          <p:cNvPr id="24" name="takeaway"/>
          <p:cNvSpPr txBox="1"/>
          <p:nvPr/>
        </p:nvSpPr>
        <p:spPr>
          <a:xfrm>
            <a:off x="548640" y="594360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High impact if it works. Zero damage if it doesn’t.</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10"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42" presetClass="entr" presetSubtype="0" fill="hold" grpId="0" nodeType="afterEffect">
                                  <p:stCondLst>
                                    <p:cond delay="4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anim calcmode="lin" valueType="num">
                                      <p:cBhvr>
                                        <p:cTn id="21" dur="400" fill="hold"/>
                                        <p:tgtEl>
                                          <p:spTgt spid="7"/>
                                        </p:tgtEl>
                                        <p:attrNameLst>
                                          <p:attrName>ppt_x</p:attrName>
                                        </p:attrNameLst>
                                      </p:cBhvr>
                                      <p:tavLst>
                                        <p:tav tm="0">
                                          <p:val>
                                            <p:strVal val="#ppt_x"/>
                                          </p:val>
                                        </p:tav>
                                        <p:tav tm="100000">
                                          <p:val>
                                            <p:strVal val="#ppt_x"/>
                                          </p:val>
                                        </p:tav>
                                      </p:tavLst>
                                    </p:anim>
                                    <p:anim calcmode="lin" valueType="num">
                                      <p:cBhvr>
                                        <p:cTn id="22" dur="40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anim calcmode="lin" valueType="num">
                                      <p:cBhvr>
                                        <p:cTn id="26" dur="400" fill="hold"/>
                                        <p:tgtEl>
                                          <p:spTgt spid="8"/>
                                        </p:tgtEl>
                                        <p:attrNameLst>
                                          <p:attrName>ppt_x</p:attrName>
                                        </p:attrNameLst>
                                      </p:cBhvr>
                                      <p:tavLst>
                                        <p:tav tm="0">
                                          <p:val>
                                            <p:strVal val="#ppt_x"/>
                                          </p:val>
                                        </p:tav>
                                        <p:tav tm="100000">
                                          <p:val>
                                            <p:strVal val="#ppt_x"/>
                                          </p:val>
                                        </p:tav>
                                      </p:tavLst>
                                    </p:anim>
                                    <p:anim calcmode="lin" valueType="num">
                                      <p:cBhvr>
                                        <p:cTn id="27" dur="40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00"/>
                                        <p:tgtEl>
                                          <p:spTgt spid="9"/>
                                        </p:tgtEl>
                                      </p:cBhvr>
                                    </p:animEffect>
                                    <p:anim calcmode="lin" valueType="num">
                                      <p:cBhvr>
                                        <p:cTn id="31" dur="400" fill="hold"/>
                                        <p:tgtEl>
                                          <p:spTgt spid="9"/>
                                        </p:tgtEl>
                                        <p:attrNameLst>
                                          <p:attrName>ppt_x</p:attrName>
                                        </p:attrNameLst>
                                      </p:cBhvr>
                                      <p:tavLst>
                                        <p:tav tm="0">
                                          <p:val>
                                            <p:strVal val="#ppt_x"/>
                                          </p:val>
                                        </p:tav>
                                        <p:tav tm="100000">
                                          <p:val>
                                            <p:strVal val="#ppt_x"/>
                                          </p:val>
                                        </p:tav>
                                      </p:tavLst>
                                    </p:anim>
                                    <p:anim calcmode="lin" valueType="num">
                                      <p:cBhvr>
                                        <p:cTn id="32" dur="400" fill="hold"/>
                                        <p:tgtEl>
                                          <p:spTgt spid="9"/>
                                        </p:tgtEl>
                                        <p:attrNameLst>
                                          <p:attrName>ppt_y</p:attrName>
                                        </p:attrNameLst>
                                      </p:cBhvr>
                                      <p:tavLst>
                                        <p:tav tm="0">
                                          <p:val>
                                            <p:strVal val="#ppt_y+.06"/>
                                          </p:val>
                                        </p:tav>
                                        <p:tav tm="100000">
                                          <p:val>
                                            <p:strVal val="#ppt_y"/>
                                          </p:val>
                                        </p:tav>
                                      </p:tavLst>
                                    </p:anim>
                                  </p:childTnLst>
                                </p:cTn>
                              </p:par>
                            </p:childTnLst>
                          </p:cTn>
                        </p:par>
                        <p:par>
                          <p:cTn id="33" fill="hold">
                            <p:stCondLst>
                              <p:cond delay="1190"/>
                            </p:stCondLst>
                            <p:childTnLst>
                              <p:par>
                                <p:cTn id="34" presetID="42" presetClass="entr" presetSubtype="0" fill="hold" grpId="0" nodeType="afterEffect">
                                  <p:stCondLst>
                                    <p:cond delay="4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400"/>
                                        <p:tgtEl>
                                          <p:spTgt spid="10"/>
                                        </p:tgtEl>
                                      </p:cBhvr>
                                    </p:animEffect>
                                    <p:anim calcmode="lin" valueType="num">
                                      <p:cBhvr>
                                        <p:cTn id="37" dur="400" fill="hold"/>
                                        <p:tgtEl>
                                          <p:spTgt spid="10"/>
                                        </p:tgtEl>
                                        <p:attrNameLst>
                                          <p:attrName>ppt_x</p:attrName>
                                        </p:attrNameLst>
                                      </p:cBhvr>
                                      <p:tavLst>
                                        <p:tav tm="0">
                                          <p:val>
                                            <p:strVal val="#ppt_x"/>
                                          </p:val>
                                        </p:tav>
                                        <p:tav tm="100000">
                                          <p:val>
                                            <p:strVal val="#ppt_x"/>
                                          </p:val>
                                        </p:tav>
                                      </p:tavLst>
                                    </p:anim>
                                    <p:anim calcmode="lin" valueType="num">
                                      <p:cBhvr>
                                        <p:cTn id="38" dur="400" fill="hold"/>
                                        <p:tgtEl>
                                          <p:spTgt spid="10"/>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400"/>
                                        <p:tgtEl>
                                          <p:spTgt spid="11"/>
                                        </p:tgtEl>
                                      </p:cBhvr>
                                    </p:animEffect>
                                    <p:anim calcmode="lin" valueType="num">
                                      <p:cBhvr>
                                        <p:cTn id="42" dur="400" fill="hold"/>
                                        <p:tgtEl>
                                          <p:spTgt spid="11"/>
                                        </p:tgtEl>
                                        <p:attrNameLst>
                                          <p:attrName>ppt_x</p:attrName>
                                        </p:attrNameLst>
                                      </p:cBhvr>
                                      <p:tavLst>
                                        <p:tav tm="0">
                                          <p:val>
                                            <p:strVal val="#ppt_x"/>
                                          </p:val>
                                        </p:tav>
                                        <p:tav tm="100000">
                                          <p:val>
                                            <p:strVal val="#ppt_x"/>
                                          </p:val>
                                        </p:tav>
                                      </p:tavLst>
                                    </p:anim>
                                    <p:anim calcmode="lin" valueType="num">
                                      <p:cBhvr>
                                        <p:cTn id="43" dur="400" fill="hold"/>
                                        <p:tgtEl>
                                          <p:spTgt spid="11"/>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00"/>
                                        <p:tgtEl>
                                          <p:spTgt spid="12"/>
                                        </p:tgtEl>
                                      </p:cBhvr>
                                    </p:animEffect>
                                    <p:anim calcmode="lin" valueType="num">
                                      <p:cBhvr>
                                        <p:cTn id="47" dur="400" fill="hold"/>
                                        <p:tgtEl>
                                          <p:spTgt spid="12"/>
                                        </p:tgtEl>
                                        <p:attrNameLst>
                                          <p:attrName>ppt_x</p:attrName>
                                        </p:attrNameLst>
                                      </p:cBhvr>
                                      <p:tavLst>
                                        <p:tav tm="0">
                                          <p:val>
                                            <p:strVal val="#ppt_x"/>
                                          </p:val>
                                        </p:tav>
                                        <p:tav tm="100000">
                                          <p:val>
                                            <p:strVal val="#ppt_x"/>
                                          </p:val>
                                        </p:tav>
                                      </p:tavLst>
                                    </p:anim>
                                    <p:anim calcmode="lin" valueType="num">
                                      <p:cBhvr>
                                        <p:cTn id="48" dur="400" fill="hold"/>
                                        <p:tgtEl>
                                          <p:spTgt spid="12"/>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00"/>
                                        <p:tgtEl>
                                          <p:spTgt spid="13"/>
                                        </p:tgtEl>
                                      </p:cBhvr>
                                    </p:animEffect>
                                    <p:anim calcmode="lin" valueType="num">
                                      <p:cBhvr>
                                        <p:cTn id="52" dur="400" fill="hold"/>
                                        <p:tgtEl>
                                          <p:spTgt spid="13"/>
                                        </p:tgtEl>
                                        <p:attrNameLst>
                                          <p:attrName>ppt_x</p:attrName>
                                        </p:attrNameLst>
                                      </p:cBhvr>
                                      <p:tavLst>
                                        <p:tav tm="0">
                                          <p:val>
                                            <p:strVal val="#ppt_x"/>
                                          </p:val>
                                        </p:tav>
                                        <p:tav tm="100000">
                                          <p:val>
                                            <p:strVal val="#ppt_x"/>
                                          </p:val>
                                        </p:tav>
                                      </p:tavLst>
                                    </p:anim>
                                    <p:anim calcmode="lin" valueType="num">
                                      <p:cBhvr>
                                        <p:cTn id="53" dur="400" fill="hold"/>
                                        <p:tgtEl>
                                          <p:spTgt spid="13"/>
                                        </p:tgtEl>
                                        <p:attrNameLst>
                                          <p:attrName>ppt_y</p:attrName>
                                        </p:attrNameLst>
                                      </p:cBhvr>
                                      <p:tavLst>
                                        <p:tav tm="0">
                                          <p:val>
                                            <p:strVal val="#ppt_y+.06"/>
                                          </p:val>
                                        </p:tav>
                                        <p:tav tm="100000">
                                          <p:val>
                                            <p:strVal val="#ppt_y"/>
                                          </p:val>
                                        </p:tav>
                                      </p:tavLst>
                                    </p:anim>
                                  </p:childTnLst>
                                </p:cTn>
                              </p:par>
                            </p:childTnLst>
                          </p:cTn>
                        </p:par>
                        <p:par>
                          <p:cTn id="54" fill="hold">
                            <p:stCondLst>
                              <p:cond delay="1630"/>
                            </p:stCondLst>
                            <p:childTnLst>
                              <p:par>
                                <p:cTn id="55" presetID="42" presetClass="entr" presetSubtype="0" fill="hold" grpId="0" nodeType="afterEffect">
                                  <p:stCondLst>
                                    <p:cond delay="4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400"/>
                                        <p:tgtEl>
                                          <p:spTgt spid="14"/>
                                        </p:tgtEl>
                                      </p:cBhvr>
                                    </p:animEffect>
                                    <p:anim calcmode="lin" valueType="num">
                                      <p:cBhvr>
                                        <p:cTn id="58" dur="400" fill="hold"/>
                                        <p:tgtEl>
                                          <p:spTgt spid="14"/>
                                        </p:tgtEl>
                                        <p:attrNameLst>
                                          <p:attrName>ppt_x</p:attrName>
                                        </p:attrNameLst>
                                      </p:cBhvr>
                                      <p:tavLst>
                                        <p:tav tm="0">
                                          <p:val>
                                            <p:strVal val="#ppt_x"/>
                                          </p:val>
                                        </p:tav>
                                        <p:tav tm="100000">
                                          <p:val>
                                            <p:strVal val="#ppt_x"/>
                                          </p:val>
                                        </p:tav>
                                      </p:tavLst>
                                    </p:anim>
                                    <p:anim calcmode="lin" valueType="num">
                                      <p:cBhvr>
                                        <p:cTn id="59" dur="400" fill="hold"/>
                                        <p:tgtEl>
                                          <p:spTgt spid="14"/>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400"/>
                                        <p:tgtEl>
                                          <p:spTgt spid="15"/>
                                        </p:tgtEl>
                                      </p:cBhvr>
                                    </p:animEffect>
                                    <p:anim calcmode="lin" valueType="num">
                                      <p:cBhvr>
                                        <p:cTn id="63" dur="400" fill="hold"/>
                                        <p:tgtEl>
                                          <p:spTgt spid="15"/>
                                        </p:tgtEl>
                                        <p:attrNameLst>
                                          <p:attrName>ppt_x</p:attrName>
                                        </p:attrNameLst>
                                      </p:cBhvr>
                                      <p:tavLst>
                                        <p:tav tm="0">
                                          <p:val>
                                            <p:strVal val="#ppt_x"/>
                                          </p:val>
                                        </p:tav>
                                        <p:tav tm="100000">
                                          <p:val>
                                            <p:strVal val="#ppt_x"/>
                                          </p:val>
                                        </p:tav>
                                      </p:tavLst>
                                    </p:anim>
                                    <p:anim calcmode="lin" valueType="num">
                                      <p:cBhvr>
                                        <p:cTn id="64" dur="400" fill="hold"/>
                                        <p:tgtEl>
                                          <p:spTgt spid="15"/>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400"/>
                                        <p:tgtEl>
                                          <p:spTgt spid="16"/>
                                        </p:tgtEl>
                                      </p:cBhvr>
                                    </p:animEffect>
                                    <p:anim calcmode="lin" valueType="num">
                                      <p:cBhvr>
                                        <p:cTn id="68" dur="400" fill="hold"/>
                                        <p:tgtEl>
                                          <p:spTgt spid="16"/>
                                        </p:tgtEl>
                                        <p:attrNameLst>
                                          <p:attrName>ppt_x</p:attrName>
                                        </p:attrNameLst>
                                      </p:cBhvr>
                                      <p:tavLst>
                                        <p:tav tm="0">
                                          <p:val>
                                            <p:strVal val="#ppt_x"/>
                                          </p:val>
                                        </p:tav>
                                        <p:tav tm="100000">
                                          <p:val>
                                            <p:strVal val="#ppt_x"/>
                                          </p:val>
                                        </p:tav>
                                      </p:tavLst>
                                    </p:anim>
                                    <p:anim calcmode="lin" valueType="num">
                                      <p:cBhvr>
                                        <p:cTn id="69" dur="400" fill="hold"/>
                                        <p:tgtEl>
                                          <p:spTgt spid="16"/>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400"/>
                                        <p:tgtEl>
                                          <p:spTgt spid="17"/>
                                        </p:tgtEl>
                                      </p:cBhvr>
                                    </p:animEffect>
                                    <p:anim calcmode="lin" valueType="num">
                                      <p:cBhvr>
                                        <p:cTn id="73" dur="400" fill="hold"/>
                                        <p:tgtEl>
                                          <p:spTgt spid="17"/>
                                        </p:tgtEl>
                                        <p:attrNameLst>
                                          <p:attrName>ppt_x</p:attrName>
                                        </p:attrNameLst>
                                      </p:cBhvr>
                                      <p:tavLst>
                                        <p:tav tm="0">
                                          <p:val>
                                            <p:strVal val="#ppt_x"/>
                                          </p:val>
                                        </p:tav>
                                        <p:tav tm="100000">
                                          <p:val>
                                            <p:strVal val="#ppt_x"/>
                                          </p:val>
                                        </p:tav>
                                      </p:tavLst>
                                    </p:anim>
                                    <p:anim calcmode="lin" valueType="num">
                                      <p:cBhvr>
                                        <p:cTn id="74" dur="400" fill="hold"/>
                                        <p:tgtEl>
                                          <p:spTgt spid="17"/>
                                        </p:tgtEl>
                                        <p:attrNameLst>
                                          <p:attrName>ppt_y</p:attrName>
                                        </p:attrNameLst>
                                      </p:cBhvr>
                                      <p:tavLst>
                                        <p:tav tm="0">
                                          <p:val>
                                            <p:strVal val="#ppt_y+.06"/>
                                          </p:val>
                                        </p:tav>
                                        <p:tav tm="100000">
                                          <p:val>
                                            <p:strVal val="#ppt_y"/>
                                          </p:val>
                                        </p:tav>
                                      </p:tavLst>
                                    </p:anim>
                                  </p:childTnLst>
                                </p:cTn>
                              </p:par>
                            </p:childTnLst>
                          </p:cTn>
                        </p:par>
                        <p:par>
                          <p:cTn id="75" fill="hold">
                            <p:stCondLst>
                              <p:cond delay="2070"/>
                            </p:stCondLst>
                            <p:childTnLst>
                              <p:par>
                                <p:cTn id="76" presetID="42" presetClass="entr" presetSubtype="0" fill="hold" grpId="0" nodeType="afterEffect">
                                  <p:stCondLst>
                                    <p:cond delay="4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400"/>
                                        <p:tgtEl>
                                          <p:spTgt spid="18"/>
                                        </p:tgtEl>
                                      </p:cBhvr>
                                    </p:animEffect>
                                    <p:anim calcmode="lin" valueType="num">
                                      <p:cBhvr>
                                        <p:cTn id="79" dur="400" fill="hold"/>
                                        <p:tgtEl>
                                          <p:spTgt spid="18"/>
                                        </p:tgtEl>
                                        <p:attrNameLst>
                                          <p:attrName>ppt_x</p:attrName>
                                        </p:attrNameLst>
                                      </p:cBhvr>
                                      <p:tavLst>
                                        <p:tav tm="0">
                                          <p:val>
                                            <p:strVal val="#ppt_x"/>
                                          </p:val>
                                        </p:tav>
                                        <p:tav tm="100000">
                                          <p:val>
                                            <p:strVal val="#ppt_x"/>
                                          </p:val>
                                        </p:tav>
                                      </p:tavLst>
                                    </p:anim>
                                    <p:anim calcmode="lin" valueType="num">
                                      <p:cBhvr>
                                        <p:cTn id="80" dur="400" fill="hold"/>
                                        <p:tgtEl>
                                          <p:spTgt spid="18"/>
                                        </p:tgtEl>
                                        <p:attrNameLst>
                                          <p:attrName>ppt_y</p:attrName>
                                        </p:attrNameLst>
                                      </p:cBhvr>
                                      <p:tavLst>
                                        <p:tav tm="0">
                                          <p:val>
                                            <p:strVal val="#ppt_y+.06"/>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400"/>
                                        <p:tgtEl>
                                          <p:spTgt spid="19"/>
                                        </p:tgtEl>
                                      </p:cBhvr>
                                    </p:animEffect>
                                    <p:anim calcmode="lin" valueType="num">
                                      <p:cBhvr>
                                        <p:cTn id="84" dur="400" fill="hold"/>
                                        <p:tgtEl>
                                          <p:spTgt spid="19"/>
                                        </p:tgtEl>
                                        <p:attrNameLst>
                                          <p:attrName>ppt_x</p:attrName>
                                        </p:attrNameLst>
                                      </p:cBhvr>
                                      <p:tavLst>
                                        <p:tav tm="0">
                                          <p:val>
                                            <p:strVal val="#ppt_x"/>
                                          </p:val>
                                        </p:tav>
                                        <p:tav tm="100000">
                                          <p:val>
                                            <p:strVal val="#ppt_x"/>
                                          </p:val>
                                        </p:tav>
                                      </p:tavLst>
                                    </p:anim>
                                    <p:anim calcmode="lin" valueType="num">
                                      <p:cBhvr>
                                        <p:cTn id="85" dur="400" fill="hold"/>
                                        <p:tgtEl>
                                          <p:spTgt spid="19"/>
                                        </p:tgtEl>
                                        <p:attrNameLst>
                                          <p:attrName>ppt_y</p:attrName>
                                        </p:attrNameLst>
                                      </p:cBhvr>
                                      <p:tavLst>
                                        <p:tav tm="0">
                                          <p:val>
                                            <p:strVal val="#ppt_y+.06"/>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400"/>
                                        <p:tgtEl>
                                          <p:spTgt spid="20"/>
                                        </p:tgtEl>
                                      </p:cBhvr>
                                    </p:animEffect>
                                    <p:anim calcmode="lin" valueType="num">
                                      <p:cBhvr>
                                        <p:cTn id="89" dur="400" fill="hold"/>
                                        <p:tgtEl>
                                          <p:spTgt spid="20"/>
                                        </p:tgtEl>
                                        <p:attrNameLst>
                                          <p:attrName>ppt_x</p:attrName>
                                        </p:attrNameLst>
                                      </p:cBhvr>
                                      <p:tavLst>
                                        <p:tav tm="0">
                                          <p:val>
                                            <p:strVal val="#ppt_x"/>
                                          </p:val>
                                        </p:tav>
                                        <p:tav tm="100000">
                                          <p:val>
                                            <p:strVal val="#ppt_x"/>
                                          </p:val>
                                        </p:tav>
                                      </p:tavLst>
                                    </p:anim>
                                    <p:anim calcmode="lin" valueType="num">
                                      <p:cBhvr>
                                        <p:cTn id="90" dur="400" fill="hold"/>
                                        <p:tgtEl>
                                          <p:spTgt spid="20"/>
                                        </p:tgtEl>
                                        <p:attrNameLst>
                                          <p:attrName>ppt_y</p:attrName>
                                        </p:attrNameLst>
                                      </p:cBhvr>
                                      <p:tavLst>
                                        <p:tav tm="0">
                                          <p:val>
                                            <p:strVal val="#ppt_y+.06"/>
                                          </p:val>
                                        </p:tav>
                                        <p:tav tm="100000">
                                          <p:val>
                                            <p:strVal val="#ppt_y"/>
                                          </p:val>
                                        </p:tav>
                                      </p:tavLst>
                                    </p:anim>
                                  </p:childTnLst>
                                </p:cTn>
                              </p:par>
                            </p:childTnLst>
                          </p:cTn>
                        </p:par>
                        <p:par>
                          <p:cTn id="91" fill="hold">
                            <p:stCondLst>
                              <p:cond delay="2510"/>
                            </p:stCondLst>
                            <p:childTnLst>
                              <p:par>
                                <p:cTn id="92" presetID="10" presetClass="entr" presetSubtype="0" fill="hold" grpId="0" nodeType="after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400"/>
                                        <p:tgtEl>
                                          <p:spTgt spid="21"/>
                                        </p:tgtEl>
                                      </p:cBhvr>
                                    </p:animEffect>
                                  </p:childTnLst>
                                </p:cTn>
                              </p:par>
                            </p:childTnLst>
                          </p:cTn>
                        </p:par>
                        <p:par>
                          <p:cTn id="95" fill="hold">
                            <p:stCondLst>
                              <p:cond delay="2910"/>
                            </p:stCondLst>
                            <p:childTnLst>
                              <p:par>
                                <p:cTn id="96" presetID="53" presetClass="entr" presetSubtype="16" fill="hold" grpId="0" nodeType="afterEffect">
                                  <p:stCondLst>
                                    <p:cond delay="100"/>
                                  </p:stCondLst>
                                  <p:childTnLst>
                                    <p:set>
                                      <p:cBhvr>
                                        <p:cTn id="97" dur="1" fill="hold">
                                          <p:stCondLst>
                                            <p:cond delay="0"/>
                                          </p:stCondLst>
                                        </p:cTn>
                                        <p:tgtEl>
                                          <p:spTgt spid="22"/>
                                        </p:tgtEl>
                                        <p:attrNameLst>
                                          <p:attrName>style.visibility</p:attrName>
                                        </p:attrNameLst>
                                      </p:cBhvr>
                                      <p:to>
                                        <p:strVal val="visible"/>
                                      </p:to>
                                    </p:set>
                                    <p:anim calcmode="lin" valueType="num">
                                      <p:cBhvr>
                                        <p:cTn id="98" dur="550" fill="hold"/>
                                        <p:tgtEl>
                                          <p:spTgt spid="22"/>
                                        </p:tgtEl>
                                        <p:attrNameLst>
                                          <p:attrName>ppt_w</p:attrName>
                                        </p:attrNameLst>
                                      </p:cBhvr>
                                      <p:tavLst>
                                        <p:tav tm="0">
                                          <p:val>
                                            <p:strVal val="#ppt_w*.82"/>
                                          </p:val>
                                        </p:tav>
                                        <p:tav tm="100000">
                                          <p:val>
                                            <p:strVal val="#ppt_w"/>
                                          </p:val>
                                        </p:tav>
                                      </p:tavLst>
                                    </p:anim>
                                    <p:anim calcmode="lin" valueType="num">
                                      <p:cBhvr>
                                        <p:cTn id="99" dur="550" fill="hold"/>
                                        <p:tgtEl>
                                          <p:spTgt spid="22"/>
                                        </p:tgtEl>
                                        <p:attrNameLst>
                                          <p:attrName>ppt_h</p:attrName>
                                        </p:attrNameLst>
                                      </p:cBhvr>
                                      <p:tavLst>
                                        <p:tav tm="0">
                                          <p:val>
                                            <p:strVal val="#ppt_h*.82"/>
                                          </p:val>
                                        </p:tav>
                                        <p:tav tm="100000">
                                          <p:val>
                                            <p:strVal val="#ppt_h"/>
                                          </p:val>
                                        </p:tav>
                                      </p:tavLst>
                                    </p:anim>
                                    <p:animEffect transition="in" filter="fade">
                                      <p:cBhvr>
                                        <p:cTn id="100" dur="550"/>
                                        <p:tgtEl>
                                          <p:spTgt spid="22"/>
                                        </p:tgtEl>
                                      </p:cBhvr>
                                    </p:animEffect>
                                  </p:childTnLst>
                                </p:cTn>
                              </p:par>
                              <p:par>
                                <p:cTn id="101" presetID="53" presetClass="entr" presetSubtype="16" fill="hold" grpId="0" nodeType="withEffect">
                                  <p:stCondLst>
                                    <p:cond delay="0"/>
                                  </p:stCondLst>
                                  <p:childTnLst>
                                    <p:set>
                                      <p:cBhvr>
                                        <p:cTn id="102" dur="1" fill="hold">
                                          <p:stCondLst>
                                            <p:cond delay="0"/>
                                          </p:stCondLst>
                                        </p:cTn>
                                        <p:tgtEl>
                                          <p:spTgt spid="23"/>
                                        </p:tgtEl>
                                        <p:attrNameLst>
                                          <p:attrName>style.visibility</p:attrName>
                                        </p:attrNameLst>
                                      </p:cBhvr>
                                      <p:to>
                                        <p:strVal val="visible"/>
                                      </p:to>
                                    </p:set>
                                    <p:anim calcmode="lin" valueType="num">
                                      <p:cBhvr>
                                        <p:cTn id="103" dur="550" fill="hold"/>
                                        <p:tgtEl>
                                          <p:spTgt spid="23"/>
                                        </p:tgtEl>
                                        <p:attrNameLst>
                                          <p:attrName>ppt_w</p:attrName>
                                        </p:attrNameLst>
                                      </p:cBhvr>
                                      <p:tavLst>
                                        <p:tav tm="0">
                                          <p:val>
                                            <p:strVal val="#ppt_w*.82"/>
                                          </p:val>
                                        </p:tav>
                                        <p:tav tm="100000">
                                          <p:val>
                                            <p:strVal val="#ppt_w"/>
                                          </p:val>
                                        </p:tav>
                                      </p:tavLst>
                                    </p:anim>
                                    <p:anim calcmode="lin" valueType="num">
                                      <p:cBhvr>
                                        <p:cTn id="104" dur="550" fill="hold"/>
                                        <p:tgtEl>
                                          <p:spTgt spid="23"/>
                                        </p:tgtEl>
                                        <p:attrNameLst>
                                          <p:attrName>ppt_h</p:attrName>
                                        </p:attrNameLst>
                                      </p:cBhvr>
                                      <p:tavLst>
                                        <p:tav tm="0">
                                          <p:val>
                                            <p:strVal val="#ppt_h*.82"/>
                                          </p:val>
                                        </p:tav>
                                        <p:tav tm="100000">
                                          <p:val>
                                            <p:strVal val="#ppt_h"/>
                                          </p:val>
                                        </p:tav>
                                      </p:tavLst>
                                    </p:anim>
                                    <p:animEffect transition="in" filter="fade">
                                      <p:cBhvr>
                                        <p:cTn id="105" dur="550"/>
                                        <p:tgtEl>
                                          <p:spTgt spid="23"/>
                                        </p:tgtEl>
                                      </p:cBhvr>
                                    </p:animEffect>
                                  </p:childTnLst>
                                </p:cTn>
                              </p:par>
                            </p:childTnLst>
                          </p:cTn>
                        </p:par>
                        <p:par>
                          <p:cTn id="106" fill="hold">
                            <p:stCondLst>
                              <p:cond delay="3560"/>
                            </p:stCondLst>
                            <p:childTnLst>
                              <p:par>
                                <p:cTn id="107" presetID="10" presetClass="entr" presetSubtype="0" fill="hold" grpId="0" nodeType="afterEffect">
                                  <p:stCondLst>
                                    <p:cond delay="120"/>
                                  </p:stCondLst>
                                  <p:childTnLst>
                                    <p:set>
                                      <p:cBhvr>
                                        <p:cTn id="108" dur="1" fill="hold">
                                          <p:stCondLst>
                                            <p:cond delay="0"/>
                                          </p:stCondLst>
                                        </p:cTn>
                                        <p:tgtEl>
                                          <p:spTgt spid="24"/>
                                        </p:tgtEl>
                                        <p:attrNameLst>
                                          <p:attrName>style.visibility</p:attrName>
                                        </p:attrNameLst>
                                      </p:cBhvr>
                                      <p:to>
                                        <p:strVal val="visible"/>
                                      </p:to>
                                    </p:set>
                                    <p:animEffect transition="in" filter="fade">
                                      <p:cBhvr>
                                        <p:cTn id="10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8" grpId="0"/>
      <p:bldP spid="9" grpId="0" animBg="1"/>
      <p:bldP spid="10" grpId="0" animBg="1"/>
      <p:bldP spid="12" grpId="0"/>
      <p:bldP spid="13" grpId="0" animBg="1"/>
      <p:bldP spid="14" grpId="0" animBg="1"/>
      <p:bldP spid="16" grpId="0"/>
      <p:bldP spid="17" grpId="0" animBg="1"/>
      <p:bldP spid="18" grpId="0" animBg="1"/>
      <p:bldP spid="20" grpId="0"/>
      <p:bldP spid="21" grpId="0"/>
      <p:bldP spid="22" grpId="0" animBg="1"/>
      <p:bldP spid="23" grpId="0"/>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INDIA LAYER</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If we offer it, Indian data sets the price</a:t>
            </a:r>
            <a:endParaRPr lang="en-US" sz="32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2057400"/>
          <a:ext cx="7040880" cy="914400"/>
        </p:xfrm>
        <a:graphic>
          <a:graphicData uri="http://schemas.openxmlformats.org/drawingml/2006/table">
            <a:tbl>
              <a:tblPr/>
              <a:tblGrid>
                <a:gridCol w="1965960"/>
                <a:gridCol w="1691640"/>
                <a:gridCol w="1005840"/>
                <a:gridCol w="1143000"/>
                <a:gridCol w="1234440"/>
              </a:tblGrid>
              <a:tr h="457200">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City · product</a:t>
                      </a:r>
                      <a:endParaRPr lang="en-US" sz="11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Trigger</a:t>
                      </a:r>
                      <a:endParaRPr lang="en-US" sz="11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Raw days a year</a:t>
                      </a:r>
                      <a:endParaRPr lang="en-US" sz="11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Expected paid days</a:t>
                      </a:r>
                      <a:endParaRPr lang="en-US" sz="11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Illustrative price a month</a:t>
                      </a:r>
                      <a:endParaRPr lang="en-US" sz="11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r>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Mumbai · Basic</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≥204.5 mm rain a day</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₹45</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r>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Nagpur · Basic</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≥47°C</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₹52</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r>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Ahmedabad · Basic</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≥47°C</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0.7</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~0.6</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₹29 floor</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r>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Mumbai · Plus (platform)</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≥64.5 mm rain a day</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11.9</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5.0 (cap)</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c>
                  <a:txBody>
                    <a:bodyPr/>
                    <a:lstStyle/>
                    <a:p>
                      <a:pPr indent="0" marL="0">
                        <a:buNone/>
                      </a:pPr>
                      <a:r>
                        <a:rPr lang="en-US" sz="1300" b="1" dirty="0">
                          <a:solidFill>
                            <a:srgbClr val="F5A623"/>
                          </a:solidFill>
                          <a:latin typeface="Calibri" pitchFamily="34" charset="0"/>
                          <a:ea typeface="Calibri" pitchFamily="34" charset="-122"/>
                          <a:cs typeface="Calibri" pitchFamily="34" charset="-120"/>
                        </a:rPr>
                        <a:t>₹208</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r>
            </a:tbl>
          </a:graphicData>
        </a:graphic>
      </p:graphicFrame>
      <p:sp>
        <p:nvSpPr>
          <p:cNvPr id="7" name="formula"/>
          <p:cNvSpPr txBox="1"/>
          <p:nvPr/>
        </p:nvSpPr>
        <p:spPr>
          <a:xfrm>
            <a:off x="548640" y="4462272"/>
            <a:ext cx="7040880" cy="347472"/>
          </a:xfrm>
          <a:prstGeom prst="rect">
            <a:avLst/>
          </a:prstGeom>
          <a:noFill/>
          <a:ln/>
        </p:spPr>
        <p:txBody>
          <a:bodyPr wrap="square" lIns="0" tIns="0" rIns="0" bIns="0" rtlCol="0" anchor="t"/>
          <a:lstStyle/>
          <a:p>
            <a:pPr indent="0" marL="0">
              <a:buNone/>
            </a:pPr>
            <a:r>
              <a:rPr lang="en-US" sz="1500" b="1" dirty="0">
                <a:solidFill>
                  <a:srgbClr val="F5A623"/>
                </a:solidFill>
                <a:latin typeface="Calibri" pitchFamily="34" charset="0"/>
                <a:ea typeface="Calibri" pitchFamily="34" charset="-122"/>
                <a:cs typeface="Calibri" pitchFamily="34" charset="-120"/>
              </a:rPr>
              <a:t>Price = expected paid days × ₹300 ÷ 60% ÷ 12</a:t>
            </a:r>
            <a:endParaRPr lang="en-US" sz="1500" dirty="0"/>
          </a:p>
        </p:txBody>
      </p:sp>
      <p:sp>
        <p:nvSpPr>
          <p:cNvPr id="8" name="plusNote"/>
          <p:cNvSpPr txBox="1"/>
          <p:nvPr/>
        </p:nvSpPr>
        <p:spPr>
          <a:xfrm>
            <a:off x="548640" y="4846320"/>
            <a:ext cx="7040880" cy="685800"/>
          </a:xfrm>
          <a:prstGeom prst="rect">
            <a:avLst/>
          </a:prstGeom>
          <a:noFill/>
          <a:ln/>
        </p:spPr>
        <p:txBody>
          <a:bodyPr wrap="square" lIns="0" tIns="0" rIns="0" bIns="0" rtlCol="0" anchor="t"/>
          <a:lstStyle/>
          <a:p>
            <a:pPr indent="0" marL="0">
              <a:buNone/>
            </a:pPr>
            <a:r>
              <a:rPr lang="en-US" sz="1300" dirty="0">
                <a:solidFill>
                  <a:srgbClr val="B9C2D8"/>
                </a:solidFill>
                <a:latin typeface="Calibri" pitchFamily="34" charset="0"/>
                <a:ea typeface="Calibri" pitchFamily="34" charset="-122"/>
                <a:cs typeface="Calibri" pitchFamily="34" charset="-120"/>
              </a:rPr>
              <a:t>Basic covers rare extremes for individuals. Plus covers Mumbai’s ~12 heavy-rain days a year, sponsored by platforms; its 10 mm in 3 h live trigger is a prototype the pilot recalibrates.</a:t>
            </a:r>
            <a:endParaRPr lang="en-US" sz="1300" dirty="0"/>
          </a:p>
        </p:txBody>
      </p:sp>
      <p:sp>
        <p:nvSpPr>
          <p:cNvPr id="9" name="city0"/>
          <p:cNvSpPr/>
          <p:nvPr/>
        </p:nvSpPr>
        <p:spPr>
          <a:xfrm>
            <a:off x="7863840" y="2057400"/>
            <a:ext cx="3776472" cy="868680"/>
          </a:xfrm>
          <a:prstGeom prst="roundRect">
            <a:avLst>
              <a:gd name="adj" fmla="val 12632"/>
            </a:avLst>
          </a:prstGeom>
          <a:solidFill>
            <a:srgbClr val="1C2447"/>
          </a:solidFill>
          <a:ln w="9525">
            <a:solidFill>
              <a:srgbClr val="F5A623"/>
            </a:solidFill>
            <a:prstDash val="solid"/>
          </a:ln>
        </p:spPr>
      </p:sp>
      <p:pic>
        <p:nvPicPr>
          <p:cNvPr id="10" name="cityI0" descr="preencoded.png">    </p:cNvPr>
          <p:cNvPicPr>
            <a:picLocks noChangeAspect="1"/>
          </p:cNvPicPr>
          <p:nvPr/>
        </p:nvPicPr>
        <p:blipFill>
          <a:blip r:embed="rId2"/>
          <a:stretch>
            <a:fillRect/>
          </a:stretch>
        </p:blipFill>
        <p:spPr>
          <a:xfrm>
            <a:off x="8065008" y="2304288"/>
            <a:ext cx="365760" cy="365760"/>
          </a:xfrm>
          <a:prstGeom prst="rect">
            <a:avLst/>
          </a:prstGeom>
        </p:spPr>
      </p:pic>
      <p:sp>
        <p:nvSpPr>
          <p:cNvPr id="11" name="cityT0"/>
          <p:cNvSpPr txBox="1"/>
          <p:nvPr/>
        </p:nvSpPr>
        <p:spPr>
          <a:xfrm>
            <a:off x="8577072" y="2176272"/>
            <a:ext cx="2103120" cy="65836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Mumbai · rain</a:t>
            </a:r>
            <a:endParaRPr lang="en-US" sz="1500" dirty="0"/>
          </a:p>
          <a:p>
            <a:pPr indent="0" marL="0">
              <a:buNone/>
            </a:pPr>
            <a:r>
              <a:rPr lang="en-US" sz="1250" dirty="0">
                <a:solidFill>
                  <a:srgbClr val="B9C2D8"/>
                </a:solidFill>
                <a:latin typeface="Calibri" pitchFamily="34" charset="0"/>
                <a:ea typeface="Calibri" pitchFamily="34" charset="-122"/>
                <a:cs typeface="Calibri" pitchFamily="34" charset="-120"/>
              </a:rPr>
              <a:t>11.9 heavy-rain days a year</a:t>
            </a:r>
            <a:endParaRPr lang="en-US" sz="1500" dirty="0"/>
          </a:p>
        </p:txBody>
      </p:sp>
      <p:sp>
        <p:nvSpPr>
          <p:cNvPr id="12" name="cityP0"/>
          <p:cNvSpPr txBox="1"/>
          <p:nvPr/>
        </p:nvSpPr>
        <p:spPr>
          <a:xfrm>
            <a:off x="10607040" y="2057400"/>
            <a:ext cx="914400" cy="868680"/>
          </a:xfrm>
          <a:prstGeom prst="rect">
            <a:avLst/>
          </a:prstGeom>
          <a:noFill/>
          <a:ln/>
        </p:spPr>
        <p:txBody>
          <a:bodyPr wrap="square" lIns="0" tIns="0" rIns="0" bIns="0" rtlCol="0" anchor="ctr"/>
          <a:lstStyle/>
          <a:p>
            <a:pPr algn="r" indent="0" marL="0">
              <a:buNone/>
            </a:pPr>
            <a:r>
              <a:rPr lang="en-US" sz="1500" b="1" dirty="0">
                <a:solidFill>
                  <a:srgbClr val="F5A623"/>
                </a:solidFill>
                <a:latin typeface="Cambria" pitchFamily="34" charset="0"/>
                <a:ea typeface="Cambria" pitchFamily="34" charset="-122"/>
                <a:cs typeface="Cambria" pitchFamily="34" charset="-120"/>
              </a:rPr>
              <a:t>Phase 1</a:t>
            </a:r>
            <a:endParaRPr lang="en-US" sz="1500" dirty="0"/>
          </a:p>
        </p:txBody>
      </p:sp>
      <p:sp>
        <p:nvSpPr>
          <p:cNvPr id="13" name="city1"/>
          <p:cNvSpPr/>
          <p:nvPr/>
        </p:nvSpPr>
        <p:spPr>
          <a:xfrm>
            <a:off x="7863840" y="3044952"/>
            <a:ext cx="3776472" cy="868680"/>
          </a:xfrm>
          <a:prstGeom prst="roundRect">
            <a:avLst>
              <a:gd name="adj" fmla="val 12632"/>
            </a:avLst>
          </a:prstGeom>
          <a:solidFill>
            <a:srgbClr val="141B36"/>
          </a:solidFill>
          <a:ln w="9525">
            <a:solidFill>
              <a:srgbClr val="2A3357"/>
            </a:solidFill>
            <a:prstDash val="solid"/>
          </a:ln>
        </p:spPr>
      </p:sp>
      <p:pic>
        <p:nvPicPr>
          <p:cNvPr id="14" name="cityI1" descr="preencoded.png">    </p:cNvPr>
          <p:cNvPicPr>
            <a:picLocks noChangeAspect="1"/>
          </p:cNvPicPr>
          <p:nvPr/>
        </p:nvPicPr>
        <p:blipFill>
          <a:blip r:embed="rId3"/>
          <a:stretch>
            <a:fillRect/>
          </a:stretch>
        </p:blipFill>
        <p:spPr>
          <a:xfrm>
            <a:off x="8065008" y="3291840"/>
            <a:ext cx="365760" cy="365760"/>
          </a:xfrm>
          <a:prstGeom prst="rect">
            <a:avLst/>
          </a:prstGeom>
        </p:spPr>
      </p:pic>
      <p:sp>
        <p:nvSpPr>
          <p:cNvPr id="15" name="cityT1"/>
          <p:cNvSpPr txBox="1"/>
          <p:nvPr/>
        </p:nvSpPr>
        <p:spPr>
          <a:xfrm>
            <a:off x="8577072" y="3163824"/>
            <a:ext cx="2103120" cy="65836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Nagpur · heat</a:t>
            </a:r>
            <a:endParaRPr lang="en-US" sz="1500" dirty="0"/>
          </a:p>
          <a:p>
            <a:pPr indent="0" marL="0">
              <a:buNone/>
            </a:pPr>
            <a:r>
              <a:rPr lang="en-US" sz="1250" dirty="0">
                <a:solidFill>
                  <a:srgbClr val="B9C2D8"/>
                </a:solidFill>
                <a:latin typeface="Calibri" pitchFamily="34" charset="0"/>
                <a:ea typeface="Calibri" pitchFamily="34" charset="-122"/>
                <a:cs typeface="Calibri" pitchFamily="34" charset="-120"/>
              </a:rPr>
              <a:t>9.7 days at 45°C or more a year</a:t>
            </a:r>
            <a:endParaRPr lang="en-US" sz="1500" dirty="0"/>
          </a:p>
        </p:txBody>
      </p:sp>
      <p:sp>
        <p:nvSpPr>
          <p:cNvPr id="16" name="cityP1"/>
          <p:cNvSpPr txBox="1"/>
          <p:nvPr/>
        </p:nvSpPr>
        <p:spPr>
          <a:xfrm>
            <a:off x="10607040" y="3044952"/>
            <a:ext cx="914400" cy="868680"/>
          </a:xfrm>
          <a:prstGeom prst="rect">
            <a:avLst/>
          </a:prstGeom>
          <a:noFill/>
          <a:ln/>
        </p:spPr>
        <p:txBody>
          <a:bodyPr wrap="square" lIns="0" tIns="0" rIns="0" bIns="0" rtlCol="0" anchor="ctr"/>
          <a:lstStyle/>
          <a:p>
            <a:pPr algn="r" indent="0" marL="0">
              <a:buNone/>
            </a:pPr>
            <a:r>
              <a:rPr lang="en-US" sz="1500" b="1" dirty="0">
                <a:solidFill>
                  <a:srgbClr val="F5A623"/>
                </a:solidFill>
                <a:latin typeface="Cambria" pitchFamily="34" charset="0"/>
                <a:ea typeface="Cambria" pitchFamily="34" charset="-122"/>
                <a:cs typeface="Cambria" pitchFamily="34" charset="-120"/>
              </a:rPr>
              <a:t>Phase 2</a:t>
            </a:r>
            <a:endParaRPr lang="en-US" sz="1500" dirty="0"/>
          </a:p>
        </p:txBody>
      </p:sp>
      <p:sp>
        <p:nvSpPr>
          <p:cNvPr id="17" name="city2"/>
          <p:cNvSpPr/>
          <p:nvPr/>
        </p:nvSpPr>
        <p:spPr>
          <a:xfrm>
            <a:off x="7863840" y="4032504"/>
            <a:ext cx="3776472" cy="868680"/>
          </a:xfrm>
          <a:prstGeom prst="roundRect">
            <a:avLst>
              <a:gd name="adj" fmla="val 12632"/>
            </a:avLst>
          </a:prstGeom>
          <a:solidFill>
            <a:srgbClr val="141B36"/>
          </a:solidFill>
          <a:ln w="9525">
            <a:solidFill>
              <a:srgbClr val="2A3357"/>
            </a:solidFill>
            <a:prstDash val="solid"/>
          </a:ln>
        </p:spPr>
      </p:sp>
      <p:pic>
        <p:nvPicPr>
          <p:cNvPr id="18" name="cityI2" descr="preencoded.png">    </p:cNvPr>
          <p:cNvPicPr>
            <a:picLocks noChangeAspect="1"/>
          </p:cNvPicPr>
          <p:nvPr/>
        </p:nvPicPr>
        <p:blipFill>
          <a:blip r:embed="rId4"/>
          <a:stretch>
            <a:fillRect/>
          </a:stretch>
        </p:blipFill>
        <p:spPr>
          <a:xfrm>
            <a:off x="8065008" y="4279392"/>
            <a:ext cx="365760" cy="365760"/>
          </a:xfrm>
          <a:prstGeom prst="rect">
            <a:avLst/>
          </a:prstGeom>
        </p:spPr>
      </p:pic>
      <p:sp>
        <p:nvSpPr>
          <p:cNvPr id="19" name="cityT2"/>
          <p:cNvSpPr txBox="1"/>
          <p:nvPr/>
        </p:nvSpPr>
        <p:spPr>
          <a:xfrm>
            <a:off x="8577072" y="4151376"/>
            <a:ext cx="2103120" cy="65836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Ahmedabad · heat</a:t>
            </a:r>
            <a:endParaRPr lang="en-US" sz="1500" dirty="0"/>
          </a:p>
          <a:p>
            <a:pPr indent="0" marL="0">
              <a:buNone/>
            </a:pPr>
            <a:r>
              <a:rPr lang="en-US" sz="1250" dirty="0">
                <a:solidFill>
                  <a:srgbClr val="B9C2D8"/>
                </a:solidFill>
                <a:latin typeface="Calibri" pitchFamily="34" charset="0"/>
                <a:ea typeface="Calibri" pitchFamily="34" charset="-122"/>
                <a:cs typeface="Calibri" pitchFamily="34" charset="-120"/>
              </a:rPr>
              <a:t>5.4 days at 45°C or more a year</a:t>
            </a:r>
            <a:endParaRPr lang="en-US" sz="1500" dirty="0"/>
          </a:p>
        </p:txBody>
      </p:sp>
      <p:sp>
        <p:nvSpPr>
          <p:cNvPr id="20" name="cityP2"/>
          <p:cNvSpPr txBox="1"/>
          <p:nvPr/>
        </p:nvSpPr>
        <p:spPr>
          <a:xfrm>
            <a:off x="10607040" y="4032504"/>
            <a:ext cx="914400" cy="868680"/>
          </a:xfrm>
          <a:prstGeom prst="rect">
            <a:avLst/>
          </a:prstGeom>
          <a:noFill/>
          <a:ln/>
        </p:spPr>
        <p:txBody>
          <a:bodyPr wrap="square" lIns="0" tIns="0" rIns="0" bIns="0" rtlCol="0" anchor="ctr"/>
          <a:lstStyle/>
          <a:p>
            <a:pPr algn="r" indent="0" marL="0">
              <a:buNone/>
            </a:pPr>
            <a:r>
              <a:rPr lang="en-US" sz="1500" b="1" dirty="0">
                <a:solidFill>
                  <a:srgbClr val="F5A623"/>
                </a:solidFill>
                <a:latin typeface="Cambria" pitchFamily="34" charset="0"/>
                <a:ea typeface="Cambria" pitchFamily="34" charset="-122"/>
                <a:cs typeface="Cambria" pitchFamily="34" charset="-120"/>
              </a:rPr>
              <a:t>Phase 2</a:t>
            </a:r>
            <a:endParaRPr lang="en-US" sz="1500" dirty="0"/>
          </a:p>
        </p:txBody>
      </p:sp>
      <p:sp>
        <p:nvSpPr>
          <p:cNvPr id="21" name="heatNote"/>
          <p:cNvSpPr txBox="1"/>
          <p:nvPr/>
        </p:nvSpPr>
        <p:spPr>
          <a:xfrm>
            <a:off x="7863840" y="5074920"/>
            <a:ext cx="3776472" cy="548640"/>
          </a:xfrm>
          <a:prstGeom prst="rect">
            <a:avLst/>
          </a:prstGeom>
          <a:noFill/>
          <a:ln/>
        </p:spPr>
        <p:txBody>
          <a:bodyPr wrap="square" lIns="0" tIns="0" rIns="0" bIns="0" rtlCol="0" anchor="t"/>
          <a:lstStyle/>
          <a:p>
            <a:pPr indent="0" marL="0">
              <a:buNone/>
            </a:pPr>
            <a:r>
              <a:rPr lang="en-US" sz="1250" dirty="0">
                <a:solidFill>
                  <a:srgbClr val="B9C2D8"/>
                </a:solidFill>
                <a:latin typeface="Calibri" pitchFamily="34" charset="0"/>
                <a:ea typeface="Calibri" pitchFamily="34" charset="-122"/>
                <a:cs typeface="Calibri" pitchFamily="34" charset="-120"/>
              </a:rPr>
              <a:t>Rain: Jio’s own sensing. Heat: IMD stations and satellite, through the same engine.</a:t>
            </a:r>
            <a:endParaRPr lang="en-US" sz="1250" dirty="0"/>
          </a:p>
        </p:txBody>
      </p:sp>
      <p:sp>
        <p:nvSpPr>
          <p:cNvPr id="22" name="takeaway"/>
          <p:cNvSpPr txBox="1"/>
          <p:nvPr/>
        </p:nvSpPr>
        <p:spPr>
          <a:xfrm>
            <a:off x="548640" y="585216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One flat price can’t fit India’s different weather risks.</a:t>
            </a:r>
            <a:endParaRPr lang="en-US" sz="1800" dirty="0"/>
          </a:p>
        </p:txBody>
      </p:sp>
      <p:sp>
        <p:nvSpPr>
          <p:cNvPr id="23" name="source"/>
          <p:cNvSpPr txBox="1"/>
          <p:nvPr/>
        </p:nvSpPr>
        <p:spPr>
          <a:xfrm>
            <a:off x="548640" y="6419088"/>
            <a:ext cx="11094415" cy="274320"/>
          </a:xfrm>
          <a:prstGeom prst="rect">
            <a:avLst/>
          </a:prstGeom>
          <a:noFill/>
          <a:ln/>
        </p:spPr>
        <p:txBody>
          <a:bodyPr wrap="square" lIns="0" tIns="0" rIns="0" bIns="0" rtlCol="0" anchor="t"/>
          <a:lstStyle/>
          <a:p>
            <a:pPr indent="0" marL="0">
              <a:buNone/>
            </a:pPr>
            <a:r>
              <a:rPr lang="en-US" sz="1000" dirty="0">
                <a:solidFill>
                  <a:srgbClr val="7A85A8"/>
                </a:solidFill>
                <a:latin typeface="Calibri" pitchFamily="34" charset="0"/>
                <a:ea typeface="Calibri" pitchFamily="34" charset="-122"/>
                <a:cs typeface="Calibri" pitchFamily="34" charset="-120"/>
              </a:rPr>
              <a:t>IMD station data 2000–2024 · ₹300 payout · 5-day annual cap · illustrative 60% loss ratio · final pricing subject to actuarial validation.</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7"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10" presetClass="entr" presetSubtype="0" fill="hold" grpId="0" nodeType="afterEffect">
                                  <p:stCondLst>
                                    <p:cond delay="5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700"/>
                                        <p:tgtEl>
                                          <p:spTgt spid="10"/>
                                        </p:tgtEl>
                                      </p:cBhvr>
                                    </p:animEffect>
                                  </p:childTnLst>
                                </p:cTn>
                              </p:par>
                            </p:childTnLst>
                          </p:cTn>
                        </p:par>
                        <p:par>
                          <p:cTn id="16" fill="hold">
                            <p:stCondLst>
                              <p:cond delay="1500"/>
                            </p:stCondLst>
                            <p:childTnLst>
                              <p:par>
                                <p:cTn id="17" presetID="10" presetClass="entr" presetSubtype="0" fill="hold" grpId="0" nodeType="afterEffect">
                                  <p:stCondLst>
                                    <p:cond delay="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1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childTnLst>
                          </p:cTn>
                        </p:par>
                        <p:par>
                          <p:cTn id="23" fill="hold">
                            <p:stCondLst>
                              <p:cond delay="2000"/>
                            </p:stCondLst>
                            <p:childTnLst>
                              <p:par>
                                <p:cTn id="24" presetID="42" presetClass="entr" presetSubtype="0" fill="hold" grpId="0" nodeType="afterEffect">
                                  <p:stCondLst>
                                    <p:cond delay="3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anim calcmode="lin" valueType="num">
                                      <p:cBhvr>
                                        <p:cTn id="27" dur="400" fill="hold"/>
                                        <p:tgtEl>
                                          <p:spTgt spid="9"/>
                                        </p:tgtEl>
                                        <p:attrNameLst>
                                          <p:attrName>ppt_x</p:attrName>
                                        </p:attrNameLst>
                                      </p:cBhvr>
                                      <p:tavLst>
                                        <p:tav tm="0">
                                          <p:val>
                                            <p:strVal val="#ppt_x"/>
                                          </p:val>
                                        </p:tav>
                                        <p:tav tm="100000">
                                          <p:val>
                                            <p:strVal val="#ppt_x"/>
                                          </p:val>
                                        </p:tav>
                                      </p:tavLst>
                                    </p:anim>
                                    <p:anim calcmode="lin" valueType="num">
                                      <p:cBhvr>
                                        <p:cTn id="28" dur="400" fill="hold"/>
                                        <p:tgtEl>
                                          <p:spTgt spid="9"/>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anim calcmode="lin" valueType="num">
                                      <p:cBhvr>
                                        <p:cTn id="32" dur="400" fill="hold"/>
                                        <p:tgtEl>
                                          <p:spTgt spid="10"/>
                                        </p:tgtEl>
                                        <p:attrNameLst>
                                          <p:attrName>ppt_x</p:attrName>
                                        </p:attrNameLst>
                                      </p:cBhvr>
                                      <p:tavLst>
                                        <p:tav tm="0">
                                          <p:val>
                                            <p:strVal val="#ppt_x"/>
                                          </p:val>
                                        </p:tav>
                                        <p:tav tm="100000">
                                          <p:val>
                                            <p:strVal val="#ppt_x"/>
                                          </p:val>
                                        </p:tav>
                                      </p:tavLst>
                                    </p:anim>
                                    <p:anim calcmode="lin" valueType="num">
                                      <p:cBhvr>
                                        <p:cTn id="33" dur="400" fill="hold"/>
                                        <p:tgtEl>
                                          <p:spTgt spid="10"/>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400"/>
                                        <p:tgtEl>
                                          <p:spTgt spid="11"/>
                                        </p:tgtEl>
                                      </p:cBhvr>
                                    </p:animEffect>
                                    <p:anim calcmode="lin" valueType="num">
                                      <p:cBhvr>
                                        <p:cTn id="37" dur="400" fill="hold"/>
                                        <p:tgtEl>
                                          <p:spTgt spid="11"/>
                                        </p:tgtEl>
                                        <p:attrNameLst>
                                          <p:attrName>ppt_x</p:attrName>
                                        </p:attrNameLst>
                                      </p:cBhvr>
                                      <p:tavLst>
                                        <p:tav tm="0">
                                          <p:val>
                                            <p:strVal val="#ppt_x"/>
                                          </p:val>
                                        </p:tav>
                                        <p:tav tm="100000">
                                          <p:val>
                                            <p:strVal val="#ppt_x"/>
                                          </p:val>
                                        </p:tav>
                                      </p:tavLst>
                                    </p:anim>
                                    <p:anim calcmode="lin" valueType="num">
                                      <p:cBhvr>
                                        <p:cTn id="38" dur="400" fill="hold"/>
                                        <p:tgtEl>
                                          <p:spTgt spid="11"/>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400"/>
                                        <p:tgtEl>
                                          <p:spTgt spid="12"/>
                                        </p:tgtEl>
                                      </p:cBhvr>
                                    </p:animEffect>
                                    <p:anim calcmode="lin" valueType="num">
                                      <p:cBhvr>
                                        <p:cTn id="42" dur="400" fill="hold"/>
                                        <p:tgtEl>
                                          <p:spTgt spid="12"/>
                                        </p:tgtEl>
                                        <p:attrNameLst>
                                          <p:attrName>ppt_x</p:attrName>
                                        </p:attrNameLst>
                                      </p:cBhvr>
                                      <p:tavLst>
                                        <p:tav tm="0">
                                          <p:val>
                                            <p:strVal val="#ppt_x"/>
                                          </p:val>
                                        </p:tav>
                                        <p:tav tm="100000">
                                          <p:val>
                                            <p:strVal val="#ppt_x"/>
                                          </p:val>
                                        </p:tav>
                                      </p:tavLst>
                                    </p:anim>
                                    <p:anim calcmode="lin" valueType="num">
                                      <p:cBhvr>
                                        <p:cTn id="43" dur="400" fill="hold"/>
                                        <p:tgtEl>
                                          <p:spTgt spid="12"/>
                                        </p:tgtEl>
                                        <p:attrNameLst>
                                          <p:attrName>ppt_y</p:attrName>
                                        </p:attrNameLst>
                                      </p:cBhvr>
                                      <p:tavLst>
                                        <p:tav tm="0">
                                          <p:val>
                                            <p:strVal val="#ppt_y+.06"/>
                                          </p:val>
                                        </p:tav>
                                        <p:tav tm="100000">
                                          <p:val>
                                            <p:strVal val="#ppt_y"/>
                                          </p:val>
                                        </p:tav>
                                      </p:tavLst>
                                    </p:anim>
                                  </p:childTnLst>
                                </p:cTn>
                              </p:par>
                            </p:childTnLst>
                          </p:cTn>
                        </p:par>
                        <p:par>
                          <p:cTn id="44" fill="hold">
                            <p:stCondLst>
                              <p:cond delay="2430"/>
                            </p:stCondLst>
                            <p:childTnLst>
                              <p:par>
                                <p:cTn id="45" presetID="42" presetClass="entr" presetSubtype="0" fill="hold" grpId="0" nodeType="afterEffect">
                                  <p:stCondLst>
                                    <p:cond delay="3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400"/>
                                        <p:tgtEl>
                                          <p:spTgt spid="13"/>
                                        </p:tgtEl>
                                      </p:cBhvr>
                                    </p:animEffect>
                                    <p:anim calcmode="lin" valueType="num">
                                      <p:cBhvr>
                                        <p:cTn id="48" dur="400" fill="hold"/>
                                        <p:tgtEl>
                                          <p:spTgt spid="13"/>
                                        </p:tgtEl>
                                        <p:attrNameLst>
                                          <p:attrName>ppt_x</p:attrName>
                                        </p:attrNameLst>
                                      </p:cBhvr>
                                      <p:tavLst>
                                        <p:tav tm="0">
                                          <p:val>
                                            <p:strVal val="#ppt_x"/>
                                          </p:val>
                                        </p:tav>
                                        <p:tav tm="100000">
                                          <p:val>
                                            <p:strVal val="#ppt_x"/>
                                          </p:val>
                                        </p:tav>
                                      </p:tavLst>
                                    </p:anim>
                                    <p:anim calcmode="lin" valueType="num">
                                      <p:cBhvr>
                                        <p:cTn id="49" dur="400" fill="hold"/>
                                        <p:tgtEl>
                                          <p:spTgt spid="13"/>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00"/>
                                        <p:tgtEl>
                                          <p:spTgt spid="14"/>
                                        </p:tgtEl>
                                      </p:cBhvr>
                                    </p:animEffect>
                                    <p:anim calcmode="lin" valueType="num">
                                      <p:cBhvr>
                                        <p:cTn id="53" dur="400" fill="hold"/>
                                        <p:tgtEl>
                                          <p:spTgt spid="14"/>
                                        </p:tgtEl>
                                        <p:attrNameLst>
                                          <p:attrName>ppt_x</p:attrName>
                                        </p:attrNameLst>
                                      </p:cBhvr>
                                      <p:tavLst>
                                        <p:tav tm="0">
                                          <p:val>
                                            <p:strVal val="#ppt_x"/>
                                          </p:val>
                                        </p:tav>
                                        <p:tav tm="100000">
                                          <p:val>
                                            <p:strVal val="#ppt_x"/>
                                          </p:val>
                                        </p:tav>
                                      </p:tavLst>
                                    </p:anim>
                                    <p:anim calcmode="lin" valueType="num">
                                      <p:cBhvr>
                                        <p:cTn id="54" dur="400" fill="hold"/>
                                        <p:tgtEl>
                                          <p:spTgt spid="14"/>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400"/>
                                        <p:tgtEl>
                                          <p:spTgt spid="15"/>
                                        </p:tgtEl>
                                      </p:cBhvr>
                                    </p:animEffect>
                                    <p:anim calcmode="lin" valueType="num">
                                      <p:cBhvr>
                                        <p:cTn id="58" dur="400" fill="hold"/>
                                        <p:tgtEl>
                                          <p:spTgt spid="15"/>
                                        </p:tgtEl>
                                        <p:attrNameLst>
                                          <p:attrName>ppt_x</p:attrName>
                                        </p:attrNameLst>
                                      </p:cBhvr>
                                      <p:tavLst>
                                        <p:tav tm="0">
                                          <p:val>
                                            <p:strVal val="#ppt_x"/>
                                          </p:val>
                                        </p:tav>
                                        <p:tav tm="100000">
                                          <p:val>
                                            <p:strVal val="#ppt_x"/>
                                          </p:val>
                                        </p:tav>
                                      </p:tavLst>
                                    </p:anim>
                                    <p:anim calcmode="lin" valueType="num">
                                      <p:cBhvr>
                                        <p:cTn id="59" dur="400" fill="hold"/>
                                        <p:tgtEl>
                                          <p:spTgt spid="15"/>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400"/>
                                        <p:tgtEl>
                                          <p:spTgt spid="16"/>
                                        </p:tgtEl>
                                      </p:cBhvr>
                                    </p:animEffect>
                                    <p:anim calcmode="lin" valueType="num">
                                      <p:cBhvr>
                                        <p:cTn id="63" dur="400" fill="hold"/>
                                        <p:tgtEl>
                                          <p:spTgt spid="16"/>
                                        </p:tgtEl>
                                        <p:attrNameLst>
                                          <p:attrName>ppt_x</p:attrName>
                                        </p:attrNameLst>
                                      </p:cBhvr>
                                      <p:tavLst>
                                        <p:tav tm="0">
                                          <p:val>
                                            <p:strVal val="#ppt_x"/>
                                          </p:val>
                                        </p:tav>
                                        <p:tav tm="100000">
                                          <p:val>
                                            <p:strVal val="#ppt_x"/>
                                          </p:val>
                                        </p:tav>
                                      </p:tavLst>
                                    </p:anim>
                                    <p:anim calcmode="lin" valueType="num">
                                      <p:cBhvr>
                                        <p:cTn id="64" dur="400" fill="hold"/>
                                        <p:tgtEl>
                                          <p:spTgt spid="16"/>
                                        </p:tgtEl>
                                        <p:attrNameLst>
                                          <p:attrName>ppt_y</p:attrName>
                                        </p:attrNameLst>
                                      </p:cBhvr>
                                      <p:tavLst>
                                        <p:tav tm="0">
                                          <p:val>
                                            <p:strVal val="#ppt_y+.06"/>
                                          </p:val>
                                        </p:tav>
                                        <p:tav tm="100000">
                                          <p:val>
                                            <p:strVal val="#ppt_y"/>
                                          </p:val>
                                        </p:tav>
                                      </p:tavLst>
                                    </p:anim>
                                  </p:childTnLst>
                                </p:cTn>
                              </p:par>
                            </p:childTnLst>
                          </p:cTn>
                        </p:par>
                        <p:par>
                          <p:cTn id="65" fill="hold">
                            <p:stCondLst>
                              <p:cond delay="2860"/>
                            </p:stCondLst>
                            <p:childTnLst>
                              <p:par>
                                <p:cTn id="66" presetID="42" presetClass="entr" presetSubtype="0" fill="hold" grpId="0" nodeType="afterEffect">
                                  <p:stCondLst>
                                    <p:cond delay="3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400"/>
                                        <p:tgtEl>
                                          <p:spTgt spid="17"/>
                                        </p:tgtEl>
                                      </p:cBhvr>
                                    </p:animEffect>
                                    <p:anim calcmode="lin" valueType="num">
                                      <p:cBhvr>
                                        <p:cTn id="69" dur="400" fill="hold"/>
                                        <p:tgtEl>
                                          <p:spTgt spid="17"/>
                                        </p:tgtEl>
                                        <p:attrNameLst>
                                          <p:attrName>ppt_x</p:attrName>
                                        </p:attrNameLst>
                                      </p:cBhvr>
                                      <p:tavLst>
                                        <p:tav tm="0">
                                          <p:val>
                                            <p:strVal val="#ppt_x"/>
                                          </p:val>
                                        </p:tav>
                                        <p:tav tm="100000">
                                          <p:val>
                                            <p:strVal val="#ppt_x"/>
                                          </p:val>
                                        </p:tav>
                                      </p:tavLst>
                                    </p:anim>
                                    <p:anim calcmode="lin" valueType="num">
                                      <p:cBhvr>
                                        <p:cTn id="70" dur="400" fill="hold"/>
                                        <p:tgtEl>
                                          <p:spTgt spid="17"/>
                                        </p:tgtEl>
                                        <p:attrNameLst>
                                          <p:attrName>ppt_y</p:attrName>
                                        </p:attrNameLst>
                                      </p:cBhvr>
                                      <p:tavLst>
                                        <p:tav tm="0">
                                          <p:val>
                                            <p:strVal val="#ppt_y+.06"/>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400"/>
                                        <p:tgtEl>
                                          <p:spTgt spid="18"/>
                                        </p:tgtEl>
                                      </p:cBhvr>
                                    </p:animEffect>
                                    <p:anim calcmode="lin" valueType="num">
                                      <p:cBhvr>
                                        <p:cTn id="74" dur="400" fill="hold"/>
                                        <p:tgtEl>
                                          <p:spTgt spid="18"/>
                                        </p:tgtEl>
                                        <p:attrNameLst>
                                          <p:attrName>ppt_x</p:attrName>
                                        </p:attrNameLst>
                                      </p:cBhvr>
                                      <p:tavLst>
                                        <p:tav tm="0">
                                          <p:val>
                                            <p:strVal val="#ppt_x"/>
                                          </p:val>
                                        </p:tav>
                                        <p:tav tm="100000">
                                          <p:val>
                                            <p:strVal val="#ppt_x"/>
                                          </p:val>
                                        </p:tav>
                                      </p:tavLst>
                                    </p:anim>
                                    <p:anim calcmode="lin" valueType="num">
                                      <p:cBhvr>
                                        <p:cTn id="75" dur="400" fill="hold"/>
                                        <p:tgtEl>
                                          <p:spTgt spid="18"/>
                                        </p:tgtEl>
                                        <p:attrNameLst>
                                          <p:attrName>ppt_y</p:attrName>
                                        </p:attrNameLst>
                                      </p:cBhvr>
                                      <p:tavLst>
                                        <p:tav tm="0">
                                          <p:val>
                                            <p:strVal val="#ppt_y+.06"/>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400"/>
                                        <p:tgtEl>
                                          <p:spTgt spid="19"/>
                                        </p:tgtEl>
                                      </p:cBhvr>
                                    </p:animEffect>
                                    <p:anim calcmode="lin" valueType="num">
                                      <p:cBhvr>
                                        <p:cTn id="79" dur="400" fill="hold"/>
                                        <p:tgtEl>
                                          <p:spTgt spid="19"/>
                                        </p:tgtEl>
                                        <p:attrNameLst>
                                          <p:attrName>ppt_x</p:attrName>
                                        </p:attrNameLst>
                                      </p:cBhvr>
                                      <p:tavLst>
                                        <p:tav tm="0">
                                          <p:val>
                                            <p:strVal val="#ppt_x"/>
                                          </p:val>
                                        </p:tav>
                                        <p:tav tm="100000">
                                          <p:val>
                                            <p:strVal val="#ppt_x"/>
                                          </p:val>
                                        </p:tav>
                                      </p:tavLst>
                                    </p:anim>
                                    <p:anim calcmode="lin" valueType="num">
                                      <p:cBhvr>
                                        <p:cTn id="80" dur="400" fill="hold"/>
                                        <p:tgtEl>
                                          <p:spTgt spid="19"/>
                                        </p:tgtEl>
                                        <p:attrNameLst>
                                          <p:attrName>ppt_y</p:attrName>
                                        </p:attrNameLst>
                                      </p:cBhvr>
                                      <p:tavLst>
                                        <p:tav tm="0">
                                          <p:val>
                                            <p:strVal val="#ppt_y+.06"/>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400"/>
                                        <p:tgtEl>
                                          <p:spTgt spid="20"/>
                                        </p:tgtEl>
                                      </p:cBhvr>
                                    </p:animEffect>
                                    <p:anim calcmode="lin" valueType="num">
                                      <p:cBhvr>
                                        <p:cTn id="84" dur="400" fill="hold"/>
                                        <p:tgtEl>
                                          <p:spTgt spid="20"/>
                                        </p:tgtEl>
                                        <p:attrNameLst>
                                          <p:attrName>ppt_x</p:attrName>
                                        </p:attrNameLst>
                                      </p:cBhvr>
                                      <p:tavLst>
                                        <p:tav tm="0">
                                          <p:val>
                                            <p:strVal val="#ppt_x"/>
                                          </p:val>
                                        </p:tav>
                                        <p:tav tm="100000">
                                          <p:val>
                                            <p:strVal val="#ppt_x"/>
                                          </p:val>
                                        </p:tav>
                                      </p:tavLst>
                                    </p:anim>
                                    <p:anim calcmode="lin" valueType="num">
                                      <p:cBhvr>
                                        <p:cTn id="85" dur="400" fill="hold"/>
                                        <p:tgtEl>
                                          <p:spTgt spid="20"/>
                                        </p:tgtEl>
                                        <p:attrNameLst>
                                          <p:attrName>ppt_y</p:attrName>
                                        </p:attrNameLst>
                                      </p:cBhvr>
                                      <p:tavLst>
                                        <p:tav tm="0">
                                          <p:val>
                                            <p:strVal val="#ppt_y+.06"/>
                                          </p:val>
                                        </p:tav>
                                        <p:tav tm="100000">
                                          <p:val>
                                            <p:strVal val="#ppt_y"/>
                                          </p:val>
                                        </p:tav>
                                      </p:tavLst>
                                    </p:anim>
                                  </p:childTnLst>
                                </p:cTn>
                              </p:par>
                            </p:childTnLst>
                          </p:cTn>
                        </p:par>
                        <p:par>
                          <p:cTn id="86" fill="hold">
                            <p:stCondLst>
                              <p:cond delay="3290"/>
                            </p:stCondLst>
                            <p:childTnLst>
                              <p:par>
                                <p:cTn id="87" presetID="10" presetClass="entr" presetSubtype="0" fill="hold" grpId="0" nodeType="afterEffect">
                                  <p:stCondLst>
                                    <p:cond delay="0"/>
                                  </p:stCondLst>
                                  <p:childTnLst>
                                    <p:set>
                                      <p:cBhvr>
                                        <p:cTn id="88" dur="1" fill="hold">
                                          <p:stCondLst>
                                            <p:cond delay="0"/>
                                          </p:stCondLst>
                                        </p:cTn>
                                        <p:tgtEl>
                                          <p:spTgt spid="21"/>
                                        </p:tgtEl>
                                        <p:attrNameLst>
                                          <p:attrName>style.visibility</p:attrName>
                                        </p:attrNameLst>
                                      </p:cBhvr>
                                      <p:to>
                                        <p:strVal val="visible"/>
                                      </p:to>
                                    </p:set>
                                    <p:animEffect transition="in" filter="fade">
                                      <p:cBhvr>
                                        <p:cTn id="89" dur="400"/>
                                        <p:tgtEl>
                                          <p:spTgt spid="21"/>
                                        </p:tgtEl>
                                      </p:cBhvr>
                                    </p:animEffect>
                                  </p:childTnLst>
                                </p:cTn>
                              </p:par>
                            </p:childTnLst>
                          </p:cTn>
                        </p:par>
                        <p:par>
                          <p:cTn id="90" fill="hold">
                            <p:stCondLst>
                              <p:cond delay="3690"/>
                            </p:stCondLst>
                            <p:childTnLst>
                              <p:par>
                                <p:cTn id="91" presetID="10" presetClass="entr" presetSubtype="0" fill="hold" grpId="0" nodeType="afterEffect">
                                  <p:stCondLst>
                                    <p:cond delay="12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500"/>
                                        <p:tgtEl>
                                          <p:spTgt spid="2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Graphic spid="10" grpId="0">
        <p:bldAsOne/>
      </p:bldGraphic>
      <p:bldP spid="7" grpId="0"/>
      <p:bldP spid="8" grpId="0"/>
      <p:bldP spid="9" grpId="0" animBg="1"/>
      <p:bldP spid="11" grpId="0"/>
      <p:bldP spid="12" grpId="0"/>
      <p:bldP spid="13" grpId="0" animBg="1"/>
      <p:bldP spid="15" grpId="0"/>
      <p:bldP spid="16" grpId="0"/>
      <p:bldP spid="17" grpId="0" animBg="1"/>
      <p:bldP spid="19" grpId="0"/>
      <p:bldP spid="20" grpId="0"/>
      <p:bldP spid="21" grpId="0"/>
      <p:bldP spid="22" grpId="0"/>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ASK</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Don’t believe us. Test it in 90 days</a:t>
            </a:r>
            <a:endParaRPr lang="en-US" sz="3200" dirty="0"/>
          </a:p>
        </p:txBody>
      </p:sp>
      <p:sp>
        <p:nvSpPr>
          <p:cNvPr id="6" name="pr0"/>
          <p:cNvSpPr/>
          <p:nvPr/>
        </p:nvSpPr>
        <p:spPr>
          <a:xfrm>
            <a:off x="548640" y="2011680"/>
            <a:ext cx="6537960" cy="960120"/>
          </a:xfrm>
          <a:prstGeom prst="roundRect">
            <a:avLst>
              <a:gd name="adj" fmla="val 11429"/>
            </a:avLst>
          </a:prstGeom>
          <a:solidFill>
            <a:srgbClr val="1C2447"/>
          </a:solidFill>
          <a:ln w="15875">
            <a:solidFill>
              <a:srgbClr val="F5A623"/>
            </a:solidFill>
            <a:prstDash val="solid"/>
          </a:ln>
        </p:spPr>
      </p:sp>
      <p:sp>
        <p:nvSpPr>
          <p:cNvPr id="7" name="prH0"/>
          <p:cNvSpPr txBox="1"/>
          <p:nvPr/>
        </p:nvSpPr>
        <p:spPr>
          <a:xfrm>
            <a:off x="749808" y="2139696"/>
            <a:ext cx="1417320" cy="731520"/>
          </a:xfrm>
          <a:prstGeom prst="rect">
            <a:avLst/>
          </a:prstGeom>
          <a:noFill/>
          <a:ln/>
        </p:spPr>
        <p:txBody>
          <a:bodyPr wrap="square" lIns="0" tIns="0" rIns="0" bIns="0" rtlCol="0" anchor="t"/>
          <a:lstStyle/>
          <a:p>
            <a:pPr indent="0" marL="0">
              <a:buNone/>
            </a:pPr>
            <a:r>
              <a:rPr lang="en-US" sz="1050" b="1" spc="200" kern="0" dirty="0">
                <a:solidFill>
                  <a:srgbClr val="98A2C0"/>
                </a:solidFill>
                <a:latin typeface="Calibri" pitchFamily="34" charset="0"/>
                <a:ea typeface="Calibri" pitchFamily="34" charset="-122"/>
                <a:cs typeface="Calibri" pitchFamily="34" charset="-120"/>
              </a:rPr>
              <a:t>DAYS 1–30</a:t>
            </a:r>
            <a:endParaRPr lang="en-US" sz="1050" dirty="0"/>
          </a:p>
          <a:p>
            <a:pPr indent="0" marL="0">
              <a:buNone/>
            </a:pPr>
            <a:r>
              <a:rPr lang="en-US" sz="1700" b="1" dirty="0">
                <a:solidFill>
                  <a:srgbClr val="FFFFFF"/>
                </a:solidFill>
                <a:latin typeface="Cambria" pitchFamily="34" charset="0"/>
                <a:ea typeface="Cambria" pitchFamily="34" charset="-122"/>
                <a:cs typeface="Cambria" pitchFamily="34" charset="-120"/>
              </a:rPr>
              <a:t>Coverage</a:t>
            </a:r>
            <a:endParaRPr lang="en-US" sz="1050" dirty="0"/>
          </a:p>
        </p:txBody>
      </p:sp>
      <p:sp>
        <p:nvSpPr>
          <p:cNvPr id="8" name="prT0"/>
          <p:cNvSpPr txBox="1"/>
          <p:nvPr/>
        </p:nvSpPr>
        <p:spPr>
          <a:xfrm>
            <a:off x="2240280" y="2084832"/>
            <a:ext cx="3108960" cy="822960"/>
          </a:xfrm>
          <a:prstGeom prst="rect">
            <a:avLst/>
          </a:prstGeom>
          <a:noFill/>
          <a:ln/>
        </p:spPr>
        <p:txBody>
          <a:bodyPr wrap="square" lIns="0" tIns="0" rIns="0" bIns="0" rtlCol="0" anchor="ctr"/>
          <a:lstStyle/>
          <a:p>
            <a:pPr indent="0" marL="0">
              <a:buNone/>
            </a:pPr>
            <a:r>
              <a:rPr lang="en-US" sz="1250" dirty="0">
                <a:solidFill>
                  <a:srgbClr val="B9C2D8"/>
                </a:solidFill>
                <a:latin typeface="Calibri" pitchFamily="34" charset="0"/>
                <a:ea typeface="Calibri" pitchFamily="34" charset="-122"/>
                <a:cs typeface="Calibri" pitchFamily="34" charset="-120"/>
              </a:rPr>
              <a:t>Audit Jio’s Mumbai microwave links: frequency, path geometry, telemetry availability.</a:t>
            </a:r>
            <a:endParaRPr lang="en-US" sz="1250" dirty="0"/>
          </a:p>
        </p:txBody>
      </p:sp>
      <p:sp>
        <p:nvSpPr>
          <p:cNvPr id="9" name="prG0"/>
          <p:cNvSpPr/>
          <p:nvPr/>
        </p:nvSpPr>
        <p:spPr>
          <a:xfrm>
            <a:off x="5440680" y="2176272"/>
            <a:ext cx="1508760" cy="640080"/>
          </a:xfrm>
          <a:prstGeom prst="roundRect">
            <a:avLst>
              <a:gd name="adj" fmla="val 14286"/>
            </a:avLst>
          </a:prstGeom>
          <a:solidFill>
            <a:srgbClr val="2B2208"/>
          </a:solidFill>
          <a:ln w="9525">
            <a:solidFill>
              <a:srgbClr val="F5A623"/>
            </a:solidFill>
            <a:prstDash val="solid"/>
          </a:ln>
        </p:spPr>
      </p:sp>
      <p:sp>
        <p:nvSpPr>
          <p:cNvPr id="10" name="prGT0"/>
          <p:cNvSpPr txBox="1"/>
          <p:nvPr/>
        </p:nvSpPr>
        <p:spPr>
          <a:xfrm>
            <a:off x="5504688" y="2176272"/>
            <a:ext cx="1380744" cy="640080"/>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Gate 1 · enough usable links?</a:t>
            </a:r>
            <a:endParaRPr lang="en-US" sz="1050" dirty="0"/>
          </a:p>
        </p:txBody>
      </p:sp>
      <p:sp>
        <p:nvSpPr>
          <p:cNvPr id="11" name="pr1"/>
          <p:cNvSpPr/>
          <p:nvPr/>
        </p:nvSpPr>
        <p:spPr>
          <a:xfrm>
            <a:off x="548640" y="3090672"/>
            <a:ext cx="6537960" cy="960120"/>
          </a:xfrm>
          <a:prstGeom prst="roundRect">
            <a:avLst>
              <a:gd name="adj" fmla="val 11429"/>
            </a:avLst>
          </a:prstGeom>
          <a:solidFill>
            <a:srgbClr val="141B36"/>
          </a:solidFill>
          <a:ln w="9525">
            <a:solidFill>
              <a:srgbClr val="2A3357"/>
            </a:solidFill>
            <a:prstDash val="solid"/>
          </a:ln>
        </p:spPr>
      </p:sp>
      <p:sp>
        <p:nvSpPr>
          <p:cNvPr id="12" name="prH1"/>
          <p:cNvSpPr txBox="1"/>
          <p:nvPr/>
        </p:nvSpPr>
        <p:spPr>
          <a:xfrm>
            <a:off x="749808" y="3218688"/>
            <a:ext cx="1417320" cy="731520"/>
          </a:xfrm>
          <a:prstGeom prst="rect">
            <a:avLst/>
          </a:prstGeom>
          <a:noFill/>
          <a:ln/>
        </p:spPr>
        <p:txBody>
          <a:bodyPr wrap="square" lIns="0" tIns="0" rIns="0" bIns="0" rtlCol="0" anchor="t"/>
          <a:lstStyle/>
          <a:p>
            <a:pPr indent="0" marL="0">
              <a:buNone/>
            </a:pPr>
            <a:r>
              <a:rPr lang="en-US" sz="1050" b="1" spc="200" kern="0" dirty="0">
                <a:solidFill>
                  <a:srgbClr val="98A2C0"/>
                </a:solidFill>
                <a:latin typeface="Calibri" pitchFamily="34" charset="0"/>
                <a:ea typeface="Calibri" pitchFamily="34" charset="-122"/>
                <a:cs typeface="Calibri" pitchFamily="34" charset="-120"/>
              </a:rPr>
              <a:t>DAYS 31–60</a:t>
            </a:r>
            <a:endParaRPr lang="en-US" sz="1050" dirty="0"/>
          </a:p>
          <a:p>
            <a:pPr indent="0" marL="0">
              <a:buNone/>
            </a:pPr>
            <a:r>
              <a:rPr lang="en-US" sz="1700" b="1" dirty="0">
                <a:solidFill>
                  <a:srgbClr val="FFFFFF"/>
                </a:solidFill>
                <a:latin typeface="Cambria" pitchFamily="34" charset="0"/>
                <a:ea typeface="Cambria" pitchFamily="34" charset="-122"/>
                <a:cs typeface="Cambria" pitchFamily="34" charset="-120"/>
              </a:rPr>
              <a:t>Accuracy</a:t>
            </a:r>
            <a:endParaRPr lang="en-US" sz="1050" dirty="0"/>
          </a:p>
        </p:txBody>
      </p:sp>
      <p:sp>
        <p:nvSpPr>
          <p:cNvPr id="13" name="prT1"/>
          <p:cNvSpPr txBox="1"/>
          <p:nvPr/>
        </p:nvSpPr>
        <p:spPr>
          <a:xfrm>
            <a:off x="2240280" y="3163824"/>
            <a:ext cx="3108960" cy="822960"/>
          </a:xfrm>
          <a:prstGeom prst="rect">
            <a:avLst/>
          </a:prstGeom>
          <a:noFill/>
          <a:ln/>
        </p:spPr>
        <p:txBody>
          <a:bodyPr wrap="square" lIns="0" tIns="0" rIns="0" bIns="0" rtlCol="0" anchor="ctr"/>
          <a:lstStyle/>
          <a:p>
            <a:pPr indent="0" marL="0">
              <a:buNone/>
            </a:pPr>
            <a:r>
              <a:rPr lang="en-US" sz="1250" dirty="0">
                <a:solidFill>
                  <a:srgbClr val="B9C2D8"/>
                </a:solidFill>
                <a:latin typeface="Calibri" pitchFamily="34" charset="0"/>
                <a:ea typeface="Calibri" pitchFamily="34" charset="-122"/>
                <a:cs typeface="Calibri" pitchFamily="34" charset="-120"/>
              </a:rPr>
              <a:t>Back-test archived Mumbai monsoon data; score every source mix against IMD radar and gauges.</a:t>
            </a:r>
            <a:endParaRPr lang="en-US" sz="1250" dirty="0"/>
          </a:p>
        </p:txBody>
      </p:sp>
      <p:sp>
        <p:nvSpPr>
          <p:cNvPr id="14" name="prG1"/>
          <p:cNvSpPr/>
          <p:nvPr/>
        </p:nvSpPr>
        <p:spPr>
          <a:xfrm>
            <a:off x="5440680" y="3255264"/>
            <a:ext cx="1508760" cy="640080"/>
          </a:xfrm>
          <a:prstGeom prst="roundRect">
            <a:avLst>
              <a:gd name="adj" fmla="val 14286"/>
            </a:avLst>
          </a:prstGeom>
          <a:solidFill>
            <a:srgbClr val="2B2208"/>
          </a:solidFill>
          <a:ln w="9525">
            <a:solidFill>
              <a:srgbClr val="F5A623"/>
            </a:solidFill>
            <a:prstDash val="solid"/>
          </a:ln>
        </p:spPr>
      </p:sp>
      <p:sp>
        <p:nvSpPr>
          <p:cNvPr id="15" name="prGT1"/>
          <p:cNvSpPr txBox="1"/>
          <p:nvPr/>
        </p:nvSpPr>
        <p:spPr>
          <a:xfrm>
            <a:off x="5504688" y="3255264"/>
            <a:ext cx="1380744" cy="640080"/>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Gate 2 · ≥80% of events, ±10% totals</a:t>
            </a:r>
            <a:endParaRPr lang="en-US" sz="1050" dirty="0"/>
          </a:p>
        </p:txBody>
      </p:sp>
      <p:sp>
        <p:nvSpPr>
          <p:cNvPr id="16" name="pr2"/>
          <p:cNvSpPr/>
          <p:nvPr/>
        </p:nvSpPr>
        <p:spPr>
          <a:xfrm>
            <a:off x="548640" y="4169664"/>
            <a:ext cx="6537960" cy="960120"/>
          </a:xfrm>
          <a:prstGeom prst="roundRect">
            <a:avLst>
              <a:gd name="adj" fmla="val 11429"/>
            </a:avLst>
          </a:prstGeom>
          <a:solidFill>
            <a:srgbClr val="141B36"/>
          </a:solidFill>
          <a:ln w="9525">
            <a:solidFill>
              <a:srgbClr val="2A3357"/>
            </a:solidFill>
            <a:prstDash val="solid"/>
          </a:ln>
        </p:spPr>
      </p:sp>
      <p:sp>
        <p:nvSpPr>
          <p:cNvPr id="17" name="prH2"/>
          <p:cNvSpPr txBox="1"/>
          <p:nvPr/>
        </p:nvSpPr>
        <p:spPr>
          <a:xfrm>
            <a:off x="749808" y="4297680"/>
            <a:ext cx="1417320" cy="731520"/>
          </a:xfrm>
          <a:prstGeom prst="rect">
            <a:avLst/>
          </a:prstGeom>
          <a:noFill/>
          <a:ln/>
        </p:spPr>
        <p:txBody>
          <a:bodyPr wrap="square" lIns="0" tIns="0" rIns="0" bIns="0" rtlCol="0" anchor="t"/>
          <a:lstStyle/>
          <a:p>
            <a:pPr indent="0" marL="0">
              <a:buNone/>
            </a:pPr>
            <a:r>
              <a:rPr lang="en-US" sz="1050" b="1" spc="200" kern="0" dirty="0">
                <a:solidFill>
                  <a:srgbClr val="98A2C0"/>
                </a:solidFill>
                <a:latin typeface="Calibri" pitchFamily="34" charset="0"/>
                <a:ea typeface="Calibri" pitchFamily="34" charset="-122"/>
                <a:cs typeface="Calibri" pitchFamily="34" charset="-120"/>
              </a:rPr>
              <a:t>DAYS 61–90</a:t>
            </a:r>
            <a:endParaRPr lang="en-US" sz="1050" dirty="0"/>
          </a:p>
          <a:p>
            <a:pPr indent="0" marL="0">
              <a:buNone/>
            </a:pPr>
            <a:r>
              <a:rPr lang="en-US" sz="1700" b="1" dirty="0">
                <a:solidFill>
                  <a:srgbClr val="FFFFFF"/>
                </a:solidFill>
                <a:latin typeface="Cambria" pitchFamily="34" charset="0"/>
                <a:ea typeface="Cambria" pitchFamily="34" charset="-122"/>
                <a:cs typeface="Cambria" pitchFamily="34" charset="-120"/>
              </a:rPr>
              <a:t>Business value</a:t>
            </a:r>
            <a:endParaRPr lang="en-US" sz="1050" dirty="0"/>
          </a:p>
        </p:txBody>
      </p:sp>
      <p:sp>
        <p:nvSpPr>
          <p:cNvPr id="18" name="prT2"/>
          <p:cNvSpPr txBox="1"/>
          <p:nvPr/>
        </p:nvSpPr>
        <p:spPr>
          <a:xfrm>
            <a:off x="2240280" y="4242816"/>
            <a:ext cx="3108960" cy="822960"/>
          </a:xfrm>
          <a:prstGeom prst="rect">
            <a:avLst/>
          </a:prstGeom>
          <a:noFill/>
          <a:ln/>
        </p:spPr>
        <p:txBody>
          <a:bodyPr wrap="square" lIns="0" tIns="0" rIns="0" bIns="0" rtlCol="0" anchor="ctr"/>
          <a:lstStyle/>
          <a:p>
            <a:pPr indent="0" marL="0">
              <a:buNone/>
            </a:pPr>
            <a:r>
              <a:rPr lang="en-US" sz="1250" dirty="0">
                <a:solidFill>
                  <a:srgbClr val="B9C2D8"/>
                </a:solidFill>
                <a:latin typeface="Calibri" pitchFamily="34" charset="0"/>
                <a:ea typeface="Calibri" pitchFamily="34" charset="-122"/>
                <a:cs typeface="Calibri" pitchFamily="34" charset="-120"/>
              </a:rPr>
              <a:t>Live test with one Reliance operation in a NE-monsoon city with enough coverage. Shadow Kavach: no money moves.</a:t>
            </a:r>
            <a:endParaRPr lang="en-US" sz="1250" dirty="0"/>
          </a:p>
        </p:txBody>
      </p:sp>
      <p:sp>
        <p:nvSpPr>
          <p:cNvPr id="19" name="prG2"/>
          <p:cNvSpPr/>
          <p:nvPr/>
        </p:nvSpPr>
        <p:spPr>
          <a:xfrm>
            <a:off x="5440680" y="4334256"/>
            <a:ext cx="1508760" cy="640080"/>
          </a:xfrm>
          <a:prstGeom prst="roundRect">
            <a:avLst>
              <a:gd name="adj" fmla="val 14286"/>
            </a:avLst>
          </a:prstGeom>
          <a:solidFill>
            <a:srgbClr val="2B2208"/>
          </a:solidFill>
          <a:ln w="9525">
            <a:solidFill>
              <a:srgbClr val="F5A623"/>
            </a:solidFill>
            <a:prstDash val="solid"/>
          </a:ln>
        </p:spPr>
      </p:sp>
      <p:sp>
        <p:nvSpPr>
          <p:cNvPr id="20" name="prGT2"/>
          <p:cNvSpPr txBox="1"/>
          <p:nvPr/>
        </p:nvSpPr>
        <p:spPr>
          <a:xfrm>
            <a:off x="5504688" y="4334256"/>
            <a:ext cx="1380744" cy="640080"/>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Measure · disruptions, incentives, rider availability</a:t>
            </a:r>
            <a:endParaRPr lang="en-US" sz="1050" dirty="0"/>
          </a:p>
        </p:txBody>
      </p:sp>
      <p:sp>
        <p:nvSpPr>
          <p:cNvPr id="21" name="rmK"/>
          <p:cNvSpPr txBox="1"/>
          <p:nvPr/>
        </p:nvSpPr>
        <p:spPr>
          <a:xfrm>
            <a:off x="7360920" y="2011680"/>
            <a:ext cx="4279392" cy="27432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ROADMAP</a:t>
            </a:r>
            <a:endParaRPr lang="en-US" sz="1100" dirty="0"/>
          </a:p>
        </p:txBody>
      </p:sp>
      <p:graphicFrame>
        <p:nvGraphicFramePr>
          <p:cNvPr id="11" name="rmTable"/>
          <p:cNvGraphicFramePr>
            <a:graphicFrameLocks noGrp="1"/>
          </p:cNvGraphicFramePr>
          <p:nvPr>
            <p:extLst>
              <p:ext uri="{D42A27DB-BD31-4B8C-83A1-F6EECF244321}">
                <p14:modId xmlns:p14="http://schemas.microsoft.com/office/powerpoint/2010/main" val="1579011935"/>
              </p:ext>
            </p:extLst>
          </p:nvPr>
        </p:nvGraphicFramePr>
        <p:xfrm>
          <a:off x="7360920" y="2331720"/>
          <a:ext cx="4279392" cy="914400"/>
        </p:xfrm>
        <a:graphic>
          <a:graphicData uri="http://schemas.openxmlformats.org/drawingml/2006/table">
            <a:tbl>
              <a:tblPr/>
              <a:tblGrid>
                <a:gridCol w="731520"/>
                <a:gridCol w="1874520"/>
                <a:gridCol w="1673352"/>
              </a:tblGrid>
              <a:tr h="512064">
                <a:tc>
                  <a:txBody>
                    <a:bodyPr/>
                    <a:lstStyle/>
                    <a:p>
                      <a:pPr indent="0" marL="0">
                        <a:buNone/>
                      </a:pPr>
                      <a:endParaRPr lang="en-US" sz="11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Intelligence (core)</a:t>
                      </a:r>
                      <a:endParaRPr lang="en-US" sz="11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Kavach (optional)</a:t>
                      </a:r>
                      <a:endParaRPr lang="en-US" sz="11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r>
              <a:tr h="512064">
                <a:tc>
                  <a:txBody>
                    <a:bodyPr/>
                    <a:lstStyle/>
                    <a:p>
                      <a:pPr indent="0" marL="0">
                        <a:buNone/>
                      </a:pPr>
                      <a:r>
                        <a:rPr lang="en-US" sz="1200" b="1" dirty="0">
                          <a:solidFill>
                            <a:srgbClr val="98A2C0"/>
                          </a:solidFill>
                          <a:latin typeface="Calibri" pitchFamily="34" charset="0"/>
                          <a:ea typeface="Calibri" pitchFamily="34" charset="-122"/>
                          <a:cs typeface="Calibri" pitchFamily="34" charset="-120"/>
                        </a:rPr>
                        <a:t>0–3 m</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Coverage + back-test (Mumbai)</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c>
                  <a:txBody>
                    <a:bodyPr/>
                    <a:lstStyle/>
                    <a:p>
                      <a:pPr indent="0" marL="0">
                        <a:buNone/>
                      </a:pPr>
                      <a:r>
                        <a:rPr lang="en-US" sz="1200" dirty="0">
                          <a:solidFill>
                            <a:srgbClr val="EEF1F7"/>
                          </a:solidFill>
                          <a:latin typeface="Calibri" pitchFamily="34" charset="0"/>
                          <a:ea typeface="Calibri" pitchFamily="34" charset="-122"/>
                          <a:cs typeface="Calibri" pitchFamily="34" charset="-120"/>
                        </a:rPr>
                        <a:t>Shadow payouts</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r>
              <a:tr h="512064">
                <a:tc>
                  <a:txBody>
                    <a:bodyPr/>
                    <a:lstStyle/>
                    <a:p>
                      <a:pPr indent="0" marL="0">
                        <a:buNone/>
                      </a:pPr>
                      <a:r>
                        <a:rPr lang="en-US" sz="1200" b="1" dirty="0">
                          <a:solidFill>
                            <a:srgbClr val="98A2C0"/>
                          </a:solidFill>
                          <a:latin typeface="Calibri" pitchFamily="34" charset="0"/>
                          <a:ea typeface="Calibri" pitchFamily="34" charset="-122"/>
                          <a:cs typeface="Calibri" pitchFamily="34" charset="-120"/>
                        </a:rPr>
                        <a:t>4–12 m</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Reliance live + first clients</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200" dirty="0">
                          <a:solidFill>
                            <a:srgbClr val="EEF1F7"/>
                          </a:solidFill>
                          <a:latin typeface="Calibri" pitchFamily="34" charset="0"/>
                          <a:ea typeface="Calibri" pitchFamily="34" charset="-122"/>
                          <a:cs typeface="Calibri" pitchFamily="34" charset="-120"/>
                        </a:rPr>
                        <a:t>Sandbox + heat</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r>
              <a:tr h="512064">
                <a:tc>
                  <a:txBody>
                    <a:bodyPr/>
                    <a:lstStyle/>
                    <a:p>
                      <a:pPr indent="0" marL="0">
                        <a:buNone/>
                      </a:pPr>
                      <a:r>
                        <a:rPr lang="en-US" sz="1200" b="1" dirty="0">
                          <a:solidFill>
                            <a:srgbClr val="98A2C0"/>
                          </a:solidFill>
                          <a:latin typeface="Calibri" pitchFamily="34" charset="0"/>
                          <a:ea typeface="Calibri" pitchFamily="34" charset="-122"/>
                          <a:cs typeface="Calibri" pitchFamily="34" charset="-120"/>
                        </a:rPr>
                        <a:t>Year 2</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Cities + enterprises</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c>
                  <a:txBody>
                    <a:bodyPr/>
                    <a:lstStyle/>
                    <a:p>
                      <a:pPr indent="0" marL="0">
                        <a:buNone/>
                      </a:pPr>
                      <a:r>
                        <a:rPr lang="en-US" sz="1200" dirty="0">
                          <a:solidFill>
                            <a:srgbClr val="EEF1F7"/>
                          </a:solidFill>
                          <a:latin typeface="Calibri" pitchFamily="34" charset="0"/>
                          <a:ea typeface="Calibri" pitchFamily="34" charset="-122"/>
                          <a:cs typeface="Calibri" pitchFamily="34" charset="-120"/>
                        </a:rPr>
                        <a:t>Basic at recharge</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r>
              <a:tr h="512064">
                <a:tc>
                  <a:txBody>
                    <a:bodyPr/>
                    <a:lstStyle/>
                    <a:p>
                      <a:pPr indent="0" marL="0">
                        <a:buNone/>
                      </a:pPr>
                      <a:r>
                        <a:rPr lang="en-US" sz="1200" b="1" dirty="0">
                          <a:solidFill>
                            <a:srgbClr val="98A2C0"/>
                          </a:solidFill>
                          <a:latin typeface="Calibri" pitchFamily="34" charset="0"/>
                          <a:ea typeface="Calibri" pitchFamily="34" charset="-122"/>
                          <a:cs typeface="Calibri" pitchFamily="34" charset="-120"/>
                        </a:rPr>
                        <a:t>Year 3</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National weather API</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200" dirty="0">
                          <a:solidFill>
                            <a:srgbClr val="EEF1F7"/>
                          </a:solidFill>
                          <a:latin typeface="Calibri" pitchFamily="34" charset="0"/>
                          <a:ea typeface="Calibri" pitchFamily="34" charset="-122"/>
                          <a:cs typeface="Calibri" pitchFamily="34" charset="-120"/>
                        </a:rPr>
                        <a:t>National scale</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r>
            </a:tbl>
          </a:graphicData>
        </a:graphic>
      </p:graphicFrame>
      <p:sp>
        <p:nvSpPr>
          <p:cNvPr id="23" name="close"/>
          <p:cNvSpPr txBox="1"/>
          <p:nvPr/>
        </p:nvSpPr>
        <p:spPr>
          <a:xfrm>
            <a:off x="548640" y="5394960"/>
            <a:ext cx="11094415" cy="731520"/>
          </a:xfrm>
          <a:prstGeom prst="rect">
            <a:avLst/>
          </a:prstGeom>
          <a:noFill/>
          <a:ln/>
        </p:spPr>
        <p:txBody>
          <a:bodyPr wrap="square" lIns="0" tIns="0" rIns="0" bIns="0" rtlCol="0" anchor="ctr"/>
          <a:lstStyle/>
          <a:p>
            <a:pPr algn="ctr" indent="0" marL="0">
              <a:buNone/>
            </a:pPr>
            <a:r>
              <a:rPr lang="en-US" sz="1900" b="1" i="1" dirty="0">
                <a:solidFill>
                  <a:srgbClr val="FFFFFF"/>
                </a:solidFill>
                <a:latin typeface="Cambria" pitchFamily="34" charset="0"/>
                <a:ea typeface="Cambria" pitchFamily="34" charset="-122"/>
                <a:cs typeface="Cambria" pitchFamily="34" charset="-120"/>
              </a:rPr>
              <a:t>We aren’t asking Jio to build another weather network. </a:t>
            </a:r>
            <a:pPr algn="ctr" indent="0" marL="0">
              <a:buNone/>
            </a:pPr>
            <a:r>
              <a:rPr lang="en-US" sz="1900" b="1" i="1" dirty="0">
                <a:solidFill>
                  <a:srgbClr val="F5A623"/>
                </a:solidFill>
                <a:latin typeface="Cambria" pitchFamily="34" charset="0"/>
                <a:ea typeface="Cambria" pitchFamily="34" charset="-122"/>
                <a:cs typeface="Cambria" pitchFamily="34" charset="-120"/>
              </a:rPr>
              <a:t>We’re asking it to discover what its existing network can already tell us.</a:t>
            </a:r>
            <a:endParaRPr lang="en-US" sz="1900" dirty="0"/>
          </a:p>
        </p:txBody>
      </p:sp>
      <p:sp>
        <p:nvSpPr>
          <p:cNvPr id="24" name="source"/>
          <p:cNvSpPr txBox="1"/>
          <p:nvPr/>
        </p:nvSpPr>
        <p:spPr>
          <a:xfrm>
            <a:off x="548640" y="6419088"/>
            <a:ext cx="11094415" cy="274320"/>
          </a:xfrm>
          <a:prstGeom prst="rect">
            <a:avLst/>
          </a:prstGeom>
          <a:noFill/>
          <a:ln/>
        </p:spPr>
        <p:txBody>
          <a:bodyPr wrap="square" lIns="0" tIns="0" rIns="0" bIns="0" rtlCol="0" anchor="t"/>
          <a:lstStyle/>
          <a:p>
            <a:pPr indent="0" marL="0">
              <a:buNone/>
            </a:pPr>
            <a:r>
              <a:rPr lang="en-US" sz="1000" dirty="0">
                <a:solidFill>
                  <a:srgbClr val="7A85A8"/>
                </a:solidFill>
                <a:latin typeface="Calibri" pitchFamily="34" charset="0"/>
                <a:ea typeface="Calibri" pitchFamily="34" charset="-122"/>
                <a:cs typeface="Calibri" pitchFamily="34" charset="-120"/>
              </a:rPr>
              <a:t>Gate 2 also requires under 15% of our triggers to go unconfirmed by radar. Months 4–12 include Mumbai’s 2027 monsoon and the April–June heat season.</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04"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42" presetClass="entr" presetSubtype="0" fill="hold" grpId="0" nodeType="afterEffect">
                                  <p:stCondLst>
                                    <p:cond delay="4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20"/>
                                        <p:tgtEl>
                                          <p:spTgt spid="6"/>
                                        </p:tgtEl>
                                      </p:cBhvr>
                                    </p:animEffect>
                                    <p:anim calcmode="lin" valueType="num">
                                      <p:cBhvr>
                                        <p:cTn id="16" dur="420" fill="hold"/>
                                        <p:tgtEl>
                                          <p:spTgt spid="6"/>
                                        </p:tgtEl>
                                        <p:attrNameLst>
                                          <p:attrName>ppt_x</p:attrName>
                                        </p:attrNameLst>
                                      </p:cBhvr>
                                      <p:tavLst>
                                        <p:tav tm="0">
                                          <p:val>
                                            <p:strVal val="#ppt_x"/>
                                          </p:val>
                                        </p:tav>
                                        <p:tav tm="100000">
                                          <p:val>
                                            <p:strVal val="#ppt_x"/>
                                          </p:val>
                                        </p:tav>
                                      </p:tavLst>
                                    </p:anim>
                                    <p:anim calcmode="lin" valueType="num">
                                      <p:cBhvr>
                                        <p:cTn id="17" dur="42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20"/>
                                        <p:tgtEl>
                                          <p:spTgt spid="7"/>
                                        </p:tgtEl>
                                      </p:cBhvr>
                                    </p:animEffect>
                                    <p:anim calcmode="lin" valueType="num">
                                      <p:cBhvr>
                                        <p:cTn id="21" dur="420" fill="hold"/>
                                        <p:tgtEl>
                                          <p:spTgt spid="7"/>
                                        </p:tgtEl>
                                        <p:attrNameLst>
                                          <p:attrName>ppt_x</p:attrName>
                                        </p:attrNameLst>
                                      </p:cBhvr>
                                      <p:tavLst>
                                        <p:tav tm="0">
                                          <p:val>
                                            <p:strVal val="#ppt_x"/>
                                          </p:val>
                                        </p:tav>
                                        <p:tav tm="100000">
                                          <p:val>
                                            <p:strVal val="#ppt_x"/>
                                          </p:val>
                                        </p:tav>
                                      </p:tavLst>
                                    </p:anim>
                                    <p:anim calcmode="lin" valueType="num">
                                      <p:cBhvr>
                                        <p:cTn id="22" dur="42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20"/>
                                        <p:tgtEl>
                                          <p:spTgt spid="8"/>
                                        </p:tgtEl>
                                      </p:cBhvr>
                                    </p:animEffect>
                                    <p:anim calcmode="lin" valueType="num">
                                      <p:cBhvr>
                                        <p:cTn id="26" dur="420" fill="hold"/>
                                        <p:tgtEl>
                                          <p:spTgt spid="8"/>
                                        </p:tgtEl>
                                        <p:attrNameLst>
                                          <p:attrName>ppt_x</p:attrName>
                                        </p:attrNameLst>
                                      </p:cBhvr>
                                      <p:tavLst>
                                        <p:tav tm="0">
                                          <p:val>
                                            <p:strVal val="#ppt_x"/>
                                          </p:val>
                                        </p:tav>
                                        <p:tav tm="100000">
                                          <p:val>
                                            <p:strVal val="#ppt_x"/>
                                          </p:val>
                                        </p:tav>
                                      </p:tavLst>
                                    </p:anim>
                                    <p:anim calcmode="lin" valueType="num">
                                      <p:cBhvr>
                                        <p:cTn id="27" dur="42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20"/>
                                        <p:tgtEl>
                                          <p:spTgt spid="9"/>
                                        </p:tgtEl>
                                      </p:cBhvr>
                                    </p:animEffect>
                                    <p:anim calcmode="lin" valueType="num">
                                      <p:cBhvr>
                                        <p:cTn id="31" dur="420" fill="hold"/>
                                        <p:tgtEl>
                                          <p:spTgt spid="9"/>
                                        </p:tgtEl>
                                        <p:attrNameLst>
                                          <p:attrName>ppt_x</p:attrName>
                                        </p:attrNameLst>
                                      </p:cBhvr>
                                      <p:tavLst>
                                        <p:tav tm="0">
                                          <p:val>
                                            <p:strVal val="#ppt_x"/>
                                          </p:val>
                                        </p:tav>
                                        <p:tav tm="100000">
                                          <p:val>
                                            <p:strVal val="#ppt_x"/>
                                          </p:val>
                                        </p:tav>
                                      </p:tavLst>
                                    </p:anim>
                                    <p:anim calcmode="lin" valueType="num">
                                      <p:cBhvr>
                                        <p:cTn id="32" dur="420" fill="hold"/>
                                        <p:tgtEl>
                                          <p:spTgt spid="9"/>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420"/>
                                        <p:tgtEl>
                                          <p:spTgt spid="10"/>
                                        </p:tgtEl>
                                      </p:cBhvr>
                                    </p:animEffect>
                                    <p:anim calcmode="lin" valueType="num">
                                      <p:cBhvr>
                                        <p:cTn id="36" dur="420" fill="hold"/>
                                        <p:tgtEl>
                                          <p:spTgt spid="10"/>
                                        </p:tgtEl>
                                        <p:attrNameLst>
                                          <p:attrName>ppt_x</p:attrName>
                                        </p:attrNameLst>
                                      </p:cBhvr>
                                      <p:tavLst>
                                        <p:tav tm="0">
                                          <p:val>
                                            <p:strVal val="#ppt_x"/>
                                          </p:val>
                                        </p:tav>
                                        <p:tav tm="100000">
                                          <p:val>
                                            <p:strVal val="#ppt_x"/>
                                          </p:val>
                                        </p:tav>
                                      </p:tavLst>
                                    </p:anim>
                                    <p:anim calcmode="lin" valueType="num">
                                      <p:cBhvr>
                                        <p:cTn id="37" dur="420" fill="hold"/>
                                        <p:tgtEl>
                                          <p:spTgt spid="10"/>
                                        </p:tgtEl>
                                        <p:attrNameLst>
                                          <p:attrName>ppt_y</p:attrName>
                                        </p:attrNameLst>
                                      </p:cBhvr>
                                      <p:tavLst>
                                        <p:tav tm="0">
                                          <p:val>
                                            <p:strVal val="#ppt_y+.06"/>
                                          </p:val>
                                        </p:tav>
                                        <p:tav tm="100000">
                                          <p:val>
                                            <p:strVal val="#ppt_y"/>
                                          </p:val>
                                        </p:tav>
                                      </p:tavLst>
                                    </p:anim>
                                  </p:childTnLst>
                                </p:cTn>
                              </p:par>
                            </p:childTnLst>
                          </p:cTn>
                        </p:par>
                        <p:par>
                          <p:cTn id="38" fill="hold">
                            <p:stCondLst>
                              <p:cond delay="1210"/>
                            </p:stCondLst>
                            <p:childTnLst>
                              <p:par>
                                <p:cTn id="39" presetID="42" presetClass="entr" presetSubtype="0" fill="hold" grpId="0" nodeType="afterEffect">
                                  <p:stCondLst>
                                    <p:cond delay="4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420"/>
                                        <p:tgtEl>
                                          <p:spTgt spid="11"/>
                                        </p:tgtEl>
                                      </p:cBhvr>
                                    </p:animEffect>
                                    <p:anim calcmode="lin" valueType="num">
                                      <p:cBhvr>
                                        <p:cTn id="42" dur="420" fill="hold"/>
                                        <p:tgtEl>
                                          <p:spTgt spid="11"/>
                                        </p:tgtEl>
                                        <p:attrNameLst>
                                          <p:attrName>ppt_x</p:attrName>
                                        </p:attrNameLst>
                                      </p:cBhvr>
                                      <p:tavLst>
                                        <p:tav tm="0">
                                          <p:val>
                                            <p:strVal val="#ppt_x"/>
                                          </p:val>
                                        </p:tav>
                                        <p:tav tm="100000">
                                          <p:val>
                                            <p:strVal val="#ppt_x"/>
                                          </p:val>
                                        </p:tav>
                                      </p:tavLst>
                                    </p:anim>
                                    <p:anim calcmode="lin" valueType="num">
                                      <p:cBhvr>
                                        <p:cTn id="43" dur="420" fill="hold"/>
                                        <p:tgtEl>
                                          <p:spTgt spid="11"/>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20"/>
                                        <p:tgtEl>
                                          <p:spTgt spid="12"/>
                                        </p:tgtEl>
                                      </p:cBhvr>
                                    </p:animEffect>
                                    <p:anim calcmode="lin" valueType="num">
                                      <p:cBhvr>
                                        <p:cTn id="47" dur="420" fill="hold"/>
                                        <p:tgtEl>
                                          <p:spTgt spid="12"/>
                                        </p:tgtEl>
                                        <p:attrNameLst>
                                          <p:attrName>ppt_x</p:attrName>
                                        </p:attrNameLst>
                                      </p:cBhvr>
                                      <p:tavLst>
                                        <p:tav tm="0">
                                          <p:val>
                                            <p:strVal val="#ppt_x"/>
                                          </p:val>
                                        </p:tav>
                                        <p:tav tm="100000">
                                          <p:val>
                                            <p:strVal val="#ppt_x"/>
                                          </p:val>
                                        </p:tav>
                                      </p:tavLst>
                                    </p:anim>
                                    <p:anim calcmode="lin" valueType="num">
                                      <p:cBhvr>
                                        <p:cTn id="48" dur="420" fill="hold"/>
                                        <p:tgtEl>
                                          <p:spTgt spid="12"/>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p:cTn id="52" dur="420" fill="hold"/>
                                        <p:tgtEl>
                                          <p:spTgt spid="13"/>
                                        </p:tgtEl>
                                        <p:attrNameLst>
                                          <p:attrName>ppt_x</p:attrName>
                                        </p:attrNameLst>
                                      </p:cBhvr>
                                      <p:tavLst>
                                        <p:tav tm="0">
                                          <p:val>
                                            <p:strVal val="#ppt_x"/>
                                          </p:val>
                                        </p:tav>
                                        <p:tav tm="100000">
                                          <p:val>
                                            <p:strVal val="#ppt_x"/>
                                          </p:val>
                                        </p:tav>
                                      </p:tavLst>
                                    </p:anim>
                                    <p:anim calcmode="lin" valueType="num">
                                      <p:cBhvr>
                                        <p:cTn id="53" dur="420" fill="hold"/>
                                        <p:tgtEl>
                                          <p:spTgt spid="13"/>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420"/>
                                        <p:tgtEl>
                                          <p:spTgt spid="14"/>
                                        </p:tgtEl>
                                      </p:cBhvr>
                                    </p:animEffect>
                                    <p:anim calcmode="lin" valueType="num">
                                      <p:cBhvr>
                                        <p:cTn id="57" dur="420" fill="hold"/>
                                        <p:tgtEl>
                                          <p:spTgt spid="14"/>
                                        </p:tgtEl>
                                        <p:attrNameLst>
                                          <p:attrName>ppt_x</p:attrName>
                                        </p:attrNameLst>
                                      </p:cBhvr>
                                      <p:tavLst>
                                        <p:tav tm="0">
                                          <p:val>
                                            <p:strVal val="#ppt_x"/>
                                          </p:val>
                                        </p:tav>
                                        <p:tav tm="100000">
                                          <p:val>
                                            <p:strVal val="#ppt_x"/>
                                          </p:val>
                                        </p:tav>
                                      </p:tavLst>
                                    </p:anim>
                                    <p:anim calcmode="lin" valueType="num">
                                      <p:cBhvr>
                                        <p:cTn id="58" dur="420" fill="hold"/>
                                        <p:tgtEl>
                                          <p:spTgt spid="14"/>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420"/>
                                        <p:tgtEl>
                                          <p:spTgt spid="15"/>
                                        </p:tgtEl>
                                      </p:cBhvr>
                                    </p:animEffect>
                                    <p:anim calcmode="lin" valueType="num">
                                      <p:cBhvr>
                                        <p:cTn id="62" dur="420" fill="hold"/>
                                        <p:tgtEl>
                                          <p:spTgt spid="15"/>
                                        </p:tgtEl>
                                        <p:attrNameLst>
                                          <p:attrName>ppt_x</p:attrName>
                                        </p:attrNameLst>
                                      </p:cBhvr>
                                      <p:tavLst>
                                        <p:tav tm="0">
                                          <p:val>
                                            <p:strVal val="#ppt_x"/>
                                          </p:val>
                                        </p:tav>
                                        <p:tav tm="100000">
                                          <p:val>
                                            <p:strVal val="#ppt_x"/>
                                          </p:val>
                                        </p:tav>
                                      </p:tavLst>
                                    </p:anim>
                                    <p:anim calcmode="lin" valueType="num">
                                      <p:cBhvr>
                                        <p:cTn id="63" dur="420" fill="hold"/>
                                        <p:tgtEl>
                                          <p:spTgt spid="15"/>
                                        </p:tgtEl>
                                        <p:attrNameLst>
                                          <p:attrName>ppt_y</p:attrName>
                                        </p:attrNameLst>
                                      </p:cBhvr>
                                      <p:tavLst>
                                        <p:tav tm="0">
                                          <p:val>
                                            <p:strVal val="#ppt_y+.06"/>
                                          </p:val>
                                        </p:tav>
                                        <p:tav tm="100000">
                                          <p:val>
                                            <p:strVal val="#ppt_y"/>
                                          </p:val>
                                        </p:tav>
                                      </p:tavLst>
                                    </p:anim>
                                  </p:childTnLst>
                                </p:cTn>
                              </p:par>
                            </p:childTnLst>
                          </p:cTn>
                        </p:par>
                        <p:par>
                          <p:cTn id="64" fill="hold">
                            <p:stCondLst>
                              <p:cond delay="1670"/>
                            </p:stCondLst>
                            <p:childTnLst>
                              <p:par>
                                <p:cTn id="65" presetID="42" presetClass="entr" presetSubtype="0" fill="hold" grpId="0" nodeType="afterEffect">
                                  <p:stCondLst>
                                    <p:cond delay="4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420"/>
                                        <p:tgtEl>
                                          <p:spTgt spid="16"/>
                                        </p:tgtEl>
                                      </p:cBhvr>
                                    </p:animEffect>
                                    <p:anim calcmode="lin" valueType="num">
                                      <p:cBhvr>
                                        <p:cTn id="68" dur="420" fill="hold"/>
                                        <p:tgtEl>
                                          <p:spTgt spid="16"/>
                                        </p:tgtEl>
                                        <p:attrNameLst>
                                          <p:attrName>ppt_x</p:attrName>
                                        </p:attrNameLst>
                                      </p:cBhvr>
                                      <p:tavLst>
                                        <p:tav tm="0">
                                          <p:val>
                                            <p:strVal val="#ppt_x"/>
                                          </p:val>
                                        </p:tav>
                                        <p:tav tm="100000">
                                          <p:val>
                                            <p:strVal val="#ppt_x"/>
                                          </p:val>
                                        </p:tav>
                                      </p:tavLst>
                                    </p:anim>
                                    <p:anim calcmode="lin" valueType="num">
                                      <p:cBhvr>
                                        <p:cTn id="69" dur="420" fill="hold"/>
                                        <p:tgtEl>
                                          <p:spTgt spid="16"/>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420"/>
                                        <p:tgtEl>
                                          <p:spTgt spid="17"/>
                                        </p:tgtEl>
                                      </p:cBhvr>
                                    </p:animEffect>
                                    <p:anim calcmode="lin" valueType="num">
                                      <p:cBhvr>
                                        <p:cTn id="73" dur="420" fill="hold"/>
                                        <p:tgtEl>
                                          <p:spTgt spid="17"/>
                                        </p:tgtEl>
                                        <p:attrNameLst>
                                          <p:attrName>ppt_x</p:attrName>
                                        </p:attrNameLst>
                                      </p:cBhvr>
                                      <p:tavLst>
                                        <p:tav tm="0">
                                          <p:val>
                                            <p:strVal val="#ppt_x"/>
                                          </p:val>
                                        </p:tav>
                                        <p:tav tm="100000">
                                          <p:val>
                                            <p:strVal val="#ppt_x"/>
                                          </p:val>
                                        </p:tav>
                                      </p:tavLst>
                                    </p:anim>
                                    <p:anim calcmode="lin" valueType="num">
                                      <p:cBhvr>
                                        <p:cTn id="74" dur="420" fill="hold"/>
                                        <p:tgtEl>
                                          <p:spTgt spid="17"/>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420"/>
                                        <p:tgtEl>
                                          <p:spTgt spid="18"/>
                                        </p:tgtEl>
                                      </p:cBhvr>
                                    </p:animEffect>
                                    <p:anim calcmode="lin" valueType="num">
                                      <p:cBhvr>
                                        <p:cTn id="78" dur="420" fill="hold"/>
                                        <p:tgtEl>
                                          <p:spTgt spid="18"/>
                                        </p:tgtEl>
                                        <p:attrNameLst>
                                          <p:attrName>ppt_x</p:attrName>
                                        </p:attrNameLst>
                                      </p:cBhvr>
                                      <p:tavLst>
                                        <p:tav tm="0">
                                          <p:val>
                                            <p:strVal val="#ppt_x"/>
                                          </p:val>
                                        </p:tav>
                                        <p:tav tm="100000">
                                          <p:val>
                                            <p:strVal val="#ppt_x"/>
                                          </p:val>
                                        </p:tav>
                                      </p:tavLst>
                                    </p:anim>
                                    <p:anim calcmode="lin" valueType="num">
                                      <p:cBhvr>
                                        <p:cTn id="79" dur="420" fill="hold"/>
                                        <p:tgtEl>
                                          <p:spTgt spid="18"/>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420"/>
                                        <p:tgtEl>
                                          <p:spTgt spid="19"/>
                                        </p:tgtEl>
                                      </p:cBhvr>
                                    </p:animEffect>
                                    <p:anim calcmode="lin" valueType="num">
                                      <p:cBhvr>
                                        <p:cTn id="83" dur="420" fill="hold"/>
                                        <p:tgtEl>
                                          <p:spTgt spid="19"/>
                                        </p:tgtEl>
                                        <p:attrNameLst>
                                          <p:attrName>ppt_x</p:attrName>
                                        </p:attrNameLst>
                                      </p:cBhvr>
                                      <p:tavLst>
                                        <p:tav tm="0">
                                          <p:val>
                                            <p:strVal val="#ppt_x"/>
                                          </p:val>
                                        </p:tav>
                                        <p:tav tm="100000">
                                          <p:val>
                                            <p:strVal val="#ppt_x"/>
                                          </p:val>
                                        </p:tav>
                                      </p:tavLst>
                                    </p:anim>
                                    <p:anim calcmode="lin" valueType="num">
                                      <p:cBhvr>
                                        <p:cTn id="84" dur="420" fill="hold"/>
                                        <p:tgtEl>
                                          <p:spTgt spid="19"/>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420"/>
                                        <p:tgtEl>
                                          <p:spTgt spid="20"/>
                                        </p:tgtEl>
                                      </p:cBhvr>
                                    </p:animEffect>
                                    <p:anim calcmode="lin" valueType="num">
                                      <p:cBhvr>
                                        <p:cTn id="88" dur="420" fill="hold"/>
                                        <p:tgtEl>
                                          <p:spTgt spid="20"/>
                                        </p:tgtEl>
                                        <p:attrNameLst>
                                          <p:attrName>ppt_x</p:attrName>
                                        </p:attrNameLst>
                                      </p:cBhvr>
                                      <p:tavLst>
                                        <p:tav tm="0">
                                          <p:val>
                                            <p:strVal val="#ppt_x"/>
                                          </p:val>
                                        </p:tav>
                                        <p:tav tm="100000">
                                          <p:val>
                                            <p:strVal val="#ppt_x"/>
                                          </p:val>
                                        </p:tav>
                                      </p:tavLst>
                                    </p:anim>
                                    <p:anim calcmode="lin" valueType="num">
                                      <p:cBhvr>
                                        <p:cTn id="89" dur="420" fill="hold"/>
                                        <p:tgtEl>
                                          <p:spTgt spid="20"/>
                                        </p:tgtEl>
                                        <p:attrNameLst>
                                          <p:attrName>ppt_y</p:attrName>
                                        </p:attrNameLst>
                                      </p:cBhvr>
                                      <p:tavLst>
                                        <p:tav tm="0">
                                          <p:val>
                                            <p:strVal val="#ppt_y+.06"/>
                                          </p:val>
                                        </p:tav>
                                        <p:tav tm="100000">
                                          <p:val>
                                            <p:strVal val="#ppt_y"/>
                                          </p:val>
                                        </p:tav>
                                      </p:tavLst>
                                    </p:anim>
                                  </p:childTnLst>
                                </p:cTn>
                              </p:par>
                            </p:childTnLst>
                          </p:cTn>
                        </p:par>
                        <p:par>
                          <p:cTn id="90" fill="hold">
                            <p:stCondLst>
                              <p:cond delay="2130"/>
                            </p:stCondLst>
                            <p:childTnLst>
                              <p:par>
                                <p:cTn id="91" presetID="10" presetClass="entr" presetSubtype="0" fill="hold" grpId="0" nodeType="afterEffect">
                                  <p:stCondLst>
                                    <p:cond delay="8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600"/>
                                        <p:tgtEl>
                                          <p:spTgt spid="2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11"/>
                                        </p:tgtEl>
                                        <p:attrNameLst>
                                          <p:attrName>style.visibility</p:attrName>
                                        </p:attrNameLst>
                                      </p:cBhvr>
                                      <p:to>
                                        <p:strVal val="visible"/>
                                      </p:to>
                                    </p:set>
                                    <p:animEffect transition="in" filter="fade">
                                      <p:cBhvr>
                                        <p:cTn id="96" dur="600"/>
                                        <p:tgtEl>
                                          <p:spTgt spid="11"/>
                                        </p:tgtEl>
                                      </p:cBhvr>
                                    </p:animEffect>
                                  </p:childTnLst>
                                </p:cTn>
                              </p:par>
                            </p:childTnLst>
                          </p:cTn>
                        </p:par>
                        <p:par>
                          <p:cTn id="97" fill="hold">
                            <p:stCondLst>
                              <p:cond delay="2810"/>
                            </p:stCondLst>
                            <p:childTnLst>
                              <p:par>
                                <p:cTn id="98" presetID="10" presetClass="entr" presetSubtype="0" fill="hold" grpId="0" nodeType="afterEffect">
                                  <p:stCondLst>
                                    <p:cond delay="20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900"/>
                                        <p:tgtEl>
                                          <p:spTgt spid="2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4"/>
                                        </p:tgtEl>
                                        <p:attrNameLst>
                                          <p:attrName>style.visibility</p:attrName>
                                        </p:attrNameLst>
                                      </p:cBhvr>
                                      <p:to>
                                        <p:strVal val="visible"/>
                                      </p:to>
                                    </p:set>
                                    <p:animEffect transition="in" filter="fade">
                                      <p:cBhvr>
                                        <p:cTn id="103"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p:bldP spid="9" grpId="0" animBg="1"/>
      <p:bldP spid="10" grpId="0"/>
      <p:bldP spid="11" grpId="0" animBg="1"/>
      <p:bldP spid="12" grpId="0"/>
      <p:bldP spid="13" grpId="0"/>
      <p:bldP spid="14" grpId="0" animBg="1"/>
      <p:bldP spid="15" grpId="0"/>
      <p:bldP spid="16" grpId="0" animBg="1"/>
      <p:bldP spid="17" grpId="0"/>
      <p:bldP spid="18" grpId="0"/>
      <p:bldP spid="19" grpId="0" animBg="1"/>
      <p:bldP spid="20" grpId="0"/>
      <p:bldP spid="21" grpId="0"/>
      <p:bldP spid="23" grpId="0"/>
      <p:bldP spid="24" grpId="0"/>
    </p:bldLst>
  </p:timing>
</p:sld>
</file>

<file path=ppt/theme/theme1.xml><?xml version="1.0" encoding="utf-8"?>
<a:theme xmlns:a="http://schemas.openxmlformats.org/drawingml/2006/main" name="JioMausam Night">
  <a:themeElements>
    <a:clrScheme name="JioMausam Night">
      <a:dk1>
        <a:srgbClr val="0B1020"/>
      </a:dk1>
      <a:lt1>
        <a:srgbClr val="FFFFFF"/>
      </a:lt1>
      <a:dk2>
        <a:srgbClr val="1A2246"/>
      </a:dk2>
      <a:lt2>
        <a:srgbClr val="EEF1F7"/>
      </a:lt2>
      <a:accent1>
        <a:srgbClr val="F5A623"/>
      </a:accent1>
      <a:accent2>
        <a:srgbClr val="3987E5"/>
      </a:accent2>
      <a:accent3>
        <a:srgbClr val="D95926"/>
      </a:accent3>
      <a:accent4>
        <a:srgbClr val="1BAF7A"/>
      </a:accent4>
      <a:accent5>
        <a:srgbClr val="E5484D"/>
      </a:accent5>
      <a:accent6>
        <a:srgbClr val="98A2C0"/>
      </a:accent6>
      <a:hlink>
        <a:srgbClr val="F5A623"/>
      </a:hlink>
      <a:folHlink>
        <a:srgbClr val="C98500"/>
      </a:folHlink>
    </a:clrScheme>
    <a:fontScheme name="JioMausam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JioMausam · Reliance T.U.P XII · Elimination round</dc:title>
  <dc:subject>PptxGenJS Presentation</dc:subject>
  <dc:creator>JioMausam team</dc:creator>
  <cp:lastModifiedBy>JioMausam team</cp:lastModifiedBy>
  <cp:revision>1</cp:revision>
  <dcterms:created xsi:type="dcterms:W3CDTF">2026-10-04T05:18:56Z</dcterms:created>
  <dcterms:modified xsi:type="dcterms:W3CDTF">2026-10-04T05:18:56Z</dcterms:modified>
</cp:coreProperties>
</file>