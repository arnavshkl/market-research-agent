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imination round" id="{6dc73fc4-a74f-ed73-6edf-10f1723aa2c1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NIGH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· PROOF HIERARCHY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proven, what we checked, what isn’t</a:t>
            </a:r>
            <a:endParaRPr lang="en-US" sz="3200" dirty="0"/>
          </a:p>
        </p:txBody>
      </p:sp>
      <p:sp>
        <p:nvSpPr>
          <p:cNvPr id="6" name="col0"/>
          <p:cNvSpPr/>
          <p:nvPr/>
        </p:nvSpPr>
        <p:spPr>
          <a:xfrm>
            <a:off x="548640" y="205740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141B36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7" name="col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329184" cy="329184"/>
          </a:xfrm>
          <a:prstGeom prst="rect">
            <a:avLst/>
          </a:prstGeom>
        </p:spPr>
      </p:pic>
      <p:sp>
        <p:nvSpPr>
          <p:cNvPr id="8" name="colK0"/>
          <p:cNvSpPr txBox="1"/>
          <p:nvPr/>
        </p:nvSpPr>
        <p:spPr>
          <a:xfrm>
            <a:off x="1207008" y="2240280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· PUBLISHED</a:t>
            </a:r>
            <a:endParaRPr lang="en-US" sz="1100" dirty="0"/>
          </a:p>
        </p:txBody>
      </p:sp>
      <p:sp>
        <p:nvSpPr>
          <p:cNvPr id="9" name="colT0"/>
          <p:cNvSpPr txBox="1"/>
          <p:nvPr/>
        </p:nvSpPr>
        <p:spPr>
          <a:xfrm>
            <a:off x="777240" y="2743200"/>
            <a:ext cx="31342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Physics: rain weakens microwave signals (ITU-R P.838)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rain from a phone network (Science 2006)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country-wide rain maps (PNAS 2013)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 exist (pycomlink, KIT Germany)</a:t>
            </a:r>
            <a:endParaRPr lang="en-US" sz="1350" dirty="0"/>
          </a:p>
        </p:txBody>
      </p:sp>
      <p:sp>
        <p:nvSpPr>
          <p:cNvPr id="10" name="col1"/>
          <p:cNvSpPr/>
          <p:nvPr/>
        </p:nvSpPr>
        <p:spPr>
          <a:xfrm>
            <a:off x="4322978" y="205740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2B2208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col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578" y="2240280"/>
            <a:ext cx="329184" cy="329184"/>
          </a:xfrm>
          <a:prstGeom prst="rect">
            <a:avLst/>
          </a:prstGeom>
        </p:spPr>
      </p:pic>
      <p:sp>
        <p:nvSpPr>
          <p:cNvPr id="12" name="colK1"/>
          <p:cNvSpPr txBox="1"/>
          <p:nvPr/>
        </p:nvSpPr>
        <p:spPr>
          <a:xfrm>
            <a:off x="4981346" y="2240280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 · PUBLIC DATA</a:t>
            </a:r>
            <a:endParaRPr lang="en-US" sz="1100" dirty="0"/>
          </a:p>
        </p:txBody>
      </p:sp>
      <p:sp>
        <p:nvSpPr>
          <p:cNvPr id="13" name="colT1"/>
          <p:cNvSpPr txBox="1"/>
          <p:nvPr/>
        </p:nvSpPr>
        <p:spPr>
          <a:xfrm>
            <a:off x="4551578" y="2743200"/>
            <a:ext cx="31342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real links, Germany, 11 days, radar as reference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network-wide match; 0.88 typical link; 0.78 map level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/ no-rain days: 91% detected, 5% false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alone failed all three accuracy gates: 68% of trigger events (≥80%), totals 18% low (±10%), 18% unconfirmed (&lt;15%)</a:t>
            </a:r>
            <a:endParaRPr lang="en-US" sz="1350" dirty="0"/>
          </a:p>
        </p:txBody>
      </p:sp>
      <p:sp>
        <p:nvSpPr>
          <p:cNvPr id="14" name="col2"/>
          <p:cNvSpPr/>
          <p:nvPr/>
        </p:nvSpPr>
        <p:spPr>
          <a:xfrm>
            <a:off x="8097317" y="205740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2A1622"/>
          </a:solidFill>
          <a:ln w="12700">
            <a:solidFill>
              <a:srgbClr val="E5484D"/>
            </a:solidFill>
            <a:prstDash val="dash"/>
          </a:ln>
        </p:spPr>
      </p:sp>
      <p:pic>
        <p:nvPicPr>
          <p:cNvPr id="15" name="col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917" y="2240280"/>
            <a:ext cx="329184" cy="329184"/>
          </a:xfrm>
          <a:prstGeom prst="rect">
            <a:avLst/>
          </a:prstGeom>
        </p:spPr>
      </p:pic>
      <p:sp>
        <p:nvSpPr>
          <p:cNvPr id="16" name="colK2"/>
          <p:cNvSpPr txBox="1"/>
          <p:nvPr/>
        </p:nvSpPr>
        <p:spPr>
          <a:xfrm>
            <a:off x="8755685" y="2240280"/>
            <a:ext cx="2722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PROVEN · THE PILOT</a:t>
            </a:r>
            <a:endParaRPr lang="en-US" sz="1100" dirty="0"/>
          </a:p>
        </p:txBody>
      </p:sp>
      <p:sp>
        <p:nvSpPr>
          <p:cNvPr id="17" name="colT2"/>
          <p:cNvSpPr txBox="1"/>
          <p:nvPr/>
        </p:nvSpPr>
        <p:spPr>
          <a:xfrm>
            <a:off x="8325917" y="2743200"/>
            <a:ext cx="31342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Jio’s usable coverage → Gate 1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in Indian monsoon → Gate 2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inside Reliance → Gate 3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→ payer test in the pilot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Insurance-grade triggers → accuracy + actuarial gates, shadow payouts</a:t>
            </a:r>
            <a:endParaRPr lang="en-US" sz="1350" dirty="0"/>
          </a:p>
        </p:txBody>
      </p:sp>
      <p:sp>
        <p:nvSpPr>
          <p:cNvPr id="18" name="takeaway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know what is proven. We know what isn’t. The pilot is built around the unknowns.</a:t>
            </a:r>
            <a:endParaRPr lang="en-US" sz="1800" dirty="0"/>
          </a:p>
        </p:txBody>
      </p:sp>
      <p:sp>
        <p:nvSpPr>
          <p:cNvPr id="19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check: our pipeline on the open pycomlink example dataset (KIT, BSD licence), German DWD radar as reference; tuned 10–12 May 2018, scored 13–20 May. Not Jio data.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· DEFENCE WALL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limit we know of, and our answer</a:t>
            </a:r>
            <a:endParaRPr lang="en-US" sz="3200" dirty="0"/>
          </a:p>
        </p:txBody>
      </p:sp>
      <p:graphicFrame>
        <p:nvGraphicFramePr>
          <p:cNvPr id="3" name="wal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6613855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Jio may not have enough usable microwave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audit is Gate 1; radar, gauges and satellite still work without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Fibre doesn’t sense 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only use microwave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link measures path-averaged rain, not a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with radar and gauges turns it into grid estimates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alone failed all three accuracy gates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never use links alone; accuracy picks the mix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 of our triggers weren’t confirmed by radar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Multi-source confirmation and local 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can be confused with equipment faults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Network-health flags (faults, outages, maintenance) and cross-link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in India is 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Back-test Jio’s archived Mumbai monsoon data (Gate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km resolution isn’t guaranteed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depends on link density and fusion; reported per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Platforms’ willingness to pay is 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 value inside Reliance first (Gate 3, matched zones), then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basis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zones, multi-source trigger, review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₹300 payout is arbitrary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assumption; set by actuarial 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₹208 isn’t priced on the 10 mm in 3 h 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Priced on 25 years of daily IMD risk; the pilot recalibrates the trigger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Towers don’t sense heat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IMD stations and satellite feed the same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may never launch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intelligence business stands on its 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BACKUP · TOUGH QUESTIONS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 we expect, and short answers</a:t>
            </a:r>
            <a:endParaRPr lang="en-US" sz="3200" dirty="0"/>
          </a:p>
        </p:txBody>
      </p:sp>
      <p:graphicFrame>
        <p:nvGraphicFramePr>
          <p:cNvPr id="4" name="q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7665415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 judge asks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“Your correlation is 0.95. Why only 68%?”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 is the network-wide hourly match, where local errors cancel. At map level it’s 0.78, and a trigger test is harsher: 9 mm against an 11 mm trigger is a miss. Links also read 18% low.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“Mumbai already has hyperlocal weather.”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Exactly: BMC gauges and IMD radar are inputs we fuse, not rivals. The pilot’s “radar + gauges, no links” run measures what Jio’s links add.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“Jio already knows rain fade.”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may. Then Gate 1 confirms cheaply what weather information is available. If it doesn’t, the same telemetry is a new signal.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if it doesn’t rain in days 61–90?”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back-test replays archived monsoon events, including network-ops value. The full live test runs in Mumbai’s 2027 monsoon (months 4–12).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“Why ₹208 if the live trigger is 10 mm in 3 h?”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₹208 isn’t priced from that prototype trigger. It uses 25 years of daily IMD heavy-rain history, capped at five paid days. The pilot measures the 3-hour trigger’s real frequency and recalibrates before launch.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“Did you build the model?”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didn’t invent the method; it’s published research. We implemented it with open-source tools, ran it ourselves on real link data, and measured where it fails.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“Germany isn’t India.”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Agreed. Gate 2 back-tests Jio’s archived Mumbai monsoon data against held-out IMD and BMC gauges. Nothing scales until it passes.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“Who decides whether Jio’s own system pays?”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Jio only supplies the trigger data. A licensed insurer owns the contract, the rules and the payout; the trigger is multi-source and auditable.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JioMausam Night">
  <a:themeElements>
    <a:clrScheme name="JioMausam Night">
      <a:dk1>
        <a:srgbClr val="0B1020"/>
      </a:dk1>
      <a:lt1>
        <a:srgbClr val="FFFFFF"/>
      </a:lt1>
      <a:dk2>
        <a:srgbClr val="1A2246"/>
      </a:dk2>
      <a:lt2>
        <a:srgbClr val="EEF1F7"/>
      </a:lt2>
      <a:accent1>
        <a:srgbClr val="F5A623"/>
      </a:accent1>
      <a:accent2>
        <a:srgbClr val="3987E5"/>
      </a:accent2>
      <a:accent3>
        <a:srgbClr val="D95926"/>
      </a:accent3>
      <a:accent4>
        <a:srgbClr val="1BAF7A"/>
      </a:accent4>
      <a:accent5>
        <a:srgbClr val="E5484D"/>
      </a:accent5>
      <a:accent6>
        <a:srgbClr val="98A2C0"/>
      </a:accent6>
      <a:hlink>
        <a:srgbClr val="F5A623"/>
      </a:hlink>
      <a:folHlink>
        <a:srgbClr val="C98500"/>
      </a:folHlink>
    </a:clrScheme>
    <a:fontScheme name="JioMausam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JioMausam · Q&amp;A backup</dc:title>
  <dc:subject>PptxGenJS Presentation</dc:subject>
  <dc:creator>JioMausam team</dc:creator>
  <cp:lastModifiedBy>JioMausam team</cp:lastModifiedBy>
  <cp:revision>1</cp:revision>
  <dcterms:created xsi:type="dcterms:W3CDTF">2026-10-04T06:32:52Z</dcterms:created>
  <dcterms:modified xsi:type="dcterms:W3CDTF">2026-10-04T06:32:52Z</dcterms:modified>
</cp:coreProperties>
</file>