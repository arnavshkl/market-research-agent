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imination round" id="{426ace5b-7f10-7653-50f4-4bc57428420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(mm)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Santacruz</c:v>
                  </c:pt>
                  <c:pt idx="1">
                    <c:v>Colaba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944</c:v>
                </c:pt>
                <c:pt idx="1">
                  <c:v>73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8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B9C2D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Weather radar</c:v>
                </c:pt>
              </c:strCache>
            </c:strRef>
          </c:tx>
          <c:spPr>
            <a:solidFill>
              <a:srgbClr val="D95926"/>
            </a:solidFill>
            <a:ln w="25400" cap="flat">
              <a:solidFill>
                <a:srgbClr val="D959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926"/>
              </a:solidFill>
              <a:ln w="9525" cap="flat">
                <a:solidFill>
                  <a:srgbClr val="D959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Sheet1!$A$2:$A$265</c:f>
              <c:multiLvlStrCache>
                <c:ptCount val="26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10 May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11 May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12 May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>13 May</c:v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>14 May</c:v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15 May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>16 May</c:v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>17 May</c:v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18 May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>19 May</c:v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>20 May</c:v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</c:lvl>
              </c:multiLvlStrCache>
            </c:multiLvlStrRef>
          </c:cat>
          <c:val>
            <c:numRef>
              <c:f>Sheet1!$B$2:$B$265</c:f>
              <c:numCache>
                <c:formatCode>General</c:formatCode>
                <c:ptCount val="264"/>
                <c:pt idx="0">
                  <c:v>0.01</c:v>
                </c:pt>
                <c:pt idx="1">
                  <c:v>0.03</c:v>
                </c:pt>
                <c:pt idx="2">
                  <c:v>0.07</c:v>
                </c:pt>
                <c:pt idx="3">
                  <c:v>0.07</c:v>
                </c:pt>
                <c:pt idx="4">
                  <c:v>0.13</c:v>
                </c:pt>
                <c:pt idx="5">
                  <c:v>0.13</c:v>
                </c:pt>
                <c:pt idx="6">
                  <c:v>0.1</c:v>
                </c:pt>
                <c:pt idx="7">
                  <c:v>0.03</c:v>
                </c:pt>
                <c:pt idx="8">
                  <c:v>0.06</c:v>
                </c:pt>
                <c:pt idx="9">
                  <c:v>0.14</c:v>
                </c:pt>
                <c:pt idx="10">
                  <c:v>0.36</c:v>
                </c:pt>
                <c:pt idx="11">
                  <c:v>0.8</c:v>
                </c:pt>
                <c:pt idx="12">
                  <c:v>1.04</c:v>
                </c:pt>
                <c:pt idx="13">
                  <c:v>0.51</c:v>
                </c:pt>
                <c:pt idx="14">
                  <c:v>0.44</c:v>
                </c:pt>
                <c:pt idx="15">
                  <c:v>0.25</c:v>
                </c:pt>
                <c:pt idx="16">
                  <c:v>0.22</c:v>
                </c:pt>
                <c:pt idx="17">
                  <c:v>0.27</c:v>
                </c:pt>
                <c:pt idx="18">
                  <c:v>0.41</c:v>
                </c:pt>
                <c:pt idx="19">
                  <c:v>0.2</c:v>
                </c:pt>
                <c:pt idx="20">
                  <c:v>0.03</c:v>
                </c:pt>
                <c:pt idx="21">
                  <c:v>0.02</c:v>
                </c:pt>
                <c:pt idx="22">
                  <c:v>0.01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0.01</c:v>
                </c:pt>
                <c:pt idx="65">
                  <c:v>0.03</c:v>
                </c:pt>
                <c:pt idx="66">
                  <c:v>0.03</c:v>
                </c:pt>
                <c:pt idx="67">
                  <c:v>0</c:v>
                </c:pt>
                <c:pt idx="68">
                  <c:v>0.01</c:v>
                </c:pt>
                <c:pt idx="69">
                  <c:v>0.04</c:v>
                </c:pt>
                <c:pt idx="70">
                  <c:v>0.02</c:v>
                </c:pt>
                <c:pt idx="71">
                  <c:v>0.02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0.02</c:v>
                </c:pt>
                <c:pt idx="79">
                  <c:v>0.02</c:v>
                </c:pt>
                <c:pt idx="80">
                  <c:v>0.02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0.13</c:v>
                </c:pt>
                <c:pt idx="85">
                  <c:v>0.4</c:v>
                </c:pt>
                <c:pt idx="86">
                  <c:v>0.54</c:v>
                </c:pt>
                <c:pt idx="87">
                  <c:v>1.22</c:v>
                </c:pt>
                <c:pt idx="88">
                  <c:v>1.35</c:v>
                </c:pt>
                <c:pt idx="89">
                  <c:v>1.18</c:v>
                </c:pt>
                <c:pt idx="90">
                  <c:v>1.54</c:v>
                </c:pt>
                <c:pt idx="91">
                  <c:v>1.75</c:v>
                </c:pt>
                <c:pt idx="92">
                  <c:v>1.51</c:v>
                </c:pt>
                <c:pt idx="93">
                  <c:v>1.86</c:v>
                </c:pt>
                <c:pt idx="94">
                  <c:v>1.75</c:v>
                </c:pt>
                <c:pt idx="95">
                  <c:v>1.55</c:v>
                </c:pt>
                <c:pt idx="96">
                  <c:v>0.87</c:v>
                </c:pt>
                <c:pt idx="97">
                  <c:v>0.25</c:v>
                </c:pt>
                <c:pt idx="98">
                  <c:v>0.25</c:v>
                </c:pt>
                <c:pt idx="99">
                  <c:v>0.3</c:v>
                </c:pt>
                <c:pt idx="100">
                  <c:v>0.16</c:v>
                </c:pt>
                <c:pt idx="101">
                  <c:v>0.09</c:v>
                </c:pt>
                <c:pt idx="102">
                  <c:v>0.05</c:v>
                </c:pt>
                <c:pt idx="103">
                  <c:v>0.04</c:v>
                </c:pt>
                <c:pt idx="104">
                  <c:v>0.01</c:v>
                </c:pt>
                <c:pt idx="105">
                  <c:v>0.02</c:v>
                </c:pt>
                <c:pt idx="106">
                  <c:v>0.02</c:v>
                </c:pt>
                <c:pt idx="107">
                  <c:v>0.04</c:v>
                </c:pt>
                <c:pt idx="108">
                  <c:v>0.25</c:v>
                </c:pt>
                <c:pt idx="109">
                  <c:v>0.38</c:v>
                </c:pt>
                <c:pt idx="110">
                  <c:v>0.7</c:v>
                </c:pt>
                <c:pt idx="111">
                  <c:v>0.63</c:v>
                </c:pt>
                <c:pt idx="112">
                  <c:v>0.41</c:v>
                </c:pt>
                <c:pt idx="113">
                  <c:v>0.17</c:v>
                </c:pt>
                <c:pt idx="114">
                  <c:v>0.29</c:v>
                </c:pt>
                <c:pt idx="115">
                  <c:v>0.45</c:v>
                </c:pt>
                <c:pt idx="116">
                  <c:v>0.42</c:v>
                </c:pt>
                <c:pt idx="117">
                  <c:v>0.49</c:v>
                </c:pt>
                <c:pt idx="118">
                  <c:v>0.11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0.01</c:v>
                </c:pt>
                <c:pt idx="125">
                  <c:v>0.03</c:v>
                </c:pt>
                <c:pt idx="126">
                  <c:v>0.03</c:v>
                </c:pt>
                <c:pt idx="127">
                  <c:v>0.05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0.03</c:v>
                </c:pt>
                <c:pt idx="132">
                  <c:v>0.15</c:v>
                </c:pt>
                <c:pt idx="133">
                  <c:v>0.12</c:v>
                </c:pt>
                <c:pt idx="134">
                  <c:v>0.18</c:v>
                </c:pt>
                <c:pt idx="135">
                  <c:v>0.25</c:v>
                </c:pt>
                <c:pt idx="136">
                  <c:v>0.38</c:v>
                </c:pt>
                <c:pt idx="137">
                  <c:v>0.36</c:v>
                </c:pt>
                <c:pt idx="138">
                  <c:v>0.13</c:v>
                </c:pt>
                <c:pt idx="139">
                  <c:v>0.03</c:v>
                </c:pt>
                <c:pt idx="140">
                  <c:v>0.02</c:v>
                </c:pt>
                <c:pt idx="141">
                  <c:v>0.05</c:v>
                </c:pt>
                <c:pt idx="142">
                  <c:v>0.1</c:v>
                </c:pt>
                <c:pt idx="143">
                  <c:v>0.27</c:v>
                </c:pt>
                <c:pt idx="144">
                  <c:v>0.53</c:v>
                </c:pt>
                <c:pt idx="145">
                  <c:v>0.8</c:v>
                </c:pt>
                <c:pt idx="146">
                  <c:v>0.97</c:v>
                </c:pt>
                <c:pt idx="147">
                  <c:v>0.88</c:v>
                </c:pt>
                <c:pt idx="148">
                  <c:v>0.73</c:v>
                </c:pt>
                <c:pt idx="149">
                  <c:v>0.35</c:v>
                </c:pt>
                <c:pt idx="150">
                  <c:v>0.13</c:v>
                </c:pt>
                <c:pt idx="151">
                  <c:v>0.05</c:v>
                </c:pt>
                <c:pt idx="152">
                  <c:v>0.12</c:v>
                </c:pt>
                <c:pt idx="153">
                  <c:v>0.11</c:v>
                </c:pt>
                <c:pt idx="154">
                  <c:v>0.06</c:v>
                </c:pt>
                <c:pt idx="155">
                  <c:v>0.24</c:v>
                </c:pt>
                <c:pt idx="156">
                  <c:v>0.32</c:v>
                </c:pt>
                <c:pt idx="157">
                  <c:v>0.54</c:v>
                </c:pt>
                <c:pt idx="158">
                  <c:v>0.74</c:v>
                </c:pt>
                <c:pt idx="159">
                  <c:v>0.63</c:v>
                </c:pt>
                <c:pt idx="160">
                  <c:v>0.44</c:v>
                </c:pt>
                <c:pt idx="161">
                  <c:v>0.26</c:v>
                </c:pt>
                <c:pt idx="162">
                  <c:v>0.17</c:v>
                </c:pt>
                <c:pt idx="163">
                  <c:v>0.15</c:v>
                </c:pt>
                <c:pt idx="164">
                  <c:v>0.23</c:v>
                </c:pt>
                <c:pt idx="165">
                  <c:v>0.33</c:v>
                </c:pt>
                <c:pt idx="166">
                  <c:v>0.63</c:v>
                </c:pt>
                <c:pt idx="167">
                  <c:v>0.46</c:v>
                </c:pt>
                <c:pt idx="168">
                  <c:v>0.61</c:v>
                </c:pt>
                <c:pt idx="169">
                  <c:v>0.47</c:v>
                </c:pt>
                <c:pt idx="170">
                  <c:v>0.49</c:v>
                </c:pt>
                <c:pt idx="171">
                  <c:v>0.24</c:v>
                </c:pt>
                <c:pt idx="172">
                  <c:v>0.29</c:v>
                </c:pt>
                <c:pt idx="173">
                  <c:v>0.36</c:v>
                </c:pt>
                <c:pt idx="174">
                  <c:v>0.19</c:v>
                </c:pt>
                <c:pt idx="175">
                  <c:v>0.07</c:v>
                </c:pt>
                <c:pt idx="176">
                  <c:v>0.04</c:v>
                </c:pt>
                <c:pt idx="177">
                  <c:v>0.04</c:v>
                </c:pt>
                <c:pt idx="178">
                  <c:v>0.04</c:v>
                </c:pt>
                <c:pt idx="179">
                  <c:v>0.04</c:v>
                </c:pt>
                <c:pt idx="180">
                  <c:v>0.01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0.01</c:v>
                </c:pt>
                <c:pt idx="191">
                  <c:v>0.01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0.01</c:v>
                </c:pt>
                <c:pt idx="229">
                  <c:v>0.01</c:v>
                </c:pt>
                <c:pt idx="230">
                  <c:v>0.07</c:v>
                </c:pt>
                <c:pt idx="231">
                  <c:v>0.11</c:v>
                </c:pt>
                <c:pt idx="232">
                  <c:v>0.12</c:v>
                </c:pt>
                <c:pt idx="233">
                  <c:v>0.13</c:v>
                </c:pt>
                <c:pt idx="234">
                  <c:v>0.16</c:v>
                </c:pt>
                <c:pt idx="235">
                  <c:v>0.13</c:v>
                </c:pt>
                <c:pt idx="236">
                  <c:v>0.05</c:v>
                </c:pt>
                <c:pt idx="237">
                  <c:v>0.04</c:v>
                </c:pt>
                <c:pt idx="238">
                  <c:v>0.11</c:v>
                </c:pt>
                <c:pt idx="239">
                  <c:v>0.24</c:v>
                </c:pt>
                <c:pt idx="240">
                  <c:v>0.49</c:v>
                </c:pt>
                <c:pt idx="241">
                  <c:v>0.77</c:v>
                </c:pt>
                <c:pt idx="242">
                  <c:v>0.72</c:v>
                </c:pt>
                <c:pt idx="243">
                  <c:v>0.51</c:v>
                </c:pt>
                <c:pt idx="244">
                  <c:v>0.33</c:v>
                </c:pt>
                <c:pt idx="245">
                  <c:v>0.55</c:v>
                </c:pt>
                <c:pt idx="246">
                  <c:v>0.49</c:v>
                </c:pt>
                <c:pt idx="247">
                  <c:v>0.32</c:v>
                </c:pt>
                <c:pt idx="248">
                  <c:v>0.21</c:v>
                </c:pt>
                <c:pt idx="249">
                  <c:v>0.14</c:v>
                </c:pt>
                <c:pt idx="250">
                  <c:v>0.17</c:v>
                </c:pt>
                <c:pt idx="251">
                  <c:v>0.14</c:v>
                </c:pt>
                <c:pt idx="252">
                  <c:v>0.1</c:v>
                </c:pt>
                <c:pt idx="253">
                  <c:v>0.05</c:v>
                </c:pt>
                <c:pt idx="254">
                  <c:v>0.04</c:v>
                </c:pt>
                <c:pt idx="255">
                  <c:v>0.04</c:v>
                </c:pt>
                <c:pt idx="256">
                  <c:v>0.02</c:v>
                </c:pt>
                <c:pt idx="257">
                  <c:v>0.02</c:v>
                </c:pt>
                <c:pt idx="258">
                  <c:v>0.03</c:v>
                </c:pt>
                <c:pt idx="259">
                  <c:v>0.01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Rain from the 500 links</c:v>
                </c:pt>
              </c:strCache>
            </c:strRef>
          </c:tx>
          <c:spPr>
            <a:solidFill>
              <a:srgbClr val="3987E5"/>
            </a:solidFill>
            <a:ln w="25400" cap="flat">
              <a:solidFill>
                <a:srgbClr val="3987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987E5"/>
              </a:solidFill>
              <a:ln w="9525" cap="flat">
                <a:solidFill>
                  <a:srgbClr val="3987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Sheet1!$A$2:$A$265</c:f>
              <c:multiLvlStrCache>
                <c:ptCount val="26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10 May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11 May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12 May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>13 May</c:v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>14 May</c:v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15 May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>16 May</c:v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>17 May</c:v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18 May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>19 May</c:v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>20 May</c:v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</c:lvl>
              </c:multiLvlStrCache>
            </c:multiLvlStrRef>
          </c:cat>
          <c:val>
            <c:numRef>
              <c:f>Sheet1!$C$2:$C$265</c:f>
              <c:numCache>
                <c:formatCode>General</c:formatCode>
                <c:ptCount val="264"/>
                <c:pt idx="0">
                  <c:v>0.01</c:v>
                </c:pt>
                <c:pt idx="1">
                  <c:v>0.05</c:v>
                </c:pt>
                <c:pt idx="2">
                  <c:v>0.07</c:v>
                </c:pt>
                <c:pt idx="3">
                  <c:v>0.09</c:v>
                </c:pt>
                <c:pt idx="4">
                  <c:v>0.1</c:v>
                </c:pt>
                <c:pt idx="5">
                  <c:v>0.08</c:v>
                </c:pt>
                <c:pt idx="6">
                  <c:v>0.05</c:v>
                </c:pt>
                <c:pt idx="7">
                  <c:v>0.02</c:v>
                </c:pt>
                <c:pt idx="8">
                  <c:v>0.05</c:v>
                </c:pt>
                <c:pt idx="9">
                  <c:v>0.09</c:v>
                </c:pt>
                <c:pt idx="10">
                  <c:v>0.37</c:v>
                </c:pt>
                <c:pt idx="11">
                  <c:v>0.63</c:v>
                </c:pt>
                <c:pt idx="12">
                  <c:v>0.75</c:v>
                </c:pt>
                <c:pt idx="13">
                  <c:v>0.55</c:v>
                </c:pt>
                <c:pt idx="14">
                  <c:v>0.54</c:v>
                </c:pt>
                <c:pt idx="15">
                  <c:v>0.33</c:v>
                </c:pt>
                <c:pt idx="16">
                  <c:v>0.29</c:v>
                </c:pt>
                <c:pt idx="17">
                  <c:v>0.38</c:v>
                </c:pt>
                <c:pt idx="18">
                  <c:v>0.41</c:v>
                </c:pt>
                <c:pt idx="19">
                  <c:v>0.17</c:v>
                </c:pt>
                <c:pt idx="20">
                  <c:v>0.03</c:v>
                </c:pt>
                <c:pt idx="21">
                  <c:v>0.01</c:v>
                </c:pt>
                <c:pt idx="22">
                  <c:v>0.01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0.01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0.01</c:v>
                </c:pt>
                <c:pt idx="35">
                  <c:v>0.01</c:v>
                </c:pt>
                <c:pt idx="36">
                  <c:v>0.01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0.01</c:v>
                </c:pt>
                <c:pt idx="45">
                  <c:v>0.01</c:v>
                </c:pt>
                <c:pt idx="46">
                  <c:v>0</c:v>
                </c:pt>
                <c:pt idx="47">
                  <c:v>0.01</c:v>
                </c:pt>
                <c:pt idx="48">
                  <c:v>0.01</c:v>
                </c:pt>
                <c:pt idx="49">
                  <c:v>0.02</c:v>
                </c:pt>
                <c:pt idx="50">
                  <c:v>0.02</c:v>
                </c:pt>
                <c:pt idx="51">
                  <c:v>0.02</c:v>
                </c:pt>
                <c:pt idx="52">
                  <c:v>0.03</c:v>
                </c:pt>
                <c:pt idx="53">
                  <c:v>0.04</c:v>
                </c:pt>
                <c:pt idx="54">
                  <c:v>0.01</c:v>
                </c:pt>
                <c:pt idx="55">
                  <c:v>0.01</c:v>
                </c:pt>
                <c:pt idx="56">
                  <c:v>0</c:v>
                </c:pt>
                <c:pt idx="57">
                  <c:v>0</c:v>
                </c:pt>
                <c:pt idx="58">
                  <c:v>0.01</c:v>
                </c:pt>
                <c:pt idx="59">
                  <c:v>0.01</c:v>
                </c:pt>
                <c:pt idx="60">
                  <c:v>0.01</c:v>
                </c:pt>
                <c:pt idx="61">
                  <c:v>0.01</c:v>
                </c:pt>
                <c:pt idx="62">
                  <c:v>0.01</c:v>
                </c:pt>
                <c:pt idx="63">
                  <c:v>0</c:v>
                </c:pt>
                <c:pt idx="64">
                  <c:v>0</c:v>
                </c:pt>
                <c:pt idx="65">
                  <c:v>0.01</c:v>
                </c:pt>
                <c:pt idx="66">
                  <c:v>0.01</c:v>
                </c:pt>
                <c:pt idx="67">
                  <c:v>0</c:v>
                </c:pt>
                <c:pt idx="68">
                  <c:v>0.01</c:v>
                </c:pt>
                <c:pt idx="69">
                  <c:v>0.04</c:v>
                </c:pt>
                <c:pt idx="70">
                  <c:v>0.02</c:v>
                </c:pt>
                <c:pt idx="71">
                  <c:v>0.02</c:v>
                </c:pt>
                <c:pt idx="72">
                  <c:v>0.01</c:v>
                </c:pt>
                <c:pt idx="73">
                  <c:v>0.01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0.01</c:v>
                </c:pt>
                <c:pt idx="78">
                  <c:v>0.02</c:v>
                </c:pt>
                <c:pt idx="79">
                  <c:v>0.02</c:v>
                </c:pt>
                <c:pt idx="80">
                  <c:v>0.03</c:v>
                </c:pt>
                <c:pt idx="81">
                  <c:v>0.01</c:v>
                </c:pt>
                <c:pt idx="82">
                  <c:v>0.01</c:v>
                </c:pt>
                <c:pt idx="83">
                  <c:v>0.02</c:v>
                </c:pt>
                <c:pt idx="84">
                  <c:v>0.1</c:v>
                </c:pt>
                <c:pt idx="85">
                  <c:v>0.22</c:v>
                </c:pt>
                <c:pt idx="86">
                  <c:v>0.43</c:v>
                </c:pt>
                <c:pt idx="87">
                  <c:v>0.82</c:v>
                </c:pt>
                <c:pt idx="88">
                  <c:v>0.99</c:v>
                </c:pt>
                <c:pt idx="89">
                  <c:v>1.11</c:v>
                </c:pt>
                <c:pt idx="90">
                  <c:v>1.43</c:v>
                </c:pt>
                <c:pt idx="91">
                  <c:v>1.51</c:v>
                </c:pt>
                <c:pt idx="92">
                  <c:v>1.55</c:v>
                </c:pt>
                <c:pt idx="93">
                  <c:v>1.92</c:v>
                </c:pt>
                <c:pt idx="94">
                  <c:v>1.86</c:v>
                </c:pt>
                <c:pt idx="95">
                  <c:v>1.16</c:v>
                </c:pt>
                <c:pt idx="96">
                  <c:v>0.64</c:v>
                </c:pt>
                <c:pt idx="97">
                  <c:v>0.16</c:v>
                </c:pt>
                <c:pt idx="98">
                  <c:v>0.13</c:v>
                </c:pt>
                <c:pt idx="99">
                  <c:v>0.23</c:v>
                </c:pt>
                <c:pt idx="100">
                  <c:v>0.08</c:v>
                </c:pt>
                <c:pt idx="101">
                  <c:v>0.05</c:v>
                </c:pt>
                <c:pt idx="102">
                  <c:v>0.05</c:v>
                </c:pt>
                <c:pt idx="103">
                  <c:v>0.02</c:v>
                </c:pt>
                <c:pt idx="104">
                  <c:v>0.01</c:v>
                </c:pt>
                <c:pt idx="105">
                  <c:v>0.01</c:v>
                </c:pt>
                <c:pt idx="106">
                  <c:v>0.02</c:v>
                </c:pt>
                <c:pt idx="107">
                  <c:v>0.03</c:v>
                </c:pt>
                <c:pt idx="108">
                  <c:v>0.22</c:v>
                </c:pt>
                <c:pt idx="109">
                  <c:v>0.48</c:v>
                </c:pt>
                <c:pt idx="110">
                  <c:v>0.56</c:v>
                </c:pt>
                <c:pt idx="111">
                  <c:v>0.43</c:v>
                </c:pt>
                <c:pt idx="112">
                  <c:v>0.3</c:v>
                </c:pt>
                <c:pt idx="113">
                  <c:v>0.19</c:v>
                </c:pt>
                <c:pt idx="114">
                  <c:v>0.25</c:v>
                </c:pt>
                <c:pt idx="115">
                  <c:v>0.5</c:v>
                </c:pt>
                <c:pt idx="116">
                  <c:v>0.44</c:v>
                </c:pt>
                <c:pt idx="117">
                  <c:v>0.44</c:v>
                </c:pt>
                <c:pt idx="118">
                  <c:v>0.07</c:v>
                </c:pt>
                <c:pt idx="119">
                  <c:v>0.02</c:v>
                </c:pt>
                <c:pt idx="120">
                  <c:v>0.01</c:v>
                </c:pt>
                <c:pt idx="121">
                  <c:v>0.01</c:v>
                </c:pt>
                <c:pt idx="122">
                  <c:v>0.01</c:v>
                </c:pt>
                <c:pt idx="123">
                  <c:v>0.01</c:v>
                </c:pt>
                <c:pt idx="124">
                  <c:v>0.01</c:v>
                </c:pt>
                <c:pt idx="125">
                  <c:v>0.02</c:v>
                </c:pt>
                <c:pt idx="126">
                  <c:v>0.04</c:v>
                </c:pt>
                <c:pt idx="127">
                  <c:v>0.05</c:v>
                </c:pt>
                <c:pt idx="128">
                  <c:v>0.01</c:v>
                </c:pt>
                <c:pt idx="129">
                  <c:v>0.02</c:v>
                </c:pt>
                <c:pt idx="130">
                  <c:v>0.02</c:v>
                </c:pt>
                <c:pt idx="131">
                  <c:v>0.07</c:v>
                </c:pt>
                <c:pt idx="132">
                  <c:v>0.17</c:v>
                </c:pt>
                <c:pt idx="133">
                  <c:v>0.12</c:v>
                </c:pt>
                <c:pt idx="134">
                  <c:v>0.19</c:v>
                </c:pt>
                <c:pt idx="135">
                  <c:v>0.31</c:v>
                </c:pt>
                <c:pt idx="136">
                  <c:v>0.32</c:v>
                </c:pt>
                <c:pt idx="137">
                  <c:v>0.3</c:v>
                </c:pt>
                <c:pt idx="138">
                  <c:v>0.09</c:v>
                </c:pt>
                <c:pt idx="139">
                  <c:v>0.01</c:v>
                </c:pt>
                <c:pt idx="140">
                  <c:v>0.01</c:v>
                </c:pt>
                <c:pt idx="141">
                  <c:v>0.02</c:v>
                </c:pt>
                <c:pt idx="142">
                  <c:v>0.03</c:v>
                </c:pt>
                <c:pt idx="143">
                  <c:v>0.13</c:v>
                </c:pt>
                <c:pt idx="144">
                  <c:v>0.25</c:v>
                </c:pt>
                <c:pt idx="145">
                  <c:v>0.39</c:v>
                </c:pt>
                <c:pt idx="146">
                  <c:v>0.48</c:v>
                </c:pt>
                <c:pt idx="147">
                  <c:v>0.45</c:v>
                </c:pt>
                <c:pt idx="148">
                  <c:v>0.33</c:v>
                </c:pt>
                <c:pt idx="149">
                  <c:v>0.16</c:v>
                </c:pt>
                <c:pt idx="150">
                  <c:v>0.1</c:v>
                </c:pt>
                <c:pt idx="151">
                  <c:v>0.1</c:v>
                </c:pt>
                <c:pt idx="152">
                  <c:v>0.14</c:v>
                </c:pt>
                <c:pt idx="153">
                  <c:v>0.09</c:v>
                </c:pt>
                <c:pt idx="154">
                  <c:v>0.12</c:v>
                </c:pt>
                <c:pt idx="155">
                  <c:v>0.31</c:v>
                </c:pt>
                <c:pt idx="156">
                  <c:v>0.42</c:v>
                </c:pt>
                <c:pt idx="157">
                  <c:v>0.61</c:v>
                </c:pt>
                <c:pt idx="158">
                  <c:v>0.85</c:v>
                </c:pt>
                <c:pt idx="159">
                  <c:v>0.71</c:v>
                </c:pt>
                <c:pt idx="160">
                  <c:v>0.37</c:v>
                </c:pt>
                <c:pt idx="161">
                  <c:v>0.22</c:v>
                </c:pt>
                <c:pt idx="162">
                  <c:v>0.16</c:v>
                </c:pt>
                <c:pt idx="163">
                  <c:v>0.13</c:v>
                </c:pt>
                <c:pt idx="164">
                  <c:v>0.19</c:v>
                </c:pt>
                <c:pt idx="165">
                  <c:v>0.34</c:v>
                </c:pt>
                <c:pt idx="166">
                  <c:v>0.66</c:v>
                </c:pt>
                <c:pt idx="167">
                  <c:v>0.41</c:v>
                </c:pt>
                <c:pt idx="168">
                  <c:v>0.65</c:v>
                </c:pt>
                <c:pt idx="169">
                  <c:v>0.59</c:v>
                </c:pt>
                <c:pt idx="170">
                  <c:v>0.61</c:v>
                </c:pt>
                <c:pt idx="171">
                  <c:v>0.29</c:v>
                </c:pt>
                <c:pt idx="172">
                  <c:v>0.34</c:v>
                </c:pt>
                <c:pt idx="173">
                  <c:v>0.29</c:v>
                </c:pt>
                <c:pt idx="174">
                  <c:v>0.17</c:v>
                </c:pt>
                <c:pt idx="175">
                  <c:v>0.05</c:v>
                </c:pt>
                <c:pt idx="176">
                  <c:v>0.06</c:v>
                </c:pt>
                <c:pt idx="177">
                  <c:v>0.05</c:v>
                </c:pt>
                <c:pt idx="178">
                  <c:v>0.06</c:v>
                </c:pt>
                <c:pt idx="179">
                  <c:v>0.05</c:v>
                </c:pt>
                <c:pt idx="180">
                  <c:v>0.03</c:v>
                </c:pt>
                <c:pt idx="181">
                  <c:v>0.01</c:v>
                </c:pt>
                <c:pt idx="182">
                  <c:v>0</c:v>
                </c:pt>
                <c:pt idx="183">
                  <c:v>0.01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0.01</c:v>
                </c:pt>
                <c:pt idx="189">
                  <c:v>0.01</c:v>
                </c:pt>
                <c:pt idx="190">
                  <c:v>0.01</c:v>
                </c:pt>
                <c:pt idx="191">
                  <c:v>0.01</c:v>
                </c:pt>
                <c:pt idx="192">
                  <c:v>0.01</c:v>
                </c:pt>
                <c:pt idx="193">
                  <c:v>0</c:v>
                </c:pt>
                <c:pt idx="194">
                  <c:v>0.01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0.01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0.01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0.01</c:v>
                </c:pt>
                <c:pt idx="221">
                  <c:v>0.01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0.01</c:v>
                </c:pt>
                <c:pt idx="228">
                  <c:v>0.01</c:v>
                </c:pt>
                <c:pt idx="229">
                  <c:v>0.01</c:v>
                </c:pt>
                <c:pt idx="230">
                  <c:v>0.09</c:v>
                </c:pt>
                <c:pt idx="231">
                  <c:v>0.1</c:v>
                </c:pt>
                <c:pt idx="232">
                  <c:v>0.08</c:v>
                </c:pt>
                <c:pt idx="233">
                  <c:v>0.12</c:v>
                </c:pt>
                <c:pt idx="234">
                  <c:v>0.09</c:v>
                </c:pt>
                <c:pt idx="235">
                  <c:v>0.08</c:v>
                </c:pt>
                <c:pt idx="236">
                  <c:v>0.04</c:v>
                </c:pt>
                <c:pt idx="237">
                  <c:v>0.05</c:v>
                </c:pt>
                <c:pt idx="238">
                  <c:v>0.07</c:v>
                </c:pt>
                <c:pt idx="239">
                  <c:v>0.1</c:v>
                </c:pt>
                <c:pt idx="240">
                  <c:v>0.2</c:v>
                </c:pt>
                <c:pt idx="241">
                  <c:v>0.23</c:v>
                </c:pt>
                <c:pt idx="242">
                  <c:v>0.33</c:v>
                </c:pt>
                <c:pt idx="243">
                  <c:v>0.26</c:v>
                </c:pt>
                <c:pt idx="244">
                  <c:v>0.1</c:v>
                </c:pt>
                <c:pt idx="245">
                  <c:v>0.22</c:v>
                </c:pt>
                <c:pt idx="246">
                  <c:v>0.17</c:v>
                </c:pt>
                <c:pt idx="247">
                  <c:v>0.12</c:v>
                </c:pt>
                <c:pt idx="248">
                  <c:v>0.08</c:v>
                </c:pt>
                <c:pt idx="249">
                  <c:v>0.04</c:v>
                </c:pt>
                <c:pt idx="250">
                  <c:v>0.07</c:v>
                </c:pt>
                <c:pt idx="251">
                  <c:v>0.06</c:v>
                </c:pt>
                <c:pt idx="252">
                  <c:v>0.06</c:v>
                </c:pt>
                <c:pt idx="253">
                  <c:v>0.03</c:v>
                </c:pt>
                <c:pt idx="254">
                  <c:v>0.01</c:v>
                </c:pt>
                <c:pt idx="255">
                  <c:v>0.02</c:v>
                </c:pt>
                <c:pt idx="256">
                  <c:v>0.02</c:v>
                </c:pt>
                <c:pt idx="257">
                  <c:v>0.01</c:v>
                </c:pt>
                <c:pt idx="258">
                  <c:v>0.01</c:v>
                </c:pt>
                <c:pt idx="259">
                  <c:v>0.02</c:v>
                </c:pt>
                <c:pt idx="260">
                  <c:v>0.02</c:v>
                </c:pt>
                <c:pt idx="261">
                  <c:v>0.01</c:v>
                </c:pt>
                <c:pt idx="262">
                  <c:v>0.01</c:v>
                </c:pt>
                <c:pt idx="263">
                  <c:v>0.01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8A2C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5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8A2C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98A2C0"/>
                    </a:solidFill>
                    <a:latin typeface="+mn-lt"/>
                  </a:rPr>
                  <a:t>mm/h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8A2C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D7DDE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[0:00–0:18] Our video showed that Jio’s network can see rain. Since then we stress-tested coverage, accuracy and who pays. The problem: on 26 July 2005, Santacruz got 944 millimetres and Colaba just 73. Weather changes street by street, but business decisions are still made city by 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[0:18–0:33] The insight: rain weakens the microwave links between telecom sites, and how much it weakens tells you how hard it’s raining. That’s established science. We don’t build a new sensor network; we turn an existing one into an extra sensing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[0:33–0:53] We tested on 500 real links from a public German dataset, not Jio’s network. Network-wide we matched radar at 0.95, a single link at 0.88. But links alone caught 68% of radar’s trigger events: promising for operational intelligence, not enough to pay claims. So intelligence comes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[0:53–1:08] So JioMausam never relies on one sensor. Jio’s links are the dense layer; IMD radar, rain gauges and satellite validate them. The engine produces a one-kilometre grid with a confidence score, and feeds business decisions, insurance triggers and enterprise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[1:08–1:30] Our first product is better decisions. Today a business hears “heavy rain in Mumbai” and reacts broadly: incentives in dry zones, riders sent into flooded ones, late deliveries. With JioMausam it knows Zone A is heavy, B moderate, C clear, and acts precisely: dispatch, incentives, weather-linked pricing, pause alerts. Logistics and cities use the same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[1:30–1:48] The same intelligence can protect workers. When a qualifying event hits a zone, JioMausam verifies it and a licensed insurer pays a fixed benefit, say 300 rupees, to workers active there when it began. No claim, no proof of loss, once accuracy reaches 80%.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[1:48–2:08] IMD data shows risk differs by city. Kavach Basic covers rare extremes: about 45 rupees a month in Mumbai, 52 in Nagpur, 29 in Ahmedabad. Kavach Plus, platform-sponsored, covers Mumbai’s twelve heavy-rain days at about 208. Rain first; heat follows, from IMD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[2:08–2:28] Who pays? We don’t assume. Businesses pay for intelligence first; for Kavach, the pilot tests platform, co-funded and individual models. Jio earns decision and data fees, plus distribution fees on Kavach, while the insurer carries the risk. Fifty thousand riders is a 12.5 crore premium pool, not Jio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[2:28–2:40] Why Jio? The moat isn’t the sensor; it’s the ecosystem. Jio senses, JioMausam understands, Reliance reaches customers and businesses, and JFS with licensed insurers protects. Reliance can connect every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[2:40–3:00] So don’t believe us: test it. Ninety days: audit Mumbai’s links, back-test archived monsoon data, then a shadow-mode pilot with one Reliance operation. We aren’t asking Jio to build another weather network. We’re asking it to discover what its network can already tell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changes street by street. Decisions don’t</a:t>
            </a:r>
            <a:endParaRPr lang="en-US" sz="3200" dirty="0"/>
          </a:p>
        </p:txBody>
      </p:sp>
      <p:sp>
        <p:nvSpPr>
          <p:cNvPr id="6" name="hlCard"/>
          <p:cNvSpPr/>
          <p:nvPr/>
        </p:nvSpPr>
        <p:spPr>
          <a:xfrm>
            <a:off x="548640" y="2103120"/>
            <a:ext cx="4572000" cy="3474720"/>
          </a:xfrm>
          <a:prstGeom prst="roundRect">
            <a:avLst>
              <a:gd name="adj" fmla="val 315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hlHead"/>
          <p:cNvSpPr txBox="1"/>
          <p:nvPr/>
        </p:nvSpPr>
        <p:spPr>
          <a:xfrm>
            <a:off x="822960" y="226771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city. Different weather.</a:t>
            </a:r>
            <a:endParaRPr lang="en-US" sz="19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(mm) · IMD · 26 July 2005 · stations 20 km apart</a:t>
            </a:r>
            <a:endParaRPr lang="en-US" sz="1900" dirty="0"/>
          </a:p>
        </p:txBody>
      </p:sp>
      <p:graphicFrame>
        <p:nvGraphicFramePr>
          <p:cNvPr id="8" name="hlChart" descr=""/>
          <p:cNvGraphicFramePr/>
          <p:nvPr/>
        </p:nvGraphicFramePr>
        <p:xfrm>
          <a:off x="685800" y="301752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knowCard"/>
          <p:cNvSpPr/>
          <p:nvPr/>
        </p:nvSpPr>
        <p:spPr>
          <a:xfrm>
            <a:off x="5440680" y="2103120"/>
            <a:ext cx="6199632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0" name="knowT"/>
          <p:cNvSpPr txBox="1"/>
          <p:nvPr/>
        </p:nvSpPr>
        <p:spPr>
          <a:xfrm>
            <a:off x="5715000" y="22128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BUSINESS KNOWS</a:t>
            </a:r>
            <a:endParaRPr lang="en-US" sz="105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“Heavy rain in Mumbai.”</a:t>
            </a:r>
            <a:endParaRPr lang="en-US" sz="1050" dirty="0"/>
          </a:p>
        </p:txBody>
      </p:sp>
      <p:sp>
        <p:nvSpPr>
          <p:cNvPr id="11" name="knowA"/>
          <p:cNvSpPr/>
          <p:nvPr/>
        </p:nvSpPr>
        <p:spPr>
          <a:xfrm>
            <a:off x="8540496" y="3017520"/>
            <a:ext cx="914" cy="228600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2" name="needCard"/>
          <p:cNvSpPr/>
          <p:nvPr/>
        </p:nvSpPr>
        <p:spPr>
          <a:xfrm>
            <a:off x="5440680" y="3246120"/>
            <a:ext cx="6199632" cy="914400"/>
          </a:xfrm>
          <a:prstGeom prst="roundRect">
            <a:avLst>
              <a:gd name="adj" fmla="val 12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3" name="needT"/>
          <p:cNvSpPr txBox="1"/>
          <p:nvPr/>
        </p:nvSpPr>
        <p:spPr>
          <a:xfrm>
            <a:off x="5715000" y="33558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NEEDS TO KNOW</a:t>
            </a:r>
            <a:endParaRPr lang="en-US" sz="105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exactly is rain hitting operations right now?”</a:t>
            </a:r>
            <a:endParaRPr lang="en-US" sz="1050" dirty="0"/>
          </a:p>
        </p:txBody>
      </p:sp>
      <p:sp>
        <p:nvSpPr>
          <p:cNvPr id="14" name="imp0"/>
          <p:cNvSpPr/>
          <p:nvPr/>
        </p:nvSpPr>
        <p:spPr>
          <a:xfrm>
            <a:off x="5440680" y="4389120"/>
            <a:ext cx="3044952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5" name="imp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4590288"/>
            <a:ext cx="365760" cy="365760"/>
          </a:xfrm>
          <a:prstGeom prst="rect">
            <a:avLst/>
          </a:prstGeom>
        </p:spPr>
      </p:pic>
      <p:sp>
        <p:nvSpPr>
          <p:cNvPr id="16" name="impT0"/>
          <p:cNvSpPr txBox="1"/>
          <p:nvPr/>
        </p:nvSpPr>
        <p:spPr>
          <a:xfrm>
            <a:off x="6153912" y="4553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decide blind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incentives, dispatch, delivery promises</a:t>
            </a:r>
            <a:endParaRPr lang="en-US" sz="1550" dirty="0"/>
          </a:p>
        </p:txBody>
      </p:sp>
      <p:sp>
        <p:nvSpPr>
          <p:cNvPr id="17" name="imp1"/>
          <p:cNvSpPr/>
          <p:nvPr/>
        </p:nvSpPr>
        <p:spPr>
          <a:xfrm>
            <a:off x="8595360" y="4389120"/>
            <a:ext cx="3044952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imp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4590288"/>
            <a:ext cx="365760" cy="365760"/>
          </a:xfrm>
          <a:prstGeom prst="rect">
            <a:avLst/>
          </a:prstGeom>
        </p:spPr>
      </p:pic>
      <p:sp>
        <p:nvSpPr>
          <p:cNvPr id="19" name="impT1"/>
          <p:cNvSpPr txBox="1"/>
          <p:nvPr/>
        </p:nvSpPr>
        <p:spPr>
          <a:xfrm>
            <a:off x="9308592" y="4553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carry the loss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safety, street by street</a:t>
            </a:r>
            <a:endParaRPr lang="en-US" sz="1550" dirty="0"/>
          </a:p>
        </p:txBody>
      </p:sp>
      <p:sp>
        <p:nvSpPr>
          <p:cNvPr id="20" name="takeaway"/>
          <p:cNvSpPr txBox="1"/>
          <p:nvPr/>
        </p:nvSpPr>
        <p:spPr>
          <a:xfrm>
            <a:off x="548640" y="583387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is lived street by street. Most actionable weather information is still too coarse to act on at that level.</a:t>
            </a:r>
            <a:endParaRPr lang="en-US" sz="1800" dirty="0"/>
          </a:p>
        </p:txBody>
      </p:sp>
      <p:sp>
        <p:nvSpPr>
          <p:cNvPr id="21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Rainfall: India Meteorological Department, 26 July 2005.</a:t>
            </a:r>
            <a:endParaRPr lang="en-US" sz="10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8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5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68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11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Graphic spid="8" grpId="0">
        <p:bldAsOne/>
      </p:bldGraphic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6" grpId="0"/>
      <p:bldP spid="17" grpId="0" animBg="1"/>
      <p:bldP spid="19" grpId="0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JIO INSIGHT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network itself could sense the rain?</a:t>
            </a:r>
            <a:endParaRPr lang="en-US" sz="3200" dirty="0"/>
          </a:p>
        </p:txBody>
      </p:sp>
      <p:pic>
        <p:nvPicPr>
          <p:cNvPr id="6" name="towerA" descr="/tmp/claude-0/-home-user-market-research-agent/e8d4caac-b1a5-588e-8461-832ca62ca567/scratchpad/deck2/assets/tower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40280"/>
            <a:ext cx="841248" cy="1272808"/>
          </a:xfrm>
          <a:prstGeom prst="rect">
            <a:avLst/>
          </a:prstGeom>
        </p:spPr>
      </p:pic>
      <p:pic>
        <p:nvPicPr>
          <p:cNvPr id="7" name="towerB" descr="/tmp/claude-0/-home-user-market-research-agent/e8d4caac-b1a5-588e-8461-832ca62ca567/scratchpad/deck2/assets/tower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240280"/>
            <a:ext cx="841248" cy="1272808"/>
          </a:xfrm>
          <a:prstGeom prst="rect">
            <a:avLst/>
          </a:prstGeom>
        </p:spPr>
      </p:pic>
      <p:sp>
        <p:nvSpPr>
          <p:cNvPr id="8" name="beam"/>
          <p:cNvSpPr/>
          <p:nvPr/>
        </p:nvSpPr>
        <p:spPr>
          <a:xfrm>
            <a:off x="1106424" y="2395728"/>
            <a:ext cx="438912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dash"/>
          </a:ln>
        </p:spPr>
      </p:sp>
      <p:sp>
        <p:nvSpPr>
          <p:cNvPr id="9" name="beamLab"/>
          <p:cNvSpPr txBox="1"/>
          <p:nvPr/>
        </p:nvSpPr>
        <p:spPr>
          <a:xfrm>
            <a:off x="146304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link between two sites</a:t>
            </a:r>
            <a:endParaRPr lang="en-US" sz="1300" dirty="0"/>
          </a:p>
        </p:txBody>
      </p:sp>
      <p:pic>
        <p:nvPicPr>
          <p:cNvPr id="10" name="drop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2697480"/>
            <a:ext cx="182880" cy="182880"/>
          </a:xfrm>
          <a:prstGeom prst="rect">
            <a:avLst/>
          </a:prstGeom>
        </p:spPr>
      </p:pic>
      <p:pic>
        <p:nvPicPr>
          <p:cNvPr id="11" name="drop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971800"/>
            <a:ext cx="182880" cy="182880"/>
          </a:xfrm>
          <a:prstGeom prst="rect">
            <a:avLst/>
          </a:prstGeom>
        </p:spPr>
      </p:pic>
      <p:pic>
        <p:nvPicPr>
          <p:cNvPr id="12" name="drop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2651760"/>
            <a:ext cx="182880" cy="182880"/>
          </a:xfrm>
          <a:prstGeom prst="rect">
            <a:avLst/>
          </a:prstGeom>
        </p:spPr>
      </p:pic>
      <p:pic>
        <p:nvPicPr>
          <p:cNvPr id="13" name="drop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017520"/>
            <a:ext cx="182880" cy="182880"/>
          </a:xfrm>
          <a:prstGeom prst="rect">
            <a:avLst/>
          </a:prstGeom>
        </p:spPr>
      </p:pic>
      <p:pic>
        <p:nvPicPr>
          <p:cNvPr id="14" name="drop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2697480"/>
            <a:ext cx="182880" cy="182880"/>
          </a:xfrm>
          <a:prstGeom prst="rect">
            <a:avLst/>
          </a:prstGeom>
        </p:spPr>
      </p:pic>
      <p:pic>
        <p:nvPicPr>
          <p:cNvPr id="15" name="drop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0280" y="3291840"/>
            <a:ext cx="182880" cy="182880"/>
          </a:xfrm>
          <a:prstGeom prst="rect">
            <a:avLst/>
          </a:prstGeom>
        </p:spPr>
      </p:pic>
      <p:pic>
        <p:nvPicPr>
          <p:cNvPr id="16" name="drop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337560"/>
            <a:ext cx="182880" cy="182880"/>
          </a:xfrm>
          <a:prstGeom prst="rect">
            <a:avLst/>
          </a:prstGeom>
        </p:spPr>
      </p:pic>
      <p:pic>
        <p:nvPicPr>
          <p:cNvPr id="17" name="drop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7720" y="3246120"/>
            <a:ext cx="182880" cy="182880"/>
          </a:xfrm>
          <a:prstGeom prst="rect">
            <a:avLst/>
          </a:prstGeom>
        </p:spPr>
      </p:pic>
      <p:sp>
        <p:nvSpPr>
          <p:cNvPr id="18" name="absorb"/>
          <p:cNvSpPr txBox="1"/>
          <p:nvPr/>
        </p:nvSpPr>
        <p:spPr>
          <a:xfrm>
            <a:off x="137160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along the path weakens the signal</a:t>
            </a:r>
            <a:endParaRPr lang="en-US" sz="1300" dirty="0"/>
          </a:p>
        </p:txBody>
      </p:sp>
      <p:sp>
        <p:nvSpPr>
          <p:cNvPr id="19" name="pb0"/>
          <p:cNvSpPr/>
          <p:nvPr/>
        </p:nvSpPr>
        <p:spPr>
          <a:xfrm>
            <a:off x="6720840" y="2103120"/>
            <a:ext cx="4919472" cy="603504"/>
          </a:xfrm>
          <a:prstGeom prst="roundRect">
            <a:avLst>
              <a:gd name="adj" fmla="val 1818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0" name="pt0"/>
          <p:cNvSpPr txBox="1"/>
          <p:nvPr/>
        </p:nvSpPr>
        <p:spPr>
          <a:xfrm>
            <a:off x="6949440" y="210312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Signal strength changes</a:t>
            </a:r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logged by the network</a:t>
            </a:r>
            <a:endParaRPr lang="en-US" sz="1600" dirty="0"/>
          </a:p>
        </p:txBody>
      </p:sp>
      <p:sp>
        <p:nvSpPr>
          <p:cNvPr id="21" name="pa0"/>
          <p:cNvSpPr/>
          <p:nvPr/>
        </p:nvSpPr>
        <p:spPr>
          <a:xfrm>
            <a:off x="9180576" y="2706624"/>
            <a:ext cx="914" cy="14630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2" name="pb1"/>
          <p:cNvSpPr/>
          <p:nvPr/>
        </p:nvSpPr>
        <p:spPr>
          <a:xfrm>
            <a:off x="6720840" y="2852928"/>
            <a:ext cx="4919472" cy="603504"/>
          </a:xfrm>
          <a:prstGeom prst="roundRect">
            <a:avLst>
              <a:gd name="adj" fmla="val 1818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3" name="pt1"/>
          <p:cNvSpPr txBox="1"/>
          <p:nvPr/>
        </p:nvSpPr>
        <p:spPr>
          <a:xfrm>
            <a:off x="6949440" y="285292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Path-average rainfall</a:t>
            </a:r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standard ITU-R formula</a:t>
            </a:r>
            <a:endParaRPr lang="en-US" sz="1600" dirty="0"/>
          </a:p>
        </p:txBody>
      </p:sp>
      <p:sp>
        <p:nvSpPr>
          <p:cNvPr id="24" name="pa1"/>
          <p:cNvSpPr/>
          <p:nvPr/>
        </p:nvSpPr>
        <p:spPr>
          <a:xfrm>
            <a:off x="9180576" y="3456432"/>
            <a:ext cx="914" cy="14630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5" name="pb2"/>
          <p:cNvSpPr/>
          <p:nvPr/>
        </p:nvSpPr>
        <p:spPr>
          <a:xfrm>
            <a:off x="6720840" y="3602736"/>
            <a:ext cx="4919472" cy="603504"/>
          </a:xfrm>
          <a:prstGeom prst="roundRect">
            <a:avLst>
              <a:gd name="adj" fmla="val 18182"/>
            </a:avLst>
          </a:prstGeom>
          <a:solidFill>
            <a:srgbClr val="1C2447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6" name="pt2"/>
          <p:cNvSpPr txBox="1"/>
          <p:nvPr/>
        </p:nvSpPr>
        <p:spPr>
          <a:xfrm>
            <a:off x="6949440" y="360273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1 km rain estimate</a:t>
            </a:r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with a confidence score</a:t>
            </a:r>
            <a:endParaRPr lang="en-US" sz="1600" dirty="0"/>
          </a:p>
        </p:txBody>
      </p:sp>
      <p:sp>
        <p:nvSpPr>
          <p:cNvPr id="27" name="core"/>
          <p:cNvSpPr txBox="1"/>
          <p:nvPr/>
        </p:nvSpPr>
        <p:spPr>
          <a:xfrm>
            <a:off x="548640" y="4297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don’t build a new weather-sensor network.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turn an existing telecom network into an additional sensing layer.</a:t>
            </a:r>
            <a:endParaRPr lang="en-US" sz="2300" dirty="0"/>
          </a:p>
        </p:txBody>
      </p:sp>
      <p:sp>
        <p:nvSpPr>
          <p:cNvPr id="28" name="cautionCard"/>
          <p:cNvSpPr/>
          <p:nvPr/>
        </p:nvSpPr>
        <p:spPr>
          <a:xfrm>
            <a:off x="548640" y="5440680"/>
            <a:ext cx="11094415" cy="603504"/>
          </a:xfrm>
          <a:prstGeom prst="roundRect">
            <a:avLst>
              <a:gd name="adj" fmla="val 1818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29" name="caution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577840"/>
            <a:ext cx="329184" cy="329184"/>
          </a:xfrm>
          <a:prstGeom prst="rect">
            <a:avLst/>
          </a:prstGeom>
        </p:spPr>
      </p:pic>
      <p:sp>
        <p:nvSpPr>
          <p:cNvPr id="30" name="caution"/>
          <p:cNvSpPr txBox="1"/>
          <p:nvPr/>
        </p:nvSpPr>
        <p:spPr>
          <a:xfrm>
            <a:off x="1234440" y="544068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microwave links, not fibre, as the sensing layer. How many usable links Jio has is what our pilot measures first.</a:t>
            </a:r>
            <a:endParaRPr lang="en-US" sz="1500" dirty="0"/>
          </a:p>
        </p:txBody>
      </p:sp>
      <p:sp>
        <p:nvSpPr>
          <p:cNvPr id="31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method: Messer, Zinevich &amp; Alpert, Science (2006), doi:10.1126/science.1120034 · Overeem, Leijnse &amp; Uijlenhoet, PNAS (2013), doi:10.1073/pnas.1217961110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3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73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16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59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22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8" grpId="0"/>
      <p:bldP spid="19" grpId="0" animBg="1"/>
      <p:bldP spid="20" grpId="0"/>
      <p:bldP spid="21" grpId="0" animBg="1"/>
      <p:bldP spid="22" grpId="0" animBg="1"/>
      <p:bldP spid="23" grpId="0"/>
      <p:bldP spid="24" grpId="0" animBg="1"/>
      <p:bldP spid="25" grpId="0" animBg="1"/>
      <p:bldP spid="26" grpId="0"/>
      <p:bldP spid="27" grpId="0"/>
      <p:bldP spid="28" grpId="0" animBg="1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sensing works. It isn’t insurance-grade yet</a:t>
            </a:r>
            <a:endParaRPr lang="en-US" sz="3200" dirty="0"/>
          </a:p>
        </p:txBody>
      </p:sp>
      <p:sp>
        <p:nvSpPr>
          <p:cNvPr id="6" name="banner"/>
          <p:cNvSpPr/>
          <p:nvPr/>
        </p:nvSpPr>
        <p:spPr>
          <a:xfrm>
            <a:off x="548640" y="1938528"/>
            <a:ext cx="11094415" cy="384048"/>
          </a:xfrm>
          <a:prstGeom prst="roundRect">
            <a:avLst>
              <a:gd name="adj" fmla="val 28571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7" name="bannerT"/>
          <p:cNvSpPr txBox="1"/>
          <p:nvPr/>
        </p:nvSpPr>
        <p:spPr>
          <a:xfrm>
            <a:off x="548640" y="193852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RESEARCH DATASET  ·  GERMANY  ·  11-DAY TEST  ·  NOT JIO NETWORK DATA</a:t>
            </a:r>
            <a:endParaRPr lang="en-US" sz="1200" dirty="0"/>
          </a:p>
        </p:txBody>
      </p:sp>
      <p:sp>
        <p:nvSpPr>
          <p:cNvPr id="8" name="tile0"/>
          <p:cNvSpPr/>
          <p:nvPr/>
        </p:nvSpPr>
        <p:spPr>
          <a:xfrm>
            <a:off x="548640" y="2514600"/>
            <a:ext cx="2602154" cy="1371600"/>
          </a:xfrm>
          <a:prstGeom prst="roundRect">
            <a:avLst>
              <a:gd name="adj" fmla="val 8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9" name="tileT0"/>
          <p:cNvSpPr txBox="1"/>
          <p:nvPr/>
        </p:nvSpPr>
        <p:spPr>
          <a:xfrm>
            <a:off x="777240" y="2606040"/>
            <a:ext cx="21906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commercial microwave links</a:t>
            </a:r>
            <a:endParaRPr lang="en-US" sz="3600" dirty="0"/>
          </a:p>
        </p:txBody>
      </p:sp>
      <p:sp>
        <p:nvSpPr>
          <p:cNvPr id="10" name="tile1"/>
          <p:cNvSpPr/>
          <p:nvPr/>
        </p:nvSpPr>
        <p:spPr>
          <a:xfrm>
            <a:off x="3379394" y="2514600"/>
            <a:ext cx="2602154" cy="1371600"/>
          </a:xfrm>
          <a:prstGeom prst="roundRect">
            <a:avLst>
              <a:gd name="adj" fmla="val 8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1" name="tileT1"/>
          <p:cNvSpPr txBox="1"/>
          <p:nvPr/>
        </p:nvSpPr>
        <p:spPr>
          <a:xfrm>
            <a:off x="3607994" y="2606040"/>
            <a:ext cx="21906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match with radar, on unseen days</a:t>
            </a:r>
            <a:endParaRPr lang="en-US" sz="3600" dirty="0"/>
          </a:p>
        </p:txBody>
      </p:sp>
      <p:sp>
        <p:nvSpPr>
          <p:cNvPr id="12" name="tile2"/>
          <p:cNvSpPr/>
          <p:nvPr/>
        </p:nvSpPr>
        <p:spPr>
          <a:xfrm>
            <a:off x="6210148" y="2514600"/>
            <a:ext cx="2602154" cy="1371600"/>
          </a:xfrm>
          <a:prstGeom prst="roundRect">
            <a:avLst>
              <a:gd name="adj" fmla="val 8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3" name="tileT2"/>
          <p:cNvSpPr txBox="1"/>
          <p:nvPr/>
        </p:nvSpPr>
        <p:spPr>
          <a:xfrm>
            <a:off x="6438748" y="2606040"/>
            <a:ext cx="21906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single link on its own</a:t>
            </a:r>
            <a:endParaRPr lang="en-US" sz="3600" dirty="0"/>
          </a:p>
        </p:txBody>
      </p:sp>
      <p:sp>
        <p:nvSpPr>
          <p:cNvPr id="14" name="tile3"/>
          <p:cNvSpPr/>
          <p:nvPr/>
        </p:nvSpPr>
        <p:spPr>
          <a:xfrm>
            <a:off x="9040901" y="2514600"/>
            <a:ext cx="2602154" cy="1371600"/>
          </a:xfrm>
          <a:prstGeom prst="roundRect">
            <a:avLst>
              <a:gd name="adj" fmla="val 8000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5" name="tileT3"/>
          <p:cNvSpPr txBox="1"/>
          <p:nvPr/>
        </p:nvSpPr>
        <p:spPr>
          <a:xfrm>
            <a:off x="9269501" y="2606040"/>
            <a:ext cx="219067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radar trigger events caught</a:t>
            </a:r>
            <a:endParaRPr lang="en-US" sz="3600" dirty="0"/>
          </a:p>
          <a:p>
            <a:pPr indent="0" marL="0">
              <a:buNone/>
            </a:pPr>
            <a:r>
              <a:rPr lang="en-US" sz="1150" dirty="0">
                <a:solidFill>
                  <a:srgbClr val="FF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 our triggers not confirmed by radar</a:t>
            </a:r>
            <a:endParaRPr lang="en-US" sz="3600" dirty="0"/>
          </a:p>
        </p:txBody>
      </p:sp>
      <p:graphicFrame>
        <p:nvGraphicFramePr>
          <p:cNvPr id="16" name="chart" descr=""/>
          <p:cNvGraphicFramePr/>
          <p:nvPr/>
        </p:nvGraphicFramePr>
        <p:xfrm>
          <a:off x="411480" y="4023360"/>
          <a:ext cx="11277295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akeaway"/>
          <p:cNvSpPr txBox="1"/>
          <p:nvPr/>
        </p:nvSpPr>
        <p:spPr>
          <a:xfrm>
            <a:off x="548640" y="583387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detect rain well, but links alone aren’t reliable enough for automatic payouts.</a:t>
            </a:r>
            <a:endParaRPr lang="en-US" sz="1800" dirty="0"/>
          </a:p>
        </p:txBody>
      </p:sp>
      <p:sp>
        <p:nvSpPr>
          <p:cNvPr id="18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once (×1.17) on 10–12 May 2018, scored on 13–20 May. Trigger events: 10 mm or more in 3 hours per ~4 km square. Reference: German Weather Service radar.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5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8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1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4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11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36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Graphic spid="16" grpId="0">
        <p:bldAsOne/>
      </p:bldGraphic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network signals to weather intelligence</a:t>
            </a:r>
            <a:endParaRPr lang="en-US" sz="3200" dirty="0"/>
          </a:p>
        </p:txBody>
      </p:sp>
      <p:sp>
        <p:nvSpPr>
          <p:cNvPr id="6" name="col0"/>
          <p:cNvSpPr/>
          <p:nvPr/>
        </p:nvSpPr>
        <p:spPr>
          <a:xfrm>
            <a:off x="548640" y="2103120"/>
            <a:ext cx="1999427" cy="2560320"/>
          </a:xfrm>
          <a:prstGeom prst="roundRect">
            <a:avLst>
              <a:gd name="adj" fmla="val 548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7" name="colI0_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86000"/>
            <a:ext cx="365760" cy="365760"/>
          </a:xfrm>
          <a:prstGeom prst="rect">
            <a:avLst/>
          </a:prstGeom>
        </p:spPr>
      </p:pic>
      <p:sp>
        <p:nvSpPr>
          <p:cNvPr id="8" name="colT0"/>
          <p:cNvSpPr txBox="1"/>
          <p:nvPr/>
        </p:nvSpPr>
        <p:spPr>
          <a:xfrm>
            <a:off x="749808" y="2788920"/>
            <a:ext cx="163366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microwave links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loss along every link, minute by minute</a:t>
            </a:r>
            <a:endParaRPr lang="en-US" sz="1050" dirty="0"/>
          </a:p>
        </p:txBody>
      </p:sp>
      <p:sp>
        <p:nvSpPr>
          <p:cNvPr id="9" name="colA0"/>
          <p:cNvSpPr/>
          <p:nvPr/>
        </p:nvSpPr>
        <p:spPr>
          <a:xfrm>
            <a:off x="2548067" y="3383280"/>
            <a:ext cx="274320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0" name="col1"/>
          <p:cNvSpPr/>
          <p:nvPr/>
        </p:nvSpPr>
        <p:spPr>
          <a:xfrm>
            <a:off x="2822387" y="2103120"/>
            <a:ext cx="1999427" cy="2560320"/>
          </a:xfrm>
          <a:prstGeom prst="roundRect">
            <a:avLst>
              <a:gd name="adj" fmla="val 548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1" name="colI1_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555" y="2286000"/>
            <a:ext cx="365760" cy="365760"/>
          </a:xfrm>
          <a:prstGeom prst="rect">
            <a:avLst/>
          </a:prstGeom>
        </p:spPr>
      </p:pic>
      <p:pic>
        <p:nvPicPr>
          <p:cNvPr id="12" name="colI1_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755" y="2286000"/>
            <a:ext cx="365760" cy="365760"/>
          </a:xfrm>
          <a:prstGeom prst="rect">
            <a:avLst/>
          </a:prstGeom>
        </p:spPr>
      </p:pic>
      <p:pic>
        <p:nvPicPr>
          <p:cNvPr id="13" name="colI1_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955" y="2286000"/>
            <a:ext cx="365760" cy="365760"/>
          </a:xfrm>
          <a:prstGeom prst="rect">
            <a:avLst/>
          </a:prstGeom>
        </p:spPr>
      </p:pic>
      <p:sp>
        <p:nvSpPr>
          <p:cNvPr id="14" name="colT1"/>
          <p:cNvSpPr txBox="1"/>
          <p:nvPr/>
        </p:nvSpPr>
        <p:spPr>
          <a:xfrm>
            <a:off x="3023555" y="2788920"/>
            <a:ext cx="163366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· gauges · satellite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and city data calibrate and fill gaps</a:t>
            </a:r>
            <a:endParaRPr lang="en-US" sz="1050" dirty="0"/>
          </a:p>
        </p:txBody>
      </p:sp>
      <p:sp>
        <p:nvSpPr>
          <p:cNvPr id="15" name="colA1"/>
          <p:cNvSpPr/>
          <p:nvPr/>
        </p:nvSpPr>
        <p:spPr>
          <a:xfrm>
            <a:off x="4821814" y="3383280"/>
            <a:ext cx="274320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6" name="col2"/>
          <p:cNvSpPr/>
          <p:nvPr/>
        </p:nvSpPr>
        <p:spPr>
          <a:xfrm>
            <a:off x="5096134" y="2103120"/>
            <a:ext cx="1999427" cy="2560320"/>
          </a:xfrm>
          <a:prstGeom prst="roundRect">
            <a:avLst>
              <a:gd name="adj" fmla="val 5488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17" name="colI2_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7302" y="2286000"/>
            <a:ext cx="365760" cy="365760"/>
          </a:xfrm>
          <a:prstGeom prst="rect">
            <a:avLst/>
          </a:prstGeom>
        </p:spPr>
      </p:pic>
      <p:sp>
        <p:nvSpPr>
          <p:cNvPr id="18" name="colT2"/>
          <p:cNvSpPr txBox="1"/>
          <p:nvPr/>
        </p:nvSpPr>
        <p:spPr>
          <a:xfrm>
            <a:off x="5297302" y="2788920"/>
            <a:ext cx="163366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all sources, weighing each by measured accuracy</a:t>
            </a:r>
            <a:endParaRPr lang="en-US" sz="1050" dirty="0"/>
          </a:p>
        </p:txBody>
      </p:sp>
      <p:sp>
        <p:nvSpPr>
          <p:cNvPr id="19" name="colA2"/>
          <p:cNvSpPr/>
          <p:nvPr/>
        </p:nvSpPr>
        <p:spPr>
          <a:xfrm>
            <a:off x="7095561" y="3383280"/>
            <a:ext cx="274320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0" name="col3"/>
          <p:cNvSpPr/>
          <p:nvPr/>
        </p:nvSpPr>
        <p:spPr>
          <a:xfrm>
            <a:off x="7369881" y="2103120"/>
            <a:ext cx="1999427" cy="2560320"/>
          </a:xfrm>
          <a:prstGeom prst="roundRect">
            <a:avLst>
              <a:gd name="adj" fmla="val 548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21" name="colI3_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049" y="2286000"/>
            <a:ext cx="365760" cy="365760"/>
          </a:xfrm>
          <a:prstGeom prst="rect">
            <a:avLst/>
          </a:prstGeom>
        </p:spPr>
      </p:pic>
      <p:sp>
        <p:nvSpPr>
          <p:cNvPr id="22" name="colT3"/>
          <p:cNvSpPr txBox="1"/>
          <p:nvPr/>
        </p:nvSpPr>
        <p:spPr>
          <a:xfrm>
            <a:off x="7571049" y="2788920"/>
            <a:ext cx="163366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view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km weather grid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intensity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detection</a:t>
            </a:r>
            <a:endParaRPr lang="en-US" sz="1050" dirty="0"/>
          </a:p>
        </p:txBody>
      </p:sp>
      <p:sp>
        <p:nvSpPr>
          <p:cNvPr id="23" name="colA3"/>
          <p:cNvSpPr/>
          <p:nvPr/>
        </p:nvSpPr>
        <p:spPr>
          <a:xfrm>
            <a:off x="9369308" y="3383280"/>
            <a:ext cx="274320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4" name="col4"/>
          <p:cNvSpPr/>
          <p:nvPr/>
        </p:nvSpPr>
        <p:spPr>
          <a:xfrm>
            <a:off x="9643628" y="2103120"/>
            <a:ext cx="1999427" cy="2560320"/>
          </a:xfrm>
          <a:prstGeom prst="roundRect">
            <a:avLst>
              <a:gd name="adj" fmla="val 548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25" name="colI4_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4796" y="2286000"/>
            <a:ext cx="365760" cy="365760"/>
          </a:xfrm>
          <a:prstGeom prst="rect">
            <a:avLst/>
          </a:prstGeom>
        </p:spPr>
      </p:pic>
      <p:sp>
        <p:nvSpPr>
          <p:cNvPr id="26" name="colT4"/>
          <p:cNvSpPr txBox="1"/>
          <p:nvPr/>
        </p:nvSpPr>
        <p:spPr>
          <a:xfrm>
            <a:off x="9844796" y="2788920"/>
            <a:ext cx="163366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it’s used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triggers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APIs</a:t>
            </a:r>
            <a:endParaRPr lang="en-US" sz="1050" dirty="0"/>
          </a:p>
        </p:txBody>
      </p:sp>
      <p:sp>
        <p:nvSpPr>
          <p:cNvPr id="27" name="core"/>
          <p:cNvSpPr txBox="1"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sensor decides. JioMausam combines sources into one confidence-weighted view.</a:t>
            </a:r>
            <a:endParaRPr lang="en-US" sz="1800" dirty="0"/>
          </a:p>
        </p:txBody>
      </p:sp>
      <p:sp>
        <p:nvSpPr>
          <p:cNvPr id="28" name="sparse"/>
          <p:cNvSpPr txBox="1"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Jio’s links are sparse, the same engine runs on radar, gauges and satellite, cheapest sources first.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8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1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40"/>
                            </p:stCondLst>
                            <p:childTnLst>
                              <p:par>
                                <p:cTn id="86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470"/>
                            </p:stCondLst>
                            <p:childTnLst>
                              <p:par>
                                <p:cTn id="107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9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55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 animBg="1"/>
      <p:bldP spid="10" grpId="0" animBg="1"/>
      <p:bldP spid="14" grpId="0"/>
      <p:bldP spid="15" grpId="0" animBg="1"/>
      <p:bldP spid="16" grpId="0" animBg="1"/>
      <p:bldP spid="18" grpId="0"/>
      <p:bldP spid="19" grpId="0" animBg="1"/>
      <p:bldP spid="20" grpId="0" animBg="1"/>
      <p:bldP spid="22" grpId="0"/>
      <p:bldP spid="23" grpId="0" animBg="1"/>
      <p:bldP spid="24" grpId="0" animBg="1"/>
      <p:bldP spid="26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BUSINESS: WEATHER INTELLIGENCE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product: better decisions, not insurance</a:t>
            </a:r>
            <a:endParaRPr lang="en-US" sz="3200" dirty="0"/>
          </a:p>
        </p:txBody>
      </p:sp>
      <p:sp>
        <p:nvSpPr>
          <p:cNvPr id="6" name="before"/>
          <p:cNvSpPr/>
          <p:nvPr/>
        </p:nvSpPr>
        <p:spPr>
          <a:xfrm>
            <a:off x="548640" y="20574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beforeH"/>
          <p:cNvSpPr txBox="1"/>
          <p:nvPr/>
        </p:nvSpPr>
        <p:spPr>
          <a:xfrm>
            <a:off x="822960" y="21762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“Heavy rain in Mumbai.” The business reacts broadly:</a:t>
            </a:r>
            <a:endParaRPr lang="en-US" sz="1050" dirty="0"/>
          </a:p>
        </p:txBody>
      </p:sp>
      <p:sp>
        <p:nvSpPr>
          <p:cNvPr id="8" name="beforeL"/>
          <p:cNvSpPr txBox="1"/>
          <p:nvPr/>
        </p:nvSpPr>
        <p:spPr>
          <a:xfrm>
            <a:off x="822960" y="2971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paid in dry zones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sent into affected zones</a:t>
            </a:r>
            <a:endParaRPr lang="en-US" sz="1350" dirty="0"/>
          </a:p>
        </p:txBody>
      </p:sp>
      <p:sp>
        <p:nvSpPr>
          <p:cNvPr id="9" name="beforeR"/>
          <p:cNvSpPr txBox="1"/>
          <p:nvPr/>
        </p:nvSpPr>
        <p:spPr>
          <a:xfrm>
            <a:off x="3383280" y="2971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capacity planning</a:t>
            </a:r>
            <a:endParaRPr lang="en-US" sz="1350" dirty="0"/>
          </a:p>
        </p:txBody>
      </p:sp>
      <p:sp>
        <p:nvSpPr>
          <p:cNvPr id="10" name="after"/>
          <p:cNvSpPr/>
          <p:nvPr/>
        </p:nvSpPr>
        <p:spPr>
          <a:xfrm>
            <a:off x="6245352" y="20574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1" name="afterK"/>
          <p:cNvSpPr txBox="1"/>
          <p:nvPr/>
        </p:nvSpPr>
        <p:spPr>
          <a:xfrm>
            <a:off x="6519672" y="2176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JIOMAUSAM</a:t>
            </a:r>
            <a:endParaRPr lang="en-US" sz="1050" dirty="0"/>
          </a:p>
        </p:txBody>
      </p:sp>
      <p:sp>
        <p:nvSpPr>
          <p:cNvPr id="12" name="zone0"/>
          <p:cNvSpPr/>
          <p:nvPr/>
        </p:nvSpPr>
        <p:spPr>
          <a:xfrm>
            <a:off x="6519672" y="2542032"/>
            <a:ext cx="1572768" cy="438912"/>
          </a:xfrm>
          <a:prstGeom prst="roundRect">
            <a:avLst>
              <a:gd name="adj" fmla="val 20833"/>
            </a:avLst>
          </a:prstGeom>
          <a:solidFill>
            <a:srgbClr val="1C5CA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13" name="zoneT0"/>
          <p:cNvSpPr txBox="1"/>
          <p:nvPr/>
        </p:nvSpPr>
        <p:spPr>
          <a:xfrm>
            <a:off x="6519672" y="254203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· heavy</a:t>
            </a:r>
            <a:endParaRPr lang="en-US" sz="1250" dirty="0"/>
          </a:p>
        </p:txBody>
      </p:sp>
      <p:sp>
        <p:nvSpPr>
          <p:cNvPr id="14" name="zone1"/>
          <p:cNvSpPr/>
          <p:nvPr/>
        </p:nvSpPr>
        <p:spPr>
          <a:xfrm>
            <a:off x="8183880" y="2542032"/>
            <a:ext cx="1572768" cy="438912"/>
          </a:xfrm>
          <a:prstGeom prst="roundRect">
            <a:avLst>
              <a:gd name="adj" fmla="val 20833"/>
            </a:avLst>
          </a:prstGeom>
          <a:solidFill>
            <a:srgbClr val="3E7FD6"/>
          </a:solidFill>
          <a:ln w="12700">
            <a:solidFill>
              <a:srgbClr val="3E7FD6"/>
            </a:solidFill>
            <a:prstDash val="solid"/>
          </a:ln>
        </p:spPr>
      </p:sp>
      <p:sp>
        <p:nvSpPr>
          <p:cNvPr id="15" name="zoneT1"/>
          <p:cNvSpPr txBox="1"/>
          <p:nvPr/>
        </p:nvSpPr>
        <p:spPr>
          <a:xfrm>
            <a:off x="8183880" y="254203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· moderate</a:t>
            </a:r>
            <a:endParaRPr lang="en-US" sz="1250" dirty="0"/>
          </a:p>
        </p:txBody>
      </p:sp>
      <p:sp>
        <p:nvSpPr>
          <p:cNvPr id="16" name="zone2"/>
          <p:cNvSpPr/>
          <p:nvPr/>
        </p:nvSpPr>
        <p:spPr>
          <a:xfrm>
            <a:off x="9848088" y="2542032"/>
            <a:ext cx="1572768" cy="438912"/>
          </a:xfrm>
          <a:prstGeom prst="roundRect">
            <a:avLst>
              <a:gd name="adj" fmla="val 20833"/>
            </a:avLst>
          </a:prstGeom>
          <a:solidFill>
            <a:srgbClr val="232D4E"/>
          </a:solidFill>
          <a:ln w="12700">
            <a:solidFill>
              <a:srgbClr val="232D4E"/>
            </a:solidFill>
            <a:prstDash val="solid"/>
          </a:ln>
        </p:spPr>
      </p:sp>
      <p:sp>
        <p:nvSpPr>
          <p:cNvPr id="17" name="zoneT2"/>
          <p:cNvSpPr txBox="1"/>
          <p:nvPr/>
        </p:nvSpPr>
        <p:spPr>
          <a:xfrm>
            <a:off x="9848088" y="254203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· clear</a:t>
            </a:r>
            <a:endParaRPr lang="en-US" sz="1250" dirty="0"/>
          </a:p>
        </p:txBody>
      </p:sp>
      <p:sp>
        <p:nvSpPr>
          <p:cNvPr id="18" name="afterT"/>
          <p:cNvSpPr txBox="1"/>
          <p:nvPr/>
        </p:nvSpPr>
        <p:spPr>
          <a:xfrm>
            <a:off x="6519672" y="3154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acts precisely: the right zone, the right time, the right action.</a:t>
            </a:r>
            <a:endParaRPr lang="en-US" sz="1600" dirty="0"/>
          </a:p>
        </p:txBody>
      </p:sp>
      <p:sp>
        <p:nvSpPr>
          <p:cNvPr id="19" name="app0"/>
          <p:cNvSpPr/>
          <p:nvPr/>
        </p:nvSpPr>
        <p:spPr>
          <a:xfrm>
            <a:off x="548640" y="4206240"/>
            <a:ext cx="3545738" cy="1481328"/>
          </a:xfrm>
          <a:prstGeom prst="roundRect">
            <a:avLst>
              <a:gd name="adj" fmla="val 7407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20" name="app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334256"/>
            <a:ext cx="310896" cy="310896"/>
          </a:xfrm>
          <a:prstGeom prst="rect">
            <a:avLst/>
          </a:prstGeom>
        </p:spPr>
      </p:pic>
      <p:sp>
        <p:nvSpPr>
          <p:cNvPr id="21" name="appH0"/>
          <p:cNvSpPr txBox="1"/>
          <p:nvPr/>
        </p:nvSpPr>
        <p:spPr>
          <a:xfrm>
            <a:off x="1170432" y="4315968"/>
            <a:ext cx="27227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600" dirty="0"/>
          </a:p>
        </p:txBody>
      </p:sp>
      <p:sp>
        <p:nvSpPr>
          <p:cNvPr id="22" name="appT0"/>
          <p:cNvSpPr txBox="1"/>
          <p:nvPr/>
        </p:nvSpPr>
        <p:spPr>
          <a:xfrm>
            <a:off x="749808" y="4709160"/>
            <a:ext cx="317997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only in affected zones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away from severe zones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Weather-linked pricing, where applicable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alerts in dangerous zones</a:t>
            </a:r>
            <a:endParaRPr lang="en-US" sz="1250" dirty="0"/>
          </a:p>
        </p:txBody>
      </p:sp>
      <p:sp>
        <p:nvSpPr>
          <p:cNvPr id="23" name="app1"/>
          <p:cNvSpPr/>
          <p:nvPr/>
        </p:nvSpPr>
        <p:spPr>
          <a:xfrm>
            <a:off x="4322978" y="4206240"/>
            <a:ext cx="3545738" cy="1481328"/>
          </a:xfrm>
          <a:prstGeom prst="roundRect">
            <a:avLst>
              <a:gd name="adj" fmla="val 7407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24" name="app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146" y="4334256"/>
            <a:ext cx="310896" cy="310896"/>
          </a:xfrm>
          <a:prstGeom prst="rect">
            <a:avLst/>
          </a:prstGeom>
        </p:spPr>
      </p:pic>
      <p:sp>
        <p:nvSpPr>
          <p:cNvPr id="25" name="appH1"/>
          <p:cNvSpPr txBox="1"/>
          <p:nvPr/>
        </p:nvSpPr>
        <p:spPr>
          <a:xfrm>
            <a:off x="4944770" y="4315968"/>
            <a:ext cx="27227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1600" dirty="0"/>
          </a:p>
        </p:txBody>
      </p:sp>
      <p:sp>
        <p:nvSpPr>
          <p:cNvPr id="26" name="appT1"/>
          <p:cNvSpPr txBox="1"/>
          <p:nvPr/>
        </p:nvSpPr>
        <p:spPr>
          <a:xfrm>
            <a:off x="4524146" y="4709160"/>
            <a:ext cx="317997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decisions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Delivery-time (ETA) adjustments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1250" dirty="0"/>
          </a:p>
        </p:txBody>
      </p:sp>
      <p:sp>
        <p:nvSpPr>
          <p:cNvPr id="27" name="app2"/>
          <p:cNvSpPr/>
          <p:nvPr/>
        </p:nvSpPr>
        <p:spPr>
          <a:xfrm>
            <a:off x="8097317" y="4206240"/>
            <a:ext cx="3545738" cy="1481328"/>
          </a:xfrm>
          <a:prstGeom prst="roundRect">
            <a:avLst>
              <a:gd name="adj" fmla="val 7407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28" name="app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485" y="4334256"/>
            <a:ext cx="310896" cy="310896"/>
          </a:xfrm>
          <a:prstGeom prst="rect">
            <a:avLst/>
          </a:prstGeom>
        </p:spPr>
      </p:pic>
      <p:sp>
        <p:nvSpPr>
          <p:cNvPr id="29" name="appH2"/>
          <p:cNvSpPr txBox="1"/>
          <p:nvPr/>
        </p:nvSpPr>
        <p:spPr>
          <a:xfrm>
            <a:off x="8719109" y="4315968"/>
            <a:ext cx="27227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</a:t>
            </a:r>
            <a:endParaRPr lang="en-US" sz="1600" dirty="0"/>
          </a:p>
        </p:txBody>
      </p:sp>
      <p:sp>
        <p:nvSpPr>
          <p:cNvPr id="30" name="appT2"/>
          <p:cNvSpPr txBox="1"/>
          <p:nvPr/>
        </p:nvSpPr>
        <p:spPr>
          <a:xfrm>
            <a:off x="8298485" y="4709160"/>
            <a:ext cx="317997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Localised rainfall alerts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response where it’s needed</a:t>
            </a:r>
            <a:endParaRPr lang="en-US" sz="1250" dirty="0"/>
          </a:p>
        </p:txBody>
      </p:sp>
      <p:sp>
        <p:nvSpPr>
          <p:cNvPr id="31" name="takeaway"/>
          <p:cNvSpPr txBox="1"/>
          <p:nvPr/>
        </p:nvSpPr>
        <p:spPr>
          <a:xfrm>
            <a:off x="548640" y="5870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 sells actionable weather intelligence, not just a weather map.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17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49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81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21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640"/>
                            </p:stCondLst>
                            <p:childTnLst>
                              <p:par>
                                <p:cTn id="103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070"/>
                            </p:stCondLst>
                            <p:childTnLst>
                              <p:par>
                                <p:cTn id="124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45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BUSINESS: MAUSAM KAVACH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intelligence can protect the worker</a:t>
            </a:r>
            <a:endParaRPr lang="en-US" sz="3200" dirty="0"/>
          </a:p>
        </p:txBody>
      </p:sp>
      <p:sp>
        <p:nvSpPr>
          <p:cNvPr id="6" name="fl0"/>
          <p:cNvSpPr/>
          <p:nvPr/>
        </p:nvSpPr>
        <p:spPr>
          <a:xfrm>
            <a:off x="548640" y="2103120"/>
            <a:ext cx="2499284" cy="1600200"/>
          </a:xfrm>
          <a:prstGeom prst="roundRect">
            <a:avLst>
              <a:gd name="adj" fmla="val 6857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7" name="fl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384048" cy="384048"/>
          </a:xfrm>
          <a:prstGeom prst="rect">
            <a:avLst/>
          </a:prstGeom>
        </p:spPr>
      </p:pic>
      <p:sp>
        <p:nvSpPr>
          <p:cNvPr id="8" name="flT0"/>
          <p:cNvSpPr txBox="1"/>
          <p:nvPr/>
        </p:nvSpPr>
        <p:spPr>
          <a:xfrm>
            <a:off x="777240" y="2761488"/>
            <a:ext cx="20878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weather event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worker’s zone</a:t>
            </a:r>
            <a:endParaRPr lang="en-US" sz="1600" dirty="0"/>
          </a:p>
        </p:txBody>
      </p:sp>
      <p:sp>
        <p:nvSpPr>
          <p:cNvPr id="9" name="flA0"/>
          <p:cNvSpPr/>
          <p:nvPr/>
        </p:nvSpPr>
        <p:spPr>
          <a:xfrm>
            <a:off x="3047924" y="2898648"/>
            <a:ext cx="365760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0" name="fl1"/>
          <p:cNvSpPr/>
          <p:nvPr/>
        </p:nvSpPr>
        <p:spPr>
          <a:xfrm>
            <a:off x="3413684" y="2103120"/>
            <a:ext cx="2499284" cy="1600200"/>
          </a:xfrm>
          <a:prstGeom prst="roundRect">
            <a:avLst>
              <a:gd name="adj" fmla="val 6857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1" name="fl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284" y="2286000"/>
            <a:ext cx="384048" cy="384048"/>
          </a:xfrm>
          <a:prstGeom prst="rect">
            <a:avLst/>
          </a:prstGeom>
        </p:spPr>
      </p:pic>
      <p:sp>
        <p:nvSpPr>
          <p:cNvPr id="12" name="flT1"/>
          <p:cNvSpPr txBox="1"/>
          <p:nvPr/>
        </p:nvSpPr>
        <p:spPr>
          <a:xfrm>
            <a:off x="3642284" y="2761488"/>
            <a:ext cx="20878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 verifies the trigger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confidence-checked against radar and gauges</a:t>
            </a:r>
            <a:endParaRPr lang="en-US" sz="1600" dirty="0"/>
          </a:p>
        </p:txBody>
      </p:sp>
      <p:sp>
        <p:nvSpPr>
          <p:cNvPr id="13" name="flA1"/>
          <p:cNvSpPr/>
          <p:nvPr/>
        </p:nvSpPr>
        <p:spPr>
          <a:xfrm>
            <a:off x="5912968" y="2898648"/>
            <a:ext cx="365760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4" name="fl2"/>
          <p:cNvSpPr/>
          <p:nvPr/>
        </p:nvSpPr>
        <p:spPr>
          <a:xfrm>
            <a:off x="6278728" y="2103120"/>
            <a:ext cx="2499284" cy="1600200"/>
          </a:xfrm>
          <a:prstGeom prst="roundRect">
            <a:avLst>
              <a:gd name="adj" fmla="val 6857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5" name="fl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2286000"/>
            <a:ext cx="384048" cy="384048"/>
          </a:xfrm>
          <a:prstGeom prst="rect">
            <a:avLst/>
          </a:prstGeom>
        </p:spPr>
      </p:pic>
      <p:sp>
        <p:nvSpPr>
          <p:cNvPr id="16" name="flT2"/>
          <p:cNvSpPr txBox="1"/>
          <p:nvPr/>
        </p:nvSpPr>
        <p:spPr>
          <a:xfrm>
            <a:off x="6507328" y="2761488"/>
            <a:ext cx="20878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insurer pays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carries the risk, not Jio</a:t>
            </a:r>
            <a:endParaRPr lang="en-US" sz="1600" dirty="0"/>
          </a:p>
        </p:txBody>
      </p:sp>
      <p:sp>
        <p:nvSpPr>
          <p:cNvPr id="17" name="flA2"/>
          <p:cNvSpPr/>
          <p:nvPr/>
        </p:nvSpPr>
        <p:spPr>
          <a:xfrm>
            <a:off x="8778011" y="2898648"/>
            <a:ext cx="365760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8" name="fl3"/>
          <p:cNvSpPr/>
          <p:nvPr/>
        </p:nvSpPr>
        <p:spPr>
          <a:xfrm>
            <a:off x="9143771" y="2103120"/>
            <a:ext cx="2499284" cy="1600200"/>
          </a:xfrm>
          <a:prstGeom prst="roundRect">
            <a:avLst>
              <a:gd name="adj" fmla="val 6857"/>
            </a:avLst>
          </a:prstGeom>
          <a:solidFill>
            <a:srgbClr val="2B2208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19" name="flI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371" y="2286000"/>
            <a:ext cx="384048" cy="384048"/>
          </a:xfrm>
          <a:prstGeom prst="rect">
            <a:avLst/>
          </a:prstGeom>
        </p:spPr>
      </p:pic>
      <p:sp>
        <p:nvSpPr>
          <p:cNvPr id="20" name="flT3"/>
          <p:cNvSpPr txBox="1"/>
          <p:nvPr/>
        </p:nvSpPr>
        <p:spPr>
          <a:xfrm>
            <a:off x="9372371" y="2761488"/>
            <a:ext cx="20878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benefit, e.g. ₹300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eligible worker’s bank or UPI</a:t>
            </a:r>
            <a:endParaRPr lang="en-US" sz="1600" dirty="0"/>
          </a:p>
        </p:txBody>
      </p:sp>
      <p:sp>
        <p:nvSpPr>
          <p:cNvPr id="21" name="cmp0"/>
          <p:cNvSpPr/>
          <p:nvPr/>
        </p:nvSpPr>
        <p:spPr>
          <a:xfrm>
            <a:off x="548640" y="393192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2" name="cmpH0"/>
          <p:cNvSpPr txBox="1"/>
          <p:nvPr/>
        </p:nvSpPr>
        <p:spPr>
          <a:xfrm>
            <a:off x="822960" y="39319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8A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insurance</a:t>
            </a:r>
            <a:endParaRPr lang="en-US" sz="1600" dirty="0"/>
          </a:p>
        </p:txBody>
      </p:sp>
      <p:sp>
        <p:nvSpPr>
          <p:cNvPr id="23" name="cmpT0"/>
          <p:cNvSpPr txBox="1"/>
          <p:nvPr/>
        </p:nvSpPr>
        <p:spPr>
          <a:xfrm>
            <a:off x="3611880" y="39319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 →  claim  →  assessment  →  payout</a:t>
            </a:r>
            <a:endParaRPr lang="en-US" sz="1500" dirty="0"/>
          </a:p>
        </p:txBody>
      </p:sp>
      <p:sp>
        <p:nvSpPr>
          <p:cNvPr id="24" name="cmp1"/>
          <p:cNvSpPr/>
          <p:nvPr/>
        </p:nvSpPr>
        <p:spPr>
          <a:xfrm>
            <a:off x="548640" y="461772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5" name="cmpH1"/>
          <p:cNvSpPr txBox="1"/>
          <p:nvPr/>
        </p:nvSpPr>
        <p:spPr>
          <a:xfrm>
            <a:off x="822960" y="46177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Mausam Kavach</a:t>
            </a:r>
            <a:endParaRPr lang="en-US" sz="1600" dirty="0"/>
          </a:p>
        </p:txBody>
      </p:sp>
      <p:sp>
        <p:nvSpPr>
          <p:cNvPr id="26" name="cmpT1"/>
          <p:cNvSpPr txBox="1"/>
          <p:nvPr/>
        </p:nvSpPr>
        <p:spPr>
          <a:xfrm>
            <a:off x="3611880" y="46177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trigger  →  predefined benefit, target within 6 hours</a:t>
            </a:r>
            <a:endParaRPr lang="en-US" sz="1500" dirty="0"/>
          </a:p>
        </p:txBody>
      </p:sp>
      <p:sp>
        <p:nvSpPr>
          <p:cNvPr id="27" name="note"/>
          <p:cNvSpPr txBox="1"/>
          <p:nvPr/>
        </p:nvSpPr>
        <p:spPr>
          <a:xfrm>
            <a:off x="548640" y="53492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worker = active in the affected zone when the qualifying event began.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 and the trigger threshold are prototype assumptions; final parameters are actuarially calibrated in the pilot.</a:t>
            </a:r>
            <a:endParaRPr lang="en-US" sz="1250" dirty="0"/>
          </a:p>
        </p:txBody>
      </p:sp>
      <p:sp>
        <p:nvSpPr>
          <p:cNvPr id="28" name="takeaway"/>
          <p:cNvSpPr txBox="1"/>
          <p:nvPr/>
        </p:nvSpPr>
        <p:spPr>
          <a:xfrm>
            <a:off x="548640" y="592531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 doesn’t prove the loss. The weather event triggers the benefit.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1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7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13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9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1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61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06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 animBg="1"/>
      <p:bldP spid="10" grpId="0" animBg="1"/>
      <p:bldP spid="12" grpId="0"/>
      <p:bldP spid="13" grpId="0" animBg="1"/>
      <p:bldP spid="14" grpId="0" animBg="1"/>
      <p:bldP spid="16" grpId="0"/>
      <p:bldP spid="17" grpId="0" animBg="1"/>
      <p:bldP spid="18" grpId="0" animBg="1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 LAYER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cities, different risks, different prices</a:t>
            </a:r>
            <a:endParaRPr lang="en-US" sz="32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70408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91640"/>
                <a:gridCol w="1005840"/>
                <a:gridCol w="1143000"/>
                <a:gridCol w="123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· 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days a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paid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price a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≥204.5 mm rain a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≥47°C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≥47°C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 floor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Plus (platform)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≥64.5 mm rain a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(cap)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</a:tr>
            </a:tbl>
          </a:graphicData>
        </a:graphic>
      </p:graphicFrame>
      <p:sp>
        <p:nvSpPr>
          <p:cNvPr id="7" name="formula"/>
          <p:cNvSpPr txBox="1"/>
          <p:nvPr/>
        </p:nvSpPr>
        <p:spPr>
          <a:xfrm>
            <a:off x="548640" y="446227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expected paid days × ₹300 ÷ 60% ÷ 12</a:t>
            </a:r>
            <a:endParaRPr lang="en-US" sz="1500" dirty="0"/>
          </a:p>
        </p:txBody>
      </p:sp>
      <p:sp>
        <p:nvSpPr>
          <p:cNvPr id="8" name="plusNote"/>
          <p:cNvSpPr txBox="1"/>
          <p:nvPr/>
        </p:nvSpPr>
        <p:spPr>
          <a:xfrm>
            <a:off x="548640" y="48463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covers rare extremes for individuals. Plus covers Mumbai’s ~12 heavy-rain days a year, sponsored by platforms; its 10 mm in 3 h live trigger is a prototype the pilot recalibrates.</a:t>
            </a:r>
            <a:endParaRPr lang="en-US" sz="1300" dirty="0"/>
          </a:p>
        </p:txBody>
      </p:sp>
      <p:sp>
        <p:nvSpPr>
          <p:cNvPr id="9" name="city0"/>
          <p:cNvSpPr/>
          <p:nvPr/>
        </p:nvSpPr>
        <p:spPr>
          <a:xfrm>
            <a:off x="7863840" y="2057400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C2447"/>
          </a:solidFill>
          <a:ln w="9525">
            <a:solidFill>
              <a:srgbClr val="F5A623"/>
            </a:solidFill>
            <a:prstDash val="solid"/>
          </a:ln>
        </p:spPr>
      </p:sp>
      <p:pic>
        <p:nvPicPr>
          <p:cNvPr id="10" name="city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2304288"/>
            <a:ext cx="365760" cy="365760"/>
          </a:xfrm>
          <a:prstGeom prst="rect">
            <a:avLst/>
          </a:prstGeom>
        </p:spPr>
      </p:pic>
      <p:sp>
        <p:nvSpPr>
          <p:cNvPr id="11" name="cityT0"/>
          <p:cNvSpPr txBox="1"/>
          <p:nvPr/>
        </p:nvSpPr>
        <p:spPr>
          <a:xfrm>
            <a:off x="8577072" y="21762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· rain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 heavy-rain days a year</a:t>
            </a:r>
            <a:endParaRPr lang="en-US" sz="1500" dirty="0"/>
          </a:p>
        </p:txBody>
      </p:sp>
      <p:sp>
        <p:nvSpPr>
          <p:cNvPr id="12" name="cityP0"/>
          <p:cNvSpPr txBox="1"/>
          <p:nvPr/>
        </p:nvSpPr>
        <p:spPr>
          <a:xfrm>
            <a:off x="10607040" y="20574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13" name="city1"/>
          <p:cNvSpPr/>
          <p:nvPr/>
        </p:nvSpPr>
        <p:spPr>
          <a:xfrm>
            <a:off x="7863840" y="3044952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4" name="city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3291840"/>
            <a:ext cx="365760" cy="365760"/>
          </a:xfrm>
          <a:prstGeom prst="rect">
            <a:avLst/>
          </a:prstGeom>
        </p:spPr>
      </p:pic>
      <p:sp>
        <p:nvSpPr>
          <p:cNvPr id="15" name="cityT1"/>
          <p:cNvSpPr txBox="1"/>
          <p:nvPr/>
        </p:nvSpPr>
        <p:spPr>
          <a:xfrm>
            <a:off x="8577072" y="316382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· heat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 days at 45°C or more a year</a:t>
            </a:r>
            <a:endParaRPr lang="en-US" sz="1500" dirty="0"/>
          </a:p>
        </p:txBody>
      </p:sp>
      <p:sp>
        <p:nvSpPr>
          <p:cNvPr id="16" name="cityP1"/>
          <p:cNvSpPr txBox="1"/>
          <p:nvPr/>
        </p:nvSpPr>
        <p:spPr>
          <a:xfrm>
            <a:off x="10607040" y="3044952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city2"/>
          <p:cNvSpPr/>
          <p:nvPr/>
        </p:nvSpPr>
        <p:spPr>
          <a:xfrm>
            <a:off x="7863840" y="4032504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city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4279392"/>
            <a:ext cx="365760" cy="365760"/>
          </a:xfrm>
          <a:prstGeom prst="rect">
            <a:avLst/>
          </a:prstGeom>
        </p:spPr>
      </p:pic>
      <p:sp>
        <p:nvSpPr>
          <p:cNvPr id="19" name="cityT2"/>
          <p:cNvSpPr txBox="1"/>
          <p:nvPr/>
        </p:nvSpPr>
        <p:spPr>
          <a:xfrm>
            <a:off x="8577072" y="415137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 · heat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days at 45°C or more a year</a:t>
            </a:r>
            <a:endParaRPr lang="en-US" sz="1500" dirty="0"/>
          </a:p>
        </p:txBody>
      </p:sp>
      <p:sp>
        <p:nvSpPr>
          <p:cNvPr id="20" name="cityP2"/>
          <p:cNvSpPr txBox="1"/>
          <p:nvPr/>
        </p:nvSpPr>
        <p:spPr>
          <a:xfrm>
            <a:off x="10607040" y="4032504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21" name="heatNote"/>
          <p:cNvSpPr txBox="1"/>
          <p:nvPr/>
        </p:nvSpPr>
        <p:spPr>
          <a:xfrm>
            <a:off x="7863840" y="507492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Rain: Jio’s own sensing. Heat: IMD stations and satellite, through the same engine.</a:t>
            </a:r>
            <a:endParaRPr lang="en-US" sz="1250" dirty="0"/>
          </a:p>
        </p:txBody>
      </p:sp>
      <p:sp>
        <p:nvSpPr>
          <p:cNvPr id="22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flat price can’t fit India’s different weather risks.</a:t>
            </a:r>
            <a:endParaRPr lang="en-US" sz="18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station data 2000–2024 · ₹300 payout · 5-day annual cap · illustrative 60% loss ratio · final pricing subject to actuarial validation.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3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86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29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69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Graphic spid="8" grpId="0">
        <p:bldAsOne/>
      </p:bldGraphic>
      <p:bldP spid="7" grpId="0"/>
      <p:bldP spid="9" grpId="0" animBg="1"/>
      <p:bldP spid="11" grpId="0"/>
      <p:bldP spid="12" grpId="0"/>
      <p:bldP spid="13" grpId="0" animBg="1"/>
      <p:bldP spid="15" grpId="0"/>
      <p:bldP spid="16" grpId="0"/>
      <p:bldP spid="17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PAYS, AND HOW JIO EARNS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Monetise the intelligence. Carry no insurance risk</a:t>
            </a:r>
            <a:endParaRPr lang="en-US" sz="3200" dirty="0"/>
          </a:p>
        </p:txBody>
      </p:sp>
      <p:graphicFrame>
        <p:nvGraphicFramePr>
          <p:cNvPr id="9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852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21031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intelligence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weather-sensitive decisions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Platform-sponsored Kavach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or logistics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protection and resilience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Co-funded Kavach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+ worker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protection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Kavach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protection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</a:tbl>
          </a:graphicData>
        </a:graphic>
      </p:graphicFrame>
      <p:sp>
        <p:nvSpPr>
          <p:cNvPr id="7" name="payNote"/>
          <p:cNvSpPr txBox="1"/>
          <p:nvPr/>
        </p:nvSpPr>
        <p:spPr>
          <a:xfrm>
            <a:off x="548640" y="47548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identifies the commercially viable payer model.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Jio’s core revenue doesn’t depend on insurance adoption.</a:t>
            </a:r>
            <a:endParaRPr lang="en-US" sz="1450" dirty="0"/>
          </a:p>
        </p:txBody>
      </p:sp>
      <p:sp>
        <p:nvSpPr>
          <p:cNvPr id="8" name="rev0"/>
          <p:cNvSpPr/>
          <p:nvPr/>
        </p:nvSpPr>
        <p:spPr>
          <a:xfrm>
            <a:off x="6675120" y="2057400"/>
            <a:ext cx="4965192" cy="896112"/>
          </a:xfrm>
          <a:prstGeom prst="roundRect">
            <a:avLst>
              <a:gd name="adj" fmla="val 12245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9" name="revN0"/>
          <p:cNvSpPr txBox="1"/>
          <p:nvPr/>
        </p:nvSpPr>
        <p:spPr>
          <a:xfrm>
            <a:off x="6858000" y="21671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revT0"/>
          <p:cNvSpPr txBox="1"/>
          <p:nvPr/>
        </p:nvSpPr>
        <p:spPr>
          <a:xfrm>
            <a:off x="7452360" y="216712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and data fees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API, alerts and operational intelligence: recurring B2B revenue</a:t>
            </a:r>
            <a:endParaRPr lang="en-US" sz="1550" dirty="0"/>
          </a:p>
        </p:txBody>
      </p:sp>
      <p:sp>
        <p:nvSpPr>
          <p:cNvPr id="11" name="rev1"/>
          <p:cNvSpPr/>
          <p:nvPr/>
        </p:nvSpPr>
        <p:spPr>
          <a:xfrm>
            <a:off x="6675120" y="3090672"/>
            <a:ext cx="4965192" cy="1261872"/>
          </a:xfrm>
          <a:prstGeom prst="roundRect">
            <a:avLst>
              <a:gd name="adj" fmla="val 8696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2" name="revN1"/>
          <p:cNvSpPr txBox="1"/>
          <p:nvPr/>
        </p:nvSpPr>
        <p:spPr>
          <a:xfrm>
            <a:off x="685800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revT1"/>
          <p:cNvSpPr txBox="1"/>
          <p:nvPr/>
        </p:nvSpPr>
        <p:spPr>
          <a:xfrm>
            <a:off x="7452360" y="3200400"/>
            <a:ext cx="4023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distribution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insurer carries the risk; Jio earns data, technology and distribution fees. Example: 50,000 riders × ₹208 × 12 = ₹12.5 Cr premium pool (illustrative, not Jio revenue)</a:t>
            </a:r>
            <a:endParaRPr lang="en-US" sz="1550" dirty="0"/>
          </a:p>
        </p:txBody>
      </p:sp>
      <p:sp>
        <p:nvSpPr>
          <p:cNvPr id="14" name="rev2"/>
          <p:cNvSpPr/>
          <p:nvPr/>
        </p:nvSpPr>
        <p:spPr>
          <a:xfrm>
            <a:off x="6675120" y="4489704"/>
            <a:ext cx="4965192" cy="896112"/>
          </a:xfrm>
          <a:prstGeom prst="roundRect">
            <a:avLst>
              <a:gd name="adj" fmla="val 1224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5" name="revN2"/>
          <p:cNvSpPr txBox="1"/>
          <p:nvPr/>
        </p:nvSpPr>
        <p:spPr>
          <a:xfrm>
            <a:off x="6858000" y="4599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revT2"/>
          <p:cNvSpPr txBox="1"/>
          <p:nvPr/>
        </p:nvSpPr>
        <p:spPr>
          <a:xfrm>
            <a:off x="7452360" y="459943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and enterprise applications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operations first, then enterprises, cities and insurers</a:t>
            </a:r>
            <a:endParaRPr lang="en-US" sz="1550" dirty="0"/>
          </a:p>
        </p:txBody>
      </p:sp>
      <p:sp>
        <p:nvSpPr>
          <p:cNvPr id="17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weather-intelligence business stands even if insurance isn’t adopted.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9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98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47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Graphic spid="9" grpId="0">
        <p:bldAsOne/>
      </p:bldGraphic>
      <p:bldP spid="7" grpId="0"/>
      <p:bldP spid="8" grpId="0" animBg="1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JIO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 isn’t the sensor. It’s the ecosystem</a:t>
            </a:r>
            <a:endParaRPr lang="en-US" sz="3200" dirty="0"/>
          </a:p>
        </p:txBody>
      </p:sp>
      <p:sp>
        <p:nvSpPr>
          <p:cNvPr id="6" name="lay0"/>
          <p:cNvSpPr/>
          <p:nvPr/>
        </p:nvSpPr>
        <p:spPr>
          <a:xfrm>
            <a:off x="548640" y="2057400"/>
            <a:ext cx="7040880" cy="731520"/>
          </a:xfrm>
          <a:prstGeom prst="roundRect">
            <a:avLst>
              <a:gd name="adj" fmla="val 15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layK0"/>
          <p:cNvSpPr/>
          <p:nvPr/>
        </p:nvSpPr>
        <p:spPr>
          <a:xfrm>
            <a:off x="685800" y="219456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layKT0"/>
          <p:cNvSpPr txBox="1"/>
          <p:nvPr/>
        </p:nvSpPr>
        <p:spPr>
          <a:xfrm>
            <a:off x="68580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400" dirty="0"/>
          </a:p>
        </p:txBody>
      </p:sp>
      <p:pic>
        <p:nvPicPr>
          <p:cNvPr id="9" name="lay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240280"/>
            <a:ext cx="365760" cy="365760"/>
          </a:xfrm>
          <a:prstGeom prst="rect">
            <a:avLst/>
          </a:prstGeom>
        </p:spPr>
      </p:pic>
      <p:sp>
        <p:nvSpPr>
          <p:cNvPr id="10" name="layT0"/>
          <p:cNvSpPr txBox="1"/>
          <p:nvPr/>
        </p:nvSpPr>
        <p:spPr>
          <a:xfrm>
            <a:off x="3017520" y="20574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network</a:t>
            </a:r>
            <a:pPr indent="0" marL="0">
              <a:buNone/>
            </a:pPr>
            <a:r>
              <a:rPr lang="en-US" sz="14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existing telecom infrastructure</a:t>
            </a:r>
            <a:endParaRPr lang="en-US" sz="1700" dirty="0"/>
          </a:p>
        </p:txBody>
      </p:sp>
      <p:sp>
        <p:nvSpPr>
          <p:cNvPr id="11" name="lay1"/>
          <p:cNvSpPr/>
          <p:nvPr/>
        </p:nvSpPr>
        <p:spPr>
          <a:xfrm>
            <a:off x="548640" y="2926080"/>
            <a:ext cx="7040880" cy="731520"/>
          </a:xfrm>
          <a:prstGeom prst="roundRect">
            <a:avLst>
              <a:gd name="adj" fmla="val 15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2" name="layK1"/>
          <p:cNvSpPr/>
          <p:nvPr/>
        </p:nvSpPr>
        <p:spPr>
          <a:xfrm>
            <a:off x="685800" y="306324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layKT1"/>
          <p:cNvSpPr txBox="1"/>
          <p:nvPr/>
        </p:nvSpPr>
        <p:spPr>
          <a:xfrm>
            <a:off x="68580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400" dirty="0"/>
          </a:p>
        </p:txBody>
      </p:sp>
      <p:pic>
        <p:nvPicPr>
          <p:cNvPr id="14" name="lay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108960"/>
            <a:ext cx="365760" cy="365760"/>
          </a:xfrm>
          <a:prstGeom prst="rect">
            <a:avLst/>
          </a:prstGeom>
        </p:spPr>
      </p:pic>
      <p:sp>
        <p:nvSpPr>
          <p:cNvPr id="15" name="layT1"/>
          <p:cNvSpPr txBox="1"/>
          <p:nvPr/>
        </p:nvSpPr>
        <p:spPr>
          <a:xfrm>
            <a:off x="3017520" y="29260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</a:t>
            </a:r>
            <a:pPr indent="0" marL="0">
              <a:buNone/>
            </a:pPr>
            <a:r>
              <a:rPr lang="en-US" sz="14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weather-intelligence engine</a:t>
            </a:r>
            <a:endParaRPr lang="en-US" sz="1700" dirty="0"/>
          </a:p>
        </p:txBody>
      </p:sp>
      <p:sp>
        <p:nvSpPr>
          <p:cNvPr id="16" name="lay2"/>
          <p:cNvSpPr/>
          <p:nvPr/>
        </p:nvSpPr>
        <p:spPr>
          <a:xfrm>
            <a:off x="548640" y="3794760"/>
            <a:ext cx="7040880" cy="731520"/>
          </a:xfrm>
          <a:prstGeom prst="roundRect">
            <a:avLst>
              <a:gd name="adj" fmla="val 15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7" name="layK2"/>
          <p:cNvSpPr/>
          <p:nvPr/>
        </p:nvSpPr>
        <p:spPr>
          <a:xfrm>
            <a:off x="685800" y="393192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layKT2"/>
          <p:cNvSpPr txBox="1"/>
          <p:nvPr/>
        </p:nvSpPr>
        <p:spPr>
          <a:xfrm>
            <a:off x="68580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400" dirty="0"/>
          </a:p>
        </p:txBody>
      </p:sp>
      <p:pic>
        <p:nvPicPr>
          <p:cNvPr id="19" name="lay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3977640"/>
            <a:ext cx="365760" cy="365760"/>
          </a:xfrm>
          <a:prstGeom prst="rect">
            <a:avLst/>
          </a:prstGeom>
        </p:spPr>
      </p:pic>
      <p:sp>
        <p:nvSpPr>
          <p:cNvPr id="20" name="layT2"/>
          <p:cNvSpPr txBox="1"/>
          <p:nvPr/>
        </p:nvSpPr>
        <p:spPr>
          <a:xfrm>
            <a:off x="3017520" y="37947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ecosystem</a:t>
            </a:r>
            <a:pPr indent="0" marL="0">
              <a:buNone/>
            </a:pPr>
            <a:r>
              <a:rPr lang="en-US" sz="14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consumer and enterprise distribution</a:t>
            </a:r>
            <a:endParaRPr lang="en-US" sz="1700" dirty="0"/>
          </a:p>
        </p:txBody>
      </p:sp>
      <p:sp>
        <p:nvSpPr>
          <p:cNvPr id="21" name="lay3"/>
          <p:cNvSpPr/>
          <p:nvPr/>
        </p:nvSpPr>
        <p:spPr>
          <a:xfrm>
            <a:off x="548640" y="4663440"/>
            <a:ext cx="7040880" cy="731520"/>
          </a:xfrm>
          <a:prstGeom prst="roundRect">
            <a:avLst>
              <a:gd name="adj" fmla="val 15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2" name="layK3"/>
          <p:cNvSpPr/>
          <p:nvPr/>
        </p:nvSpPr>
        <p:spPr>
          <a:xfrm>
            <a:off x="685800" y="48006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layKT3"/>
          <p:cNvSpPr txBox="1"/>
          <p:nvPr/>
        </p:nvSpPr>
        <p:spPr>
          <a:xfrm>
            <a:off x="685800" y="4800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</a:t>
            </a:r>
            <a:endParaRPr lang="en-US" sz="1400" dirty="0"/>
          </a:p>
        </p:txBody>
      </p:sp>
      <p:pic>
        <p:nvPicPr>
          <p:cNvPr id="24" name="layI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4846320"/>
            <a:ext cx="365760" cy="365760"/>
          </a:xfrm>
          <a:prstGeom prst="rect">
            <a:avLst/>
          </a:prstGeom>
        </p:spPr>
      </p:pic>
      <p:sp>
        <p:nvSpPr>
          <p:cNvPr id="25" name="layT3"/>
          <p:cNvSpPr txBox="1"/>
          <p:nvPr/>
        </p:nvSpPr>
        <p:spPr>
          <a:xfrm>
            <a:off x="3017520" y="4663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JFS + licensed insurers</a:t>
            </a:r>
            <a:pPr indent="0" marL="0">
              <a:buNone/>
            </a:pPr>
            <a:r>
              <a:rPr lang="en-US" sz="14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financial and insurance layer</a:t>
            </a:r>
            <a:endParaRPr lang="en-US" sz="1700" dirty="0"/>
          </a:p>
        </p:txBody>
      </p:sp>
      <p:sp>
        <p:nvSpPr>
          <p:cNvPr id="26" name="claim"/>
          <p:cNvSpPr/>
          <p:nvPr/>
        </p:nvSpPr>
        <p:spPr>
          <a:xfrm>
            <a:off x="7909560" y="2057400"/>
            <a:ext cx="3730752" cy="3337560"/>
          </a:xfrm>
          <a:prstGeom prst="roundRect">
            <a:avLst>
              <a:gd name="adj" fmla="val 3288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27" name="claim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2286000"/>
            <a:ext cx="411480" cy="411480"/>
          </a:xfrm>
          <a:prstGeom prst="rect">
            <a:avLst/>
          </a:prstGeom>
        </p:spPr>
      </p:pic>
      <p:sp>
        <p:nvSpPr>
          <p:cNvPr id="28" name="claimT"/>
          <p:cNvSpPr txBox="1"/>
          <p:nvPr/>
        </p:nvSpPr>
        <p:spPr>
          <a:xfrm>
            <a:off x="8183880" y="28346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Reliance can connect every layer.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startup can sense but can’t reach. An insurer can pay but can’t sense. A network alone can’t insure.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users: Jio network operations, JioMart, MyJio.</a:t>
            </a:r>
            <a:endParaRPr lang="en-US" sz="2200" dirty="0"/>
          </a:p>
        </p:txBody>
      </p:sp>
      <p:sp>
        <p:nvSpPr>
          <p:cNvPr id="29" name="takeaway"/>
          <p:cNvSpPr txBox="1"/>
          <p:nvPr/>
        </p:nvSpPr>
        <p:spPr>
          <a:xfrm>
            <a:off x="548640" y="56235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 doesn’t need to build a new weather network. It can connect sensing, intelligence, distribution and financial services.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9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3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7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1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16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10" grpId="0"/>
      <p:bldP spid="11" grpId="0" animBg="1"/>
      <p:bldP spid="12" grpId="0" animBg="1"/>
      <p:bldP spid="13" grpId="0"/>
      <p:bldP spid="15" grpId="0"/>
      <p:bldP spid="16" grpId="0" animBg="1"/>
      <p:bldP spid="17" grpId="0" animBg="1"/>
      <p:bldP spid="18" grpId="0"/>
      <p:bldP spid="20" grpId="0"/>
      <p:bldP spid="21" grpId="0" animBg="1"/>
      <p:bldP spid="22" grpId="0" animBg="1"/>
      <p:bldP spid="23" grpId="0"/>
      <p:bldP spid="25" grpId="0"/>
      <p:bldP spid="26" grpId="0" animBg="1"/>
      <p:bldP spid="28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believe us. Test it in 90 days</a:t>
            </a:r>
            <a:endParaRPr lang="en-US" sz="3200" dirty="0"/>
          </a:p>
        </p:txBody>
      </p:sp>
      <p:sp>
        <p:nvSpPr>
          <p:cNvPr id="6" name="pr0"/>
          <p:cNvSpPr/>
          <p:nvPr/>
        </p:nvSpPr>
        <p:spPr>
          <a:xfrm>
            <a:off x="548640" y="2011680"/>
            <a:ext cx="6537960" cy="960120"/>
          </a:xfrm>
          <a:prstGeom prst="roundRect">
            <a:avLst>
              <a:gd name="adj" fmla="val 11429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prH0"/>
          <p:cNvSpPr txBox="1"/>
          <p:nvPr/>
        </p:nvSpPr>
        <p:spPr>
          <a:xfrm>
            <a:off x="749808" y="2139696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050" dirty="0"/>
          </a:p>
        </p:txBody>
      </p:sp>
      <p:sp>
        <p:nvSpPr>
          <p:cNvPr id="8" name="prT0"/>
          <p:cNvSpPr txBox="1"/>
          <p:nvPr/>
        </p:nvSpPr>
        <p:spPr>
          <a:xfrm>
            <a:off x="2240280" y="20848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Jio’s Mumbai microwave links: frequency, path geometry, telemetry availability.</a:t>
            </a:r>
            <a:endParaRPr lang="en-US" sz="1250" dirty="0"/>
          </a:p>
        </p:txBody>
      </p:sp>
      <p:sp>
        <p:nvSpPr>
          <p:cNvPr id="9" name="prG0"/>
          <p:cNvSpPr/>
          <p:nvPr/>
        </p:nvSpPr>
        <p:spPr>
          <a:xfrm>
            <a:off x="5440680" y="2176272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0" name="prGT0"/>
          <p:cNvSpPr txBox="1"/>
          <p:nvPr/>
        </p:nvSpPr>
        <p:spPr>
          <a:xfrm>
            <a:off x="5504688" y="2176272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· enough usable links?</a:t>
            </a:r>
            <a:endParaRPr lang="en-US" sz="1050" dirty="0"/>
          </a:p>
        </p:txBody>
      </p:sp>
      <p:sp>
        <p:nvSpPr>
          <p:cNvPr id="11" name="pr1"/>
          <p:cNvSpPr/>
          <p:nvPr/>
        </p:nvSpPr>
        <p:spPr>
          <a:xfrm>
            <a:off x="548640" y="3090672"/>
            <a:ext cx="6537960" cy="960120"/>
          </a:xfrm>
          <a:prstGeom prst="roundRect">
            <a:avLst>
              <a:gd name="adj" fmla="val 11429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2" name="prH1"/>
          <p:cNvSpPr txBox="1"/>
          <p:nvPr/>
        </p:nvSpPr>
        <p:spPr>
          <a:xfrm>
            <a:off x="749808" y="321868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3" name="prT1"/>
          <p:cNvSpPr txBox="1"/>
          <p:nvPr/>
        </p:nvSpPr>
        <p:spPr>
          <a:xfrm>
            <a:off x="2240280" y="316382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 archived Mumbai monsoon data against IMD radar and gauges.</a:t>
            </a:r>
            <a:endParaRPr lang="en-US" sz="1250" dirty="0"/>
          </a:p>
        </p:txBody>
      </p:sp>
      <p:sp>
        <p:nvSpPr>
          <p:cNvPr id="14" name="prG1"/>
          <p:cNvSpPr/>
          <p:nvPr/>
        </p:nvSpPr>
        <p:spPr>
          <a:xfrm>
            <a:off x="5440680" y="3255264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5" name="prGT1"/>
          <p:cNvSpPr txBox="1"/>
          <p:nvPr/>
        </p:nvSpPr>
        <p:spPr>
          <a:xfrm>
            <a:off x="5504688" y="3255264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· ≥80% of events, ±10% totals</a:t>
            </a:r>
            <a:endParaRPr lang="en-US" sz="1050" dirty="0"/>
          </a:p>
        </p:txBody>
      </p:sp>
      <p:sp>
        <p:nvSpPr>
          <p:cNvPr id="16" name="pr2"/>
          <p:cNvSpPr/>
          <p:nvPr/>
        </p:nvSpPr>
        <p:spPr>
          <a:xfrm>
            <a:off x="548640" y="4169664"/>
            <a:ext cx="6537960" cy="960120"/>
          </a:xfrm>
          <a:prstGeom prst="roundRect">
            <a:avLst>
              <a:gd name="adj" fmla="val 11429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7" name="prH2"/>
          <p:cNvSpPr txBox="1"/>
          <p:nvPr/>
        </p:nvSpPr>
        <p:spPr>
          <a:xfrm>
            <a:off x="749808" y="4297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050" dirty="0"/>
          </a:p>
        </p:txBody>
      </p:sp>
      <p:sp>
        <p:nvSpPr>
          <p:cNvPr id="18" name="prT2"/>
          <p:cNvSpPr txBox="1"/>
          <p:nvPr/>
        </p:nvSpPr>
        <p:spPr>
          <a:xfrm>
            <a:off x="2240280" y="424281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 with one Reliance operation in a NE-monsoon city with enough coverage. Shadow Kavach: no money moves.</a:t>
            </a:r>
            <a:endParaRPr lang="en-US" sz="1250" dirty="0"/>
          </a:p>
        </p:txBody>
      </p:sp>
      <p:sp>
        <p:nvSpPr>
          <p:cNvPr id="19" name="prG2"/>
          <p:cNvSpPr/>
          <p:nvPr/>
        </p:nvSpPr>
        <p:spPr>
          <a:xfrm>
            <a:off x="5440680" y="4334256"/>
            <a:ext cx="1508760" cy="640080"/>
          </a:xfrm>
          <a:prstGeom prst="roundRect">
            <a:avLst>
              <a:gd name="adj" fmla="val 14286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0" name="prGT2"/>
          <p:cNvSpPr txBox="1"/>
          <p:nvPr/>
        </p:nvSpPr>
        <p:spPr>
          <a:xfrm>
            <a:off x="5504688" y="4334256"/>
            <a:ext cx="1380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· disruptions, incentives, rider availability</a:t>
            </a:r>
            <a:endParaRPr lang="en-US" sz="1050" dirty="0"/>
          </a:p>
        </p:txBody>
      </p:sp>
      <p:sp>
        <p:nvSpPr>
          <p:cNvPr id="21" name="rmK"/>
          <p:cNvSpPr txBox="1"/>
          <p:nvPr/>
        </p:nvSpPr>
        <p:spPr>
          <a:xfrm>
            <a:off x="7360920" y="201168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graphicFrame>
        <p:nvGraphicFramePr>
          <p:cNvPr id="11" name="rm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2331720"/>
          <a:ext cx="42793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74520"/>
                <a:gridCol w="167335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(core)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Kavach (application)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+ back-test (Mumbai)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payouts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pilot 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+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Cities + enterprises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at recharge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</a:tbl>
          </a:graphicData>
        </a:graphic>
      </p:graphicFrame>
      <p:sp>
        <p:nvSpPr>
          <p:cNvPr id="23" name="close"/>
          <p:cNvSpPr txBox="1"/>
          <p:nvPr/>
        </p:nvSpPr>
        <p:spPr>
          <a:xfrm>
            <a:off x="548640" y="5394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aren’t asking Jio to build another weather network. </a:t>
            </a:r>
            <a:pPr algn="ctr" indent="0" marL="0">
              <a:buNone/>
            </a:pPr>
            <a:r>
              <a:rPr lang="en-US" sz="19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We’re asking it to discover what its existing network can already tell us.</a:t>
            </a:r>
            <a:endParaRPr lang="en-US" sz="1900" dirty="0"/>
          </a:p>
        </p:txBody>
      </p:sp>
      <p:sp>
        <p:nvSpPr>
          <p:cNvPr id="24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also requires under 15% of our triggers to go unconfirmed by radar. Months 4–12 include Mumbai’s 2027 monsoon and the April–June heat season.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1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7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13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1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 animBg="1"/>
      <p:bldP spid="12" grpId="0"/>
      <p:bldP spid="13" grpId="0"/>
      <p:bldP spid="14" grpId="0" animBg="1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3" grpId="0"/>
      <p:bldP spid="24" grpId="0"/>
    </p:bldLst>
  </p:timing>
</p:sld>
</file>

<file path=ppt/theme/theme1.xml><?xml version="1.0" encoding="utf-8"?>
<a:theme xmlns:a="http://schemas.openxmlformats.org/drawingml/2006/main" name="JioMausam Night">
  <a:themeElements>
    <a:clrScheme name="JioMausam Night">
      <a:dk1>
        <a:srgbClr val="0B1020"/>
      </a:dk1>
      <a:lt1>
        <a:srgbClr val="FFFFFF"/>
      </a:lt1>
      <a:dk2>
        <a:srgbClr val="1A2246"/>
      </a:dk2>
      <a:lt2>
        <a:srgbClr val="EEF1F7"/>
      </a:lt2>
      <a:accent1>
        <a:srgbClr val="F5A623"/>
      </a:accent1>
      <a:accent2>
        <a:srgbClr val="3987E5"/>
      </a:accent2>
      <a:accent3>
        <a:srgbClr val="D95926"/>
      </a:accent3>
      <a:accent4>
        <a:srgbClr val="1BAF7A"/>
      </a:accent4>
      <a:accent5>
        <a:srgbClr val="E5484D"/>
      </a:accent5>
      <a:accent6>
        <a:srgbClr val="98A2C0"/>
      </a:accent6>
      <a:hlink>
        <a:srgbClr val="F5A623"/>
      </a:hlink>
      <a:folHlink>
        <a:srgbClr val="C98500"/>
      </a:folHlink>
    </a:clrScheme>
    <a:fontScheme name="JioMausam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JioMausam · Reliance T.U.P XII · Elimination round</dc:title>
  <dc:subject>PptxGenJS Presentation</dc:subject>
  <dc:creator>JioMausam team</dc:creator>
  <cp:lastModifiedBy>JioMausam team</cp:lastModifiedBy>
  <cp:revision>1</cp:revision>
  <dcterms:created xsi:type="dcterms:W3CDTF">2026-10-03T19:35:11Z</dcterms:created>
  <dcterms:modified xsi:type="dcterms:W3CDTF">2026-10-03T19:35:11Z</dcterms:modified>
</cp:coreProperties>
</file>