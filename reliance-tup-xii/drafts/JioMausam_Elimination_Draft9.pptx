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8ededc2d-544c-4717-bcbe-b4a98c36033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Santacruz</c:v>
                  </c:pt>
                  <c:pt idx="1">
                    <c:v>Colaba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944</c:v>
                </c:pt>
                <c:pt idx="1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B9C2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B9C2D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B9C2D8"/>
                </a:solidFill>
                <a:latin typeface="Calibri"/>
              </a:rPr>
              <a:t>Network average, hour by hour: links tracked radar closely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Radar</c:v>
                </c:pt>
              </c:strCache>
            </c:strRef>
          </c:tx>
          <c:spPr>
            <a:solidFill>
              <a:srgbClr val="D95926"/>
            </a:solidFill>
            <a:ln w="254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Sheet1!$B$2:$B$265</c:f>
              <c:numCache>
                <c:formatCode>General</c:formatCode>
                <c:ptCount val="264"/>
                <c:pt idx="0">
                  <c:v>0.01</c:v>
                </c:pt>
                <c:pt idx="1">
                  <c:v>0.03</c:v>
                </c:pt>
                <c:pt idx="2">
                  <c:v>0.07</c:v>
                </c:pt>
                <c:pt idx="3">
                  <c:v>0.07</c:v>
                </c:pt>
                <c:pt idx="4">
                  <c:v>0.13</c:v>
                </c:pt>
                <c:pt idx="5">
                  <c:v>0.13</c:v>
                </c:pt>
                <c:pt idx="6">
                  <c:v>0.1</c:v>
                </c:pt>
                <c:pt idx="7">
                  <c:v>0.03</c:v>
                </c:pt>
                <c:pt idx="8">
                  <c:v>0.06</c:v>
                </c:pt>
                <c:pt idx="9">
                  <c:v>0.14</c:v>
                </c:pt>
                <c:pt idx="10">
                  <c:v>0.36</c:v>
                </c:pt>
                <c:pt idx="11">
                  <c:v>0.8</c:v>
                </c:pt>
                <c:pt idx="12">
                  <c:v>1.04</c:v>
                </c:pt>
                <c:pt idx="13">
                  <c:v>0.51</c:v>
                </c:pt>
                <c:pt idx="14">
                  <c:v>0.44</c:v>
                </c:pt>
                <c:pt idx="15">
                  <c:v>0.25</c:v>
                </c:pt>
                <c:pt idx="16">
                  <c:v>0.22</c:v>
                </c:pt>
                <c:pt idx="17">
                  <c:v>0.27</c:v>
                </c:pt>
                <c:pt idx="18">
                  <c:v>0.41</c:v>
                </c:pt>
                <c:pt idx="19">
                  <c:v>0.2</c:v>
                </c:pt>
                <c:pt idx="20">
                  <c:v>0.03</c:v>
                </c:pt>
                <c:pt idx="21">
                  <c:v>0.02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0.01</c:v>
                </c:pt>
                <c:pt idx="65">
                  <c:v>0.03</c:v>
                </c:pt>
                <c:pt idx="66">
                  <c:v>0.03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0.02</c:v>
                </c:pt>
                <c:pt idx="79">
                  <c:v>0.02</c:v>
                </c:pt>
                <c:pt idx="80">
                  <c:v>0.02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0.13</c:v>
                </c:pt>
                <c:pt idx="85">
                  <c:v>0.4</c:v>
                </c:pt>
                <c:pt idx="86">
                  <c:v>0.54</c:v>
                </c:pt>
                <c:pt idx="87">
                  <c:v>1.22</c:v>
                </c:pt>
                <c:pt idx="88">
                  <c:v>1.35</c:v>
                </c:pt>
                <c:pt idx="89">
                  <c:v>1.18</c:v>
                </c:pt>
                <c:pt idx="90">
                  <c:v>1.54</c:v>
                </c:pt>
                <c:pt idx="91">
                  <c:v>1.75</c:v>
                </c:pt>
                <c:pt idx="92">
                  <c:v>1.51</c:v>
                </c:pt>
                <c:pt idx="93">
                  <c:v>1.86</c:v>
                </c:pt>
                <c:pt idx="94">
                  <c:v>1.75</c:v>
                </c:pt>
                <c:pt idx="95">
                  <c:v>1.55</c:v>
                </c:pt>
                <c:pt idx="96">
                  <c:v>0.87</c:v>
                </c:pt>
                <c:pt idx="97">
                  <c:v>0.25</c:v>
                </c:pt>
                <c:pt idx="98">
                  <c:v>0.25</c:v>
                </c:pt>
                <c:pt idx="99">
                  <c:v>0.3</c:v>
                </c:pt>
                <c:pt idx="100">
                  <c:v>0.16</c:v>
                </c:pt>
                <c:pt idx="101">
                  <c:v>0.09</c:v>
                </c:pt>
                <c:pt idx="102">
                  <c:v>0.05</c:v>
                </c:pt>
                <c:pt idx="103">
                  <c:v>0.04</c:v>
                </c:pt>
                <c:pt idx="104">
                  <c:v>0.01</c:v>
                </c:pt>
                <c:pt idx="105">
                  <c:v>0.02</c:v>
                </c:pt>
                <c:pt idx="106">
                  <c:v>0.02</c:v>
                </c:pt>
                <c:pt idx="107">
                  <c:v>0.04</c:v>
                </c:pt>
                <c:pt idx="108">
                  <c:v>0.25</c:v>
                </c:pt>
                <c:pt idx="109">
                  <c:v>0.38</c:v>
                </c:pt>
                <c:pt idx="110">
                  <c:v>0.7</c:v>
                </c:pt>
                <c:pt idx="111">
                  <c:v>0.63</c:v>
                </c:pt>
                <c:pt idx="112">
                  <c:v>0.41</c:v>
                </c:pt>
                <c:pt idx="113">
                  <c:v>0.17</c:v>
                </c:pt>
                <c:pt idx="114">
                  <c:v>0.29</c:v>
                </c:pt>
                <c:pt idx="115">
                  <c:v>0.45</c:v>
                </c:pt>
                <c:pt idx="116">
                  <c:v>0.42</c:v>
                </c:pt>
                <c:pt idx="117">
                  <c:v>0.49</c:v>
                </c:pt>
                <c:pt idx="118">
                  <c:v>0.11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0.01</c:v>
                </c:pt>
                <c:pt idx="125">
                  <c:v>0.03</c:v>
                </c:pt>
                <c:pt idx="126">
                  <c:v>0.03</c:v>
                </c:pt>
                <c:pt idx="127">
                  <c:v>0.05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0.03</c:v>
                </c:pt>
                <c:pt idx="132">
                  <c:v>0.15</c:v>
                </c:pt>
                <c:pt idx="133">
                  <c:v>0.12</c:v>
                </c:pt>
                <c:pt idx="134">
                  <c:v>0.18</c:v>
                </c:pt>
                <c:pt idx="135">
                  <c:v>0.25</c:v>
                </c:pt>
                <c:pt idx="136">
                  <c:v>0.38</c:v>
                </c:pt>
                <c:pt idx="137">
                  <c:v>0.36</c:v>
                </c:pt>
                <c:pt idx="138">
                  <c:v>0.13</c:v>
                </c:pt>
                <c:pt idx="139">
                  <c:v>0.03</c:v>
                </c:pt>
                <c:pt idx="140">
                  <c:v>0.02</c:v>
                </c:pt>
                <c:pt idx="141">
                  <c:v>0.05</c:v>
                </c:pt>
                <c:pt idx="142">
                  <c:v>0.1</c:v>
                </c:pt>
                <c:pt idx="143">
                  <c:v>0.27</c:v>
                </c:pt>
                <c:pt idx="144">
                  <c:v>0.53</c:v>
                </c:pt>
                <c:pt idx="145">
                  <c:v>0.8</c:v>
                </c:pt>
                <c:pt idx="146">
                  <c:v>0.97</c:v>
                </c:pt>
                <c:pt idx="147">
                  <c:v>0.88</c:v>
                </c:pt>
                <c:pt idx="148">
                  <c:v>0.73</c:v>
                </c:pt>
                <c:pt idx="149">
                  <c:v>0.35</c:v>
                </c:pt>
                <c:pt idx="150">
                  <c:v>0.13</c:v>
                </c:pt>
                <c:pt idx="151">
                  <c:v>0.05</c:v>
                </c:pt>
                <c:pt idx="152">
                  <c:v>0.12</c:v>
                </c:pt>
                <c:pt idx="153">
                  <c:v>0.11</c:v>
                </c:pt>
                <c:pt idx="154">
                  <c:v>0.06</c:v>
                </c:pt>
                <c:pt idx="155">
                  <c:v>0.24</c:v>
                </c:pt>
                <c:pt idx="156">
                  <c:v>0.32</c:v>
                </c:pt>
                <c:pt idx="157">
                  <c:v>0.54</c:v>
                </c:pt>
                <c:pt idx="158">
                  <c:v>0.74</c:v>
                </c:pt>
                <c:pt idx="159">
                  <c:v>0.63</c:v>
                </c:pt>
                <c:pt idx="160">
                  <c:v>0.44</c:v>
                </c:pt>
                <c:pt idx="161">
                  <c:v>0.26</c:v>
                </c:pt>
                <c:pt idx="162">
                  <c:v>0.17</c:v>
                </c:pt>
                <c:pt idx="163">
                  <c:v>0.15</c:v>
                </c:pt>
                <c:pt idx="164">
                  <c:v>0.23</c:v>
                </c:pt>
                <c:pt idx="165">
                  <c:v>0.33</c:v>
                </c:pt>
                <c:pt idx="166">
                  <c:v>0.63</c:v>
                </c:pt>
                <c:pt idx="167">
                  <c:v>0.46</c:v>
                </c:pt>
                <c:pt idx="168">
                  <c:v>0.61</c:v>
                </c:pt>
                <c:pt idx="169">
                  <c:v>0.47</c:v>
                </c:pt>
                <c:pt idx="170">
                  <c:v>0.49</c:v>
                </c:pt>
                <c:pt idx="171">
                  <c:v>0.24</c:v>
                </c:pt>
                <c:pt idx="172">
                  <c:v>0.29</c:v>
                </c:pt>
                <c:pt idx="173">
                  <c:v>0.36</c:v>
                </c:pt>
                <c:pt idx="174">
                  <c:v>0.19</c:v>
                </c:pt>
                <c:pt idx="175">
                  <c:v>0.07</c:v>
                </c:pt>
                <c:pt idx="176">
                  <c:v>0.04</c:v>
                </c:pt>
                <c:pt idx="177">
                  <c:v>0.04</c:v>
                </c:pt>
                <c:pt idx="178">
                  <c:v>0.04</c:v>
                </c:pt>
                <c:pt idx="179">
                  <c:v>0.04</c:v>
                </c:pt>
                <c:pt idx="180">
                  <c:v>0.01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0.01</c:v>
                </c:pt>
                <c:pt idx="191">
                  <c:v>0.01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0.01</c:v>
                </c:pt>
                <c:pt idx="229">
                  <c:v>0.01</c:v>
                </c:pt>
                <c:pt idx="230">
                  <c:v>0.07</c:v>
                </c:pt>
                <c:pt idx="231">
                  <c:v>0.11</c:v>
                </c:pt>
                <c:pt idx="232">
                  <c:v>0.12</c:v>
                </c:pt>
                <c:pt idx="233">
                  <c:v>0.13</c:v>
                </c:pt>
                <c:pt idx="234">
                  <c:v>0.16</c:v>
                </c:pt>
                <c:pt idx="235">
                  <c:v>0.13</c:v>
                </c:pt>
                <c:pt idx="236">
                  <c:v>0.05</c:v>
                </c:pt>
                <c:pt idx="237">
                  <c:v>0.04</c:v>
                </c:pt>
                <c:pt idx="238">
                  <c:v>0.11</c:v>
                </c:pt>
                <c:pt idx="239">
                  <c:v>0.24</c:v>
                </c:pt>
                <c:pt idx="240">
                  <c:v>0.49</c:v>
                </c:pt>
                <c:pt idx="241">
                  <c:v>0.77</c:v>
                </c:pt>
                <c:pt idx="242">
                  <c:v>0.72</c:v>
                </c:pt>
                <c:pt idx="243">
                  <c:v>0.51</c:v>
                </c:pt>
                <c:pt idx="244">
                  <c:v>0.33</c:v>
                </c:pt>
                <c:pt idx="245">
                  <c:v>0.55</c:v>
                </c:pt>
                <c:pt idx="246">
                  <c:v>0.49</c:v>
                </c:pt>
                <c:pt idx="247">
                  <c:v>0.32</c:v>
                </c:pt>
                <c:pt idx="248">
                  <c:v>0.21</c:v>
                </c:pt>
                <c:pt idx="249">
                  <c:v>0.14</c:v>
                </c:pt>
                <c:pt idx="250">
                  <c:v>0.17</c:v>
                </c:pt>
                <c:pt idx="251">
                  <c:v>0.14</c:v>
                </c:pt>
                <c:pt idx="252">
                  <c:v>0.1</c:v>
                </c:pt>
                <c:pt idx="253">
                  <c:v>0.05</c:v>
                </c:pt>
                <c:pt idx="254">
                  <c:v>0.04</c:v>
                </c:pt>
                <c:pt idx="255">
                  <c:v>0.04</c:v>
                </c:pt>
                <c:pt idx="256">
                  <c:v>0.02</c:v>
                </c:pt>
                <c:pt idx="257">
                  <c:v>0.02</c:v>
                </c:pt>
                <c:pt idx="258">
                  <c:v>0.03</c:v>
                </c:pt>
                <c:pt idx="259">
                  <c:v>0.01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Links (our check)</c:v>
                </c:pt>
              </c:strCache>
            </c:strRef>
          </c:tx>
          <c:spPr>
            <a:solidFill>
              <a:srgbClr val="3987E5"/>
            </a:solidFill>
            <a:ln w="254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Sheet1!$C$2:$C$265</c:f>
              <c:numCache>
                <c:formatCode>General</c:formatCode>
                <c:ptCount val="264"/>
                <c:pt idx="0">
                  <c:v>0.01</c:v>
                </c:pt>
                <c:pt idx="1">
                  <c:v>0.05</c:v>
                </c:pt>
                <c:pt idx="2">
                  <c:v>0.07</c:v>
                </c:pt>
                <c:pt idx="3">
                  <c:v>0.09</c:v>
                </c:pt>
                <c:pt idx="4">
                  <c:v>0.1</c:v>
                </c:pt>
                <c:pt idx="5">
                  <c:v>0.08</c:v>
                </c:pt>
                <c:pt idx="6">
                  <c:v>0.05</c:v>
                </c:pt>
                <c:pt idx="7">
                  <c:v>0.02</c:v>
                </c:pt>
                <c:pt idx="8">
                  <c:v>0.05</c:v>
                </c:pt>
                <c:pt idx="9">
                  <c:v>0.09</c:v>
                </c:pt>
                <c:pt idx="10">
                  <c:v>0.37</c:v>
                </c:pt>
                <c:pt idx="11">
                  <c:v>0.63</c:v>
                </c:pt>
                <c:pt idx="12">
                  <c:v>0.75</c:v>
                </c:pt>
                <c:pt idx="13">
                  <c:v>0.55</c:v>
                </c:pt>
                <c:pt idx="14">
                  <c:v>0.54</c:v>
                </c:pt>
                <c:pt idx="15">
                  <c:v>0.33</c:v>
                </c:pt>
                <c:pt idx="16">
                  <c:v>0.29</c:v>
                </c:pt>
                <c:pt idx="17">
                  <c:v>0.38</c:v>
                </c:pt>
                <c:pt idx="18">
                  <c:v>0.41</c:v>
                </c:pt>
                <c:pt idx="19">
                  <c:v>0.17</c:v>
                </c:pt>
                <c:pt idx="20">
                  <c:v>0.03</c:v>
                </c:pt>
                <c:pt idx="21">
                  <c:v>0.01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0.01</c:v>
                </c:pt>
                <c:pt idx="35">
                  <c:v>0.01</c:v>
                </c:pt>
                <c:pt idx="36">
                  <c:v>0.01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0.01</c:v>
                </c:pt>
                <c:pt idx="45">
                  <c:v>0.01</c:v>
                </c:pt>
                <c:pt idx="46">
                  <c:v>0</c:v>
                </c:pt>
                <c:pt idx="47">
                  <c:v>0.01</c:v>
                </c:pt>
                <c:pt idx="48">
                  <c:v>0.01</c:v>
                </c:pt>
                <c:pt idx="49">
                  <c:v>0.02</c:v>
                </c:pt>
                <c:pt idx="50">
                  <c:v>0.02</c:v>
                </c:pt>
                <c:pt idx="51">
                  <c:v>0.02</c:v>
                </c:pt>
                <c:pt idx="52">
                  <c:v>0.03</c:v>
                </c:pt>
                <c:pt idx="53">
                  <c:v>0.04</c:v>
                </c:pt>
                <c:pt idx="54">
                  <c:v>0.01</c:v>
                </c:pt>
                <c:pt idx="55">
                  <c:v>0.01</c:v>
                </c:pt>
                <c:pt idx="56">
                  <c:v>0</c:v>
                </c:pt>
                <c:pt idx="57">
                  <c:v>0</c:v>
                </c:pt>
                <c:pt idx="58">
                  <c:v>0.01</c:v>
                </c:pt>
                <c:pt idx="59">
                  <c:v>0.01</c:v>
                </c:pt>
                <c:pt idx="60">
                  <c:v>0.01</c:v>
                </c:pt>
                <c:pt idx="61">
                  <c:v>0.01</c:v>
                </c:pt>
                <c:pt idx="62">
                  <c:v>0.01</c:v>
                </c:pt>
                <c:pt idx="63">
                  <c:v>0</c:v>
                </c:pt>
                <c:pt idx="64">
                  <c:v>0</c:v>
                </c:pt>
                <c:pt idx="65">
                  <c:v>0.01</c:v>
                </c:pt>
                <c:pt idx="66">
                  <c:v>0.01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0.01</c:v>
                </c:pt>
                <c:pt idx="73">
                  <c:v>0.01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0.01</c:v>
                </c:pt>
                <c:pt idx="78">
                  <c:v>0.02</c:v>
                </c:pt>
                <c:pt idx="79">
                  <c:v>0.02</c:v>
                </c:pt>
                <c:pt idx="80">
                  <c:v>0.03</c:v>
                </c:pt>
                <c:pt idx="81">
                  <c:v>0.01</c:v>
                </c:pt>
                <c:pt idx="82">
                  <c:v>0.01</c:v>
                </c:pt>
                <c:pt idx="83">
                  <c:v>0.02</c:v>
                </c:pt>
                <c:pt idx="84">
                  <c:v>0.1</c:v>
                </c:pt>
                <c:pt idx="85">
                  <c:v>0.22</c:v>
                </c:pt>
                <c:pt idx="86">
                  <c:v>0.43</c:v>
                </c:pt>
                <c:pt idx="87">
                  <c:v>0.82</c:v>
                </c:pt>
                <c:pt idx="88">
                  <c:v>0.99</c:v>
                </c:pt>
                <c:pt idx="89">
                  <c:v>1.11</c:v>
                </c:pt>
                <c:pt idx="90">
                  <c:v>1.43</c:v>
                </c:pt>
                <c:pt idx="91">
                  <c:v>1.51</c:v>
                </c:pt>
                <c:pt idx="92">
                  <c:v>1.55</c:v>
                </c:pt>
                <c:pt idx="93">
                  <c:v>1.92</c:v>
                </c:pt>
                <c:pt idx="94">
                  <c:v>1.86</c:v>
                </c:pt>
                <c:pt idx="95">
                  <c:v>1.16</c:v>
                </c:pt>
                <c:pt idx="96">
                  <c:v>0.64</c:v>
                </c:pt>
                <c:pt idx="97">
                  <c:v>0.16</c:v>
                </c:pt>
                <c:pt idx="98">
                  <c:v>0.13</c:v>
                </c:pt>
                <c:pt idx="99">
                  <c:v>0.23</c:v>
                </c:pt>
                <c:pt idx="100">
                  <c:v>0.08</c:v>
                </c:pt>
                <c:pt idx="101">
                  <c:v>0.05</c:v>
                </c:pt>
                <c:pt idx="102">
                  <c:v>0.05</c:v>
                </c:pt>
                <c:pt idx="103">
                  <c:v>0.02</c:v>
                </c:pt>
                <c:pt idx="104">
                  <c:v>0.01</c:v>
                </c:pt>
                <c:pt idx="105">
                  <c:v>0.01</c:v>
                </c:pt>
                <c:pt idx="106">
                  <c:v>0.02</c:v>
                </c:pt>
                <c:pt idx="107">
                  <c:v>0.03</c:v>
                </c:pt>
                <c:pt idx="108">
                  <c:v>0.22</c:v>
                </c:pt>
                <c:pt idx="109">
                  <c:v>0.48</c:v>
                </c:pt>
                <c:pt idx="110">
                  <c:v>0.56</c:v>
                </c:pt>
                <c:pt idx="111">
                  <c:v>0.43</c:v>
                </c:pt>
                <c:pt idx="112">
                  <c:v>0.3</c:v>
                </c:pt>
                <c:pt idx="113">
                  <c:v>0.19</c:v>
                </c:pt>
                <c:pt idx="114">
                  <c:v>0.25</c:v>
                </c:pt>
                <c:pt idx="115">
                  <c:v>0.5</c:v>
                </c:pt>
                <c:pt idx="116">
                  <c:v>0.44</c:v>
                </c:pt>
                <c:pt idx="117">
                  <c:v>0.44</c:v>
                </c:pt>
                <c:pt idx="118">
                  <c:v>0.07</c:v>
                </c:pt>
                <c:pt idx="119">
                  <c:v>0.02</c:v>
                </c:pt>
                <c:pt idx="120">
                  <c:v>0.01</c:v>
                </c:pt>
                <c:pt idx="121">
                  <c:v>0.01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0.02</c:v>
                </c:pt>
                <c:pt idx="126">
                  <c:v>0.04</c:v>
                </c:pt>
                <c:pt idx="127">
                  <c:v>0.05</c:v>
                </c:pt>
                <c:pt idx="128">
                  <c:v>0.01</c:v>
                </c:pt>
                <c:pt idx="129">
                  <c:v>0.02</c:v>
                </c:pt>
                <c:pt idx="130">
                  <c:v>0.02</c:v>
                </c:pt>
                <c:pt idx="131">
                  <c:v>0.07</c:v>
                </c:pt>
                <c:pt idx="132">
                  <c:v>0.17</c:v>
                </c:pt>
                <c:pt idx="133">
                  <c:v>0.12</c:v>
                </c:pt>
                <c:pt idx="134">
                  <c:v>0.19</c:v>
                </c:pt>
                <c:pt idx="135">
                  <c:v>0.31</c:v>
                </c:pt>
                <c:pt idx="136">
                  <c:v>0.32</c:v>
                </c:pt>
                <c:pt idx="137">
                  <c:v>0.3</c:v>
                </c:pt>
                <c:pt idx="138">
                  <c:v>0.09</c:v>
                </c:pt>
                <c:pt idx="139">
                  <c:v>0.01</c:v>
                </c:pt>
                <c:pt idx="140">
                  <c:v>0.01</c:v>
                </c:pt>
                <c:pt idx="141">
                  <c:v>0.02</c:v>
                </c:pt>
                <c:pt idx="142">
                  <c:v>0.03</c:v>
                </c:pt>
                <c:pt idx="143">
                  <c:v>0.13</c:v>
                </c:pt>
                <c:pt idx="144">
                  <c:v>0.25</c:v>
                </c:pt>
                <c:pt idx="145">
                  <c:v>0.39</c:v>
                </c:pt>
                <c:pt idx="146">
                  <c:v>0.48</c:v>
                </c:pt>
                <c:pt idx="147">
                  <c:v>0.45</c:v>
                </c:pt>
                <c:pt idx="148">
                  <c:v>0.33</c:v>
                </c:pt>
                <c:pt idx="149">
                  <c:v>0.16</c:v>
                </c:pt>
                <c:pt idx="150">
                  <c:v>0.1</c:v>
                </c:pt>
                <c:pt idx="151">
                  <c:v>0.1</c:v>
                </c:pt>
                <c:pt idx="152">
                  <c:v>0.14</c:v>
                </c:pt>
                <c:pt idx="153">
                  <c:v>0.09</c:v>
                </c:pt>
                <c:pt idx="154">
                  <c:v>0.12</c:v>
                </c:pt>
                <c:pt idx="155">
                  <c:v>0.31</c:v>
                </c:pt>
                <c:pt idx="156">
                  <c:v>0.42</c:v>
                </c:pt>
                <c:pt idx="157">
                  <c:v>0.61</c:v>
                </c:pt>
                <c:pt idx="158">
                  <c:v>0.85</c:v>
                </c:pt>
                <c:pt idx="159">
                  <c:v>0.71</c:v>
                </c:pt>
                <c:pt idx="160">
                  <c:v>0.37</c:v>
                </c:pt>
                <c:pt idx="161">
                  <c:v>0.22</c:v>
                </c:pt>
                <c:pt idx="162">
                  <c:v>0.16</c:v>
                </c:pt>
                <c:pt idx="163">
                  <c:v>0.13</c:v>
                </c:pt>
                <c:pt idx="164">
                  <c:v>0.19</c:v>
                </c:pt>
                <c:pt idx="165">
                  <c:v>0.34</c:v>
                </c:pt>
                <c:pt idx="166">
                  <c:v>0.66</c:v>
                </c:pt>
                <c:pt idx="167">
                  <c:v>0.41</c:v>
                </c:pt>
                <c:pt idx="168">
                  <c:v>0.65</c:v>
                </c:pt>
                <c:pt idx="169">
                  <c:v>0.59</c:v>
                </c:pt>
                <c:pt idx="170">
                  <c:v>0.61</c:v>
                </c:pt>
                <c:pt idx="171">
                  <c:v>0.29</c:v>
                </c:pt>
                <c:pt idx="172">
                  <c:v>0.34</c:v>
                </c:pt>
                <c:pt idx="173">
                  <c:v>0.29</c:v>
                </c:pt>
                <c:pt idx="174">
                  <c:v>0.17</c:v>
                </c:pt>
                <c:pt idx="175">
                  <c:v>0.05</c:v>
                </c:pt>
                <c:pt idx="176">
                  <c:v>0.06</c:v>
                </c:pt>
                <c:pt idx="177">
                  <c:v>0.05</c:v>
                </c:pt>
                <c:pt idx="178">
                  <c:v>0.06</c:v>
                </c:pt>
                <c:pt idx="179">
                  <c:v>0.05</c:v>
                </c:pt>
                <c:pt idx="180">
                  <c:v>0.03</c:v>
                </c:pt>
                <c:pt idx="181">
                  <c:v>0.01</c:v>
                </c:pt>
                <c:pt idx="182">
                  <c:v>0</c:v>
                </c:pt>
                <c:pt idx="183">
                  <c:v>0.01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0.01</c:v>
                </c:pt>
                <c:pt idx="189">
                  <c:v>0.01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</c:v>
                </c:pt>
                <c:pt idx="194">
                  <c:v>0.01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0.01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0.01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0.01</c:v>
                </c:pt>
                <c:pt idx="221">
                  <c:v>0.01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0.01</c:v>
                </c:pt>
                <c:pt idx="228">
                  <c:v>0.01</c:v>
                </c:pt>
                <c:pt idx="229">
                  <c:v>0.01</c:v>
                </c:pt>
                <c:pt idx="230">
                  <c:v>0.09</c:v>
                </c:pt>
                <c:pt idx="231">
                  <c:v>0.1</c:v>
                </c:pt>
                <c:pt idx="232">
                  <c:v>0.08</c:v>
                </c:pt>
                <c:pt idx="233">
                  <c:v>0.12</c:v>
                </c:pt>
                <c:pt idx="234">
                  <c:v>0.09</c:v>
                </c:pt>
                <c:pt idx="235">
                  <c:v>0.08</c:v>
                </c:pt>
                <c:pt idx="236">
                  <c:v>0.04</c:v>
                </c:pt>
                <c:pt idx="237">
                  <c:v>0.05</c:v>
                </c:pt>
                <c:pt idx="238">
                  <c:v>0.07</c:v>
                </c:pt>
                <c:pt idx="239">
                  <c:v>0.1</c:v>
                </c:pt>
                <c:pt idx="240">
                  <c:v>0.2</c:v>
                </c:pt>
                <c:pt idx="241">
                  <c:v>0.23</c:v>
                </c:pt>
                <c:pt idx="242">
                  <c:v>0.33</c:v>
                </c:pt>
                <c:pt idx="243">
                  <c:v>0.26</c:v>
                </c:pt>
                <c:pt idx="244">
                  <c:v>0.1</c:v>
                </c:pt>
                <c:pt idx="245">
                  <c:v>0.22</c:v>
                </c:pt>
                <c:pt idx="246">
                  <c:v>0.17</c:v>
                </c:pt>
                <c:pt idx="247">
                  <c:v>0.12</c:v>
                </c:pt>
                <c:pt idx="248">
                  <c:v>0.08</c:v>
                </c:pt>
                <c:pt idx="249">
                  <c:v>0.04</c:v>
                </c:pt>
                <c:pt idx="250">
                  <c:v>0.07</c:v>
                </c:pt>
                <c:pt idx="251">
                  <c:v>0.06</c:v>
                </c:pt>
                <c:pt idx="252">
                  <c:v>0.06</c:v>
                </c:pt>
                <c:pt idx="253">
                  <c:v>0.03</c:v>
                </c:pt>
                <c:pt idx="254">
                  <c:v>0.01</c:v>
                </c:pt>
                <c:pt idx="255">
                  <c:v>0.02</c:v>
                </c:pt>
                <c:pt idx="256">
                  <c:v>0.02</c:v>
                </c:pt>
                <c:pt idx="257">
                  <c:v>0.01</c:v>
                </c:pt>
                <c:pt idx="258">
                  <c:v>0.01</c:v>
                </c:pt>
                <c:pt idx="259">
                  <c:v>0.02</c:v>
                </c:pt>
                <c:pt idx="260">
                  <c:v>0.02</c:v>
                </c:pt>
                <c:pt idx="261">
                  <c:v>0.01</c:v>
                </c:pt>
                <c:pt idx="262">
                  <c:v>0.01</c:v>
                </c:pt>
                <c:pt idx="263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8A2C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8A2C0"/>
                    </a:solidFill>
                    <a:latin typeface="+mn-lt"/>
                  </a:rPr>
                  <a:t>mm/h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50">
              <a:solidFill>
                <a:srgbClr val="D7DD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[0:00–0:17] India doesn’t have a weather-data problem. It has a weather-decision problem. On 26 July 2005, Santacruz got 944 millimetres of rain; Colaba, 20 kilometres away, got 73. A city-level alert can still tell a business only “heavy rain in Mumbai”. It needs to know which zones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[0:17–0:34] Jio may already own the infrastructure for a new weather-sensing layer. Rain weakens its microwave links, and the excess loss estimates rainfall along each link. JioMausam fuses those signals with radar and gauges into a weather grid, then into decision-ready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[0:34–0:56] Published science supports the physics, and has mapped rain across a whole country. We ran the method ourselves on 500 real links from a public dataset. The links tracked radar closely. But the key finding was the limit: alone, they caught only 68% of rain events, below our 80%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[0:56–1:14] So we never use links alone; accuracy decides the mix. Jio’s links, filtered by network-health data, plus IMD radar, gauges and satellite, with paid data only if it lifts accuracy. The pilot scores every mix against held-out gauges and picks the cheapest that clears every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[1:14–1:30] Reliance is the first proving ground. The hero test: Jio’s network team. Can we tell rain from equipment faults before sending a crew? Jio owns the network data and controls the operational decision. JioMart then tests commercial value; MyJio tests reach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[1:30–1:48] Then we sell the same intelligence to the market. Rain hits Zone A: JioMausam sends a zone alert, and the platform decides how to adjust dispatch, delivery times or incentives. Delivery comes first, then logistics, cities and insurers, then agriculture and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[1:48–2:04] Our edge isn’t the sensor; it’s integration. Jio senses, JioMausam understands, Reliance reaches customers, licensed partners protect. We sell intelligence outside and create savings inside Reliance; insurance is optional. So the business stands even if insurance never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[2:04–2:22] Our original idea was Kavach. Stress-testing showed the stronger business is the intelligence underneath it. Insurance becomes one application: JioMausam supplies trigger data, and a licensed insurer would underwrite and pay, only after the accuracy and actuarial gates. If it never launches, nothing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[2:22–2:38] If we offer Kavach, Indian weather sets the price. From 25 years of IMD records: Basic about 45 rupees a month in Mumbai, 52 in Nagpur, 29 in Ahmedabad. Plus is priced from about twelve historical heavy-rain days, capped at five paid days: 208.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[2:38–3:00] Don’t believe us; test it. Ninety days, three gates: coverage, accuracy, value. We don’t pre-select the city; the audit does. We aren’t asking Jio to build a weather network, but to discover what its network can tell us. First prove the signal. Then sell the intelligence. Protection comes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has a weather-decision problem</a:t>
            </a:r>
            <a:endParaRPr lang="en-US" sz="3200" dirty="0"/>
          </a:p>
        </p:txBody>
      </p:sp>
      <p:sp>
        <p:nvSpPr>
          <p:cNvPr id="6" name="hlCard"/>
          <p:cNvSpPr/>
          <p:nvPr/>
        </p:nvSpPr>
        <p:spPr>
          <a:xfrm>
            <a:off x="548640" y="210312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hlHead"/>
          <p:cNvSpPr txBox="1"/>
          <p:nvPr/>
        </p:nvSpPr>
        <p:spPr>
          <a:xfrm>
            <a:off x="822960" y="22677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city. Different weather.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 · IMD · 26 July 2005 · stations 20 km apart</a:t>
            </a:r>
            <a:endParaRPr lang="en-US" sz="1900" dirty="0"/>
          </a:p>
        </p:txBody>
      </p:sp>
      <p:graphicFrame>
        <p:nvGraphicFramePr>
          <p:cNvPr id="8" name="hlChart" descr=""/>
          <p:cNvGraphicFramePr/>
          <p:nvPr/>
        </p:nvGraphicFramePr>
        <p:xfrm>
          <a:off x="685800" y="30175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knowCard"/>
          <p:cNvSpPr/>
          <p:nvPr/>
        </p:nvSpPr>
        <p:spPr>
          <a:xfrm>
            <a:off x="5440680" y="2103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0" name="knowT"/>
          <p:cNvSpPr txBox="1"/>
          <p:nvPr/>
        </p:nvSpPr>
        <p:spPr>
          <a:xfrm>
            <a:off x="5715000" y="2212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CITY-LEVEL ALERT SAYS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“Heavy rain in Mumbai.”</a:t>
            </a:r>
            <a:endParaRPr lang="en-US" sz="1050" dirty="0"/>
          </a:p>
        </p:txBody>
      </p:sp>
      <p:sp>
        <p:nvSpPr>
          <p:cNvPr id="11" name="knowA"/>
          <p:cNvSpPr/>
          <p:nvPr/>
        </p:nvSpPr>
        <p:spPr>
          <a:xfrm>
            <a:off x="8540496" y="3017520"/>
            <a:ext cx="914" cy="228600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2" name="needCard"/>
          <p:cNvSpPr/>
          <p:nvPr/>
        </p:nvSpPr>
        <p:spPr>
          <a:xfrm>
            <a:off x="5440680" y="3246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needT"/>
          <p:cNvSpPr txBox="1"/>
          <p:nvPr/>
        </p:nvSpPr>
        <p:spPr>
          <a:xfrm>
            <a:off x="5715000" y="3355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TO DECIDE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zones do I act on, right now?”</a:t>
            </a:r>
            <a:endParaRPr lang="en-US" sz="1050" dirty="0"/>
          </a:p>
        </p:txBody>
      </p:sp>
      <p:sp>
        <p:nvSpPr>
          <p:cNvPr id="14" name="imp0"/>
          <p:cNvSpPr/>
          <p:nvPr/>
        </p:nvSpPr>
        <p:spPr>
          <a:xfrm>
            <a:off x="544068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im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4590288"/>
            <a:ext cx="365760" cy="365760"/>
          </a:xfrm>
          <a:prstGeom prst="rect">
            <a:avLst/>
          </a:prstGeom>
        </p:spPr>
      </p:pic>
      <p:sp>
        <p:nvSpPr>
          <p:cNvPr id="16" name="impT0"/>
          <p:cNvSpPr txBox="1"/>
          <p:nvPr/>
        </p:nvSpPr>
        <p:spPr>
          <a:xfrm>
            <a:off x="615391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decide blind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incentives, delivery times</a:t>
            </a:r>
            <a:endParaRPr lang="en-US" sz="1550" dirty="0"/>
          </a:p>
        </p:txBody>
      </p:sp>
      <p:sp>
        <p:nvSpPr>
          <p:cNvPr id="17" name="imp1"/>
          <p:cNvSpPr/>
          <p:nvPr/>
        </p:nvSpPr>
        <p:spPr>
          <a:xfrm>
            <a:off x="859536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im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590288"/>
            <a:ext cx="365760" cy="365760"/>
          </a:xfrm>
          <a:prstGeom prst="rect">
            <a:avLst/>
          </a:prstGeom>
        </p:spPr>
      </p:pic>
      <p:sp>
        <p:nvSpPr>
          <p:cNvPr id="19" name="impT1"/>
          <p:cNvSpPr txBox="1"/>
          <p:nvPr/>
        </p:nvSpPr>
        <p:spPr>
          <a:xfrm>
            <a:off x="930859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carry the loss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safety, street by street</a:t>
            </a:r>
            <a:endParaRPr lang="en-US" sz="1550" dirty="0"/>
          </a:p>
        </p:txBody>
      </p:sp>
      <p:sp>
        <p:nvSpPr>
          <p:cNvPr id="20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is lived street by street. Decisions are still made city by city.</a:t>
            </a:r>
            <a:endParaRPr lang="en-US" sz="18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India Meteorological Department, 26 July 2005.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8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8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11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Graphic spid="8" grpId="0">
        <p:bldAsOne/>
      </p:bldGraphic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Jio’s microwave links may carry a weather signal</a:t>
            </a:r>
            <a:endParaRPr lang="en-US" sz="3200" dirty="0"/>
          </a:p>
        </p:txBody>
      </p:sp>
      <p:pic>
        <p:nvPicPr>
          <p:cNvPr id="6" name="towerA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841248" cy="1272808"/>
          </a:xfrm>
          <a:prstGeom prst="rect">
            <a:avLst/>
          </a:prstGeom>
        </p:spPr>
      </p:pic>
      <p:pic>
        <p:nvPicPr>
          <p:cNvPr id="7" name="towerB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841248" cy="1272808"/>
          </a:xfrm>
          <a:prstGeom prst="rect">
            <a:avLst/>
          </a:prstGeom>
        </p:spPr>
      </p:pic>
      <p:sp>
        <p:nvSpPr>
          <p:cNvPr id="8" name="beam"/>
          <p:cNvSpPr/>
          <p:nvPr/>
        </p:nvSpPr>
        <p:spPr>
          <a:xfrm>
            <a:off x="1106424" y="2441448"/>
            <a:ext cx="42519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9" name="beamLab"/>
          <p:cNvSpPr txBox="1"/>
          <p:nvPr/>
        </p:nvSpPr>
        <p:spPr>
          <a:xfrm>
            <a:off x="13716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 between two sites</a:t>
            </a:r>
            <a:endParaRPr lang="en-US" sz="1300" dirty="0"/>
          </a:p>
        </p:txBody>
      </p:sp>
      <p:pic>
        <p:nvPicPr>
          <p:cNvPr id="10" name="drop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743200"/>
            <a:ext cx="182880" cy="182880"/>
          </a:xfrm>
          <a:prstGeom prst="rect">
            <a:avLst/>
          </a:prstGeom>
        </p:spPr>
      </p:pic>
      <p:pic>
        <p:nvPicPr>
          <p:cNvPr id="11" name="drop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017520"/>
            <a:ext cx="182880" cy="182880"/>
          </a:xfrm>
          <a:prstGeom prst="rect">
            <a:avLst/>
          </a:prstGeom>
        </p:spPr>
      </p:pic>
      <p:pic>
        <p:nvPicPr>
          <p:cNvPr id="12" name="drop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2697480"/>
            <a:ext cx="182880" cy="182880"/>
          </a:xfrm>
          <a:prstGeom prst="rect">
            <a:avLst/>
          </a:prstGeom>
        </p:spPr>
      </p:pic>
      <p:pic>
        <p:nvPicPr>
          <p:cNvPr id="13" name="drop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63240"/>
            <a:ext cx="182880" cy="182880"/>
          </a:xfrm>
          <a:prstGeom prst="rect">
            <a:avLst/>
          </a:prstGeom>
        </p:spPr>
      </p:pic>
      <p:pic>
        <p:nvPicPr>
          <p:cNvPr id="14" name="drop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2743200"/>
            <a:ext cx="182880" cy="182880"/>
          </a:xfrm>
          <a:prstGeom prst="rect">
            <a:avLst/>
          </a:prstGeom>
        </p:spPr>
      </p:pic>
      <p:pic>
        <p:nvPicPr>
          <p:cNvPr id="15" name="drop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3337560"/>
            <a:ext cx="182880" cy="182880"/>
          </a:xfrm>
          <a:prstGeom prst="rect">
            <a:avLst/>
          </a:prstGeom>
        </p:spPr>
      </p:pic>
      <p:pic>
        <p:nvPicPr>
          <p:cNvPr id="16" name="drop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383280"/>
            <a:ext cx="182880" cy="182880"/>
          </a:xfrm>
          <a:prstGeom prst="rect">
            <a:avLst/>
          </a:prstGeom>
        </p:spPr>
      </p:pic>
      <p:pic>
        <p:nvPicPr>
          <p:cNvPr id="17" name="drop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291840"/>
            <a:ext cx="182880" cy="182880"/>
          </a:xfrm>
          <a:prstGeom prst="rect">
            <a:avLst/>
          </a:prstGeom>
        </p:spPr>
      </p:pic>
      <p:sp>
        <p:nvSpPr>
          <p:cNvPr id="18" name="how"/>
          <p:cNvSpPr txBox="1"/>
          <p:nvPr/>
        </p:nvSpPr>
        <p:spPr>
          <a:xfrm>
            <a:off x="548640" y="37307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weakens the signal. 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excess loss and estimate path-averaged rainfall along each link, in near-real-time. This technique uses microwave links, not fibre.</a:t>
            </a:r>
            <a:endParaRPr lang="en-US" sz="1400" dirty="0"/>
          </a:p>
        </p:txBody>
      </p:sp>
      <p:sp>
        <p:nvSpPr>
          <p:cNvPr id="19" name="defCard"/>
          <p:cNvSpPr/>
          <p:nvPr/>
        </p:nvSpPr>
        <p:spPr>
          <a:xfrm>
            <a:off x="6263640" y="2057400"/>
            <a:ext cx="5376672" cy="2377440"/>
          </a:xfrm>
          <a:prstGeom prst="roundRect">
            <a:avLst>
              <a:gd name="adj" fmla="val 4615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0" name="defT"/>
          <p:cNvSpPr txBox="1"/>
          <p:nvPr/>
        </p:nvSpPr>
        <p:spPr>
          <a:xfrm>
            <a:off x="6537960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IS</a:t>
            </a:r>
            <a:endParaRPr lang="en-US" sz="105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infrastructure, not a weather map</a:t>
            </a:r>
            <a:endParaRPr lang="en-US" sz="1050" dirty="0"/>
          </a:p>
        </p:txBody>
      </p:sp>
      <p:sp>
        <p:nvSpPr>
          <p:cNvPr id="21" name="defT2"/>
          <p:cNvSpPr txBox="1"/>
          <p:nvPr/>
        </p:nvSpPr>
        <p:spPr>
          <a:xfrm>
            <a:off x="6537960" y="32004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link signals, IMD radar and rain gauges into a spatial weather grid, then into decision-ready alerts and triggers for the teams who act on them.</a:t>
            </a:r>
            <a:endParaRPr lang="en-US" sz="1500" dirty="0"/>
          </a:p>
        </p:txBody>
      </p:sp>
      <p:sp>
        <p:nvSpPr>
          <p:cNvPr id="22" name="isCard"/>
          <p:cNvSpPr/>
          <p:nvPr/>
        </p:nvSpPr>
        <p:spPr>
          <a:xfrm>
            <a:off x="548640" y="46177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3" name="isT"/>
          <p:cNvSpPr txBox="1"/>
          <p:nvPr/>
        </p:nvSpPr>
        <p:spPr>
          <a:xfrm>
            <a:off x="777240" y="4690872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intelligence from existing infrastructure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data for businesses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for future worker protection</a:t>
            </a:r>
            <a:endParaRPr lang="en-US" sz="1050" dirty="0"/>
          </a:p>
        </p:txBody>
      </p:sp>
      <p:sp>
        <p:nvSpPr>
          <p:cNvPr id="24" name="isntCard"/>
          <p:cNvSpPr/>
          <p:nvPr/>
        </p:nvSpPr>
        <p:spPr>
          <a:xfrm>
            <a:off x="6263640" y="4617720"/>
            <a:ext cx="5376672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isntT"/>
          <p:cNvSpPr txBox="1"/>
          <p:nvPr/>
        </p:nvSpPr>
        <p:spPr>
          <a:xfrm>
            <a:off x="6492240" y="4690872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ISN’T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sensor network  ·  A consumer weather app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insurer  ·  Heat sensing from towers</a:t>
            </a:r>
            <a:endParaRPr lang="en-US" sz="1050" dirty="0"/>
          </a:p>
        </p:txBody>
      </p:sp>
      <p:sp>
        <p:nvSpPr>
          <p:cNvPr id="26" name="takeaway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may already own the infrastructure for a new weather-sensing layer.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93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37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81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PROVEN · WHAT WE CHECKED · WHAT ISN’T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alone are promising, but fall short of our bar</a:t>
            </a:r>
            <a:endParaRPr lang="en-US" sz="3200" dirty="0"/>
          </a:p>
        </p:txBody>
      </p:sp>
      <p:sp>
        <p:nvSpPr>
          <p:cNvPr id="6" name="pf0"/>
          <p:cNvSpPr/>
          <p:nvPr/>
        </p:nvSpPr>
        <p:spPr>
          <a:xfrm>
            <a:off x="548640" y="20574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pf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274320" cy="274320"/>
          </a:xfrm>
          <a:prstGeom prst="rect">
            <a:avLst/>
          </a:prstGeom>
        </p:spPr>
      </p:pic>
      <p:sp>
        <p:nvSpPr>
          <p:cNvPr id="8" name="pfK0"/>
          <p:cNvSpPr txBox="1"/>
          <p:nvPr/>
        </p:nvSpPr>
        <p:spPr>
          <a:xfrm>
            <a:off x="1115568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050" dirty="0"/>
          </a:p>
        </p:txBody>
      </p:sp>
      <p:sp>
        <p:nvSpPr>
          <p:cNvPr id="9" name="pfT0"/>
          <p:cNvSpPr txBox="1"/>
          <p:nvPr/>
        </p:nvSpPr>
        <p:spPr>
          <a:xfrm>
            <a:off x="73152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Science 2006 · PNAS 2013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mapped across a whole country</a:t>
            </a:r>
            <a:endParaRPr lang="en-US" sz="1250" dirty="0"/>
          </a:p>
        </p:txBody>
      </p:sp>
      <p:sp>
        <p:nvSpPr>
          <p:cNvPr id="10" name="pf1"/>
          <p:cNvSpPr/>
          <p:nvPr/>
        </p:nvSpPr>
        <p:spPr>
          <a:xfrm>
            <a:off x="548640" y="33375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pf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12" name="pfK1"/>
          <p:cNvSpPr txBox="1"/>
          <p:nvPr/>
        </p:nvSpPr>
        <p:spPr>
          <a:xfrm>
            <a:off x="1115568" y="3474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050" dirty="0"/>
          </a:p>
        </p:txBody>
      </p:sp>
      <p:sp>
        <p:nvSpPr>
          <p:cNvPr id="13" name="pfT1"/>
          <p:cNvSpPr txBox="1"/>
          <p:nvPr/>
        </p:nvSpPr>
        <p:spPr>
          <a:xfrm>
            <a:off x="73152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open-source method ourselves on 500 real links, with radar as the reference</a:t>
            </a:r>
            <a:endParaRPr lang="en-US" sz="1250" dirty="0"/>
          </a:p>
        </p:txBody>
      </p:sp>
      <p:sp>
        <p:nvSpPr>
          <p:cNvPr id="14" name="pf2"/>
          <p:cNvSpPr/>
          <p:nvPr/>
        </p:nvSpPr>
        <p:spPr>
          <a:xfrm>
            <a:off x="548640" y="45262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pf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16" name="pfK2"/>
          <p:cNvSpPr txBox="1"/>
          <p:nvPr/>
        </p:nvSpPr>
        <p:spPr>
          <a:xfrm>
            <a:off x="1115568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050" dirty="0"/>
          </a:p>
        </p:txBody>
      </p:sp>
      <p:sp>
        <p:nvSpPr>
          <p:cNvPr id="17" name="pfT2"/>
          <p:cNvSpPr txBox="1"/>
          <p:nvPr/>
        </p:nvSpPr>
        <p:spPr>
          <a:xfrm>
            <a:off x="731520" y="4983480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coverage, Indian accuracy, business value, who pays, insurance-grade triggers</a:t>
            </a:r>
            <a:endParaRPr lang="en-US" sz="1250" dirty="0"/>
          </a:p>
        </p:txBody>
      </p:sp>
      <p:sp>
        <p:nvSpPr>
          <p:cNvPr id="18" name="banner"/>
          <p:cNvSpPr/>
          <p:nvPr/>
        </p:nvSpPr>
        <p:spPr>
          <a:xfrm>
            <a:off x="4389120" y="2057400"/>
            <a:ext cx="7253935" cy="384048"/>
          </a:xfrm>
          <a:prstGeom prst="roundRect">
            <a:avLst>
              <a:gd name="adj" fmla="val 2857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9" name="bannerT"/>
          <p:cNvSpPr txBox="1"/>
          <p:nvPr/>
        </p:nvSpPr>
        <p:spPr>
          <a:xfrm>
            <a:off x="4389120" y="2057400"/>
            <a:ext cx="7253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 ·  500 REAL LINKS  ·  PUBLIC RESEARCH DATA, GERMANY  ·  NOT JIO DATA</a:t>
            </a:r>
            <a:endParaRPr lang="en-US" sz="1150" dirty="0"/>
          </a:p>
        </p:txBody>
      </p:sp>
      <p:sp>
        <p:nvSpPr>
          <p:cNvPr id="20" name="res"/>
          <p:cNvSpPr/>
          <p:nvPr/>
        </p:nvSpPr>
        <p:spPr>
          <a:xfrm>
            <a:off x="4389120" y="2606040"/>
            <a:ext cx="7253935" cy="1463040"/>
          </a:xfrm>
          <a:prstGeom prst="roundRect">
            <a:avLst>
              <a:gd name="adj" fmla="val 7500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resN"/>
          <p:cNvSpPr txBox="1"/>
          <p:nvPr/>
        </p:nvSpPr>
        <p:spPr>
          <a:xfrm>
            <a:off x="461772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600" dirty="0"/>
          </a:p>
        </p:txBody>
      </p:sp>
      <p:sp>
        <p:nvSpPr>
          <p:cNvPr id="22" name="resL"/>
          <p:cNvSpPr txBox="1"/>
          <p:nvPr/>
        </p:nvSpPr>
        <p:spPr>
          <a:xfrm>
            <a:off x="4636008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rain events caught by links alone</a:t>
            </a:r>
            <a:endParaRPr lang="en-US" sz="1300" dirty="0"/>
          </a:p>
        </p:txBody>
      </p:sp>
      <p:sp>
        <p:nvSpPr>
          <p:cNvPr id="23" name="resB"/>
          <p:cNvSpPr/>
          <p:nvPr/>
        </p:nvSpPr>
        <p:spPr>
          <a:xfrm>
            <a:off x="7132320" y="2990088"/>
            <a:ext cx="4236415" cy="329184"/>
          </a:xfrm>
          <a:prstGeom prst="roundRect">
            <a:avLst>
              <a:gd name="adj" fmla="val 16667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24" name="resF"/>
          <p:cNvSpPr/>
          <p:nvPr/>
        </p:nvSpPr>
        <p:spPr>
          <a:xfrm>
            <a:off x="7132320" y="2990088"/>
            <a:ext cx="2880762" cy="329184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5" name="resFT"/>
          <p:cNvSpPr txBox="1"/>
          <p:nvPr/>
        </p:nvSpPr>
        <p:spPr>
          <a:xfrm>
            <a:off x="7242048" y="2990088"/>
            <a:ext cx="2697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alone: 68%</a:t>
            </a:r>
            <a:endParaRPr lang="en-US" sz="1150" dirty="0"/>
          </a:p>
        </p:txBody>
      </p:sp>
      <p:sp>
        <p:nvSpPr>
          <p:cNvPr id="26" name="resG"/>
          <p:cNvSpPr/>
          <p:nvPr/>
        </p:nvSpPr>
        <p:spPr>
          <a:xfrm>
            <a:off x="10521452" y="2788920"/>
            <a:ext cx="0" cy="73152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27" name="resGT"/>
          <p:cNvSpPr txBox="1"/>
          <p:nvPr/>
        </p:nvSpPr>
        <p:spPr>
          <a:xfrm>
            <a:off x="9835652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bar: 80%</a:t>
            </a:r>
            <a:endParaRPr lang="en-US" sz="1100" dirty="0"/>
          </a:p>
        </p:txBody>
      </p:sp>
      <p:sp>
        <p:nvSpPr>
          <p:cNvPr id="28" name="resS"/>
          <p:cNvSpPr txBox="1"/>
          <p:nvPr/>
        </p:nvSpPr>
        <p:spPr>
          <a:xfrm>
            <a:off x="7132320" y="341071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our bar, so we never use links alone.</a:t>
            </a:r>
            <a:endParaRPr lang="en-US" sz="1300" dirty="0"/>
          </a:p>
        </p:txBody>
      </p:sp>
      <p:sp>
        <p:nvSpPr>
          <p:cNvPr id="29" name="resE"/>
          <p:cNvSpPr txBox="1"/>
          <p:nvPr/>
        </p:nvSpPr>
        <p:spPr>
          <a:xfrm>
            <a:off x="7132320" y="3721608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= 10 mm+ of rain in 3 hours in a ~4 km zone  ·  8 unseen test days</a:t>
            </a:r>
            <a:endParaRPr lang="en-US" sz="1100" dirty="0"/>
          </a:p>
        </p:txBody>
      </p:sp>
      <p:graphicFrame>
        <p:nvGraphicFramePr>
          <p:cNvPr id="30" name="chart" descr=""/>
          <p:cNvGraphicFramePr/>
          <p:nvPr/>
        </p:nvGraphicFramePr>
        <p:xfrm>
          <a:off x="4297680" y="4133088"/>
          <a:ext cx="7391095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didn’t invent the science. We checked it, found where it fails, and built around it.</a:t>
            </a:r>
            <a:endParaRPr lang="en-US" sz="1800" dirty="0"/>
          </a:p>
        </p:txBody>
      </p:sp>
      <p:sp>
        <p:nvSpPr>
          <p:cNvPr id="32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Messer et al., Science 2006 · Overeem et al., PNAS 2013 · Our check: public pycomlink dataset (KIT), 10–20 May 2018, German Weather Service radar as reference. Not Jio data.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1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7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3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1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21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46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16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62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8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623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 animBg="1"/>
      <p:bldP spid="27" grpId="0"/>
      <p:bldP spid="28" grpId="0"/>
      <p:bldP spid="29" grpId="0"/>
      <p:bldGraphic spid="30" grpId="0">
        <p:bldAsOne/>
      </p:bldGraphic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ACCURACY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accuracy determine the mix</a:t>
            </a:r>
            <a:endParaRPr lang="en-US" sz="3200" dirty="0"/>
          </a:p>
        </p:txBody>
      </p:sp>
      <p:sp>
        <p:nvSpPr>
          <p:cNvPr id="6" name="srcCard"/>
          <p:cNvSpPr/>
          <p:nvPr/>
        </p:nvSpPr>
        <p:spPr>
          <a:xfrm>
            <a:off x="548640" y="205740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srcK"/>
          <p:cNvSpPr txBox="1"/>
          <p:nvPr/>
        </p:nvSpPr>
        <p:spPr>
          <a:xfrm>
            <a:off x="777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SOURCES AND WHO PROVIDES THEM</a:t>
            </a:r>
            <a:endParaRPr lang="en-US" sz="1050" dirty="0"/>
          </a:p>
        </p:txBody>
      </p:sp>
      <p:pic>
        <p:nvPicPr>
          <p:cNvPr id="8" name="src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9" name="srcT0"/>
          <p:cNvSpPr txBox="1"/>
          <p:nvPr/>
        </p:nvSpPr>
        <p:spPr>
          <a:xfrm>
            <a:off x="1207008" y="25420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microwave links</a:t>
            </a:r>
            <a:endParaRPr lang="en-US" sz="1300" dirty="0"/>
          </a:p>
        </p:txBody>
      </p:sp>
      <p:sp>
        <p:nvSpPr>
          <p:cNvPr id="10" name="srcP0"/>
          <p:cNvSpPr/>
          <p:nvPr/>
        </p:nvSpPr>
        <p:spPr>
          <a:xfrm>
            <a:off x="4572000" y="259689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1" name="srcP0T"/>
          <p:cNvSpPr txBox="1"/>
          <p:nvPr/>
        </p:nvSpPr>
        <p:spPr>
          <a:xfrm>
            <a:off x="4572000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Jio-owned</a:t>
            </a:r>
            <a:endParaRPr lang="en-US" sz="1050" dirty="0"/>
          </a:p>
        </p:txBody>
      </p:sp>
      <p:pic>
        <p:nvPicPr>
          <p:cNvPr id="12" name="src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274320" cy="274320"/>
          </a:xfrm>
          <a:prstGeom prst="rect">
            <a:avLst/>
          </a:prstGeom>
        </p:spPr>
      </p:pic>
      <p:sp>
        <p:nvSpPr>
          <p:cNvPr id="13" name="srcT1"/>
          <p:cNvSpPr txBox="1"/>
          <p:nvPr/>
        </p:nvSpPr>
        <p:spPr>
          <a:xfrm>
            <a:off x="1207008" y="297180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health: faults, outages, maintenance</a:t>
            </a:r>
            <a:endParaRPr lang="en-US" sz="1300" dirty="0"/>
          </a:p>
        </p:txBody>
      </p:sp>
      <p:sp>
        <p:nvSpPr>
          <p:cNvPr id="14" name="srcP1"/>
          <p:cNvSpPr/>
          <p:nvPr/>
        </p:nvSpPr>
        <p:spPr>
          <a:xfrm>
            <a:off x="4572000" y="302666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5" name="srcP1T"/>
          <p:cNvSpPr txBox="1"/>
          <p:nvPr/>
        </p:nvSpPr>
        <p:spPr>
          <a:xfrm>
            <a:off x="4572000" y="30266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Jio-owned</a:t>
            </a:r>
            <a:endParaRPr lang="en-US" sz="1050" dirty="0"/>
          </a:p>
        </p:txBody>
      </p:sp>
      <p:pic>
        <p:nvPicPr>
          <p:cNvPr id="16" name="src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65576"/>
            <a:ext cx="274320" cy="274320"/>
          </a:xfrm>
          <a:prstGeom prst="rect">
            <a:avLst/>
          </a:prstGeom>
        </p:spPr>
      </p:pic>
      <p:sp>
        <p:nvSpPr>
          <p:cNvPr id="17" name="srcT2"/>
          <p:cNvSpPr txBox="1"/>
          <p:nvPr/>
        </p:nvSpPr>
        <p:spPr>
          <a:xfrm>
            <a:off x="1207008" y="340156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radar: spatial check</a:t>
            </a:r>
            <a:endParaRPr lang="en-US" sz="1300" dirty="0"/>
          </a:p>
        </p:txBody>
      </p:sp>
      <p:sp>
        <p:nvSpPr>
          <p:cNvPr id="18" name="srcP2"/>
          <p:cNvSpPr/>
          <p:nvPr/>
        </p:nvSpPr>
        <p:spPr>
          <a:xfrm>
            <a:off x="4572000" y="34564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9" name="srcP2T"/>
          <p:cNvSpPr txBox="1"/>
          <p:nvPr/>
        </p:nvSpPr>
        <p:spPr>
          <a:xfrm>
            <a:off x="4572000" y="3456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(govt)</a:t>
            </a:r>
            <a:endParaRPr lang="en-US" sz="1050" dirty="0"/>
          </a:p>
        </p:txBody>
      </p:sp>
      <p:pic>
        <p:nvPicPr>
          <p:cNvPr id="20" name="src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95344"/>
            <a:ext cx="274320" cy="274320"/>
          </a:xfrm>
          <a:prstGeom prst="rect">
            <a:avLst/>
          </a:prstGeom>
        </p:spPr>
      </p:pic>
      <p:sp>
        <p:nvSpPr>
          <p:cNvPr id="21" name="srcT3"/>
          <p:cNvSpPr txBox="1"/>
          <p:nvPr/>
        </p:nvSpPr>
        <p:spPr>
          <a:xfrm>
            <a:off x="1207008" y="383133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gauges: ground truth</a:t>
            </a:r>
            <a:endParaRPr lang="en-US" sz="1300" dirty="0"/>
          </a:p>
        </p:txBody>
      </p:sp>
      <p:sp>
        <p:nvSpPr>
          <p:cNvPr id="22" name="srcP3"/>
          <p:cNvSpPr/>
          <p:nvPr/>
        </p:nvSpPr>
        <p:spPr>
          <a:xfrm>
            <a:off x="4572000" y="388620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3" name="srcP3T"/>
          <p:cNvSpPr txBox="1"/>
          <p:nvPr/>
        </p:nvSpPr>
        <p:spPr>
          <a:xfrm>
            <a:off x="4572000" y="3886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· BMC</a:t>
            </a:r>
            <a:endParaRPr lang="en-US" sz="1050" dirty="0"/>
          </a:p>
        </p:txBody>
      </p:sp>
      <p:pic>
        <p:nvPicPr>
          <p:cNvPr id="24" name="srcI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25112"/>
            <a:ext cx="274320" cy="274320"/>
          </a:xfrm>
          <a:prstGeom prst="rect">
            <a:avLst/>
          </a:prstGeom>
        </p:spPr>
      </p:pic>
      <p:sp>
        <p:nvSpPr>
          <p:cNvPr id="25" name="srcT4"/>
          <p:cNvSpPr txBox="1"/>
          <p:nvPr/>
        </p:nvSpPr>
        <p:spPr>
          <a:xfrm>
            <a:off x="1207008" y="426110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Satellite: coverage fallback</a:t>
            </a:r>
            <a:endParaRPr lang="en-US" sz="1300" dirty="0"/>
          </a:p>
        </p:txBody>
      </p:sp>
      <p:sp>
        <p:nvSpPr>
          <p:cNvPr id="26" name="srcP4"/>
          <p:cNvSpPr/>
          <p:nvPr/>
        </p:nvSpPr>
        <p:spPr>
          <a:xfrm>
            <a:off x="4572000" y="43159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srcP4T"/>
          <p:cNvSpPr txBox="1"/>
          <p:nvPr/>
        </p:nvSpPr>
        <p:spPr>
          <a:xfrm>
            <a:off x="4572000" y="43159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50" dirty="0"/>
          </a:p>
        </p:txBody>
      </p:sp>
      <p:pic>
        <p:nvPicPr>
          <p:cNvPr id="28" name="srcI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54880"/>
            <a:ext cx="274320" cy="274320"/>
          </a:xfrm>
          <a:prstGeom prst="rect">
            <a:avLst/>
          </a:prstGeom>
        </p:spPr>
      </p:pic>
      <p:sp>
        <p:nvSpPr>
          <p:cNvPr id="29" name="srcT5"/>
          <p:cNvSpPr txBox="1"/>
          <p:nvPr/>
        </p:nvSpPr>
        <p:spPr>
          <a:xfrm>
            <a:off x="1207008" y="469087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gauges on Jio sites, where links are thin</a:t>
            </a:r>
            <a:endParaRPr lang="en-US" sz="1300" dirty="0"/>
          </a:p>
        </p:txBody>
      </p:sp>
      <p:sp>
        <p:nvSpPr>
          <p:cNvPr id="30" name="srcP5"/>
          <p:cNvSpPr/>
          <p:nvPr/>
        </p:nvSpPr>
        <p:spPr>
          <a:xfrm>
            <a:off x="4572000" y="474573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srcP5T"/>
          <p:cNvSpPr txBox="1"/>
          <p:nvPr/>
        </p:nvSpPr>
        <p:spPr>
          <a:xfrm>
            <a:off x="4572000" y="4745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install</a:t>
            </a:r>
            <a:endParaRPr lang="en-US" sz="1050" dirty="0"/>
          </a:p>
        </p:txBody>
      </p:sp>
      <p:pic>
        <p:nvPicPr>
          <p:cNvPr id="32" name="srcI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184648"/>
            <a:ext cx="274320" cy="274320"/>
          </a:xfrm>
          <a:prstGeom prst="rect">
            <a:avLst/>
          </a:prstGeom>
        </p:spPr>
      </p:pic>
      <p:sp>
        <p:nvSpPr>
          <p:cNvPr id="33" name="srcT6"/>
          <p:cNvSpPr txBox="1"/>
          <p:nvPr/>
        </p:nvSpPr>
        <p:spPr>
          <a:xfrm>
            <a:off x="1207008" y="512064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data, only if it lifts accuracy</a:t>
            </a:r>
            <a:endParaRPr lang="en-US" sz="1300" dirty="0"/>
          </a:p>
        </p:txBody>
      </p:sp>
      <p:sp>
        <p:nvSpPr>
          <p:cNvPr id="34" name="srcP6"/>
          <p:cNvSpPr/>
          <p:nvPr/>
        </p:nvSpPr>
        <p:spPr>
          <a:xfrm>
            <a:off x="4572000" y="517550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5" name="srcP6T"/>
          <p:cNvSpPr txBox="1"/>
          <p:nvPr/>
        </p:nvSpPr>
        <p:spPr>
          <a:xfrm>
            <a:off x="4572000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050" dirty="0"/>
          </a:p>
        </p:txBody>
      </p:sp>
      <p:sp>
        <p:nvSpPr>
          <p:cNvPr id="36" name="mixCard"/>
          <p:cNvSpPr/>
          <p:nvPr/>
        </p:nvSpPr>
        <p:spPr>
          <a:xfrm>
            <a:off x="6080760" y="2057400"/>
            <a:ext cx="5562295" cy="3611880"/>
          </a:xfrm>
          <a:prstGeom prst="roundRect">
            <a:avLst>
              <a:gd name="adj" fmla="val 3038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7" name="mixK"/>
          <p:cNvSpPr txBox="1"/>
          <p:nvPr/>
        </p:nvSpPr>
        <p:spPr>
          <a:xfrm>
            <a:off x="6309360" y="219456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SCORES EVERY MIX AGAINST HELD-OUT RAIN GAUGES</a:t>
            </a:r>
            <a:endParaRPr lang="en-US" sz="1050" dirty="0"/>
          </a:p>
        </p:txBody>
      </p:sp>
      <p:sp>
        <p:nvSpPr>
          <p:cNvPr id="38" name="mixL0"/>
          <p:cNvSpPr txBox="1"/>
          <p:nvPr/>
        </p:nvSpPr>
        <p:spPr>
          <a:xfrm>
            <a:off x="6309360" y="2606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only</a:t>
            </a:r>
            <a:endParaRPr lang="en-US" sz="1300" dirty="0"/>
          </a:p>
        </p:txBody>
      </p:sp>
      <p:sp>
        <p:nvSpPr>
          <p:cNvPr id="39" name="mixB0"/>
          <p:cNvSpPr/>
          <p:nvPr/>
        </p:nvSpPr>
        <p:spPr>
          <a:xfrm>
            <a:off x="8138160" y="2670048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40" name="mixF0"/>
          <p:cNvSpPr/>
          <p:nvPr/>
        </p:nvSpPr>
        <p:spPr>
          <a:xfrm>
            <a:off x="8138160" y="2670048"/>
            <a:ext cx="2196791" cy="256032"/>
          </a:xfrm>
          <a:prstGeom prst="roundRect">
            <a:avLst>
              <a:gd name="adj" fmla="val 21429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41" name="mixV0"/>
          <p:cNvSpPr txBox="1"/>
          <p:nvPr/>
        </p:nvSpPr>
        <p:spPr>
          <a:xfrm>
            <a:off x="8247888" y="2670048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68%</a:t>
            </a:r>
            <a:endParaRPr lang="en-US" sz="1100" dirty="0"/>
          </a:p>
        </p:txBody>
      </p:sp>
      <p:sp>
        <p:nvSpPr>
          <p:cNvPr id="42" name="mixL1"/>
          <p:cNvSpPr txBox="1"/>
          <p:nvPr/>
        </p:nvSpPr>
        <p:spPr>
          <a:xfrm>
            <a:off x="6309360" y="31363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</a:t>
            </a:r>
            <a:endParaRPr lang="en-US" sz="1300" dirty="0"/>
          </a:p>
        </p:txBody>
      </p:sp>
      <p:sp>
        <p:nvSpPr>
          <p:cNvPr id="43" name="mixB1"/>
          <p:cNvSpPr/>
          <p:nvPr/>
        </p:nvSpPr>
        <p:spPr>
          <a:xfrm>
            <a:off x="8138160" y="3200400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4" name="mixV1"/>
          <p:cNvSpPr txBox="1"/>
          <p:nvPr/>
        </p:nvSpPr>
        <p:spPr>
          <a:xfrm>
            <a:off x="8247888" y="3200400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5" name="mixL2"/>
          <p:cNvSpPr txBox="1"/>
          <p:nvPr/>
        </p:nvSpPr>
        <p:spPr>
          <a:xfrm>
            <a:off x="6309360" y="3666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</a:t>
            </a:r>
            <a:endParaRPr lang="en-US" sz="1300" dirty="0"/>
          </a:p>
        </p:txBody>
      </p:sp>
      <p:sp>
        <p:nvSpPr>
          <p:cNvPr id="46" name="mixB2"/>
          <p:cNvSpPr/>
          <p:nvPr/>
        </p:nvSpPr>
        <p:spPr>
          <a:xfrm>
            <a:off x="8138160" y="3730752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7" name="mixV2"/>
          <p:cNvSpPr txBox="1"/>
          <p:nvPr/>
        </p:nvSpPr>
        <p:spPr>
          <a:xfrm>
            <a:off x="8247888" y="3730752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8" name="mixL3"/>
          <p:cNvSpPr txBox="1"/>
          <p:nvPr/>
        </p:nvSpPr>
        <p:spPr>
          <a:xfrm>
            <a:off x="6309360" y="41970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gauges, no links</a:t>
            </a:r>
            <a:endParaRPr lang="en-US" sz="1300" dirty="0"/>
          </a:p>
        </p:txBody>
      </p:sp>
      <p:sp>
        <p:nvSpPr>
          <p:cNvPr id="49" name="mixB3"/>
          <p:cNvSpPr/>
          <p:nvPr/>
        </p:nvSpPr>
        <p:spPr>
          <a:xfrm>
            <a:off x="8138160" y="4261104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0" name="mixV3"/>
          <p:cNvSpPr txBox="1"/>
          <p:nvPr/>
        </p:nvSpPr>
        <p:spPr>
          <a:xfrm>
            <a:off x="8247888" y="4261104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Jio adds</a:t>
            </a:r>
            <a:endParaRPr lang="en-US" sz="1100" dirty="0"/>
          </a:p>
        </p:txBody>
      </p:sp>
      <p:sp>
        <p:nvSpPr>
          <p:cNvPr id="51" name="mixL4"/>
          <p:cNvSpPr txBox="1"/>
          <p:nvPr/>
        </p:nvSpPr>
        <p:spPr>
          <a:xfrm>
            <a:off x="6309360" y="4727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paid data</a:t>
            </a:r>
            <a:endParaRPr lang="en-US" sz="1300" dirty="0"/>
          </a:p>
        </p:txBody>
      </p:sp>
      <p:sp>
        <p:nvSpPr>
          <p:cNvPr id="52" name="mixB4"/>
          <p:cNvSpPr/>
          <p:nvPr/>
        </p:nvSpPr>
        <p:spPr>
          <a:xfrm>
            <a:off x="8138160" y="4791456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3" name="mixV4"/>
          <p:cNvSpPr txBox="1"/>
          <p:nvPr/>
        </p:nvSpPr>
        <p:spPr>
          <a:xfrm>
            <a:off x="8247888" y="4791456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54" name="tgtLine"/>
          <p:cNvSpPr/>
          <p:nvPr/>
        </p:nvSpPr>
        <p:spPr>
          <a:xfrm>
            <a:off x="10722620" y="2560320"/>
            <a:ext cx="0" cy="265176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55" name="tgtLab"/>
          <p:cNvSpPr txBox="1"/>
          <p:nvPr/>
        </p:nvSpPr>
        <p:spPr>
          <a:xfrm>
            <a:off x="9625340" y="5212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bar: 80% of events</a:t>
            </a:r>
            <a:endParaRPr lang="en-US" sz="1150" dirty="0"/>
          </a:p>
        </p:txBody>
      </p:sp>
      <p:sp>
        <p:nvSpPr>
          <p:cNvPr id="56" name="rule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lowest-cost mix that clears every accuracy gate: ≥80% of predefined trigger events, totals within ±10%, under 15% unconfirmed.</a:t>
            </a:r>
            <a:endParaRPr lang="en-US" sz="1350" dirty="0"/>
          </a:p>
        </p:txBody>
      </p:sp>
      <p:sp>
        <p:nvSpPr>
          <p:cNvPr id="57" name="takeaway"/>
          <p:cNvSpPr txBox="1"/>
          <p:nvPr/>
        </p:nvSpPr>
        <p:spPr>
          <a:xfrm>
            <a:off x="548640" y="6108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ends with a cost-versus-accuracy answer: exactly what to scale.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1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3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83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13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73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5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37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69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601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654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00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9" grpId="0"/>
      <p:bldP spid="10" grpId="0" animBg="1"/>
      <p:bldP spid="11" grpId="0"/>
      <p:bldP spid="13" grpId="0"/>
      <p:bldP spid="14" grpId="0" animBg="1"/>
      <p:bldP spid="15" grpId="0"/>
      <p:bldP spid="17" grpId="0"/>
      <p:bldP spid="18" grpId="0" animBg="1"/>
      <p:bldP spid="19" grpId="0"/>
      <p:bldP spid="21" grpId="0"/>
      <p:bldP spid="22" grpId="0" animBg="1"/>
      <p:bldP spid="23" grpId="0"/>
      <p:bldP spid="25" grpId="0"/>
      <p:bldP spid="26" grpId="0" animBg="1"/>
      <p:bldP spid="27" grpId="0"/>
      <p:bldP spid="29" grpId="0"/>
      <p:bldP spid="30" grpId="0" animBg="1"/>
      <p:bldP spid="31" grpId="0"/>
      <p:bldP spid="33" grpId="0"/>
      <p:bldP spid="34" grpId="0" animBg="1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/>
      <p:bldP spid="46" grpId="0" animBg="1"/>
      <p:bldP spid="47" grpId="0"/>
      <p:bldP spid="48" grpId="0"/>
      <p:bldP spid="49" grpId="0" animBg="1"/>
      <p:bldP spid="50" grpId="0"/>
      <p:bldP spid="51" grpId="0"/>
      <p:bldP spid="52" grpId="0" animBg="1"/>
      <p:bldP spid="53" grpId="0"/>
      <p:bldP spid="54" grpId="0" animBg="1"/>
      <p:bldP spid="55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INSIDE RELIANCE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is the first proving ground</a:t>
            </a:r>
            <a:endParaRPr lang="en-US" sz="3200" dirty="0"/>
          </a:p>
        </p:txBody>
      </p:sp>
      <p:sp>
        <p:nvSpPr>
          <p:cNvPr id="6" name="hero"/>
          <p:cNvSpPr/>
          <p:nvPr/>
        </p:nvSpPr>
        <p:spPr>
          <a:xfrm>
            <a:off x="548640" y="2057400"/>
            <a:ext cx="6172200" cy="3520440"/>
          </a:xfrm>
          <a:prstGeom prst="roundRect">
            <a:avLst>
              <a:gd name="adj" fmla="val 3117"/>
            </a:avLst>
          </a:prstGeom>
          <a:solidFill>
            <a:srgbClr val="1C2447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7" name="hero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548640" cy="548640"/>
          </a:xfrm>
          <a:prstGeom prst="rect">
            <a:avLst/>
          </a:prstGeom>
        </p:spPr>
      </p:pic>
      <p:sp>
        <p:nvSpPr>
          <p:cNvPr id="8" name="heroH"/>
          <p:cNvSpPr txBox="1"/>
          <p:nvPr/>
        </p:nvSpPr>
        <p:spPr>
          <a:xfrm>
            <a:off x="1554480" y="2231136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05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network operations</a:t>
            </a:r>
            <a:endParaRPr lang="en-US" sz="1050" dirty="0"/>
          </a:p>
        </p:txBody>
      </p:sp>
      <p:sp>
        <p:nvSpPr>
          <p:cNvPr id="9" name="heroT"/>
          <p:cNvSpPr txBox="1"/>
          <p:nvPr/>
        </p:nvSpPr>
        <p:spPr>
          <a:xfrm>
            <a:off x="868680" y="3108960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tell rain-related signal loss from equipment faults before sending a crew?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fewer wasted visits and earlier flood alerts.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owns the network data and controls the operational decision.</a:t>
            </a:r>
            <a:endParaRPr lang="en-US" sz="1500" dirty="0"/>
          </a:p>
        </p:txBody>
      </p:sp>
      <p:sp>
        <p:nvSpPr>
          <p:cNvPr id="10" name="heroQ"/>
          <p:cNvSpPr txBox="1"/>
          <p:nvPr/>
        </p:nvSpPr>
        <p:spPr>
          <a:xfrm>
            <a:off x="868680" y="4434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“Before Jio sells weather intelligence to anyone, it uses it to understand its own network.”</a:t>
            </a:r>
            <a:endParaRPr lang="en-US" sz="1400" dirty="0"/>
          </a:p>
        </p:txBody>
      </p:sp>
      <p:sp>
        <p:nvSpPr>
          <p:cNvPr id="11" name="heroP"/>
          <p:cNvSpPr/>
          <p:nvPr/>
        </p:nvSpPr>
        <p:spPr>
          <a:xfrm>
            <a:off x="868680" y="507492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2" name="heroPT"/>
          <p:cNvSpPr txBox="1"/>
          <p:nvPr/>
        </p:nvSpPr>
        <p:spPr>
          <a:xfrm>
            <a:off x="86868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accuracy and savings</a:t>
            </a:r>
            <a:endParaRPr lang="en-US" sz="1050" dirty="0"/>
          </a:p>
        </p:txBody>
      </p:sp>
      <p:sp>
        <p:nvSpPr>
          <p:cNvPr id="13" name="use0"/>
          <p:cNvSpPr/>
          <p:nvPr/>
        </p:nvSpPr>
        <p:spPr>
          <a:xfrm>
            <a:off x="6949440" y="20574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use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240280"/>
            <a:ext cx="347472" cy="347472"/>
          </a:xfrm>
          <a:prstGeom prst="rect">
            <a:avLst/>
          </a:prstGeom>
        </p:spPr>
      </p:pic>
      <p:sp>
        <p:nvSpPr>
          <p:cNvPr id="15" name="useH0"/>
          <p:cNvSpPr txBox="1"/>
          <p:nvPr/>
        </p:nvSpPr>
        <p:spPr>
          <a:xfrm>
            <a:off x="7635240" y="22219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and Reliance Retail</a:t>
            </a:r>
            <a:endParaRPr lang="en-US" sz="1600" dirty="0"/>
          </a:p>
        </p:txBody>
      </p:sp>
      <p:sp>
        <p:nvSpPr>
          <p:cNvPr id="16" name="useT0"/>
          <p:cNvSpPr txBox="1"/>
          <p:nvPr/>
        </p:nvSpPr>
        <p:spPr>
          <a:xfrm>
            <a:off x="7150608" y="27157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Rain-aware dispatch, delivery promises and zone pauses.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commercial value</a:t>
            </a:r>
            <a:endParaRPr lang="en-US" sz="1350" dirty="0"/>
          </a:p>
        </p:txBody>
      </p:sp>
      <p:sp>
        <p:nvSpPr>
          <p:cNvPr id="17" name="use1"/>
          <p:cNvSpPr/>
          <p:nvPr/>
        </p:nvSpPr>
        <p:spPr>
          <a:xfrm>
            <a:off x="6949440" y="38862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use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4069080"/>
            <a:ext cx="347472" cy="347472"/>
          </a:xfrm>
          <a:prstGeom prst="rect">
            <a:avLst/>
          </a:prstGeom>
        </p:spPr>
      </p:pic>
      <p:sp>
        <p:nvSpPr>
          <p:cNvPr id="19" name="useH1"/>
          <p:cNvSpPr txBox="1"/>
          <p:nvPr/>
        </p:nvSpPr>
        <p:spPr>
          <a:xfrm>
            <a:off x="7635240" y="40507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MyJio</a:t>
            </a:r>
            <a:endParaRPr lang="en-US" sz="1600" dirty="0"/>
          </a:p>
        </p:txBody>
      </p:sp>
      <p:sp>
        <p:nvSpPr>
          <p:cNvPr id="20" name="useT1"/>
          <p:cNvSpPr txBox="1"/>
          <p:nvPr/>
        </p:nvSpPr>
        <p:spPr>
          <a:xfrm>
            <a:off x="7150608" y="45445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Street-level rain alerts, plus one-tap “is it raining here?” checks.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reach at scale</a:t>
            </a:r>
            <a:endParaRPr lang="en-US" sz="1350" dirty="0"/>
          </a:p>
        </p:txBody>
      </p:sp>
      <p:sp>
        <p:nvSpPr>
          <p:cNvPr id="21" name="takeaway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accuracy and value at home before selling outside.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82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8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74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/>
      <p:bldP spid="11" grpId="0" animBg="1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THE MARKET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sell the same intelligence to the market</a:t>
            </a:r>
            <a:endParaRPr lang="en-US" sz="3200" dirty="0"/>
          </a:p>
        </p:txBody>
      </p:sp>
      <p:sp>
        <p:nvSpPr>
          <p:cNvPr id="6" name="mk0"/>
          <p:cNvSpPr/>
          <p:nvPr/>
        </p:nvSpPr>
        <p:spPr>
          <a:xfrm>
            <a:off x="548640" y="205740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mkO0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kN0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mkT0"/>
          <p:cNvSpPr txBox="1"/>
          <p:nvPr/>
        </p:nvSpPr>
        <p:spPr>
          <a:xfrm>
            <a:off x="1371600" y="213055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quick commerce, ride-hailing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Swiggy, Zomato, Zepto, Uber, Rapido</a:t>
            </a:r>
            <a:endParaRPr lang="en-US" sz="1500" dirty="0"/>
          </a:p>
        </p:txBody>
      </p:sp>
      <p:sp>
        <p:nvSpPr>
          <p:cNvPr id="10" name="mkP0"/>
          <p:cNvSpPr/>
          <p:nvPr/>
        </p:nvSpPr>
        <p:spPr>
          <a:xfrm>
            <a:off x="6035040" y="2276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1" name="mkP0T"/>
          <p:cNvSpPr txBox="1"/>
          <p:nvPr/>
        </p:nvSpPr>
        <p:spPr>
          <a:xfrm>
            <a:off x="6035040" y="2276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12" name="mk1"/>
          <p:cNvSpPr/>
          <p:nvPr/>
        </p:nvSpPr>
        <p:spPr>
          <a:xfrm>
            <a:off x="548640" y="288036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3" name="mkO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4" name="mkN1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mkT1"/>
          <p:cNvSpPr txBox="1"/>
          <p:nvPr/>
        </p:nvSpPr>
        <p:spPr>
          <a:xfrm>
            <a:off x="1371600" y="295351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cities and transport · insurers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Delhivery, Porter, BMC, railways, insurers</a:t>
            </a:r>
            <a:endParaRPr lang="en-US" sz="1500" dirty="0"/>
          </a:p>
        </p:txBody>
      </p:sp>
      <p:sp>
        <p:nvSpPr>
          <p:cNvPr id="16" name="mkP1"/>
          <p:cNvSpPr/>
          <p:nvPr/>
        </p:nvSpPr>
        <p:spPr>
          <a:xfrm>
            <a:off x="6035040" y="309981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7" name="mkP1T"/>
          <p:cNvSpPr txBox="1"/>
          <p:nvPr/>
        </p:nvSpPr>
        <p:spPr>
          <a:xfrm>
            <a:off x="6035040" y="3099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data</a:t>
            </a:r>
            <a:endParaRPr lang="en-US" sz="1050" dirty="0"/>
          </a:p>
        </p:txBody>
      </p:sp>
      <p:sp>
        <p:nvSpPr>
          <p:cNvPr id="18" name="mk2"/>
          <p:cNvSpPr/>
          <p:nvPr/>
        </p:nvSpPr>
        <p:spPr>
          <a:xfrm>
            <a:off x="548640" y="370332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9" name="mkO2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0" name="mkN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mkT2"/>
          <p:cNvSpPr txBox="1"/>
          <p:nvPr/>
        </p:nvSpPr>
        <p:spPr>
          <a:xfrm>
            <a:off x="1371600" y="377647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power · construction · retail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crop insurance, discoms, metro projects, FMCG</a:t>
            </a:r>
            <a:endParaRPr lang="en-US" sz="1500" dirty="0"/>
          </a:p>
        </p:txBody>
      </p:sp>
      <p:sp>
        <p:nvSpPr>
          <p:cNvPr id="22" name="mkP2"/>
          <p:cNvSpPr/>
          <p:nvPr/>
        </p:nvSpPr>
        <p:spPr>
          <a:xfrm>
            <a:off x="6035040" y="392277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3" name="mkP2T"/>
          <p:cNvSpPr txBox="1"/>
          <p:nvPr/>
        </p:nvSpPr>
        <p:spPr>
          <a:xfrm>
            <a:off x="6035040" y="39227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alerts</a:t>
            </a:r>
            <a:endParaRPr lang="en-US" sz="1050" dirty="0"/>
          </a:p>
        </p:txBody>
      </p:sp>
      <p:sp>
        <p:nvSpPr>
          <p:cNvPr id="24" name="dcCard"/>
          <p:cNvSpPr/>
          <p:nvPr/>
        </p:nvSpPr>
        <p:spPr>
          <a:xfrm>
            <a:off x="548640" y="4544568"/>
            <a:ext cx="7086600" cy="1097280"/>
          </a:xfrm>
          <a:prstGeom prst="roundRect">
            <a:avLst>
              <a:gd name="adj" fmla="val 10000"/>
            </a:avLst>
          </a:prstGeom>
          <a:solidFill>
            <a:srgbClr val="1C2447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dcL0"/>
          <p:cNvSpPr txBox="1"/>
          <p:nvPr/>
        </p:nvSpPr>
        <p:spPr>
          <a:xfrm>
            <a:off x="749808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50" dirty="0"/>
          </a:p>
        </p:txBody>
      </p:sp>
      <p:sp>
        <p:nvSpPr>
          <p:cNvPr id="26" name="dcB0"/>
          <p:cNvSpPr/>
          <p:nvPr/>
        </p:nvSpPr>
        <p:spPr>
          <a:xfrm>
            <a:off x="749808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dcT0"/>
          <p:cNvSpPr txBox="1"/>
          <p:nvPr/>
        </p:nvSpPr>
        <p:spPr>
          <a:xfrm>
            <a:off x="804672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hits Zone A</a:t>
            </a:r>
            <a:endParaRPr lang="en-US" sz="1150" dirty="0"/>
          </a:p>
        </p:txBody>
      </p:sp>
      <p:sp>
        <p:nvSpPr>
          <p:cNvPr id="28" name="dcA0"/>
          <p:cNvSpPr/>
          <p:nvPr/>
        </p:nvSpPr>
        <p:spPr>
          <a:xfrm>
            <a:off x="2251710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9" name="dcL1"/>
          <p:cNvSpPr txBox="1"/>
          <p:nvPr/>
        </p:nvSpPr>
        <p:spPr>
          <a:xfrm>
            <a:off x="2489454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950" dirty="0"/>
          </a:p>
        </p:txBody>
      </p:sp>
      <p:sp>
        <p:nvSpPr>
          <p:cNvPr id="30" name="dcB1"/>
          <p:cNvSpPr/>
          <p:nvPr/>
        </p:nvSpPr>
        <p:spPr>
          <a:xfrm>
            <a:off x="2489454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dcT1"/>
          <p:cNvSpPr txBox="1"/>
          <p:nvPr/>
        </p:nvSpPr>
        <p:spPr>
          <a:xfrm>
            <a:off x="2544318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alert + rain estimate</a:t>
            </a:r>
            <a:endParaRPr lang="en-US" sz="1150" dirty="0"/>
          </a:p>
        </p:txBody>
      </p:sp>
      <p:sp>
        <p:nvSpPr>
          <p:cNvPr id="32" name="dcA1"/>
          <p:cNvSpPr/>
          <p:nvPr/>
        </p:nvSpPr>
        <p:spPr>
          <a:xfrm>
            <a:off x="3991356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3" name="dcL2"/>
          <p:cNvSpPr txBox="1"/>
          <p:nvPr/>
        </p:nvSpPr>
        <p:spPr>
          <a:xfrm>
            <a:off x="4229100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DECIDES</a:t>
            </a:r>
            <a:endParaRPr lang="en-US" sz="950" dirty="0"/>
          </a:p>
        </p:txBody>
      </p:sp>
      <p:sp>
        <p:nvSpPr>
          <p:cNvPr id="34" name="dcB2"/>
          <p:cNvSpPr/>
          <p:nvPr/>
        </p:nvSpPr>
        <p:spPr>
          <a:xfrm>
            <a:off x="4229100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41B36"/>
          </a:solidFill>
          <a:ln w="9525">
            <a:solidFill>
              <a:srgbClr val="5A6690"/>
            </a:solidFill>
            <a:prstDash val="solid"/>
          </a:ln>
        </p:spPr>
      </p:sp>
      <p:sp>
        <p:nvSpPr>
          <p:cNvPr id="35" name="dcT2"/>
          <p:cNvSpPr txBox="1"/>
          <p:nvPr/>
        </p:nvSpPr>
        <p:spPr>
          <a:xfrm>
            <a:off x="4283964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adjusts dispatch, ETAs or incentives</a:t>
            </a:r>
            <a:endParaRPr lang="en-US" sz="1150" dirty="0"/>
          </a:p>
        </p:txBody>
      </p:sp>
      <p:sp>
        <p:nvSpPr>
          <p:cNvPr id="36" name="dcA2"/>
          <p:cNvSpPr/>
          <p:nvPr/>
        </p:nvSpPr>
        <p:spPr>
          <a:xfrm>
            <a:off x="5731002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7" name="dcL3"/>
          <p:cNvSpPr txBox="1"/>
          <p:nvPr/>
        </p:nvSpPr>
        <p:spPr>
          <a:xfrm>
            <a:off x="5968746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38" name="dcB3"/>
          <p:cNvSpPr/>
          <p:nvPr/>
        </p:nvSpPr>
        <p:spPr>
          <a:xfrm>
            <a:off x="5968746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0F2A22"/>
          </a:solidFill>
          <a:ln w="9525">
            <a:solidFill>
              <a:srgbClr val="1BAF7A"/>
            </a:solidFill>
            <a:prstDash val="solid"/>
          </a:ln>
        </p:spPr>
      </p:sp>
      <p:sp>
        <p:nvSpPr>
          <p:cNvPr id="39" name="dcT3"/>
          <p:cNvSpPr txBox="1"/>
          <p:nvPr/>
        </p:nvSpPr>
        <p:spPr>
          <a:xfrm>
            <a:off x="6023610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disruption</a:t>
            </a:r>
            <a:endParaRPr lang="en-US" sz="1150" dirty="0"/>
          </a:p>
        </p:txBody>
      </p:sp>
      <p:sp>
        <p:nvSpPr>
          <p:cNvPr id="40" name="whyCard"/>
          <p:cNvSpPr/>
          <p:nvPr/>
        </p:nvSpPr>
        <p:spPr>
          <a:xfrm>
            <a:off x="7863840" y="2057400"/>
            <a:ext cx="3776472" cy="3584448"/>
          </a:xfrm>
          <a:prstGeom prst="roundRect">
            <a:avLst>
              <a:gd name="adj" fmla="val 306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41" name="whyT"/>
          <p:cNvSpPr txBox="1"/>
          <p:nvPr/>
        </p:nvSpPr>
        <p:spPr>
          <a:xfrm>
            <a:off x="8092440" y="2194560"/>
            <a:ext cx="3383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BUY FROM US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sensing wherever usable microwave links exist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denser than conventional rain gauges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monitoring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valuable wherever microwave backhaul is present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weather trigger built on multiple data sources</a:t>
            </a:r>
            <a:endParaRPr lang="en-US" sz="1050" dirty="0"/>
          </a:p>
        </p:txBody>
      </p:sp>
      <p:sp>
        <p:nvSpPr>
          <p:cNvPr id="42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for those who act in real time. Data for those who need proof.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9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7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3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9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27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64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1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9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JIO · HOW IT CREATES VALUE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is integration, not the sensor</a:t>
            </a:r>
            <a:endParaRPr lang="en-US" sz="3200" dirty="0"/>
          </a:p>
        </p:txBody>
      </p:sp>
      <p:sp>
        <p:nvSpPr>
          <p:cNvPr id="6" name="moat0"/>
          <p:cNvSpPr/>
          <p:nvPr/>
        </p:nvSpPr>
        <p:spPr>
          <a:xfrm>
            <a:off x="548640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moatK0"/>
          <p:cNvSpPr/>
          <p:nvPr/>
        </p:nvSpPr>
        <p:spPr>
          <a:xfrm>
            <a:off x="731520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oatKT0"/>
          <p:cNvSpPr txBox="1"/>
          <p:nvPr/>
        </p:nvSpPr>
        <p:spPr>
          <a:xfrm>
            <a:off x="73152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50" dirty="0"/>
          </a:p>
        </p:txBody>
      </p:sp>
      <p:sp>
        <p:nvSpPr>
          <p:cNvPr id="9" name="moatT0"/>
          <p:cNvSpPr txBox="1"/>
          <p:nvPr/>
        </p:nvSpPr>
        <p:spPr>
          <a:xfrm>
            <a:off x="731520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network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links already in place</a:t>
            </a:r>
            <a:endParaRPr lang="en-US" sz="1550" dirty="0"/>
          </a:p>
        </p:txBody>
      </p:sp>
      <p:sp>
        <p:nvSpPr>
          <p:cNvPr id="10" name="moatA0"/>
          <p:cNvSpPr/>
          <p:nvPr/>
        </p:nvSpPr>
        <p:spPr>
          <a:xfrm>
            <a:off x="3107360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1" name="moat1"/>
          <p:cNvSpPr/>
          <p:nvPr/>
        </p:nvSpPr>
        <p:spPr>
          <a:xfrm>
            <a:off x="3409112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moatK1"/>
          <p:cNvSpPr/>
          <p:nvPr/>
        </p:nvSpPr>
        <p:spPr>
          <a:xfrm>
            <a:off x="3591992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moatKT1"/>
          <p:cNvSpPr txBox="1"/>
          <p:nvPr/>
        </p:nvSpPr>
        <p:spPr>
          <a:xfrm>
            <a:off x="3591992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4" name="moatT1"/>
          <p:cNvSpPr txBox="1"/>
          <p:nvPr/>
        </p:nvSpPr>
        <p:spPr>
          <a:xfrm>
            <a:off x="3591992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gauges, turned into alerts and data</a:t>
            </a:r>
            <a:endParaRPr lang="en-US" sz="1550" dirty="0"/>
          </a:p>
        </p:txBody>
      </p:sp>
      <p:sp>
        <p:nvSpPr>
          <p:cNvPr id="15" name="moatA1"/>
          <p:cNvSpPr/>
          <p:nvPr/>
        </p:nvSpPr>
        <p:spPr>
          <a:xfrm>
            <a:off x="5967832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6" name="moat2"/>
          <p:cNvSpPr/>
          <p:nvPr/>
        </p:nvSpPr>
        <p:spPr>
          <a:xfrm>
            <a:off x="6269584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moatK2"/>
          <p:cNvSpPr/>
          <p:nvPr/>
        </p:nvSpPr>
        <p:spPr>
          <a:xfrm>
            <a:off x="6452464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moatKT2"/>
          <p:cNvSpPr txBox="1"/>
          <p:nvPr/>
        </p:nvSpPr>
        <p:spPr>
          <a:xfrm>
            <a:off x="6452464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250" dirty="0"/>
          </a:p>
        </p:txBody>
      </p:sp>
      <p:sp>
        <p:nvSpPr>
          <p:cNvPr id="19" name="moatT2"/>
          <p:cNvSpPr txBox="1"/>
          <p:nvPr/>
        </p:nvSpPr>
        <p:spPr>
          <a:xfrm>
            <a:off x="6452464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ecosystem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sales, JioMart, MyJio</a:t>
            </a:r>
            <a:endParaRPr lang="en-US" sz="1550" dirty="0"/>
          </a:p>
        </p:txBody>
      </p:sp>
      <p:sp>
        <p:nvSpPr>
          <p:cNvPr id="20" name="moatA2"/>
          <p:cNvSpPr/>
          <p:nvPr/>
        </p:nvSpPr>
        <p:spPr>
          <a:xfrm>
            <a:off x="8828303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1" name="moat3"/>
          <p:cNvSpPr/>
          <p:nvPr/>
        </p:nvSpPr>
        <p:spPr>
          <a:xfrm>
            <a:off x="9130055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2" name="moatK3"/>
          <p:cNvSpPr/>
          <p:nvPr/>
        </p:nvSpPr>
        <p:spPr>
          <a:xfrm>
            <a:off x="9312935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moatKT3"/>
          <p:cNvSpPr txBox="1"/>
          <p:nvPr/>
        </p:nvSpPr>
        <p:spPr>
          <a:xfrm>
            <a:off x="9312935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250" dirty="0"/>
          </a:p>
        </p:txBody>
      </p:sp>
      <p:sp>
        <p:nvSpPr>
          <p:cNvPr id="24" name="moatT3"/>
          <p:cNvSpPr txBox="1"/>
          <p:nvPr/>
        </p:nvSpPr>
        <p:spPr>
          <a:xfrm>
            <a:off x="9312935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JFS + licensed insurers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Optional; the insurer carries the risk</a:t>
            </a:r>
            <a:endParaRPr lang="en-US" sz="1550" dirty="0"/>
          </a:p>
        </p:txBody>
      </p:sp>
      <p:sp>
        <p:nvSpPr>
          <p:cNvPr id="25" name="moatLine"/>
          <p:cNvSpPr txBox="1"/>
          <p:nvPr/>
        </p:nvSpPr>
        <p:spPr>
          <a:xfrm>
            <a:off x="548640" y="36393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can connect all four layers, so Jio earns from the intelligence without carrying insurance risk.</a:t>
            </a:r>
            <a:endParaRPr lang="en-US" sz="1500" dirty="0"/>
          </a:p>
        </p:txBody>
      </p:sp>
      <p:sp>
        <p:nvSpPr>
          <p:cNvPr id="26" name="revK"/>
          <p:cNvSpPr txBox="1"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JIO CREATES VALUE</a:t>
            </a:r>
            <a:endParaRPr lang="en-US" sz="1050" dirty="0"/>
          </a:p>
        </p:txBody>
      </p:sp>
      <p:sp>
        <p:nvSpPr>
          <p:cNvPr id="27" name="rev0"/>
          <p:cNvSpPr/>
          <p:nvPr/>
        </p:nvSpPr>
        <p:spPr>
          <a:xfrm>
            <a:off x="548640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8" name="revN0"/>
          <p:cNvSpPr txBox="1"/>
          <p:nvPr/>
        </p:nvSpPr>
        <p:spPr>
          <a:xfrm>
            <a:off x="73152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revT0"/>
          <p:cNvSpPr txBox="1"/>
          <p:nvPr/>
        </p:nvSpPr>
        <p:spPr>
          <a:xfrm>
            <a:off x="1298448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alerts and data for businesses</a:t>
            </a:r>
            <a:endParaRPr lang="en-US" sz="1050" dirty="0"/>
          </a:p>
        </p:txBody>
      </p:sp>
      <p:sp>
        <p:nvSpPr>
          <p:cNvPr id="30" name="rev1"/>
          <p:cNvSpPr/>
          <p:nvPr/>
        </p:nvSpPr>
        <p:spPr>
          <a:xfrm>
            <a:off x="4322978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31" name="revN1"/>
          <p:cNvSpPr txBox="1"/>
          <p:nvPr/>
        </p:nvSpPr>
        <p:spPr>
          <a:xfrm>
            <a:off x="4505858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8A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revT1"/>
          <p:cNvSpPr txBox="1"/>
          <p:nvPr/>
        </p:nvSpPr>
        <p:spPr>
          <a:xfrm>
            <a:off x="5072786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 · OPTIONAL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Kavach launches; the insurer carries the risk</a:t>
            </a:r>
            <a:endParaRPr lang="en-US" sz="1050" dirty="0"/>
          </a:p>
        </p:txBody>
      </p:sp>
      <p:sp>
        <p:nvSpPr>
          <p:cNvPr id="33" name="rev2"/>
          <p:cNvSpPr/>
          <p:nvPr/>
        </p:nvSpPr>
        <p:spPr>
          <a:xfrm>
            <a:off x="8097317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1F5A45"/>
            </a:solidFill>
            <a:prstDash val="solid"/>
          </a:ln>
        </p:spPr>
      </p:sp>
      <p:sp>
        <p:nvSpPr>
          <p:cNvPr id="34" name="revN2"/>
          <p:cNvSpPr txBox="1"/>
          <p:nvPr/>
        </p:nvSpPr>
        <p:spPr>
          <a:xfrm>
            <a:off x="8280197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revT2"/>
          <p:cNvSpPr txBox="1"/>
          <p:nvPr/>
        </p:nvSpPr>
        <p:spPr>
          <a:xfrm>
            <a:off x="8847125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inside Reliance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operations, delivery and retail</a:t>
            </a:r>
            <a:endParaRPr lang="en-US" sz="1050" dirty="0"/>
          </a:p>
        </p:txBody>
      </p:sp>
      <p:sp>
        <p:nvSpPr>
          <p:cNvPr id="36" name="takeaway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stands even if insurance never launches.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1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4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7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46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89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32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7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 · MAUSAM KAVACH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is one application, not the anchor</a:t>
            </a:r>
            <a:endParaRPr lang="en-US" sz="3200" dirty="0"/>
          </a:p>
        </p:txBody>
      </p:sp>
      <p:sp>
        <p:nvSpPr>
          <p:cNvPr id="6" name="fl0"/>
          <p:cNvSpPr/>
          <p:nvPr/>
        </p:nvSpPr>
        <p:spPr>
          <a:xfrm>
            <a:off x="548640" y="20574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7" name="f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31136"/>
            <a:ext cx="365760" cy="365760"/>
          </a:xfrm>
          <a:prstGeom prst="rect">
            <a:avLst/>
          </a:prstGeom>
        </p:spPr>
      </p:pic>
      <p:sp>
        <p:nvSpPr>
          <p:cNvPr id="8" name="flT0"/>
          <p:cNvSpPr txBox="1"/>
          <p:nvPr/>
        </p:nvSpPr>
        <p:spPr>
          <a:xfrm>
            <a:off x="1280160" y="20574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weather event in a zone</a:t>
            </a:r>
            <a:endParaRPr lang="en-US" sz="1600" dirty="0"/>
          </a:p>
        </p:txBody>
      </p:sp>
      <p:sp>
        <p:nvSpPr>
          <p:cNvPr id="9" name="flA0"/>
          <p:cNvSpPr/>
          <p:nvPr/>
        </p:nvSpPr>
        <p:spPr>
          <a:xfrm>
            <a:off x="932688" y="277063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0" name="fl1"/>
          <p:cNvSpPr/>
          <p:nvPr/>
        </p:nvSpPr>
        <p:spPr>
          <a:xfrm>
            <a:off x="548640" y="292608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1" name="f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99816"/>
            <a:ext cx="365760" cy="365760"/>
          </a:xfrm>
          <a:prstGeom prst="rect">
            <a:avLst/>
          </a:prstGeom>
        </p:spPr>
      </p:pic>
      <p:sp>
        <p:nvSpPr>
          <p:cNvPr id="12" name="flT1"/>
          <p:cNvSpPr txBox="1"/>
          <p:nvPr/>
        </p:nvSpPr>
        <p:spPr>
          <a:xfrm>
            <a:off x="1280160" y="29260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supplies the trigger data</a:t>
            </a:r>
            <a:endParaRPr lang="en-US" sz="1600" dirty="0"/>
          </a:p>
        </p:txBody>
      </p:sp>
      <p:sp>
        <p:nvSpPr>
          <p:cNvPr id="13" name="flA1"/>
          <p:cNvSpPr/>
          <p:nvPr/>
        </p:nvSpPr>
        <p:spPr>
          <a:xfrm>
            <a:off x="932688" y="363931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4" name="fl2"/>
          <p:cNvSpPr/>
          <p:nvPr/>
        </p:nvSpPr>
        <p:spPr>
          <a:xfrm>
            <a:off x="548640" y="379476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f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365760" cy="365760"/>
          </a:xfrm>
          <a:prstGeom prst="rect">
            <a:avLst/>
          </a:prstGeom>
        </p:spPr>
      </p:pic>
      <p:sp>
        <p:nvSpPr>
          <p:cNvPr id="16" name="flT2"/>
          <p:cNvSpPr txBox="1"/>
          <p:nvPr/>
        </p:nvSpPr>
        <p:spPr>
          <a:xfrm>
            <a:off x="1280160" y="3794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would underwrite and pay</a:t>
            </a:r>
            <a:endParaRPr lang="en-US" sz="1600" dirty="0"/>
          </a:p>
        </p:txBody>
      </p:sp>
      <p:sp>
        <p:nvSpPr>
          <p:cNvPr id="17" name="flA2"/>
          <p:cNvSpPr/>
          <p:nvPr/>
        </p:nvSpPr>
        <p:spPr>
          <a:xfrm>
            <a:off x="932688" y="450799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8" name="fl3"/>
          <p:cNvSpPr/>
          <p:nvPr/>
        </p:nvSpPr>
        <p:spPr>
          <a:xfrm>
            <a:off x="548640" y="466344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B2208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9" name="fl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37176"/>
            <a:ext cx="365760" cy="365760"/>
          </a:xfrm>
          <a:prstGeom prst="rect">
            <a:avLst/>
          </a:prstGeom>
        </p:spPr>
      </p:pic>
      <p:sp>
        <p:nvSpPr>
          <p:cNvPr id="20" name="flT3"/>
          <p:cNvSpPr txBox="1"/>
          <p:nvPr/>
        </p:nvSpPr>
        <p:spPr>
          <a:xfrm>
            <a:off x="1280160" y="46634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benefit to the worker, e.g. ₹300</a:t>
            </a:r>
            <a:endParaRPr lang="en-US" sz="1600" dirty="0"/>
          </a:p>
        </p:txBody>
      </p:sp>
      <p:sp>
        <p:nvSpPr>
          <p:cNvPr id="21" name="flNote"/>
          <p:cNvSpPr txBox="1"/>
          <p:nvPr/>
        </p:nvSpPr>
        <p:spPr>
          <a:xfrm>
            <a:off x="548640" y="5504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claim, no proof of loss. Eligible = already active in the zone before the event began (predefined rules). ₹300 is a prototype assumption.</a:t>
            </a:r>
            <a:endParaRPr lang="en-US" sz="1300" dirty="0"/>
          </a:p>
        </p:txBody>
      </p:sp>
      <p:sp>
        <p:nvSpPr>
          <p:cNvPr id="22" name="gateCard"/>
          <p:cNvSpPr/>
          <p:nvPr/>
        </p:nvSpPr>
        <p:spPr>
          <a:xfrm>
            <a:off x="6263640" y="2057400"/>
            <a:ext cx="5376672" cy="3291840"/>
          </a:xfrm>
          <a:prstGeom prst="roundRect">
            <a:avLst>
              <a:gd name="adj" fmla="val 3333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3" name="gateT"/>
          <p:cNvSpPr txBox="1"/>
          <p:nvPr/>
        </p:nvSpPr>
        <p:spPr>
          <a:xfrm>
            <a:off x="6537960" y="2212848"/>
            <a:ext cx="4892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AN OPTION, NOT THE ANCHOR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accuracy and actuarial gates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payouts until then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is still unproven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co-funded or individual: the pilot tests it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carries the risk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Jio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doesn’t work, nothing breaks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business is untouched</a:t>
            </a:r>
            <a:endParaRPr lang="en-US" sz="1050" dirty="0"/>
          </a:p>
        </p:txBody>
      </p:sp>
      <p:sp>
        <p:nvSpPr>
          <p:cNvPr id="24" name="takeaway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impact if it works. Zero damage if it doesn’t.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9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3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7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1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91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 animBg="1"/>
      <p:bldP spid="10" grpId="0" animBg="1"/>
      <p:bldP spid="12" grpId="0"/>
      <p:bldP spid="13" grpId="0" animBg="1"/>
      <p:bldP spid="14" grpId="0" animBg="1"/>
      <p:bldP spid="16" grpId="0"/>
      <p:bldP spid="17" grpId="0" animBg="1"/>
      <p:bldP spid="18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APPLICATION · CITY-SPECIFIC WEATHER PROTECTION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offer Kavach, Indian weather sets the price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040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00584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·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days a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paid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 a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≥204.5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Plus (platform)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(cap)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</a:tbl>
          </a:graphicData>
        </a:graphic>
      </p:graphicFrame>
      <p:sp>
        <p:nvSpPr>
          <p:cNvPr id="7" name="formula"/>
          <p:cNvSpPr txBox="1"/>
          <p:nvPr/>
        </p:nvSpPr>
        <p:spPr>
          <a:xfrm>
            <a:off x="548640" y="44622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expected paid days × ₹300 ÷ 60% ÷ 12</a:t>
            </a:r>
            <a:endParaRPr lang="en-US" sz="1500" dirty="0"/>
          </a:p>
        </p:txBody>
      </p:sp>
      <p:sp>
        <p:nvSpPr>
          <p:cNvPr id="8" name="plusNote"/>
          <p:cNvSpPr txBox="1"/>
          <p:nvPr/>
        </p:nvSpPr>
        <p:spPr>
          <a:xfrm>
            <a:off x="548640" y="48463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covers rare extremes for individuals. Plus is priced from ~12 historical heavy-rain days a year, with payouts capped at 5 days a year. Designed for potential platform sponsorship, subject to pilot validation.</a:t>
            </a:r>
            <a:endParaRPr lang="en-US" sz="1300" dirty="0"/>
          </a:p>
        </p:txBody>
      </p:sp>
      <p:sp>
        <p:nvSpPr>
          <p:cNvPr id="9" name="city0"/>
          <p:cNvSpPr/>
          <p:nvPr/>
        </p:nvSpPr>
        <p:spPr>
          <a:xfrm>
            <a:off x="7863840" y="2057400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C2447"/>
          </a:solidFill>
          <a:ln w="9525">
            <a:solidFill>
              <a:srgbClr val="F5A623"/>
            </a:solidFill>
            <a:prstDash val="solid"/>
          </a:ln>
        </p:spPr>
      </p:sp>
      <p:pic>
        <p:nvPicPr>
          <p:cNvPr id="10" name="city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304288"/>
            <a:ext cx="365760" cy="365760"/>
          </a:xfrm>
          <a:prstGeom prst="rect">
            <a:avLst/>
          </a:prstGeom>
        </p:spPr>
      </p:pic>
      <p:sp>
        <p:nvSpPr>
          <p:cNvPr id="11" name="cityT0"/>
          <p:cNvSpPr txBox="1"/>
          <p:nvPr/>
        </p:nvSpPr>
        <p:spPr>
          <a:xfrm>
            <a:off x="8577072" y="21762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· rain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heavy-rain days a year</a:t>
            </a:r>
            <a:endParaRPr lang="en-US" sz="1500" dirty="0"/>
          </a:p>
        </p:txBody>
      </p:sp>
      <p:sp>
        <p:nvSpPr>
          <p:cNvPr id="12" name="cityP0"/>
          <p:cNvSpPr txBox="1"/>
          <p:nvPr/>
        </p:nvSpPr>
        <p:spPr>
          <a:xfrm>
            <a:off x="1060704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city1"/>
          <p:cNvSpPr/>
          <p:nvPr/>
        </p:nvSpPr>
        <p:spPr>
          <a:xfrm>
            <a:off x="7863840" y="3044952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city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291840"/>
            <a:ext cx="365760" cy="365760"/>
          </a:xfrm>
          <a:prstGeom prst="rect">
            <a:avLst/>
          </a:prstGeom>
        </p:spPr>
      </p:pic>
      <p:sp>
        <p:nvSpPr>
          <p:cNvPr id="15" name="cityT1"/>
          <p:cNvSpPr txBox="1"/>
          <p:nvPr/>
        </p:nvSpPr>
        <p:spPr>
          <a:xfrm>
            <a:off x="8577072" y="31638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days at 47°C or more a year</a:t>
            </a:r>
            <a:endParaRPr lang="en-US" sz="1500" dirty="0"/>
          </a:p>
        </p:txBody>
      </p:sp>
      <p:sp>
        <p:nvSpPr>
          <p:cNvPr id="16" name="cityP1"/>
          <p:cNvSpPr txBox="1"/>
          <p:nvPr/>
        </p:nvSpPr>
        <p:spPr>
          <a:xfrm>
            <a:off x="10607040" y="3044952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city2"/>
          <p:cNvSpPr/>
          <p:nvPr/>
        </p:nvSpPr>
        <p:spPr>
          <a:xfrm>
            <a:off x="7863840" y="4032504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city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279392"/>
            <a:ext cx="365760" cy="365760"/>
          </a:xfrm>
          <a:prstGeom prst="rect">
            <a:avLst/>
          </a:prstGeom>
        </p:spPr>
      </p:pic>
      <p:sp>
        <p:nvSpPr>
          <p:cNvPr id="19" name="cityT2"/>
          <p:cNvSpPr txBox="1"/>
          <p:nvPr/>
        </p:nvSpPr>
        <p:spPr>
          <a:xfrm>
            <a:off x="8577072" y="41513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days at 47°C or more a year</a:t>
            </a:r>
            <a:endParaRPr lang="en-US" sz="1500" dirty="0"/>
          </a:p>
        </p:txBody>
      </p:sp>
      <p:sp>
        <p:nvSpPr>
          <p:cNvPr id="20" name="cityP2"/>
          <p:cNvSpPr txBox="1"/>
          <p:nvPr/>
        </p:nvSpPr>
        <p:spPr>
          <a:xfrm>
            <a:off x="10607040" y="403250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heatNote"/>
          <p:cNvSpPr txBox="1"/>
          <p:nvPr/>
        </p:nvSpPr>
        <p:spPr>
          <a:xfrm>
            <a:off x="786384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Rain: Jio’s own sensing. Heat: IMD stations and satellite, through the same engine.</a:t>
            </a:r>
            <a:endParaRPr lang="en-US" sz="1250" dirty="0"/>
          </a:p>
        </p:txBody>
      </p:sp>
      <p:sp>
        <p:nvSpPr>
          <p:cNvPr id="22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price can’t fit India’s different weather risks.</a:t>
            </a:r>
            <a:endParaRPr lang="en-US" sz="18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station data 2000–2024 · ₹300 payout and 60% loss ratio are prototype assumptions · 5-day annual cap · final pricing subject to actuarial validation.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3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6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29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69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10" grpId="0">
        <p:bldAsOne/>
      </p:bldGraphic>
      <p:bldP spid="7" grpId="0"/>
      <p:bldP spid="8" grpId="0"/>
      <p:bldP spid="9" grpId="0" animBg="1"/>
      <p:bldP spid="11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believe us. Test it in 90 days</a:t>
            </a:r>
            <a:endParaRPr lang="en-US" sz="3200" dirty="0"/>
          </a:p>
        </p:txBody>
      </p:sp>
      <p:sp>
        <p:nvSpPr>
          <p:cNvPr id="6" name="pr0"/>
          <p:cNvSpPr/>
          <p:nvPr/>
        </p:nvSpPr>
        <p:spPr>
          <a:xfrm>
            <a:off x="548640" y="2011680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prH0"/>
          <p:cNvSpPr txBox="1"/>
          <p:nvPr/>
        </p:nvSpPr>
        <p:spPr>
          <a:xfrm>
            <a:off x="749808" y="212140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prT0"/>
          <p:cNvSpPr txBox="1"/>
          <p:nvPr/>
        </p:nvSpPr>
        <p:spPr>
          <a:xfrm>
            <a:off x="2240280" y="2066544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Jio’s microwave links and data readiness in Mumbai and candidate NE-monsoon cities.</a:t>
            </a:r>
            <a:endParaRPr lang="en-US" sz="1200" dirty="0"/>
          </a:p>
        </p:txBody>
      </p:sp>
      <p:sp>
        <p:nvSpPr>
          <p:cNvPr id="9" name="prG0"/>
          <p:cNvSpPr/>
          <p:nvPr/>
        </p:nvSpPr>
        <p:spPr>
          <a:xfrm>
            <a:off x="5440680" y="2130552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prGT0"/>
          <p:cNvSpPr txBox="1"/>
          <p:nvPr/>
        </p:nvSpPr>
        <p:spPr>
          <a:xfrm>
            <a:off x="5504688" y="2130552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COVERAGE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usable coverage?</a:t>
            </a:r>
            <a:endParaRPr lang="en-US" sz="1050" dirty="0"/>
          </a:p>
        </p:txBody>
      </p:sp>
      <p:sp>
        <p:nvSpPr>
          <p:cNvPr id="11" name="pr1"/>
          <p:cNvSpPr/>
          <p:nvPr/>
        </p:nvSpPr>
        <p:spPr>
          <a:xfrm>
            <a:off x="548640" y="3035808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2" name="prH1"/>
          <p:cNvSpPr txBox="1"/>
          <p:nvPr/>
        </p:nvSpPr>
        <p:spPr>
          <a:xfrm>
            <a:off x="749808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15–60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3" name="prT1"/>
          <p:cNvSpPr txBox="1"/>
          <p:nvPr/>
        </p:nvSpPr>
        <p:spPr>
          <a:xfrm>
            <a:off x="2240280" y="309067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archived Mumbai monsoon data; score every source mix against held-out gauges.</a:t>
            </a:r>
            <a:endParaRPr lang="en-US" sz="1200" dirty="0"/>
          </a:p>
        </p:txBody>
      </p:sp>
      <p:sp>
        <p:nvSpPr>
          <p:cNvPr id="14" name="prG1"/>
          <p:cNvSpPr/>
          <p:nvPr/>
        </p:nvSpPr>
        <p:spPr>
          <a:xfrm>
            <a:off x="5440680" y="3154680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5" name="prGT1"/>
          <p:cNvSpPr txBox="1"/>
          <p:nvPr/>
        </p:nvSpPr>
        <p:spPr>
          <a:xfrm>
            <a:off x="5504688" y="3154680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system clears every gate?</a:t>
            </a:r>
            <a:endParaRPr lang="en-US" sz="1050" dirty="0"/>
          </a:p>
        </p:txBody>
      </p:sp>
      <p:sp>
        <p:nvSpPr>
          <p:cNvPr id="16" name="pr2"/>
          <p:cNvSpPr/>
          <p:nvPr/>
        </p:nvSpPr>
        <p:spPr>
          <a:xfrm>
            <a:off x="548640" y="4059936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prH2"/>
          <p:cNvSpPr txBox="1"/>
          <p:nvPr/>
        </p:nvSpPr>
        <p:spPr>
          <a:xfrm>
            <a:off x="749808" y="41696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18" name="prT2"/>
          <p:cNvSpPr txBox="1"/>
          <p:nvPr/>
        </p:nvSpPr>
        <p:spPr>
          <a:xfrm>
            <a:off x="2240280" y="411480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shadow test in one Reliance operation, in the city the audit selects. Compare matched zones with and without JioMausam.</a:t>
            </a:r>
            <a:endParaRPr lang="en-US" sz="1200" dirty="0"/>
          </a:p>
        </p:txBody>
      </p:sp>
      <p:sp>
        <p:nvSpPr>
          <p:cNvPr id="19" name="prG2"/>
          <p:cNvSpPr/>
          <p:nvPr/>
        </p:nvSpPr>
        <p:spPr>
          <a:xfrm>
            <a:off x="5440680" y="4178808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prGT2"/>
          <p:cNvSpPr txBox="1"/>
          <p:nvPr/>
        </p:nvSpPr>
        <p:spPr>
          <a:xfrm>
            <a:off x="5504688" y="4178808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 real Reliance operation?</a:t>
            </a:r>
            <a:endParaRPr lang="en-US" sz="1050" dirty="0"/>
          </a:p>
        </p:txBody>
      </p:sp>
      <p:sp>
        <p:nvSpPr>
          <p:cNvPr id="21" name="rmK"/>
          <p:cNvSpPr txBox="1"/>
          <p:nvPr/>
        </p:nvSpPr>
        <p:spPr>
          <a:xfrm>
            <a:off x="7360920" y="20116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graphicFrame>
        <p:nvGraphicFramePr>
          <p:cNvPr id="11" name="r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331720"/>
          <a:ext cx="42793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74520"/>
                <a:gridCol w="16733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Kavach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gates (pilot)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payouts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live + first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+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+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at 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weather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</a:tbl>
          </a:graphicData>
        </a:graphic>
      </p:graphicFrame>
      <p:sp>
        <p:nvSpPr>
          <p:cNvPr id="23" name="gatesLine"/>
          <p:cNvSpPr txBox="1"/>
          <p:nvPr/>
        </p:nvSpPr>
        <p:spPr>
          <a:xfrm>
            <a:off x="7360920" y="459943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all three gates pass do we scale externally.</a:t>
            </a:r>
            <a:endParaRPr lang="en-US" sz="1300" dirty="0"/>
          </a:p>
        </p:txBody>
      </p:sp>
      <p:sp>
        <p:nvSpPr>
          <p:cNvPr id="24" name="close"/>
          <p:cNvSpPr txBox="1"/>
          <p:nvPr/>
        </p:nvSpPr>
        <p:spPr>
          <a:xfrm>
            <a:off x="548640" y="507492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aren’t asking Jio to build another weather network. </a:t>
            </a:r>
            <a:pPr algn="ctr" indent="0" marL="0">
              <a:buNone/>
            </a:pPr>
            <a:r>
              <a:rPr lang="en-US" sz="19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asking it to discover what its existing network can tell us, and turn that signal into decisions.</a:t>
            </a:r>
            <a:endParaRPr lang="en-US" sz="1900" dirty="0"/>
          </a:p>
        </p:txBody>
      </p:sp>
      <p:sp>
        <p:nvSpPr>
          <p:cNvPr id="25" name="tag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prove the signal.  Then sell the intelligence.  Protection comes last.</a:t>
            </a:r>
            <a:endParaRPr lang="en-US" sz="17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093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≥80% of predefined trigger events caught · totals within ±10% of gauges · under 15% of triggers unconfirmed.  Gate 3 KPIs: site visits · fault-resolution time · delivery delays · rider availability · incentive spend.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1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7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13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1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32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42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Reliance T.U.P XII · Elimination round</dc:title>
  <dc:subject>PptxGenJS Presentation</dc:subject>
  <dc:creator>JioMausam team</dc:creator>
  <cp:lastModifiedBy>JioMausam team</cp:lastModifiedBy>
  <cp:revision>1</cp:revision>
  <dcterms:created xsi:type="dcterms:W3CDTF">2026-10-04T11:41:33Z</dcterms:created>
  <dcterms:modified xsi:type="dcterms:W3CDTF">2026-10-04T11:41:33Z</dcterms:modified>
</cp:coreProperties>
</file>