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mination round" id="{592362b4-24c5-53e4-d6d8-9a19b7a4a19e}">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Weather radar</c:v>
                </c:pt>
              </c:strCache>
            </c:strRef>
          </c:tx>
          <c:spPr>
            <a:solidFill>
              <a:srgbClr val="D95926"/>
            </a:solidFill>
            <a:ln w="2540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10 May</c:v>
                  </c:pt>
                  <c:pt idx="1">
                    <c:v>10 May</c:v>
                  </c:pt>
                  <c:pt idx="2">
                    <c:v>10 May</c:v>
                  </c:pt>
                  <c:pt idx="3">
                    <c:v>10 May</c:v>
                  </c:pt>
                  <c:pt idx="4">
                    <c:v>10 May</c:v>
                  </c:pt>
                  <c:pt idx="5">
                    <c:v>10 May</c:v>
                  </c:pt>
                  <c:pt idx="6">
                    <c:v>10 May</c:v>
                  </c:pt>
                  <c:pt idx="7">
                    <c:v>10 May</c:v>
                  </c:pt>
                  <c:pt idx="8">
                    <c:v>10 May</c:v>
                  </c:pt>
                  <c:pt idx="9">
                    <c:v>10 May</c:v>
                  </c:pt>
                  <c:pt idx="10">
                    <c:v>10 May</c:v>
                  </c:pt>
                  <c:pt idx="11">
                    <c:v>10 May</c:v>
                  </c:pt>
                  <c:pt idx="12">
                    <c:v>10 May</c:v>
                  </c:pt>
                  <c:pt idx="13">
                    <c:v>10 May</c:v>
                  </c:pt>
                  <c:pt idx="14">
                    <c:v>10 May</c:v>
                  </c:pt>
                  <c:pt idx="15">
                    <c:v>10 May</c:v>
                  </c:pt>
                  <c:pt idx="16">
                    <c:v>10 May</c:v>
                  </c:pt>
                  <c:pt idx="17">
                    <c:v>10 May</c:v>
                  </c:pt>
                  <c:pt idx="18">
                    <c:v>10 May</c:v>
                  </c:pt>
                  <c:pt idx="19">
                    <c:v>10 May</c:v>
                  </c:pt>
                  <c:pt idx="20">
                    <c:v>10 May</c:v>
                  </c:pt>
                  <c:pt idx="21">
                    <c:v>10 May</c:v>
                  </c:pt>
                  <c:pt idx="22">
                    <c:v>10 May</c:v>
                  </c:pt>
                  <c:pt idx="23">
                    <c:v>10 May</c:v>
                  </c:pt>
                  <c:pt idx="24">
                    <c:v>11 May</c:v>
                  </c:pt>
                  <c:pt idx="25">
                    <c:v>11 May</c:v>
                  </c:pt>
                  <c:pt idx="26">
                    <c:v>11 May</c:v>
                  </c:pt>
                  <c:pt idx="27">
                    <c:v>11 May</c:v>
                  </c:pt>
                  <c:pt idx="28">
                    <c:v>11 May</c:v>
                  </c:pt>
                  <c:pt idx="29">
                    <c:v>11 May</c:v>
                  </c:pt>
                  <c:pt idx="30">
                    <c:v>11 May</c:v>
                  </c:pt>
                  <c:pt idx="31">
                    <c:v>11 May</c:v>
                  </c:pt>
                  <c:pt idx="32">
                    <c:v>11 May</c:v>
                  </c:pt>
                  <c:pt idx="33">
                    <c:v>11 May</c:v>
                  </c:pt>
                  <c:pt idx="34">
                    <c:v>11 May</c:v>
                  </c:pt>
                  <c:pt idx="35">
                    <c:v>11 May</c:v>
                  </c:pt>
                  <c:pt idx="36">
                    <c:v>11 May</c:v>
                  </c:pt>
                  <c:pt idx="37">
                    <c:v>11 May</c:v>
                  </c:pt>
                  <c:pt idx="38">
                    <c:v>11 May</c:v>
                  </c:pt>
                  <c:pt idx="39">
                    <c:v>11 May</c:v>
                  </c:pt>
                  <c:pt idx="40">
                    <c:v>11 May</c:v>
                  </c:pt>
                  <c:pt idx="41">
                    <c:v>11 May</c:v>
                  </c:pt>
                  <c:pt idx="42">
                    <c:v>11 May</c:v>
                  </c:pt>
                  <c:pt idx="43">
                    <c:v>11 May</c:v>
                  </c:pt>
                  <c:pt idx="44">
                    <c:v>11 May</c:v>
                  </c:pt>
                  <c:pt idx="45">
                    <c:v>11 May</c:v>
                  </c:pt>
                  <c:pt idx="46">
                    <c:v>11 May</c:v>
                  </c:pt>
                  <c:pt idx="47">
                    <c:v>11 May</c:v>
                  </c:pt>
                  <c:pt idx="48">
                    <c:v>12 May</c:v>
                  </c:pt>
                  <c:pt idx="49">
                    <c:v>12 May</c:v>
                  </c:pt>
                  <c:pt idx="50">
                    <c:v>12 May</c:v>
                  </c:pt>
                  <c:pt idx="51">
                    <c:v>12 May</c:v>
                  </c:pt>
                  <c:pt idx="52">
                    <c:v>12 May</c:v>
                  </c:pt>
                  <c:pt idx="53">
                    <c:v>12 May</c:v>
                  </c:pt>
                  <c:pt idx="54">
                    <c:v>12 May</c:v>
                  </c:pt>
                  <c:pt idx="55">
                    <c:v>12 May</c:v>
                  </c:pt>
                  <c:pt idx="56">
                    <c:v>12 May</c:v>
                  </c:pt>
                  <c:pt idx="57">
                    <c:v>12 May</c:v>
                  </c:pt>
                  <c:pt idx="58">
                    <c:v>12 May</c:v>
                  </c:pt>
                  <c:pt idx="59">
                    <c:v>12 May</c:v>
                  </c:pt>
                  <c:pt idx="60">
                    <c:v>12 May</c:v>
                  </c:pt>
                  <c:pt idx="61">
                    <c:v>12 May</c:v>
                  </c:pt>
                  <c:pt idx="62">
                    <c:v>12 May</c:v>
                  </c:pt>
                  <c:pt idx="63">
                    <c:v>12 May</c:v>
                  </c:pt>
                  <c:pt idx="64">
                    <c:v>12 May</c:v>
                  </c:pt>
                  <c:pt idx="65">
                    <c:v>12 May</c:v>
                  </c:pt>
                  <c:pt idx="66">
                    <c:v>12 May</c:v>
                  </c:pt>
                  <c:pt idx="67">
                    <c:v>12 May</c:v>
                  </c:pt>
                  <c:pt idx="68">
                    <c:v>12 May</c:v>
                  </c:pt>
                  <c:pt idx="69">
                    <c:v>12 May</c:v>
                  </c:pt>
                  <c:pt idx="70">
                    <c:v>12 May</c:v>
                  </c:pt>
                  <c:pt idx="71">
                    <c:v>12 May</c:v>
                  </c:pt>
                  <c:pt idx="72">
                    <c:v>13 May</c:v>
                  </c:pt>
                  <c:pt idx="73">
                    <c:v>13 May</c:v>
                  </c:pt>
                  <c:pt idx="74">
                    <c:v>13 May</c:v>
                  </c:pt>
                  <c:pt idx="75">
                    <c:v>13 May</c:v>
                  </c:pt>
                  <c:pt idx="76">
                    <c:v>13 May</c:v>
                  </c:pt>
                  <c:pt idx="77">
                    <c:v>13 May</c:v>
                  </c:pt>
                  <c:pt idx="78">
                    <c:v>13 May</c:v>
                  </c:pt>
                  <c:pt idx="79">
                    <c:v>13 May</c:v>
                  </c:pt>
                  <c:pt idx="80">
                    <c:v>13 May</c:v>
                  </c:pt>
                  <c:pt idx="81">
                    <c:v>13 May</c:v>
                  </c:pt>
                  <c:pt idx="82">
                    <c:v>13 May</c:v>
                  </c:pt>
                  <c:pt idx="83">
                    <c:v>13 May</c:v>
                  </c:pt>
                  <c:pt idx="84">
                    <c:v>13 May</c:v>
                  </c:pt>
                  <c:pt idx="85">
                    <c:v>13 May</c:v>
                  </c:pt>
                  <c:pt idx="86">
                    <c:v>13 May</c:v>
                  </c:pt>
                  <c:pt idx="87">
                    <c:v>13 May</c:v>
                  </c:pt>
                  <c:pt idx="88">
                    <c:v>13 May</c:v>
                  </c:pt>
                  <c:pt idx="89">
                    <c:v>13 May</c:v>
                  </c:pt>
                  <c:pt idx="90">
                    <c:v>13 May</c:v>
                  </c:pt>
                  <c:pt idx="91">
                    <c:v>13 May</c:v>
                  </c:pt>
                  <c:pt idx="92">
                    <c:v>13 May</c:v>
                  </c:pt>
                  <c:pt idx="93">
                    <c:v>13 May</c:v>
                  </c:pt>
                  <c:pt idx="94">
                    <c:v>13 May</c:v>
                  </c:pt>
                  <c:pt idx="95">
                    <c:v>13 May</c:v>
                  </c:pt>
                  <c:pt idx="96">
                    <c:v>14 May</c:v>
                  </c:pt>
                  <c:pt idx="97">
                    <c:v>14 May</c:v>
                  </c:pt>
                  <c:pt idx="98">
                    <c:v>14 May</c:v>
                  </c:pt>
                  <c:pt idx="99">
                    <c:v>14 May</c:v>
                  </c:pt>
                  <c:pt idx="100">
                    <c:v>14 May</c:v>
                  </c:pt>
                  <c:pt idx="101">
                    <c:v>14 May</c:v>
                  </c:pt>
                  <c:pt idx="102">
                    <c:v>14 May</c:v>
                  </c:pt>
                  <c:pt idx="103">
                    <c:v>14 May</c:v>
                  </c:pt>
                  <c:pt idx="104">
                    <c:v>14 May</c:v>
                  </c:pt>
                  <c:pt idx="105">
                    <c:v>14 May</c:v>
                  </c:pt>
                  <c:pt idx="106">
                    <c:v>14 May</c:v>
                  </c:pt>
                  <c:pt idx="107">
                    <c:v>14 May</c:v>
                  </c:pt>
                  <c:pt idx="108">
                    <c:v>14 May</c:v>
                  </c:pt>
                  <c:pt idx="109">
                    <c:v>14 May</c:v>
                  </c:pt>
                  <c:pt idx="110">
                    <c:v>14 May</c:v>
                  </c:pt>
                  <c:pt idx="111">
                    <c:v>14 May</c:v>
                  </c:pt>
                  <c:pt idx="112">
                    <c:v>14 May</c:v>
                  </c:pt>
                  <c:pt idx="113">
                    <c:v>14 May</c:v>
                  </c:pt>
                  <c:pt idx="114">
                    <c:v>14 May</c:v>
                  </c:pt>
                  <c:pt idx="115">
                    <c:v>14 May</c:v>
                  </c:pt>
                  <c:pt idx="116">
                    <c:v>14 May</c:v>
                  </c:pt>
                  <c:pt idx="117">
                    <c:v>14 May</c:v>
                  </c:pt>
                  <c:pt idx="118">
                    <c:v>14 May</c:v>
                  </c:pt>
                  <c:pt idx="119">
                    <c:v>14 May</c:v>
                  </c:pt>
                  <c:pt idx="120">
                    <c:v>15 May</c:v>
                  </c:pt>
                  <c:pt idx="121">
                    <c:v>15 May</c:v>
                  </c:pt>
                  <c:pt idx="122">
                    <c:v>15 May</c:v>
                  </c:pt>
                  <c:pt idx="123">
                    <c:v>15 May</c:v>
                  </c:pt>
                  <c:pt idx="124">
                    <c:v>15 May</c:v>
                  </c:pt>
                  <c:pt idx="125">
                    <c:v>15 May</c:v>
                  </c:pt>
                  <c:pt idx="126">
                    <c:v>15 May</c:v>
                  </c:pt>
                  <c:pt idx="127">
                    <c:v>15 May</c:v>
                  </c:pt>
                  <c:pt idx="128">
                    <c:v>15 May</c:v>
                  </c:pt>
                  <c:pt idx="129">
                    <c:v>15 May</c:v>
                  </c:pt>
                  <c:pt idx="130">
                    <c:v>15 May</c:v>
                  </c:pt>
                  <c:pt idx="131">
                    <c:v>15 May</c:v>
                  </c:pt>
                  <c:pt idx="132">
                    <c:v>15 May</c:v>
                  </c:pt>
                  <c:pt idx="133">
                    <c:v>15 May</c:v>
                  </c:pt>
                  <c:pt idx="134">
                    <c:v>15 May</c:v>
                  </c:pt>
                  <c:pt idx="135">
                    <c:v>15 May</c:v>
                  </c:pt>
                  <c:pt idx="136">
                    <c:v>15 May</c:v>
                  </c:pt>
                  <c:pt idx="137">
                    <c:v>15 May</c:v>
                  </c:pt>
                  <c:pt idx="138">
                    <c:v>15 May</c:v>
                  </c:pt>
                  <c:pt idx="139">
                    <c:v>15 May</c:v>
                  </c:pt>
                  <c:pt idx="140">
                    <c:v>15 May</c:v>
                  </c:pt>
                  <c:pt idx="141">
                    <c:v>15 May</c:v>
                  </c:pt>
                  <c:pt idx="142">
                    <c:v>15 May</c:v>
                  </c:pt>
                  <c:pt idx="143">
                    <c:v>15 May</c:v>
                  </c:pt>
                  <c:pt idx="144">
                    <c:v>16 May</c:v>
                  </c:pt>
                  <c:pt idx="145">
                    <c:v>16 May</c:v>
                  </c:pt>
                  <c:pt idx="146">
                    <c:v>16 May</c:v>
                  </c:pt>
                  <c:pt idx="147">
                    <c:v>16 May</c:v>
                  </c:pt>
                  <c:pt idx="148">
                    <c:v>16 May</c:v>
                  </c:pt>
                  <c:pt idx="149">
                    <c:v>16 May</c:v>
                  </c:pt>
                  <c:pt idx="150">
                    <c:v>16 May</c:v>
                  </c:pt>
                  <c:pt idx="151">
                    <c:v>16 May</c:v>
                  </c:pt>
                  <c:pt idx="152">
                    <c:v>16 May</c:v>
                  </c:pt>
                  <c:pt idx="153">
                    <c:v>16 May</c:v>
                  </c:pt>
                  <c:pt idx="154">
                    <c:v>16 May</c:v>
                  </c:pt>
                  <c:pt idx="155">
                    <c:v>16 May</c:v>
                  </c:pt>
                  <c:pt idx="156">
                    <c:v>16 May</c:v>
                  </c:pt>
                  <c:pt idx="157">
                    <c:v>16 May</c:v>
                  </c:pt>
                  <c:pt idx="158">
                    <c:v>16 May</c:v>
                  </c:pt>
                  <c:pt idx="159">
                    <c:v>16 May</c:v>
                  </c:pt>
                  <c:pt idx="160">
                    <c:v>16 May</c:v>
                  </c:pt>
                  <c:pt idx="161">
                    <c:v>16 May</c:v>
                  </c:pt>
                  <c:pt idx="162">
                    <c:v>16 May</c:v>
                  </c:pt>
                  <c:pt idx="163">
                    <c:v>16 May</c:v>
                  </c:pt>
                  <c:pt idx="164">
                    <c:v>16 May</c:v>
                  </c:pt>
                  <c:pt idx="165">
                    <c:v>16 May</c:v>
                  </c:pt>
                  <c:pt idx="166">
                    <c:v>16 May</c:v>
                  </c:pt>
                  <c:pt idx="167">
                    <c:v>16 May</c:v>
                  </c:pt>
                  <c:pt idx="168">
                    <c:v>17 May</c:v>
                  </c:pt>
                  <c:pt idx="169">
                    <c:v>17 May</c:v>
                  </c:pt>
                  <c:pt idx="170">
                    <c:v>17 May</c:v>
                  </c:pt>
                  <c:pt idx="171">
                    <c:v>17 May</c:v>
                  </c:pt>
                  <c:pt idx="172">
                    <c:v>17 May</c:v>
                  </c:pt>
                  <c:pt idx="173">
                    <c:v>17 May</c:v>
                  </c:pt>
                  <c:pt idx="174">
                    <c:v>17 May</c:v>
                  </c:pt>
                  <c:pt idx="175">
                    <c:v>17 May</c:v>
                  </c:pt>
                  <c:pt idx="176">
                    <c:v>17 May</c:v>
                  </c:pt>
                  <c:pt idx="177">
                    <c:v>17 May</c:v>
                  </c:pt>
                  <c:pt idx="178">
                    <c:v>17 May</c:v>
                  </c:pt>
                  <c:pt idx="179">
                    <c:v>17 May</c:v>
                  </c:pt>
                  <c:pt idx="180">
                    <c:v>17 May</c:v>
                  </c:pt>
                  <c:pt idx="181">
                    <c:v>17 May</c:v>
                  </c:pt>
                  <c:pt idx="182">
                    <c:v>17 May</c:v>
                  </c:pt>
                  <c:pt idx="183">
                    <c:v>17 May</c:v>
                  </c:pt>
                  <c:pt idx="184">
                    <c:v>17 May</c:v>
                  </c:pt>
                  <c:pt idx="185">
                    <c:v>17 May</c:v>
                  </c:pt>
                  <c:pt idx="186">
                    <c:v>17 May</c:v>
                  </c:pt>
                  <c:pt idx="187">
                    <c:v>17 May</c:v>
                  </c:pt>
                  <c:pt idx="188">
                    <c:v>17 May</c:v>
                  </c:pt>
                  <c:pt idx="189">
                    <c:v>17 May</c:v>
                  </c:pt>
                  <c:pt idx="190">
                    <c:v>17 May</c:v>
                  </c:pt>
                  <c:pt idx="191">
                    <c:v>17 May</c:v>
                  </c:pt>
                  <c:pt idx="192">
                    <c:v>18 May</c:v>
                  </c:pt>
                  <c:pt idx="193">
                    <c:v>18 May</c:v>
                  </c:pt>
                  <c:pt idx="194">
                    <c:v>18 May</c:v>
                  </c:pt>
                  <c:pt idx="195">
                    <c:v>18 May</c:v>
                  </c:pt>
                  <c:pt idx="196">
                    <c:v>18 May</c:v>
                  </c:pt>
                  <c:pt idx="197">
                    <c:v>18 May</c:v>
                  </c:pt>
                  <c:pt idx="198">
                    <c:v>18 May</c:v>
                  </c:pt>
                  <c:pt idx="199">
                    <c:v>18 May</c:v>
                  </c:pt>
                  <c:pt idx="200">
                    <c:v>18 May</c:v>
                  </c:pt>
                  <c:pt idx="201">
                    <c:v>18 May</c:v>
                  </c:pt>
                  <c:pt idx="202">
                    <c:v>18 May</c:v>
                  </c:pt>
                  <c:pt idx="203">
                    <c:v>18 May</c:v>
                  </c:pt>
                  <c:pt idx="204">
                    <c:v>18 May</c:v>
                  </c:pt>
                  <c:pt idx="205">
                    <c:v>18 May</c:v>
                  </c:pt>
                  <c:pt idx="206">
                    <c:v>18 May</c:v>
                  </c:pt>
                  <c:pt idx="207">
                    <c:v>18 May</c:v>
                  </c:pt>
                  <c:pt idx="208">
                    <c:v>18 May</c:v>
                  </c:pt>
                  <c:pt idx="209">
                    <c:v>18 May</c:v>
                  </c:pt>
                  <c:pt idx="210">
                    <c:v>18 May</c:v>
                  </c:pt>
                  <c:pt idx="211">
                    <c:v>18 May</c:v>
                  </c:pt>
                  <c:pt idx="212">
                    <c:v>18 May</c:v>
                  </c:pt>
                  <c:pt idx="213">
                    <c:v>18 May</c:v>
                  </c:pt>
                  <c:pt idx="214">
                    <c:v>18 May</c:v>
                  </c:pt>
                  <c:pt idx="215">
                    <c:v>18 May</c:v>
                  </c:pt>
                  <c:pt idx="216">
                    <c:v>19 May</c:v>
                  </c:pt>
                  <c:pt idx="217">
                    <c:v>19 May</c:v>
                  </c:pt>
                  <c:pt idx="218">
                    <c:v>19 May</c:v>
                  </c:pt>
                  <c:pt idx="219">
                    <c:v>19 May</c:v>
                  </c:pt>
                  <c:pt idx="220">
                    <c:v>19 May</c:v>
                  </c:pt>
                  <c:pt idx="221">
                    <c:v>19 May</c:v>
                  </c:pt>
                  <c:pt idx="222">
                    <c:v>19 May</c:v>
                  </c:pt>
                  <c:pt idx="223">
                    <c:v>19 May</c:v>
                  </c:pt>
                  <c:pt idx="224">
                    <c:v>19 May</c:v>
                  </c:pt>
                  <c:pt idx="225">
                    <c:v>19 May</c:v>
                  </c:pt>
                  <c:pt idx="226">
                    <c:v>19 May</c:v>
                  </c:pt>
                  <c:pt idx="227">
                    <c:v>19 May</c:v>
                  </c:pt>
                  <c:pt idx="228">
                    <c:v>19 May</c:v>
                  </c:pt>
                  <c:pt idx="229">
                    <c:v>19 May</c:v>
                  </c:pt>
                  <c:pt idx="230">
                    <c:v>19 May</c:v>
                  </c:pt>
                  <c:pt idx="231">
                    <c:v>19 May</c:v>
                  </c:pt>
                  <c:pt idx="232">
                    <c:v>19 May</c:v>
                  </c:pt>
                  <c:pt idx="233">
                    <c:v>19 May</c:v>
                  </c:pt>
                  <c:pt idx="234">
                    <c:v>19 May</c:v>
                  </c:pt>
                  <c:pt idx="235">
                    <c:v>19 May</c:v>
                  </c:pt>
                  <c:pt idx="236">
                    <c:v>19 May</c:v>
                  </c:pt>
                  <c:pt idx="237">
                    <c:v>19 May</c:v>
                  </c:pt>
                  <c:pt idx="238">
                    <c:v>19 May</c:v>
                  </c:pt>
                  <c:pt idx="239">
                    <c:v>19 May</c:v>
                  </c:pt>
                  <c:pt idx="240">
                    <c:v>20 May</c:v>
                  </c:pt>
                  <c:pt idx="241">
                    <c:v>20 May</c:v>
                  </c:pt>
                  <c:pt idx="242">
                    <c:v>20 May</c:v>
                  </c:pt>
                  <c:pt idx="243">
                    <c:v>20 May</c:v>
                  </c:pt>
                  <c:pt idx="244">
                    <c:v>20 May</c:v>
                  </c:pt>
                  <c:pt idx="245">
                    <c:v>20 May</c:v>
                  </c:pt>
                  <c:pt idx="246">
                    <c:v>20 May</c:v>
                  </c:pt>
                  <c:pt idx="247">
                    <c:v>20 May</c:v>
                  </c:pt>
                  <c:pt idx="248">
                    <c:v>20 May</c:v>
                  </c:pt>
                  <c:pt idx="249">
                    <c:v>20 May</c:v>
                  </c:pt>
                  <c:pt idx="250">
                    <c:v>20 May</c:v>
                  </c:pt>
                  <c:pt idx="251">
                    <c:v>20 May</c:v>
                  </c:pt>
                  <c:pt idx="252">
                    <c:v>20 May</c:v>
                  </c:pt>
                  <c:pt idx="253">
                    <c:v>20 May</c:v>
                  </c:pt>
                  <c:pt idx="254">
                    <c:v>20 May</c:v>
                  </c:pt>
                  <c:pt idx="255">
                    <c:v>20 May</c:v>
                  </c:pt>
                  <c:pt idx="256">
                    <c:v>20 May</c:v>
                  </c:pt>
                  <c:pt idx="257">
                    <c:v>20 May</c:v>
                  </c:pt>
                  <c:pt idx="258">
                    <c:v>20 May</c:v>
                  </c:pt>
                  <c:pt idx="259">
                    <c:v>20 May</c:v>
                  </c:pt>
                  <c:pt idx="260">
                    <c:v>20 May</c:v>
                  </c:pt>
                  <c:pt idx="261">
                    <c:v>20 May</c:v>
                  </c:pt>
                  <c:pt idx="262">
                    <c:v>20 May</c:v>
                  </c:pt>
                  <c:pt idx="263">
                    <c:v>20 May</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JioMausam (network links)</c:v>
                </c:pt>
              </c:strCache>
            </c:strRef>
          </c:tx>
          <c:spPr>
            <a:solidFill>
              <a:srgbClr val="3987E5"/>
            </a:solidFill>
            <a:ln w="25400"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Sheet1!$A$2:$A$265</c:f>
              <c:multiLvlStrCache>
                <c:ptCount val="264"/>
                <c:lvl>
                  <c:pt idx="0">
                    <c:v>10 May</c:v>
                  </c:pt>
                  <c:pt idx="1">
                    <c:v>10 May</c:v>
                  </c:pt>
                  <c:pt idx="2">
                    <c:v>10 May</c:v>
                  </c:pt>
                  <c:pt idx="3">
                    <c:v>10 May</c:v>
                  </c:pt>
                  <c:pt idx="4">
                    <c:v>10 May</c:v>
                  </c:pt>
                  <c:pt idx="5">
                    <c:v>10 May</c:v>
                  </c:pt>
                  <c:pt idx="6">
                    <c:v>10 May</c:v>
                  </c:pt>
                  <c:pt idx="7">
                    <c:v>10 May</c:v>
                  </c:pt>
                  <c:pt idx="8">
                    <c:v>10 May</c:v>
                  </c:pt>
                  <c:pt idx="9">
                    <c:v>10 May</c:v>
                  </c:pt>
                  <c:pt idx="10">
                    <c:v>10 May</c:v>
                  </c:pt>
                  <c:pt idx="11">
                    <c:v>10 May</c:v>
                  </c:pt>
                  <c:pt idx="12">
                    <c:v>10 May</c:v>
                  </c:pt>
                  <c:pt idx="13">
                    <c:v>10 May</c:v>
                  </c:pt>
                  <c:pt idx="14">
                    <c:v>10 May</c:v>
                  </c:pt>
                  <c:pt idx="15">
                    <c:v>10 May</c:v>
                  </c:pt>
                  <c:pt idx="16">
                    <c:v>10 May</c:v>
                  </c:pt>
                  <c:pt idx="17">
                    <c:v>10 May</c:v>
                  </c:pt>
                  <c:pt idx="18">
                    <c:v>10 May</c:v>
                  </c:pt>
                  <c:pt idx="19">
                    <c:v>10 May</c:v>
                  </c:pt>
                  <c:pt idx="20">
                    <c:v>10 May</c:v>
                  </c:pt>
                  <c:pt idx="21">
                    <c:v>10 May</c:v>
                  </c:pt>
                  <c:pt idx="22">
                    <c:v>10 May</c:v>
                  </c:pt>
                  <c:pt idx="23">
                    <c:v>10 May</c:v>
                  </c:pt>
                  <c:pt idx="24">
                    <c:v>11 May</c:v>
                  </c:pt>
                  <c:pt idx="25">
                    <c:v>11 May</c:v>
                  </c:pt>
                  <c:pt idx="26">
                    <c:v>11 May</c:v>
                  </c:pt>
                  <c:pt idx="27">
                    <c:v>11 May</c:v>
                  </c:pt>
                  <c:pt idx="28">
                    <c:v>11 May</c:v>
                  </c:pt>
                  <c:pt idx="29">
                    <c:v>11 May</c:v>
                  </c:pt>
                  <c:pt idx="30">
                    <c:v>11 May</c:v>
                  </c:pt>
                  <c:pt idx="31">
                    <c:v>11 May</c:v>
                  </c:pt>
                  <c:pt idx="32">
                    <c:v>11 May</c:v>
                  </c:pt>
                  <c:pt idx="33">
                    <c:v>11 May</c:v>
                  </c:pt>
                  <c:pt idx="34">
                    <c:v>11 May</c:v>
                  </c:pt>
                  <c:pt idx="35">
                    <c:v>11 May</c:v>
                  </c:pt>
                  <c:pt idx="36">
                    <c:v>11 May</c:v>
                  </c:pt>
                  <c:pt idx="37">
                    <c:v>11 May</c:v>
                  </c:pt>
                  <c:pt idx="38">
                    <c:v>11 May</c:v>
                  </c:pt>
                  <c:pt idx="39">
                    <c:v>11 May</c:v>
                  </c:pt>
                  <c:pt idx="40">
                    <c:v>11 May</c:v>
                  </c:pt>
                  <c:pt idx="41">
                    <c:v>11 May</c:v>
                  </c:pt>
                  <c:pt idx="42">
                    <c:v>11 May</c:v>
                  </c:pt>
                  <c:pt idx="43">
                    <c:v>11 May</c:v>
                  </c:pt>
                  <c:pt idx="44">
                    <c:v>11 May</c:v>
                  </c:pt>
                  <c:pt idx="45">
                    <c:v>11 May</c:v>
                  </c:pt>
                  <c:pt idx="46">
                    <c:v>11 May</c:v>
                  </c:pt>
                  <c:pt idx="47">
                    <c:v>11 May</c:v>
                  </c:pt>
                  <c:pt idx="48">
                    <c:v>12 May</c:v>
                  </c:pt>
                  <c:pt idx="49">
                    <c:v>12 May</c:v>
                  </c:pt>
                  <c:pt idx="50">
                    <c:v>12 May</c:v>
                  </c:pt>
                  <c:pt idx="51">
                    <c:v>12 May</c:v>
                  </c:pt>
                  <c:pt idx="52">
                    <c:v>12 May</c:v>
                  </c:pt>
                  <c:pt idx="53">
                    <c:v>12 May</c:v>
                  </c:pt>
                  <c:pt idx="54">
                    <c:v>12 May</c:v>
                  </c:pt>
                  <c:pt idx="55">
                    <c:v>12 May</c:v>
                  </c:pt>
                  <c:pt idx="56">
                    <c:v>12 May</c:v>
                  </c:pt>
                  <c:pt idx="57">
                    <c:v>12 May</c:v>
                  </c:pt>
                  <c:pt idx="58">
                    <c:v>12 May</c:v>
                  </c:pt>
                  <c:pt idx="59">
                    <c:v>12 May</c:v>
                  </c:pt>
                  <c:pt idx="60">
                    <c:v>12 May</c:v>
                  </c:pt>
                  <c:pt idx="61">
                    <c:v>12 May</c:v>
                  </c:pt>
                  <c:pt idx="62">
                    <c:v>12 May</c:v>
                  </c:pt>
                  <c:pt idx="63">
                    <c:v>12 May</c:v>
                  </c:pt>
                  <c:pt idx="64">
                    <c:v>12 May</c:v>
                  </c:pt>
                  <c:pt idx="65">
                    <c:v>12 May</c:v>
                  </c:pt>
                  <c:pt idx="66">
                    <c:v>12 May</c:v>
                  </c:pt>
                  <c:pt idx="67">
                    <c:v>12 May</c:v>
                  </c:pt>
                  <c:pt idx="68">
                    <c:v>12 May</c:v>
                  </c:pt>
                  <c:pt idx="69">
                    <c:v>12 May</c:v>
                  </c:pt>
                  <c:pt idx="70">
                    <c:v>12 May</c:v>
                  </c:pt>
                  <c:pt idx="71">
                    <c:v>12 May</c:v>
                  </c:pt>
                  <c:pt idx="72">
                    <c:v>13 May</c:v>
                  </c:pt>
                  <c:pt idx="73">
                    <c:v>13 May</c:v>
                  </c:pt>
                  <c:pt idx="74">
                    <c:v>13 May</c:v>
                  </c:pt>
                  <c:pt idx="75">
                    <c:v>13 May</c:v>
                  </c:pt>
                  <c:pt idx="76">
                    <c:v>13 May</c:v>
                  </c:pt>
                  <c:pt idx="77">
                    <c:v>13 May</c:v>
                  </c:pt>
                  <c:pt idx="78">
                    <c:v>13 May</c:v>
                  </c:pt>
                  <c:pt idx="79">
                    <c:v>13 May</c:v>
                  </c:pt>
                  <c:pt idx="80">
                    <c:v>13 May</c:v>
                  </c:pt>
                  <c:pt idx="81">
                    <c:v>13 May</c:v>
                  </c:pt>
                  <c:pt idx="82">
                    <c:v>13 May</c:v>
                  </c:pt>
                  <c:pt idx="83">
                    <c:v>13 May</c:v>
                  </c:pt>
                  <c:pt idx="84">
                    <c:v>13 May</c:v>
                  </c:pt>
                  <c:pt idx="85">
                    <c:v>13 May</c:v>
                  </c:pt>
                  <c:pt idx="86">
                    <c:v>13 May</c:v>
                  </c:pt>
                  <c:pt idx="87">
                    <c:v>13 May</c:v>
                  </c:pt>
                  <c:pt idx="88">
                    <c:v>13 May</c:v>
                  </c:pt>
                  <c:pt idx="89">
                    <c:v>13 May</c:v>
                  </c:pt>
                  <c:pt idx="90">
                    <c:v>13 May</c:v>
                  </c:pt>
                  <c:pt idx="91">
                    <c:v>13 May</c:v>
                  </c:pt>
                  <c:pt idx="92">
                    <c:v>13 May</c:v>
                  </c:pt>
                  <c:pt idx="93">
                    <c:v>13 May</c:v>
                  </c:pt>
                  <c:pt idx="94">
                    <c:v>13 May</c:v>
                  </c:pt>
                  <c:pt idx="95">
                    <c:v>13 May</c:v>
                  </c:pt>
                  <c:pt idx="96">
                    <c:v>14 May</c:v>
                  </c:pt>
                  <c:pt idx="97">
                    <c:v>14 May</c:v>
                  </c:pt>
                  <c:pt idx="98">
                    <c:v>14 May</c:v>
                  </c:pt>
                  <c:pt idx="99">
                    <c:v>14 May</c:v>
                  </c:pt>
                  <c:pt idx="100">
                    <c:v>14 May</c:v>
                  </c:pt>
                  <c:pt idx="101">
                    <c:v>14 May</c:v>
                  </c:pt>
                  <c:pt idx="102">
                    <c:v>14 May</c:v>
                  </c:pt>
                  <c:pt idx="103">
                    <c:v>14 May</c:v>
                  </c:pt>
                  <c:pt idx="104">
                    <c:v>14 May</c:v>
                  </c:pt>
                  <c:pt idx="105">
                    <c:v>14 May</c:v>
                  </c:pt>
                  <c:pt idx="106">
                    <c:v>14 May</c:v>
                  </c:pt>
                  <c:pt idx="107">
                    <c:v>14 May</c:v>
                  </c:pt>
                  <c:pt idx="108">
                    <c:v>14 May</c:v>
                  </c:pt>
                  <c:pt idx="109">
                    <c:v>14 May</c:v>
                  </c:pt>
                  <c:pt idx="110">
                    <c:v>14 May</c:v>
                  </c:pt>
                  <c:pt idx="111">
                    <c:v>14 May</c:v>
                  </c:pt>
                  <c:pt idx="112">
                    <c:v>14 May</c:v>
                  </c:pt>
                  <c:pt idx="113">
                    <c:v>14 May</c:v>
                  </c:pt>
                  <c:pt idx="114">
                    <c:v>14 May</c:v>
                  </c:pt>
                  <c:pt idx="115">
                    <c:v>14 May</c:v>
                  </c:pt>
                  <c:pt idx="116">
                    <c:v>14 May</c:v>
                  </c:pt>
                  <c:pt idx="117">
                    <c:v>14 May</c:v>
                  </c:pt>
                  <c:pt idx="118">
                    <c:v>14 May</c:v>
                  </c:pt>
                  <c:pt idx="119">
                    <c:v>14 May</c:v>
                  </c:pt>
                  <c:pt idx="120">
                    <c:v>15 May</c:v>
                  </c:pt>
                  <c:pt idx="121">
                    <c:v>15 May</c:v>
                  </c:pt>
                  <c:pt idx="122">
                    <c:v>15 May</c:v>
                  </c:pt>
                  <c:pt idx="123">
                    <c:v>15 May</c:v>
                  </c:pt>
                  <c:pt idx="124">
                    <c:v>15 May</c:v>
                  </c:pt>
                  <c:pt idx="125">
                    <c:v>15 May</c:v>
                  </c:pt>
                  <c:pt idx="126">
                    <c:v>15 May</c:v>
                  </c:pt>
                  <c:pt idx="127">
                    <c:v>15 May</c:v>
                  </c:pt>
                  <c:pt idx="128">
                    <c:v>15 May</c:v>
                  </c:pt>
                  <c:pt idx="129">
                    <c:v>15 May</c:v>
                  </c:pt>
                  <c:pt idx="130">
                    <c:v>15 May</c:v>
                  </c:pt>
                  <c:pt idx="131">
                    <c:v>15 May</c:v>
                  </c:pt>
                  <c:pt idx="132">
                    <c:v>15 May</c:v>
                  </c:pt>
                  <c:pt idx="133">
                    <c:v>15 May</c:v>
                  </c:pt>
                  <c:pt idx="134">
                    <c:v>15 May</c:v>
                  </c:pt>
                  <c:pt idx="135">
                    <c:v>15 May</c:v>
                  </c:pt>
                  <c:pt idx="136">
                    <c:v>15 May</c:v>
                  </c:pt>
                  <c:pt idx="137">
                    <c:v>15 May</c:v>
                  </c:pt>
                  <c:pt idx="138">
                    <c:v>15 May</c:v>
                  </c:pt>
                  <c:pt idx="139">
                    <c:v>15 May</c:v>
                  </c:pt>
                  <c:pt idx="140">
                    <c:v>15 May</c:v>
                  </c:pt>
                  <c:pt idx="141">
                    <c:v>15 May</c:v>
                  </c:pt>
                  <c:pt idx="142">
                    <c:v>15 May</c:v>
                  </c:pt>
                  <c:pt idx="143">
                    <c:v>15 May</c:v>
                  </c:pt>
                  <c:pt idx="144">
                    <c:v>16 May</c:v>
                  </c:pt>
                  <c:pt idx="145">
                    <c:v>16 May</c:v>
                  </c:pt>
                  <c:pt idx="146">
                    <c:v>16 May</c:v>
                  </c:pt>
                  <c:pt idx="147">
                    <c:v>16 May</c:v>
                  </c:pt>
                  <c:pt idx="148">
                    <c:v>16 May</c:v>
                  </c:pt>
                  <c:pt idx="149">
                    <c:v>16 May</c:v>
                  </c:pt>
                  <c:pt idx="150">
                    <c:v>16 May</c:v>
                  </c:pt>
                  <c:pt idx="151">
                    <c:v>16 May</c:v>
                  </c:pt>
                  <c:pt idx="152">
                    <c:v>16 May</c:v>
                  </c:pt>
                  <c:pt idx="153">
                    <c:v>16 May</c:v>
                  </c:pt>
                  <c:pt idx="154">
                    <c:v>16 May</c:v>
                  </c:pt>
                  <c:pt idx="155">
                    <c:v>16 May</c:v>
                  </c:pt>
                  <c:pt idx="156">
                    <c:v>16 May</c:v>
                  </c:pt>
                  <c:pt idx="157">
                    <c:v>16 May</c:v>
                  </c:pt>
                  <c:pt idx="158">
                    <c:v>16 May</c:v>
                  </c:pt>
                  <c:pt idx="159">
                    <c:v>16 May</c:v>
                  </c:pt>
                  <c:pt idx="160">
                    <c:v>16 May</c:v>
                  </c:pt>
                  <c:pt idx="161">
                    <c:v>16 May</c:v>
                  </c:pt>
                  <c:pt idx="162">
                    <c:v>16 May</c:v>
                  </c:pt>
                  <c:pt idx="163">
                    <c:v>16 May</c:v>
                  </c:pt>
                  <c:pt idx="164">
                    <c:v>16 May</c:v>
                  </c:pt>
                  <c:pt idx="165">
                    <c:v>16 May</c:v>
                  </c:pt>
                  <c:pt idx="166">
                    <c:v>16 May</c:v>
                  </c:pt>
                  <c:pt idx="167">
                    <c:v>16 May</c:v>
                  </c:pt>
                  <c:pt idx="168">
                    <c:v>17 May</c:v>
                  </c:pt>
                  <c:pt idx="169">
                    <c:v>17 May</c:v>
                  </c:pt>
                  <c:pt idx="170">
                    <c:v>17 May</c:v>
                  </c:pt>
                  <c:pt idx="171">
                    <c:v>17 May</c:v>
                  </c:pt>
                  <c:pt idx="172">
                    <c:v>17 May</c:v>
                  </c:pt>
                  <c:pt idx="173">
                    <c:v>17 May</c:v>
                  </c:pt>
                  <c:pt idx="174">
                    <c:v>17 May</c:v>
                  </c:pt>
                  <c:pt idx="175">
                    <c:v>17 May</c:v>
                  </c:pt>
                  <c:pt idx="176">
                    <c:v>17 May</c:v>
                  </c:pt>
                  <c:pt idx="177">
                    <c:v>17 May</c:v>
                  </c:pt>
                  <c:pt idx="178">
                    <c:v>17 May</c:v>
                  </c:pt>
                  <c:pt idx="179">
                    <c:v>17 May</c:v>
                  </c:pt>
                  <c:pt idx="180">
                    <c:v>17 May</c:v>
                  </c:pt>
                  <c:pt idx="181">
                    <c:v>17 May</c:v>
                  </c:pt>
                  <c:pt idx="182">
                    <c:v>17 May</c:v>
                  </c:pt>
                  <c:pt idx="183">
                    <c:v>17 May</c:v>
                  </c:pt>
                  <c:pt idx="184">
                    <c:v>17 May</c:v>
                  </c:pt>
                  <c:pt idx="185">
                    <c:v>17 May</c:v>
                  </c:pt>
                  <c:pt idx="186">
                    <c:v>17 May</c:v>
                  </c:pt>
                  <c:pt idx="187">
                    <c:v>17 May</c:v>
                  </c:pt>
                  <c:pt idx="188">
                    <c:v>17 May</c:v>
                  </c:pt>
                  <c:pt idx="189">
                    <c:v>17 May</c:v>
                  </c:pt>
                  <c:pt idx="190">
                    <c:v>17 May</c:v>
                  </c:pt>
                  <c:pt idx="191">
                    <c:v>17 May</c:v>
                  </c:pt>
                  <c:pt idx="192">
                    <c:v>18 May</c:v>
                  </c:pt>
                  <c:pt idx="193">
                    <c:v>18 May</c:v>
                  </c:pt>
                  <c:pt idx="194">
                    <c:v>18 May</c:v>
                  </c:pt>
                  <c:pt idx="195">
                    <c:v>18 May</c:v>
                  </c:pt>
                  <c:pt idx="196">
                    <c:v>18 May</c:v>
                  </c:pt>
                  <c:pt idx="197">
                    <c:v>18 May</c:v>
                  </c:pt>
                  <c:pt idx="198">
                    <c:v>18 May</c:v>
                  </c:pt>
                  <c:pt idx="199">
                    <c:v>18 May</c:v>
                  </c:pt>
                  <c:pt idx="200">
                    <c:v>18 May</c:v>
                  </c:pt>
                  <c:pt idx="201">
                    <c:v>18 May</c:v>
                  </c:pt>
                  <c:pt idx="202">
                    <c:v>18 May</c:v>
                  </c:pt>
                  <c:pt idx="203">
                    <c:v>18 May</c:v>
                  </c:pt>
                  <c:pt idx="204">
                    <c:v>18 May</c:v>
                  </c:pt>
                  <c:pt idx="205">
                    <c:v>18 May</c:v>
                  </c:pt>
                  <c:pt idx="206">
                    <c:v>18 May</c:v>
                  </c:pt>
                  <c:pt idx="207">
                    <c:v>18 May</c:v>
                  </c:pt>
                  <c:pt idx="208">
                    <c:v>18 May</c:v>
                  </c:pt>
                  <c:pt idx="209">
                    <c:v>18 May</c:v>
                  </c:pt>
                  <c:pt idx="210">
                    <c:v>18 May</c:v>
                  </c:pt>
                  <c:pt idx="211">
                    <c:v>18 May</c:v>
                  </c:pt>
                  <c:pt idx="212">
                    <c:v>18 May</c:v>
                  </c:pt>
                  <c:pt idx="213">
                    <c:v>18 May</c:v>
                  </c:pt>
                  <c:pt idx="214">
                    <c:v>18 May</c:v>
                  </c:pt>
                  <c:pt idx="215">
                    <c:v>18 May</c:v>
                  </c:pt>
                  <c:pt idx="216">
                    <c:v>19 May</c:v>
                  </c:pt>
                  <c:pt idx="217">
                    <c:v>19 May</c:v>
                  </c:pt>
                  <c:pt idx="218">
                    <c:v>19 May</c:v>
                  </c:pt>
                  <c:pt idx="219">
                    <c:v>19 May</c:v>
                  </c:pt>
                  <c:pt idx="220">
                    <c:v>19 May</c:v>
                  </c:pt>
                  <c:pt idx="221">
                    <c:v>19 May</c:v>
                  </c:pt>
                  <c:pt idx="222">
                    <c:v>19 May</c:v>
                  </c:pt>
                  <c:pt idx="223">
                    <c:v>19 May</c:v>
                  </c:pt>
                  <c:pt idx="224">
                    <c:v>19 May</c:v>
                  </c:pt>
                  <c:pt idx="225">
                    <c:v>19 May</c:v>
                  </c:pt>
                  <c:pt idx="226">
                    <c:v>19 May</c:v>
                  </c:pt>
                  <c:pt idx="227">
                    <c:v>19 May</c:v>
                  </c:pt>
                  <c:pt idx="228">
                    <c:v>19 May</c:v>
                  </c:pt>
                  <c:pt idx="229">
                    <c:v>19 May</c:v>
                  </c:pt>
                  <c:pt idx="230">
                    <c:v>19 May</c:v>
                  </c:pt>
                  <c:pt idx="231">
                    <c:v>19 May</c:v>
                  </c:pt>
                  <c:pt idx="232">
                    <c:v>19 May</c:v>
                  </c:pt>
                  <c:pt idx="233">
                    <c:v>19 May</c:v>
                  </c:pt>
                  <c:pt idx="234">
                    <c:v>19 May</c:v>
                  </c:pt>
                  <c:pt idx="235">
                    <c:v>19 May</c:v>
                  </c:pt>
                  <c:pt idx="236">
                    <c:v>19 May</c:v>
                  </c:pt>
                  <c:pt idx="237">
                    <c:v>19 May</c:v>
                  </c:pt>
                  <c:pt idx="238">
                    <c:v>19 May</c:v>
                  </c:pt>
                  <c:pt idx="239">
                    <c:v>19 May</c:v>
                  </c:pt>
                  <c:pt idx="240">
                    <c:v>20 May</c:v>
                  </c:pt>
                  <c:pt idx="241">
                    <c:v>20 May</c:v>
                  </c:pt>
                  <c:pt idx="242">
                    <c:v>20 May</c:v>
                  </c:pt>
                  <c:pt idx="243">
                    <c:v>20 May</c:v>
                  </c:pt>
                  <c:pt idx="244">
                    <c:v>20 May</c:v>
                  </c:pt>
                  <c:pt idx="245">
                    <c:v>20 May</c:v>
                  </c:pt>
                  <c:pt idx="246">
                    <c:v>20 May</c:v>
                  </c:pt>
                  <c:pt idx="247">
                    <c:v>20 May</c:v>
                  </c:pt>
                  <c:pt idx="248">
                    <c:v>20 May</c:v>
                  </c:pt>
                  <c:pt idx="249">
                    <c:v>20 May</c:v>
                  </c:pt>
                  <c:pt idx="250">
                    <c:v>20 May</c:v>
                  </c:pt>
                  <c:pt idx="251">
                    <c:v>20 May</c:v>
                  </c:pt>
                  <c:pt idx="252">
                    <c:v>20 May</c:v>
                  </c:pt>
                  <c:pt idx="253">
                    <c:v>20 May</c:v>
                  </c:pt>
                  <c:pt idx="254">
                    <c:v>20 May</c:v>
                  </c:pt>
                  <c:pt idx="255">
                    <c:v>20 May</c:v>
                  </c:pt>
                  <c:pt idx="256">
                    <c:v>20 May</c:v>
                  </c:pt>
                  <c:pt idx="257">
                    <c:v>20 May</c:v>
                  </c:pt>
                  <c:pt idx="258">
                    <c:v>20 May</c:v>
                  </c:pt>
                  <c:pt idx="259">
                    <c:v>20 May</c:v>
                  </c:pt>
                  <c:pt idx="260">
                    <c:v>20 May</c:v>
                  </c:pt>
                  <c:pt idx="261">
                    <c:v>20 May</c:v>
                  </c:pt>
                  <c:pt idx="262">
                    <c:v>20 May</c:v>
                  </c:pt>
                  <c:pt idx="263">
                    <c:v>20 May</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8A2C0"/>
                </a:solidFill>
                <a:latin typeface="+mn-lt"/>
              </a:defRPr>
            </a:pPr>
            <a:endParaRPr lang="en-US"/>
          </a:p>
        </c:txPr>
        <c:crossAx val="2094734552"/>
        <c:crosses val="autoZero"/>
        <c:auto val="1"/>
        <c:lblAlgn val="ctr"/>
        <c:noMultiLvlLbl val="1"/>
        <c:tickLblSkip val="24"/>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100" b="0" i="0" u="none" strike="noStrike">
                    <a:solidFill>
                      <a:srgbClr val="98A2C0"/>
                    </a:solidFill>
                    <a:latin typeface="+mn-lt"/>
                  </a:defRPr>
                </a:pPr>
                <a:r>
                  <a:rPr sz="1100" b="0" i="0" u="none" strike="noStrike">
                    <a:solidFill>
                      <a:srgbClr val="98A2C0"/>
                    </a:solidFill>
                    <a:latin typeface="+mn-lt"/>
                  </a:rPr>
                  <a:t>mm/h, network average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Mumbai</c:v>
                </c:pt>
              </c:strCache>
            </c:strRef>
          </c:tx>
          <c:spPr>
            <a:solidFill>
              <a:srgbClr val="3987E5"/>
            </a:solidFill>
            <a:effectLst/>
          </c:spPr>
          <c:invertIfNegative val="0"/>
          <c:dLbls>
            <c:numFmt formatCode="0.0" sourceLinked="0"/>
            <c:txPr>
              <a:bodyPr/>
              <a:lstStyle/>
              <a:p>
                <a:pPr>
                  <a:defRPr b="0" i="0" strike="noStrike" sz="1000" u="none">
                    <a:solidFill>
                      <a:srgbClr val="EEF1F7"/>
                    </a:solidFill>
                    <a:latin typeface="+mn-lt"/>
                  </a:defRPr>
                </a:pPr>
              </a:p>
            </c:txPr>
            <c:showLegendKey val="0"/>
            <c:showVal val="1"/>
            <c:showCatName val="0"/>
            <c:showSerName val="0"/>
            <c:showPercent val="0"/>
            <c:showBubbleSize val="0"/>
            <c:showLeaderLines val="0"/>
          </c:dLbls>
          <c:cat>
            <c:multiLvlStrRef>
              <c:f>Sheet1!$A$2:$A$6</c:f>
              <c:multiLvlStrCache>
                <c:ptCount val="5"/>
                <c:lvl>
                  <c:pt idx="0">
                    <c:v>Heavy rain (64.5 mm+)</c:v>
                  </c:pt>
                  <c:pt idx="1">
                    <c:v>Very heavy (115.6 mm+)</c:v>
                  </c:pt>
                  <c:pt idx="2">
                    <c:v>Extremely heavy (204.5 mm+)</c:v>
                  </c:pt>
                  <c:pt idx="3">
                    <c:v>45°C or hotter</c:v>
                  </c:pt>
                  <c:pt idx="4">
                    <c:v>47°C or hotter</c:v>
                  </c:pt>
                </c:lvl>
              </c:multiLvlStrCache>
            </c:multiLvlStrRef>
          </c:cat>
          <c:val>
            <c:numRef>
              <c:f>Sheet1!$B$2:$B$6</c:f>
              <c:numCache>
                <c:formatCode>General</c:formatCode>
                <c:ptCount val="5"/>
                <c:pt idx="0">
                  <c:v>11.88</c:v>
                </c:pt>
                <c:pt idx="1">
                  <c:v>4.44</c:v>
                </c:pt>
                <c:pt idx="2">
                  <c:v>1.08</c:v>
                </c:pt>
                <c:pt idx="3">
                  <c:v>0</c:v>
                </c:pt>
                <c:pt idx="4">
                  <c:v>0</c:v>
                </c:pt>
              </c:numCache>
            </c:numRef>
          </c:val>
        </c:ser>
        <c:ser>
          <c:idx val="1"/>
          <c:order val="1"/>
          <c:tx>
            <c:strRef>
              <c:f>Sheet1!$C$1</c:f>
              <c:strCache>
                <c:ptCount val="1"/>
                <c:pt idx="0">
                  <c:v>Nagpur</c:v>
                </c:pt>
              </c:strCache>
            </c:strRef>
          </c:tx>
          <c:spPr>
            <a:solidFill>
              <a:srgbClr val="D95926"/>
            </a:solidFill>
            <a:effectLst/>
          </c:spPr>
          <c:invertIfNegative val="0"/>
          <c:dLbls>
            <c:numFmt formatCode="0.0" sourceLinked="0"/>
            <c:txPr>
              <a:bodyPr/>
              <a:lstStyle/>
              <a:p>
                <a:pPr>
                  <a:defRPr b="0" i="0" strike="noStrike" sz="1000" u="none">
                    <a:solidFill>
                      <a:srgbClr val="EEF1F7"/>
                    </a:solidFill>
                    <a:latin typeface="+mn-lt"/>
                  </a:defRPr>
                </a:pPr>
              </a:p>
            </c:txPr>
            <c:showLegendKey val="0"/>
            <c:showVal val="1"/>
            <c:showCatName val="0"/>
            <c:showSerName val="0"/>
            <c:showPercent val="0"/>
            <c:showBubbleSize val="0"/>
            <c:showLeaderLines val="0"/>
          </c:dLbls>
          <c:cat>
            <c:multiLvlStrRef>
              <c:f>Sheet1!$A$2:$A$6</c:f>
              <c:multiLvlStrCache>
                <c:ptCount val="5"/>
                <c:lvl>
                  <c:pt idx="0">
                    <c:v>Heavy rain (64.5 mm+)</c:v>
                  </c:pt>
                  <c:pt idx="1">
                    <c:v>Very heavy (115.6 mm+)</c:v>
                  </c:pt>
                  <c:pt idx="2">
                    <c:v>Extremely heavy (204.5 mm+)</c:v>
                  </c:pt>
                  <c:pt idx="3">
                    <c:v>45°C or hotter</c:v>
                  </c:pt>
                  <c:pt idx="4">
                    <c:v>47°C or hotter</c:v>
                  </c:pt>
                </c:lvl>
              </c:multiLvlStrCache>
            </c:multiLvlStrRef>
          </c:cat>
          <c:val>
            <c:numRef>
              <c:f>Sheet1!$C$2:$C$6</c:f>
              <c:numCache>
                <c:formatCode>General</c:formatCode>
                <c:ptCount val="5"/>
                <c:pt idx="0">
                  <c:v>2.4</c:v>
                </c:pt>
                <c:pt idx="1">
                  <c:v>0.84</c:v>
                </c:pt>
                <c:pt idx="2">
                  <c:v>0.12</c:v>
                </c:pt>
                <c:pt idx="3">
                  <c:v>9.68</c:v>
                </c:pt>
                <c:pt idx="4">
                  <c:v>2.2</c:v>
                </c:pt>
              </c:numCache>
            </c:numRef>
          </c:val>
        </c:ser>
        <c:ser>
          <c:idx val="2"/>
          <c:order val="2"/>
          <c:tx>
            <c:strRef>
              <c:f>Sheet1!$D$1</c:f>
              <c:strCache>
                <c:ptCount val="1"/>
                <c:pt idx="0">
                  <c:v>Ahmedabad</c:v>
                </c:pt>
              </c:strCache>
            </c:strRef>
          </c:tx>
          <c:spPr>
            <a:solidFill>
              <a:srgbClr val="1BAF7A"/>
            </a:solidFill>
            <a:effectLst/>
          </c:spPr>
          <c:invertIfNegative val="0"/>
          <c:dLbls>
            <c:numFmt formatCode="0.0" sourceLinked="0"/>
            <c:txPr>
              <a:bodyPr/>
              <a:lstStyle/>
              <a:p>
                <a:pPr>
                  <a:defRPr b="0" i="0" strike="noStrike" sz="1000" u="none">
                    <a:solidFill>
                      <a:srgbClr val="EEF1F7"/>
                    </a:solidFill>
                    <a:latin typeface="+mn-lt"/>
                  </a:defRPr>
                </a:pPr>
              </a:p>
            </c:txPr>
            <c:showLegendKey val="0"/>
            <c:showVal val="1"/>
            <c:showCatName val="0"/>
            <c:showSerName val="0"/>
            <c:showPercent val="0"/>
            <c:showBubbleSize val="0"/>
            <c:showLeaderLines val="0"/>
          </c:dLbls>
          <c:cat>
            <c:multiLvlStrRef>
              <c:f>Sheet1!$A$2:$A$6</c:f>
              <c:multiLvlStrCache>
                <c:ptCount val="5"/>
                <c:lvl>
                  <c:pt idx="0">
                    <c:v>Heavy rain (64.5 mm+)</c:v>
                  </c:pt>
                  <c:pt idx="1">
                    <c:v>Very heavy (115.6 mm+)</c:v>
                  </c:pt>
                  <c:pt idx="2">
                    <c:v>Extremely heavy (204.5 mm+)</c:v>
                  </c:pt>
                  <c:pt idx="3">
                    <c:v>45°C or hotter</c:v>
                  </c:pt>
                  <c:pt idx="4">
                    <c:v>47°C or hotter</c:v>
                  </c:pt>
                </c:lvl>
              </c:multiLvlStrCache>
            </c:multiLvlStrRef>
          </c:cat>
          <c:val>
            <c:numRef>
              <c:f>Sheet1!$D$2:$D$6</c:f>
              <c:numCache>
                <c:formatCode>General</c:formatCode>
                <c:ptCount val="5"/>
                <c:pt idx="0">
                  <c:v>2.8</c:v>
                </c:pt>
                <c:pt idx="1">
                  <c:v>0.6</c:v>
                </c:pt>
                <c:pt idx="2">
                  <c:v>0.2</c:v>
                </c:pt>
                <c:pt idx="3">
                  <c:v>5.4</c:v>
                </c:pt>
                <c:pt idx="4">
                  <c:v>0.72</c:v>
                </c:pt>
              </c:numCache>
            </c:numRef>
          </c:val>
        </c:ser>
        <c:dLbls>
          <c:numFmt formatCode="0.0" sourceLinked="0"/>
          <c:txPr>
            <a:bodyPr/>
            <a:lstStyle/>
            <a:p>
              <a:pPr>
                <a:defRPr b="0" i="0" strike="noStrike" sz="1000" u="none">
                  <a:solidFill>
                    <a:srgbClr val="EEF1F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B9C2D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357"/>
              </a:solidFill>
              <a:prstDash val="solid"/>
              <a:round/>
            </a:ln>
          </c:spPr>
        </c:majorGridlines>
        <c:title>
          <c:tx>
            <c:rich>
              <a:bodyPr/>
              <a:lstStyle/>
              <a:p>
                <a:pPr>
                  <a:defRPr sz="1100" b="0" i="0" u="none" strike="noStrike">
                    <a:solidFill>
                      <a:srgbClr val="98A2C0"/>
                    </a:solidFill>
                    <a:latin typeface="+mn-lt"/>
                  </a:defRPr>
                </a:pPr>
                <a:r>
                  <a:rPr sz="1100" b="0" i="0" u="none" strike="noStrike">
                    <a:solidFill>
                      <a:srgbClr val="98A2C0"/>
                    </a:solidFill>
                    <a:latin typeface="+mn-lt"/>
                  </a:rPr>
                  <a:t>days per year (2000–2024 average)</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98A2C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D7DDE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[0:00–0:12] You’ve just seen the idea. In the next three minutes: proof that it works on real network data, where we start and why, and exactly what we need from Reliance.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[0:12–0:40] This is our working prototype, the JioMausam Control Room. On the left is rain mapped only from 500 real tower-to-tower radio links. On the right is a national weather radar that costs crores. Same storm, same moment. The shapes and the heavy patches match. We added nothing to the network to get this. (If the call allows, switch to the live prototype tab and press “Replay the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Here’s the honest test. We tuned one number on the first three days, then tested on eight days the model had never seen. Network-wide our rain matched the radar at 0.95. A single link on its own: 0.88. We caught 91% of rainy days with only 4.6% false alarms. And our payout rule made the same pay or no-pay decision as the radar 94.6%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Indian operators don’t publish link data, so we went to 25 years of IMD station records. Two findings. Rain really is hyperlocal: on a third of Mumbai’s heavy-rain days, a station 20 km away got less than half as much. And each city has a different danger. Mumbai sees about 12 heavy-rain days a year, so that’s where we start: rain, riders, Mumbai. Nagpur and Ahmedabad face heat, which is our phase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[1:25–1:50] This is the Mausam Kavach app. Ravi, a delivery rider in Andheri, is covered: his delivery app pays for it. As the towers around him measure the rain, the ring fills. The moment it crosses ten millimetres in three hours, three hundred rupees lands in his JioPay wallet, with the exact reading that triggered it. No form, no surveyor. It works in Hindi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[1:50–2:15] We start with riders, because one deal with one delivery app covers thousands of workers. Kavach Plus in Mumbai is about ₹208 a rider a month, so fifty thousand riders is about 12.5 crore of premiums a year. To be clear, premiums aren’t Jio’s revenue: a licensed insurer holds them, and Jio keeps fifteen to twenty-five percent as distribution and data fees. In phase three, anyone can add Kavach Basic at recharge; one percent of Jio’s users is 174 crore of premiums, or 26 to 44 crore in fees for Jio. On top of that, the data is Jio’s own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Why only Reliance? It takes five layers: a network to sense, half a billion people to reach, a way to pay, an insurer, and businesses that use the data. Reliance is the only company with all five. Our ask is small: a ninety-day Mumbai coverage audit with Jio’s link logs, one insurance partner, one delivery app and five people. Payouts run in shadow mode, so no money moves until the regulator’s sandbox. It tests our two riskiest assumptions: link coverage and payout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[2:35–2:52] Four phases. Phase one is a Mumbai coverage audit with payouts in shadow mode: rain, riders, one delivery app. Phase two moves to real payouts in IRDAI’s sandbox and adds heatwaves in Nagpur and Ahmedabad. Phase three puts Kavach Basic on every recharge. Phase four is a national map with data for insurers and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[2:52–3:00] India won’t adapt to climate change by building more. It will adapt by listening to what it already has. This is JioMausam.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NIGH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CK">
    <p:bg>
      <p:bgPr>
        <a:solidFill>
          <a:srgbClr val="0507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claude.ai/artifact/Wa5Cqt1S6Y61CATcN9SZCK"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ower" descr="/tmp/claude-0/-home-user-market-research-agent/e8d4caac-b1a5-588e-8461-832ca62ca567/scratchpad/deck/assets/tower_big.png">    </p:cNvPr>
          <p:cNvPicPr>
            <a:picLocks noChangeAspect="1"/>
          </p:cNvPicPr>
          <p:nvPr/>
        </p:nvPicPr>
        <p:blipFill>
          <a:blip r:embed="rId1"/>
          <a:stretch>
            <a:fillRect/>
          </a:stretch>
        </p:blipFill>
        <p:spPr>
          <a:xfrm>
            <a:off x="7818120" y="685800"/>
            <a:ext cx="3566160" cy="5394960"/>
          </a:xfrm>
          <a:prstGeom prst="rect">
            <a:avLst/>
          </a:prstGeom>
        </p:spPr>
      </p:pic>
      <p:sp>
        <p:nvSpPr>
          <p:cNvPr id="3" name="kicker"/>
          <p:cNvSpPr txBox="1"/>
          <p:nvPr/>
        </p:nvSpPr>
        <p:spPr>
          <a:xfrm>
            <a:off x="640080" y="1417320"/>
            <a:ext cx="64008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RELIANCE T.U.P XII  ·  ELIMINATION ROUND</a:t>
            </a:r>
            <a:endParaRPr lang="en-US" sz="1200" dirty="0"/>
          </a:p>
        </p:txBody>
      </p:sp>
      <p:sp>
        <p:nvSpPr>
          <p:cNvPr id="4" name="!!brand"/>
          <p:cNvSpPr txBox="1"/>
          <p:nvPr/>
        </p:nvSpPr>
        <p:spPr>
          <a:xfrm>
            <a:off x="640080" y="1783080"/>
            <a:ext cx="6949440" cy="137160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JioMausam</a:t>
            </a:r>
            <a:endParaRPr lang="en-US" sz="8000" dirty="0"/>
          </a:p>
        </p:txBody>
      </p:sp>
      <p:sp>
        <p:nvSpPr>
          <p:cNvPr id="5" name="tagline"/>
          <p:cNvSpPr txBox="1"/>
          <p:nvPr/>
        </p:nvSpPr>
        <p:spPr>
          <a:xfrm>
            <a:off x="640080" y="3246120"/>
            <a:ext cx="6766560" cy="1188720"/>
          </a:xfrm>
          <a:prstGeom prst="rect">
            <a:avLst/>
          </a:prstGeom>
          <a:noFill/>
          <a:ln/>
        </p:spPr>
        <p:txBody>
          <a:bodyPr wrap="square" lIns="0" tIns="0" rIns="0" bIns="0" rtlCol="0" anchor="ctr"/>
          <a:lstStyle/>
          <a:p>
            <a:pPr indent="0" marL="0">
              <a:buNone/>
            </a:pPr>
            <a:r>
              <a:rPr lang="en-US" sz="2800" i="1" dirty="0">
                <a:solidFill>
                  <a:srgbClr val="D7DDEA"/>
                </a:solidFill>
                <a:latin typeface="Cambria" pitchFamily="34" charset="0"/>
                <a:ea typeface="Cambria" pitchFamily="34" charset="-122"/>
                <a:cs typeface="Cambria" pitchFamily="34" charset="-120"/>
              </a:rPr>
              <a:t>We don’t build sensors.</a:t>
            </a:r>
            <a:endParaRPr lang="en-US" sz="2800" dirty="0"/>
          </a:p>
          <a:p>
            <a:pPr indent="0" marL="0">
              <a:buNone/>
            </a:pPr>
            <a:r>
              <a:rPr lang="en-US" sz="2800" i="1" dirty="0">
                <a:solidFill>
                  <a:srgbClr val="D7DDEA"/>
                </a:solidFill>
                <a:latin typeface="Cambria" pitchFamily="34" charset="0"/>
                <a:ea typeface="Cambria" pitchFamily="34" charset="-122"/>
                <a:cs typeface="Cambria" pitchFamily="34" charset="-120"/>
              </a:rPr>
              <a:t>We become the sensor.</a:t>
            </a:r>
            <a:endParaRPr lang="en-US" sz="2800" dirty="0"/>
          </a:p>
        </p:txBody>
      </p:sp>
      <p:sp>
        <p:nvSpPr>
          <p:cNvPr id="6" name="sub"/>
          <p:cNvSpPr txBox="1"/>
          <p:nvPr/>
        </p:nvSpPr>
        <p:spPr>
          <a:xfrm>
            <a:off x="640080" y="4709160"/>
            <a:ext cx="6309360" cy="822960"/>
          </a:xfrm>
          <a:prstGeom prst="rect">
            <a:avLst/>
          </a:prstGeom>
          <a:noFill/>
          <a:ln/>
        </p:spPr>
        <p:txBody>
          <a:bodyPr wrap="square" lIns="0" tIns="0" rIns="0" bIns="0" rtlCol="0" anchor="ctr"/>
          <a:lstStyle/>
          <a:p>
            <a:pPr indent="0" marL="0">
              <a:buNone/>
            </a:pPr>
            <a:r>
              <a:rPr lang="en-US" sz="1500" dirty="0">
                <a:solidFill>
                  <a:srgbClr val="98A2C0"/>
                </a:solidFill>
                <a:latin typeface="Calibri" pitchFamily="34" charset="0"/>
                <a:ea typeface="Calibri" pitchFamily="34" charset="-122"/>
                <a:cs typeface="Calibri" pitchFamily="34" charset="-120"/>
              </a:rPr>
              <a:t>A live, street-level weather map from Jio’s own network, and insurance that pays workers automatically when extreme weather stops their work.</a:t>
            </a:r>
            <a:endParaRPr lang="en-US" sz="15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20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400"/>
                                        <p:tgtEl>
                                          <p:spTgt spid="2"/>
                                        </p:tgtEl>
                                      </p:cBhvr>
                                    </p:animEffect>
                                  </p:childTnLst>
                                </p:cTn>
                              </p:par>
                              <p:par>
                                <p:cTn id="7" presetID="10" presetClass="entr" presetSubtype="0" fill="hold" grpId="0" nodeType="withEffect">
                                  <p:stCondLst>
                                    <p:cond delay="5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700"/>
                                        <p:tgtEl>
                                          <p:spTgt spid="3"/>
                                        </p:tgtEl>
                                      </p:cBhvr>
                                    </p:animEffect>
                                  </p:childTnLst>
                                </p:cTn>
                              </p:par>
                              <p:par>
                                <p:cTn id="10" presetID="42" presetClass="entr" presetSubtype="0" fill="hold" grpId="0" nodeType="withEffect">
                                  <p:stCondLst>
                                    <p:cond delay="7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06"/>
                                          </p:val>
                                        </p:tav>
                                        <p:tav tm="100000">
                                          <p:val>
                                            <p:strVal val="#ppt_y"/>
                                          </p:val>
                                        </p:tav>
                                      </p:tavLst>
                                    </p:anim>
                                  </p:childTnLst>
                                </p:cTn>
                              </p:par>
                            </p:childTnLst>
                          </p:cTn>
                        </p:par>
                        <p:par>
                          <p:cTn id="15" fill="hold">
                            <p:stCondLst>
                              <p:cond delay="1700"/>
                            </p:stCondLst>
                            <p:childTnLst>
                              <p:par>
                                <p:cTn id="16" presetID="10" presetClass="entr" presetSubtype="0" fill="hold" grpId="0" nodeType="afterEffect">
                                  <p:stCondLst>
                                    <p:cond delay="1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childTnLst>
                          </p:cTn>
                        </p:par>
                        <p:par>
                          <p:cTn id="19" fill="hold">
                            <p:stCondLst>
                              <p:cond delay="2850"/>
                            </p:stCondLst>
                            <p:childTnLst>
                              <p:par>
                                <p:cTn id="20" presetID="10" presetClass="entr" presetSubtype="0" fill="hold" grpId="0" nodeType="afterEffect">
                                  <p:stCondLst>
                                    <p:cond delay="1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OUR WORKING PROTOTYPE</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Same storm. Our network vs a radar.</a:t>
            </a:r>
            <a:endParaRPr lang="en-US" sz="3400" dirty="0"/>
          </a:p>
        </p:txBody>
      </p:sp>
      <p:pic>
        <p:nvPicPr>
          <p:cNvPr id="6" name="shot" descr="/tmp/claude-0/-home-user-market-research-agent/e8d4caac-b1a5-588e-8461-832ca62ca567/scratchpad/deck/assets/cr_maps.png">    </p:cNvPr>
          <p:cNvPicPr>
            <a:picLocks noChangeAspect="1"/>
          </p:cNvPicPr>
          <p:nvPr/>
        </p:nvPicPr>
        <p:blipFill>
          <a:blip r:embed="rId2"/>
          <a:stretch>
            <a:fillRect/>
          </a:stretch>
        </p:blipFill>
        <p:spPr>
          <a:xfrm>
            <a:off x="548640" y="2148840"/>
            <a:ext cx="7863840" cy="3449943"/>
          </a:xfrm>
          <a:prstGeom prst="rect">
            <a:avLst/>
          </a:prstGeom>
        </p:spPr>
      </p:pic>
      <p:sp>
        <p:nvSpPr>
          <p:cNvPr id="7" name="st1"/>
          <p:cNvSpPr txBox="1"/>
          <p:nvPr/>
        </p:nvSpPr>
        <p:spPr>
          <a:xfrm>
            <a:off x="8915400" y="2240280"/>
            <a:ext cx="2743200" cy="1143000"/>
          </a:xfrm>
          <a:prstGeom prst="rect">
            <a:avLst/>
          </a:prstGeom>
          <a:noFill/>
          <a:ln/>
        </p:spPr>
        <p:txBody>
          <a:bodyPr wrap="square" lIns="0" tIns="0" rIns="0" bIns="0" rtlCol="0" anchor="t"/>
          <a:lstStyle/>
          <a:p>
            <a:pPr indent="0" marL="0">
              <a:spcAft>
                <a:spcPts val="200"/>
              </a:spcAft>
              <a:buNone/>
            </a:pPr>
            <a:r>
              <a:rPr lang="en-US" sz="4000" b="1" dirty="0">
                <a:solidFill>
                  <a:srgbClr val="FFFFFF"/>
                </a:solidFill>
                <a:latin typeface="Cambria" pitchFamily="34" charset="0"/>
                <a:ea typeface="Cambria" pitchFamily="34" charset="-122"/>
                <a:cs typeface="Cambria" pitchFamily="34" charset="-120"/>
              </a:rPr>
              <a:t>500</a:t>
            </a:r>
            <a:endParaRPr lang="en-US" sz="4000" dirty="0"/>
          </a:p>
          <a:p>
            <a:pPr indent="0" marL="0">
              <a:spcAft>
                <a:spcPts val="200"/>
              </a:spcAft>
              <a:buNone/>
            </a:pPr>
            <a:r>
              <a:rPr lang="en-US" sz="1400" dirty="0">
                <a:solidFill>
                  <a:srgbClr val="98A2C0"/>
                </a:solidFill>
                <a:latin typeface="Calibri" pitchFamily="34" charset="0"/>
                <a:ea typeface="Calibri" pitchFamily="34" charset="-122"/>
                <a:cs typeface="Calibri" pitchFamily="34" charset="-120"/>
              </a:rPr>
              <a:t>real tower-to-tower microwave links, 1-minute signal data</a:t>
            </a:r>
            <a:endParaRPr lang="en-US" sz="4000" dirty="0"/>
          </a:p>
        </p:txBody>
      </p:sp>
      <p:sp>
        <p:nvSpPr>
          <p:cNvPr id="8" name="st2"/>
          <p:cNvSpPr txBox="1"/>
          <p:nvPr/>
        </p:nvSpPr>
        <p:spPr>
          <a:xfrm>
            <a:off x="8915400" y="3520440"/>
            <a:ext cx="2743200" cy="1143000"/>
          </a:xfrm>
          <a:prstGeom prst="rect">
            <a:avLst/>
          </a:prstGeom>
          <a:noFill/>
          <a:ln/>
        </p:spPr>
        <p:txBody>
          <a:bodyPr wrap="square" lIns="0" tIns="0" rIns="0" bIns="0" rtlCol="0" anchor="t"/>
          <a:lstStyle/>
          <a:p>
            <a:pPr indent="0" marL="0">
              <a:spcAft>
                <a:spcPts val="200"/>
              </a:spcAft>
              <a:buNone/>
            </a:pPr>
            <a:r>
              <a:rPr lang="en-US" sz="4000" b="1" dirty="0">
                <a:solidFill>
                  <a:srgbClr val="F5A623"/>
                </a:solidFill>
                <a:latin typeface="Cambria" pitchFamily="34" charset="0"/>
                <a:ea typeface="Cambria" pitchFamily="34" charset="-122"/>
                <a:cs typeface="Cambria" pitchFamily="34" charset="-120"/>
              </a:rPr>
              <a:t>0</a:t>
            </a:r>
            <a:endParaRPr lang="en-US" sz="4000" dirty="0"/>
          </a:p>
          <a:p>
            <a:pPr indent="0" marL="0">
              <a:spcAft>
                <a:spcPts val="200"/>
              </a:spcAft>
              <a:buNone/>
            </a:pPr>
            <a:r>
              <a:rPr lang="en-US" sz="1400" dirty="0">
                <a:solidFill>
                  <a:srgbClr val="98A2C0"/>
                </a:solidFill>
                <a:latin typeface="Calibri" pitchFamily="34" charset="0"/>
                <a:ea typeface="Calibri" pitchFamily="34" charset="-122"/>
                <a:cs typeface="Calibri" pitchFamily="34" charset="-120"/>
              </a:rPr>
              <a:t>radars, weather stations or new hardware on our side</a:t>
            </a:r>
            <a:endParaRPr lang="en-US" sz="4000" dirty="0"/>
          </a:p>
        </p:txBody>
      </p:sp>
      <p:sp>
        <p:nvSpPr>
          <p:cNvPr id="9" name="link">
            <a:hlinkClick r:id="rId3" tooltip="JioMausam Control Room"/>
          </p:cNvPr>
          <p:cNvSpPr txBox="1"/>
          <p:nvPr/>
        </p:nvSpPr>
        <p:spPr>
          <a:xfrm>
            <a:off x="8915400" y="4892040"/>
            <a:ext cx="2743200" cy="548640"/>
          </a:xfrm>
          <a:prstGeom prst="rect">
            <a:avLst/>
          </a:prstGeom>
          <a:noFill/>
          <a:ln/>
        </p:spPr>
        <p:txBody>
          <a:bodyPr wrap="square" lIns="0" tIns="0" rIns="0" bIns="0" rtlCol="0" anchor="ctr"/>
          <a:lstStyle/>
          <a:p>
            <a:pPr indent="0" marL="0">
              <a:buNone/>
            </a:pPr>
            <a:r>
              <a:rPr lang="en-US" sz="1250" u="sng" dirty="0">
                <a:solidFill>
                  <a:srgbClr val="F5A623"/>
                </a:solidFill>
                <a:latin typeface="Calibri" pitchFamily="34" charset="0"/>
                <a:ea typeface="Calibri" pitchFamily="34" charset="-122"/>
                <a:cs typeface="Calibri" pitchFamily="34" charset="-120"/>
                <a:hlinkClick r:id="rId3" invalidUrl="" action="" tgtFrame="" tooltip="JioMausam Control Room" history="1" highlightClick="0" endSnd="0">
                  <a:extLst>
                    <a:ext uri="{A12FA001-AC4F-418D-AE19-62706E023703}">
                      <ahyp:hlinkClr xmlns:ahyp="http://schemas.microsoft.com/office/drawing/2018/hyperlinkcolor" val="tx"/>
                    </a:ext>
                  </a:extLst>
                </a:hlinkClick>
              </a:rPr>
              <a:t>Open the live prototype to replay the storm</a:t>
            </a:r>
            <a:endParaRPr lang="en-US" sz="1250" dirty="0"/>
          </a:p>
        </p:txBody>
      </p:sp>
      <p:sp>
        <p:nvSpPr>
          <p:cNvPr id="10" name="source"/>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6F7AA0"/>
                </a:solidFill>
                <a:latin typeface="Calibri" pitchFamily="34" charset="0"/>
                <a:ea typeface="Calibri" pitchFamily="34" charset="-122"/>
                <a:cs typeface="Calibri" pitchFamily="34" charset="-120"/>
              </a:rPr>
              <a:t>Real data: 500 commercial microwave links, 13–14 May 2018 storm (pycomlink public example data). Reference: German Weather Service radar.</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53" presetClass="entr" presetSubtype="16" fill="hold" grpId="0" nodeType="afterEffect">
                                  <p:stCondLst>
                                    <p:cond delay="100"/>
                                  </p:stCondLst>
                                  <p:childTnLst>
                                    <p:set>
                                      <p:cBhvr>
                                        <p:cTn id="14" dur="1" fill="hold">
                                          <p:stCondLst>
                                            <p:cond delay="0"/>
                                          </p:stCondLst>
                                        </p:cTn>
                                        <p:tgtEl>
                                          <p:spTgt spid="6"/>
                                        </p:tgtEl>
                                        <p:attrNameLst>
                                          <p:attrName>style.visibility</p:attrName>
                                        </p:attrNameLst>
                                      </p:cBhvr>
                                      <p:to>
                                        <p:strVal val="visible"/>
                                      </p:to>
                                    </p:set>
                                    <p:anim calcmode="lin" valueType="num">
                                      <p:cBhvr>
                                        <p:cTn id="15" dur="900" fill="hold"/>
                                        <p:tgtEl>
                                          <p:spTgt spid="6"/>
                                        </p:tgtEl>
                                        <p:attrNameLst>
                                          <p:attrName>ppt_w</p:attrName>
                                        </p:attrNameLst>
                                      </p:cBhvr>
                                      <p:tavLst>
                                        <p:tav tm="0">
                                          <p:val>
                                            <p:strVal val="#ppt_w*.82"/>
                                          </p:val>
                                        </p:tav>
                                        <p:tav tm="100000">
                                          <p:val>
                                            <p:strVal val="#ppt_w"/>
                                          </p:val>
                                        </p:tav>
                                      </p:tavLst>
                                    </p:anim>
                                    <p:anim calcmode="lin" valueType="num">
                                      <p:cBhvr>
                                        <p:cTn id="16" dur="900" fill="hold"/>
                                        <p:tgtEl>
                                          <p:spTgt spid="6"/>
                                        </p:tgtEl>
                                        <p:attrNameLst>
                                          <p:attrName>ppt_h</p:attrName>
                                        </p:attrNameLst>
                                      </p:cBhvr>
                                      <p:tavLst>
                                        <p:tav tm="0">
                                          <p:val>
                                            <p:strVal val="#ppt_h*.82"/>
                                          </p:val>
                                        </p:tav>
                                        <p:tav tm="100000">
                                          <p:val>
                                            <p:strVal val="#ppt_h"/>
                                          </p:val>
                                        </p:tav>
                                      </p:tavLst>
                                    </p:anim>
                                    <p:animEffect transition="in" filter="fade">
                                      <p:cBhvr>
                                        <p:cTn id="17" dur="900"/>
                                        <p:tgtEl>
                                          <p:spTgt spid="6"/>
                                        </p:tgtEl>
                                      </p:cBhvr>
                                    </p:animEffect>
                                  </p:childTnLst>
                                </p:cTn>
                              </p:par>
                            </p:childTnLst>
                          </p:cTn>
                        </p:par>
                        <p:par>
                          <p:cTn id="18" fill="hold">
                            <p:stCondLst>
                              <p:cond delay="1920"/>
                            </p:stCondLst>
                            <p:childTnLst>
                              <p:par>
                                <p:cTn id="19" presetID="42" presetClass="entr" presetSubtype="0" fill="hold" grpId="0" nodeType="afterEffect">
                                  <p:stCondLst>
                                    <p:cond delay="1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anim calcmode="lin" valueType="num">
                                      <p:cBhvr>
                                        <p:cTn id="22" dur="700" fill="hold"/>
                                        <p:tgtEl>
                                          <p:spTgt spid="7"/>
                                        </p:tgtEl>
                                        <p:attrNameLst>
                                          <p:attrName>ppt_x</p:attrName>
                                        </p:attrNameLst>
                                      </p:cBhvr>
                                      <p:tavLst>
                                        <p:tav tm="0">
                                          <p:val>
                                            <p:strVal val="#ppt_x"/>
                                          </p:val>
                                        </p:tav>
                                        <p:tav tm="100000">
                                          <p:val>
                                            <p:strVal val="#ppt_x"/>
                                          </p:val>
                                        </p:tav>
                                      </p:tavLst>
                                    </p:anim>
                                    <p:anim calcmode="lin" valueType="num">
                                      <p:cBhvr>
                                        <p:cTn id="23" dur="700" fill="hold"/>
                                        <p:tgtEl>
                                          <p:spTgt spid="7"/>
                                        </p:tgtEl>
                                        <p:attrNameLst>
                                          <p:attrName>ppt_y</p:attrName>
                                        </p:attrNameLst>
                                      </p:cBhvr>
                                      <p:tavLst>
                                        <p:tav tm="0">
                                          <p:val>
                                            <p:strVal val="#ppt_y+.06"/>
                                          </p:val>
                                        </p:tav>
                                        <p:tav tm="100000">
                                          <p:val>
                                            <p:strVal val="#ppt_y"/>
                                          </p:val>
                                        </p:tav>
                                      </p:tavLst>
                                    </p:anim>
                                  </p:childTnLst>
                                </p:cTn>
                              </p:par>
                            </p:childTnLst>
                          </p:cTn>
                        </p:par>
                        <p:par>
                          <p:cTn id="24" fill="hold">
                            <p:stCondLst>
                              <p:cond delay="2770"/>
                            </p:stCondLst>
                            <p:childTnLst>
                              <p:par>
                                <p:cTn id="25" presetID="42" presetClass="entr" presetSubtype="0" fill="hold" grpId="0" nodeType="afterEffect">
                                  <p:stCondLst>
                                    <p:cond delay="1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700"/>
                                        <p:tgtEl>
                                          <p:spTgt spid="8"/>
                                        </p:tgtEl>
                                      </p:cBhvr>
                                    </p:animEffect>
                                    <p:anim calcmode="lin" valueType="num">
                                      <p:cBhvr>
                                        <p:cTn id="28" dur="700" fill="hold"/>
                                        <p:tgtEl>
                                          <p:spTgt spid="8"/>
                                        </p:tgtEl>
                                        <p:attrNameLst>
                                          <p:attrName>ppt_x</p:attrName>
                                        </p:attrNameLst>
                                      </p:cBhvr>
                                      <p:tavLst>
                                        <p:tav tm="0">
                                          <p:val>
                                            <p:strVal val="#ppt_x"/>
                                          </p:val>
                                        </p:tav>
                                        <p:tav tm="100000">
                                          <p:val>
                                            <p:strVal val="#ppt_x"/>
                                          </p:val>
                                        </p:tav>
                                      </p:tavLst>
                                    </p:anim>
                                    <p:anim calcmode="lin" valueType="num">
                                      <p:cBhvr>
                                        <p:cTn id="29" dur="700" fill="hold"/>
                                        <p:tgtEl>
                                          <p:spTgt spid="8"/>
                                        </p:tgtEl>
                                        <p:attrNameLst>
                                          <p:attrName>ppt_y</p:attrName>
                                        </p:attrNameLst>
                                      </p:cBhvr>
                                      <p:tavLst>
                                        <p:tav tm="0">
                                          <p:val>
                                            <p:strVal val="#ppt_y+.06"/>
                                          </p:val>
                                        </p:tav>
                                        <p:tav tm="100000">
                                          <p:val>
                                            <p:strVal val="#ppt_y"/>
                                          </p:val>
                                        </p:tav>
                                      </p:tavLst>
                                    </p:anim>
                                  </p:childTnLst>
                                </p:cTn>
                              </p:par>
                            </p:childTnLst>
                          </p:cTn>
                        </p:par>
                        <p:par>
                          <p:cTn id="30" fill="hold">
                            <p:stCondLst>
                              <p:cond delay="3570"/>
                            </p:stCondLst>
                            <p:childTnLst>
                              <p:par>
                                <p:cTn id="31" presetID="10" presetClass="entr" presetSubtype="0" fill="hold" grpId="0" nodeType="afterEffect">
                                  <p:stCondLst>
                                    <p:cond delay="1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PROOF</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Tested on days it had never seen.</a:t>
            </a:r>
            <a:endParaRPr lang="en-US" sz="3400" dirty="0"/>
          </a:p>
        </p:txBody>
      </p:sp>
      <p:graphicFrame>
        <p:nvGraphicFramePr>
          <p:cNvPr id="6" name="chart" descr=""/>
          <p:cNvGraphicFramePr/>
          <p:nvPr/>
        </p:nvGraphicFramePr>
        <p:xfrm>
          <a:off x="457200" y="2103120"/>
          <a:ext cx="7680960" cy="3840480"/>
        </p:xfrm>
        <a:graphic xmlns:a="http://schemas.openxmlformats.org/drawingml/2006/main">
          <a:graphicData uri="http://schemas.openxmlformats.org/drawingml/2006/chart">
            <c:chart xmlns:c="http://schemas.openxmlformats.org/drawingml/2006/chart" r:id="rId2"/>
          </a:graphicData>
        </a:graphic>
      </p:graphicFrame>
      <p:sp>
        <p:nvSpPr>
          <p:cNvPr id="7" name="st1"/>
          <p:cNvSpPr txBox="1"/>
          <p:nvPr/>
        </p:nvSpPr>
        <p:spPr>
          <a:xfrm>
            <a:off x="8595360" y="2148840"/>
            <a:ext cx="3108960" cy="1143000"/>
          </a:xfrm>
          <a:prstGeom prst="rect">
            <a:avLst/>
          </a:prstGeom>
          <a:noFill/>
          <a:ln/>
        </p:spPr>
        <p:txBody>
          <a:bodyPr wrap="square" lIns="0" tIns="0" rIns="0" bIns="0" rtlCol="0" anchor="t"/>
          <a:lstStyle/>
          <a:p>
            <a:pPr indent="0" marL="0">
              <a:spcAft>
                <a:spcPts val="200"/>
              </a:spcAft>
              <a:buNone/>
            </a:pPr>
            <a:r>
              <a:rPr lang="en-US" sz="4000" b="1" dirty="0">
                <a:solidFill>
                  <a:srgbClr val="FFFFFF"/>
                </a:solidFill>
                <a:latin typeface="Cambria" pitchFamily="34" charset="0"/>
                <a:ea typeface="Cambria" pitchFamily="34" charset="-122"/>
                <a:cs typeface="Cambria" pitchFamily="34" charset="-120"/>
              </a:rPr>
              <a:t>0.95</a:t>
            </a:r>
            <a:endParaRPr lang="en-US" sz="4000" dirty="0"/>
          </a:p>
          <a:p>
            <a:pPr indent="0" marL="0">
              <a:spcAft>
                <a:spcPts val="200"/>
              </a:spcAft>
              <a:buNone/>
            </a:pPr>
            <a:r>
              <a:rPr lang="en-US" sz="1400" dirty="0">
                <a:solidFill>
                  <a:srgbClr val="98A2C0"/>
                </a:solidFill>
                <a:latin typeface="Calibri" pitchFamily="34" charset="0"/>
                <a:ea typeface="Calibri" pitchFamily="34" charset="-122"/>
                <a:cs typeface="Calibri" pitchFamily="34" charset="-120"/>
              </a:rPr>
              <a:t>network-wide match with radar, hour by hour</a:t>
            </a:r>
            <a:endParaRPr lang="en-US" sz="4000" dirty="0"/>
          </a:p>
        </p:txBody>
      </p:sp>
      <p:sp>
        <p:nvSpPr>
          <p:cNvPr id="8" name="st2"/>
          <p:cNvSpPr txBox="1"/>
          <p:nvPr/>
        </p:nvSpPr>
        <p:spPr>
          <a:xfrm>
            <a:off x="8595360" y="3429000"/>
            <a:ext cx="3108960" cy="1143000"/>
          </a:xfrm>
          <a:prstGeom prst="rect">
            <a:avLst/>
          </a:prstGeom>
          <a:noFill/>
          <a:ln/>
        </p:spPr>
        <p:txBody>
          <a:bodyPr wrap="square" lIns="0" tIns="0" rIns="0" bIns="0" rtlCol="0" anchor="t"/>
          <a:lstStyle/>
          <a:p>
            <a:pPr indent="0" marL="0">
              <a:spcAft>
                <a:spcPts val="200"/>
              </a:spcAft>
              <a:buNone/>
            </a:pPr>
            <a:r>
              <a:rPr lang="en-US" sz="4000" b="1" dirty="0">
                <a:solidFill>
                  <a:srgbClr val="FFFFFF"/>
                </a:solidFill>
                <a:latin typeface="Cambria" pitchFamily="34" charset="0"/>
                <a:ea typeface="Cambria" pitchFamily="34" charset="-122"/>
                <a:cs typeface="Cambria" pitchFamily="34" charset="-120"/>
              </a:rPr>
              <a:t>0.88</a:t>
            </a:r>
            <a:endParaRPr lang="en-US" sz="4000" dirty="0"/>
          </a:p>
          <a:p>
            <a:pPr indent="0" marL="0">
              <a:spcAft>
                <a:spcPts val="200"/>
              </a:spcAft>
              <a:buNone/>
            </a:pPr>
            <a:r>
              <a:rPr lang="en-US" sz="1400" dirty="0">
                <a:solidFill>
                  <a:srgbClr val="98A2C0"/>
                </a:solidFill>
                <a:latin typeface="Calibri" pitchFamily="34" charset="0"/>
                <a:ea typeface="Calibri" pitchFamily="34" charset="-122"/>
                <a:cs typeface="Calibri" pitchFamily="34" charset="-120"/>
              </a:rPr>
              <a:t>typical single link on its own</a:t>
            </a:r>
            <a:endParaRPr lang="en-US" sz="4000" dirty="0"/>
          </a:p>
        </p:txBody>
      </p:sp>
      <p:sp>
        <p:nvSpPr>
          <p:cNvPr id="9" name="st3"/>
          <p:cNvSpPr txBox="1"/>
          <p:nvPr/>
        </p:nvSpPr>
        <p:spPr>
          <a:xfrm>
            <a:off x="8595360" y="4709160"/>
            <a:ext cx="3108960" cy="1143000"/>
          </a:xfrm>
          <a:prstGeom prst="rect">
            <a:avLst/>
          </a:prstGeom>
          <a:noFill/>
          <a:ln/>
        </p:spPr>
        <p:txBody>
          <a:bodyPr wrap="square" lIns="0" tIns="0" rIns="0" bIns="0" rtlCol="0" anchor="t"/>
          <a:lstStyle/>
          <a:p>
            <a:pPr indent="0" marL="0">
              <a:spcAft>
                <a:spcPts val="200"/>
              </a:spcAft>
              <a:buNone/>
            </a:pPr>
            <a:r>
              <a:rPr lang="en-US" sz="4000" b="1" dirty="0">
                <a:solidFill>
                  <a:srgbClr val="F5A623"/>
                </a:solidFill>
                <a:latin typeface="Cambria" pitchFamily="34" charset="0"/>
                <a:ea typeface="Cambria" pitchFamily="34" charset="-122"/>
                <a:cs typeface="Cambria" pitchFamily="34" charset="-120"/>
              </a:rPr>
              <a:t>91%</a:t>
            </a:r>
            <a:endParaRPr lang="en-US" sz="4000" dirty="0"/>
          </a:p>
          <a:p>
            <a:pPr indent="0" marL="0">
              <a:spcAft>
                <a:spcPts val="200"/>
              </a:spcAft>
              <a:buNone/>
            </a:pPr>
            <a:r>
              <a:rPr lang="en-US" sz="1400" dirty="0">
                <a:solidFill>
                  <a:srgbClr val="98A2C0"/>
                </a:solidFill>
                <a:latin typeface="Calibri" pitchFamily="34" charset="0"/>
                <a:ea typeface="Calibri" pitchFamily="34" charset="-122"/>
                <a:cs typeface="Calibri" pitchFamily="34" charset="-120"/>
              </a:rPr>
              <a:t>of rainy days caught, 4.6% false alarms</a:t>
            </a:r>
            <a:endParaRPr lang="en-US" sz="4000" dirty="0"/>
          </a:p>
        </p:txBody>
      </p:sp>
      <p:sp>
        <p:nvSpPr>
          <p:cNvPr id="10" name="source"/>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6F7AA0"/>
                </a:solidFill>
                <a:latin typeface="Calibri" pitchFamily="34" charset="0"/>
                <a:ea typeface="Calibri" pitchFamily="34" charset="-122"/>
                <a:cs typeface="Calibri" pitchFamily="34" charset="-120"/>
              </a:rPr>
              <a:t>Calibrated once (×1.17) on days 1–3, tested on days 4–11. Payout rule (10 mm in 3 h) made the same decision as radar 94.6% of the time.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22" presetClass="entr" presetSubtype="8" fill="hold" grpId="0" nodeType="afterEffect">
                                  <p:stCondLst>
                                    <p:cond delay="1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800"/>
                                        <p:tgtEl>
                                          <p:spTgt spid="6"/>
                                        </p:tgtEl>
                                      </p:cBhvr>
                                    </p:animEffect>
                                  </p:childTnLst>
                                </p:cTn>
                              </p:par>
                            </p:childTnLst>
                          </p:cTn>
                        </p:par>
                        <p:par>
                          <p:cTn id="16" fill="hold">
                            <p:stCondLst>
                              <p:cond delay="2820"/>
                            </p:stCondLst>
                            <p:childTnLst>
                              <p:par>
                                <p:cTn id="17" presetID="42"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p:cTn id="20" dur="600" fill="hold"/>
                                        <p:tgtEl>
                                          <p:spTgt spid="7"/>
                                        </p:tgtEl>
                                        <p:attrNameLst>
                                          <p:attrName>ppt_x</p:attrName>
                                        </p:attrNameLst>
                                      </p:cBhvr>
                                      <p:tavLst>
                                        <p:tav tm="0">
                                          <p:val>
                                            <p:strVal val="#ppt_x"/>
                                          </p:val>
                                        </p:tav>
                                        <p:tav tm="100000">
                                          <p:val>
                                            <p:strVal val="#ppt_x"/>
                                          </p:val>
                                        </p:tav>
                                      </p:tavLst>
                                    </p:anim>
                                    <p:anim calcmode="lin" valueType="num">
                                      <p:cBhvr>
                                        <p:cTn id="21" dur="600" fill="hold"/>
                                        <p:tgtEl>
                                          <p:spTgt spid="7"/>
                                        </p:tgtEl>
                                        <p:attrNameLst>
                                          <p:attrName>ppt_y</p:attrName>
                                        </p:attrNameLst>
                                      </p:cBhvr>
                                      <p:tavLst>
                                        <p:tav tm="0">
                                          <p:val>
                                            <p:strVal val="#ppt_y+.06"/>
                                          </p:val>
                                        </p:tav>
                                        <p:tav tm="100000">
                                          <p:val>
                                            <p:strVal val="#ppt_y"/>
                                          </p:val>
                                        </p:tav>
                                      </p:tavLst>
                                    </p:anim>
                                  </p:childTnLst>
                                </p:cTn>
                              </p:par>
                            </p:childTnLst>
                          </p:cTn>
                        </p:par>
                        <p:par>
                          <p:cTn id="22" fill="hold">
                            <p:stCondLst>
                              <p:cond delay="3420"/>
                            </p:stCondLst>
                            <p:childTnLst>
                              <p:par>
                                <p:cTn id="23" presetID="42" presetClass="entr" presetSubtype="0" fill="hold" grpId="0" nodeType="afterEffect">
                                  <p:stCondLst>
                                    <p:cond delay="1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fill="hold"/>
                                        <p:tgtEl>
                                          <p:spTgt spid="8"/>
                                        </p:tgtEl>
                                        <p:attrNameLst>
                                          <p:attrName>ppt_y</p:attrName>
                                        </p:attrNameLst>
                                      </p:cBhvr>
                                      <p:tavLst>
                                        <p:tav tm="0">
                                          <p:val>
                                            <p:strVal val="#ppt_y+.06"/>
                                          </p:val>
                                        </p:tav>
                                        <p:tav tm="100000">
                                          <p:val>
                                            <p:strVal val="#ppt_y"/>
                                          </p:val>
                                        </p:tav>
                                      </p:tavLst>
                                    </p:anim>
                                  </p:childTnLst>
                                </p:cTn>
                              </p:par>
                            </p:childTnLst>
                          </p:cTn>
                        </p:par>
                        <p:par>
                          <p:cTn id="28" fill="hold">
                            <p:stCondLst>
                              <p:cond delay="4120"/>
                            </p:stCondLst>
                            <p:childTnLst>
                              <p:par>
                                <p:cTn id="29" presetID="42" presetClass="entr" presetSubtype="0" fill="hold" grpId="0" nodeType="afterEffect">
                                  <p:stCondLst>
                                    <p:cond delay="1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fill="hold"/>
                                        <p:tgtEl>
                                          <p:spTgt spid="9"/>
                                        </p:tgtEl>
                                        <p:attrNameLst>
                                          <p:attrName>ppt_y</p:attrName>
                                        </p:attrNameLst>
                                      </p:cBhvr>
                                      <p:tavLst>
                                        <p:tav tm="0">
                                          <p:val>
                                            <p:strVal val="#ppt_y+.06"/>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Graphic spid="6" grpId="0">
        <p:bldAsOne/>
      </p:bldGraphic>
      <p:bldP spid="7" grpId="0"/>
      <p:bldP spid="8"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INDIA LAYER</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Indian weather tells us where to start.</a:t>
            </a:r>
            <a:endParaRPr lang="en-US" sz="3400" dirty="0"/>
          </a:p>
        </p:txBody>
      </p:sp>
      <p:graphicFrame>
        <p:nvGraphicFramePr>
          <p:cNvPr id="6" name="chart" descr=""/>
          <p:cNvGraphicFramePr/>
          <p:nvPr/>
        </p:nvGraphicFramePr>
        <p:xfrm>
          <a:off x="457200" y="2103120"/>
          <a:ext cx="7223760" cy="3886200"/>
        </p:xfrm>
        <a:graphic xmlns:a="http://schemas.openxmlformats.org/drawingml/2006/main">
          <a:graphicData uri="http://schemas.openxmlformats.org/drawingml/2006/chart">
            <c:chart xmlns:c="http://schemas.openxmlformats.org/drawingml/2006/chart" r:id="rId2"/>
          </a:graphicData>
        </a:graphic>
      </p:graphicFrame>
      <p:sp>
        <p:nvSpPr>
          <p:cNvPr id="7" name="insight"/>
          <p:cNvSpPr txBox="1"/>
          <p:nvPr/>
        </p:nvSpPr>
        <p:spPr>
          <a:xfrm>
            <a:off x="8092440" y="2103120"/>
            <a:ext cx="3566160" cy="1554480"/>
          </a:xfrm>
          <a:prstGeom prst="rect">
            <a:avLst/>
          </a:prstGeom>
          <a:noFill/>
          <a:ln/>
        </p:spPr>
        <p:txBody>
          <a:bodyPr wrap="square" lIns="0" tIns="0" rIns="0" bIns="0" rtlCol="0" anchor="t"/>
          <a:lstStyle/>
          <a:p>
            <a:pPr indent="0" marL="0">
              <a:spcAft>
                <a:spcPts val="400"/>
              </a:spcAft>
              <a:buNone/>
            </a:pPr>
            <a:r>
              <a:rPr lang="en-US" sz="2200" b="1" dirty="0">
                <a:solidFill>
                  <a:srgbClr val="FFFFFF"/>
                </a:solidFill>
                <a:latin typeface="Cambria" pitchFamily="34" charset="0"/>
                <a:ea typeface="Cambria" pitchFamily="34" charset="-122"/>
                <a:cs typeface="Cambria" pitchFamily="34" charset="-120"/>
              </a:rPr>
              <a:t>Start where the triggers are.</a:t>
            </a:r>
            <a:endParaRPr lang="en-US" sz="2200" dirty="0"/>
          </a:p>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Mumbai has about 12 heavy-rain days a year, so rain and riders come first. Nagpur’s and Ahmedabad’s danger is heat: that’s phase two.</a:t>
            </a:r>
            <a:endParaRPr lang="en-US" sz="2200" dirty="0"/>
          </a:p>
        </p:txBody>
      </p:sp>
      <p:sp>
        <p:nvSpPr>
          <p:cNvPr id="8" name="city0"/>
          <p:cNvSpPr/>
          <p:nvPr/>
        </p:nvSpPr>
        <p:spPr>
          <a:xfrm>
            <a:off x="8092440" y="3840480"/>
            <a:ext cx="3566160" cy="603504"/>
          </a:xfrm>
          <a:prstGeom prst="roundRect">
            <a:avLst>
              <a:gd name="adj" fmla="val 15152"/>
            </a:avLst>
          </a:prstGeom>
          <a:solidFill>
            <a:srgbClr val="172038"/>
          </a:solidFill>
          <a:ln w="9525">
            <a:solidFill>
              <a:srgbClr val="2A3357"/>
            </a:solidFill>
            <a:prstDash val="solid"/>
          </a:ln>
        </p:spPr>
      </p:sp>
      <p:sp>
        <p:nvSpPr>
          <p:cNvPr id="9" name="cityT0"/>
          <p:cNvSpPr txBox="1"/>
          <p:nvPr/>
        </p:nvSpPr>
        <p:spPr>
          <a:xfrm>
            <a:off x="8275320" y="3840480"/>
            <a:ext cx="2240280" cy="60350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Mumbai  </a:t>
            </a:r>
            <a:pPr indent="0" marL="0">
              <a:buNone/>
            </a:pPr>
            <a:r>
              <a:rPr lang="en-US" sz="1250" dirty="0">
                <a:solidFill>
                  <a:srgbClr val="98A2C0"/>
                </a:solidFill>
                <a:latin typeface="Calibri" pitchFamily="34" charset="0"/>
                <a:ea typeface="Calibri" pitchFamily="34" charset="-122"/>
                <a:cs typeface="Calibri" pitchFamily="34" charset="-120"/>
              </a:rPr>
              <a:t>rain · 11.9 heavy days a year</a:t>
            </a:r>
            <a:endParaRPr lang="en-US" sz="1250" dirty="0"/>
          </a:p>
        </p:txBody>
      </p:sp>
      <p:sp>
        <p:nvSpPr>
          <p:cNvPr id="10" name="cityP0"/>
          <p:cNvSpPr txBox="1"/>
          <p:nvPr/>
        </p:nvSpPr>
        <p:spPr>
          <a:xfrm>
            <a:off x="10469880" y="3840480"/>
            <a:ext cx="1051560" cy="603504"/>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Phase 1</a:t>
            </a:r>
            <a:endParaRPr lang="en-US" sz="1700" dirty="0"/>
          </a:p>
        </p:txBody>
      </p:sp>
      <p:sp>
        <p:nvSpPr>
          <p:cNvPr id="11" name="city1"/>
          <p:cNvSpPr/>
          <p:nvPr/>
        </p:nvSpPr>
        <p:spPr>
          <a:xfrm>
            <a:off x="8092440" y="4553712"/>
            <a:ext cx="3566160" cy="603504"/>
          </a:xfrm>
          <a:prstGeom prst="roundRect">
            <a:avLst>
              <a:gd name="adj" fmla="val 15152"/>
            </a:avLst>
          </a:prstGeom>
          <a:solidFill>
            <a:srgbClr val="172038"/>
          </a:solidFill>
          <a:ln w="9525">
            <a:solidFill>
              <a:srgbClr val="2A3357"/>
            </a:solidFill>
            <a:prstDash val="solid"/>
          </a:ln>
        </p:spPr>
      </p:sp>
      <p:sp>
        <p:nvSpPr>
          <p:cNvPr id="12" name="cityT1"/>
          <p:cNvSpPr txBox="1"/>
          <p:nvPr/>
        </p:nvSpPr>
        <p:spPr>
          <a:xfrm>
            <a:off x="8275320" y="4553712"/>
            <a:ext cx="2240280" cy="60350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Nagpur  </a:t>
            </a:r>
            <a:pPr indent="0" marL="0">
              <a:buNone/>
            </a:pPr>
            <a:r>
              <a:rPr lang="en-US" sz="1250" dirty="0">
                <a:solidFill>
                  <a:srgbClr val="98A2C0"/>
                </a:solidFill>
                <a:latin typeface="Calibri" pitchFamily="34" charset="0"/>
                <a:ea typeface="Calibri" pitchFamily="34" charset="-122"/>
                <a:cs typeface="Calibri" pitchFamily="34" charset="-120"/>
              </a:rPr>
              <a:t>heat · 9.7 days ≥45°C</a:t>
            </a:r>
            <a:endParaRPr lang="en-US" sz="1250" dirty="0"/>
          </a:p>
        </p:txBody>
      </p:sp>
      <p:sp>
        <p:nvSpPr>
          <p:cNvPr id="13" name="cityP1"/>
          <p:cNvSpPr txBox="1"/>
          <p:nvPr/>
        </p:nvSpPr>
        <p:spPr>
          <a:xfrm>
            <a:off x="10469880" y="4553712"/>
            <a:ext cx="1051560" cy="603504"/>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Phase 2</a:t>
            </a:r>
            <a:endParaRPr lang="en-US" sz="1700" dirty="0"/>
          </a:p>
        </p:txBody>
      </p:sp>
      <p:sp>
        <p:nvSpPr>
          <p:cNvPr id="14" name="city2"/>
          <p:cNvSpPr/>
          <p:nvPr/>
        </p:nvSpPr>
        <p:spPr>
          <a:xfrm>
            <a:off x="8092440" y="5266944"/>
            <a:ext cx="3566160" cy="603504"/>
          </a:xfrm>
          <a:prstGeom prst="roundRect">
            <a:avLst>
              <a:gd name="adj" fmla="val 15152"/>
            </a:avLst>
          </a:prstGeom>
          <a:solidFill>
            <a:srgbClr val="172038"/>
          </a:solidFill>
          <a:ln w="9525">
            <a:solidFill>
              <a:srgbClr val="2A3357"/>
            </a:solidFill>
            <a:prstDash val="solid"/>
          </a:ln>
        </p:spPr>
      </p:sp>
      <p:sp>
        <p:nvSpPr>
          <p:cNvPr id="15" name="cityT2"/>
          <p:cNvSpPr txBox="1"/>
          <p:nvPr/>
        </p:nvSpPr>
        <p:spPr>
          <a:xfrm>
            <a:off x="8275320" y="5266944"/>
            <a:ext cx="2240280" cy="60350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Ahmedabad  </a:t>
            </a:r>
            <a:pPr indent="0" marL="0">
              <a:buNone/>
            </a:pPr>
            <a:r>
              <a:rPr lang="en-US" sz="1250" dirty="0">
                <a:solidFill>
                  <a:srgbClr val="98A2C0"/>
                </a:solidFill>
                <a:latin typeface="Calibri" pitchFamily="34" charset="0"/>
                <a:ea typeface="Calibri" pitchFamily="34" charset="-122"/>
                <a:cs typeface="Calibri" pitchFamily="34" charset="-120"/>
              </a:rPr>
              <a:t>heat · 5.4 days ≥45°C</a:t>
            </a:r>
            <a:endParaRPr lang="en-US" sz="1250" dirty="0"/>
          </a:p>
        </p:txBody>
      </p:sp>
      <p:sp>
        <p:nvSpPr>
          <p:cNvPr id="16" name="cityP2"/>
          <p:cNvSpPr txBox="1"/>
          <p:nvPr/>
        </p:nvSpPr>
        <p:spPr>
          <a:xfrm>
            <a:off x="10469880" y="5266944"/>
            <a:ext cx="1051560" cy="603504"/>
          </a:xfrm>
          <a:prstGeom prst="rect">
            <a:avLst/>
          </a:prstGeom>
          <a:noFill/>
          <a:ln/>
        </p:spPr>
        <p:txBody>
          <a:bodyPr wrap="square" lIns="0" tIns="0" rIns="0" bIns="0" rtlCol="0" anchor="ctr"/>
          <a:lstStyle/>
          <a:p>
            <a:pPr algn="r" indent="0" marL="0">
              <a:buNone/>
            </a:pPr>
            <a:r>
              <a:rPr lang="en-US" sz="1700" b="1" dirty="0">
                <a:solidFill>
                  <a:srgbClr val="F5A623"/>
                </a:solidFill>
                <a:latin typeface="Cambria" pitchFamily="34" charset="0"/>
                <a:ea typeface="Cambria" pitchFamily="34" charset="-122"/>
                <a:cs typeface="Cambria" pitchFamily="34" charset="-120"/>
              </a:rPr>
              <a:t>Phase 2</a:t>
            </a:r>
            <a:endParaRPr lang="en-US" sz="1700" dirty="0"/>
          </a:p>
        </p:txBody>
      </p:sp>
      <p:sp>
        <p:nvSpPr>
          <p:cNvPr id="17" name="source"/>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6F7AA0"/>
                </a:solidFill>
                <a:latin typeface="Calibri" pitchFamily="34" charset="0"/>
                <a:ea typeface="Calibri" pitchFamily="34" charset="-122"/>
                <a:cs typeface="Calibri" pitchFamily="34" charset="-120"/>
              </a:rPr>
              <a:t>IMD station reports 2000–2024 via NOAA. City prices for Kavach Basic: Mumbai ₹45, Nagpur ₹52, Ahmedabad ₹29 a month (₹300 a payout, max 5 days a year).</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22" presetClass="entr" presetSubtype="4" fill="hold" grpId="0" nodeType="afterEffect">
                                  <p:stCondLst>
                                    <p:cond delay="10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1300"/>
                                        <p:tgtEl>
                                          <p:spTgt spid="6"/>
                                        </p:tgtEl>
                                      </p:cBhvr>
                                    </p:animEffect>
                                  </p:childTnLst>
                                </p:cTn>
                              </p:par>
                            </p:childTnLst>
                          </p:cTn>
                        </p:par>
                        <p:par>
                          <p:cTn id="16" fill="hold">
                            <p:stCondLst>
                              <p:cond delay="2320"/>
                            </p:stCondLst>
                            <p:childTnLst>
                              <p:par>
                                <p:cTn id="17" presetID="10" presetClass="entr" presetSubtype="0" fill="hold" grpId="0" nodeType="afterEffect">
                                  <p:stCondLst>
                                    <p:cond delay="1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700"/>
                                        <p:tgtEl>
                                          <p:spTgt spid="7"/>
                                        </p:tgtEl>
                                      </p:cBhvr>
                                    </p:animEffect>
                                  </p:childTnLst>
                                </p:cTn>
                              </p:par>
                            </p:childTnLst>
                          </p:cTn>
                        </p:par>
                        <p:par>
                          <p:cTn id="20" fill="hold">
                            <p:stCondLst>
                              <p:cond delay="3120"/>
                            </p:stCondLst>
                            <p:childTnLst>
                              <p:par>
                                <p:cTn id="21" presetID="42" presetClass="entr" presetSubtype="0" fill="hold" grpId="0" nodeType="afterEffect">
                                  <p:stCondLst>
                                    <p:cond delay="1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anim calcmode="lin" valueType="num">
                                      <p:cBhvr>
                                        <p:cTn id="24" dur="600" fill="hold"/>
                                        <p:tgtEl>
                                          <p:spTgt spid="8"/>
                                        </p:tgtEl>
                                        <p:attrNameLst>
                                          <p:attrName>ppt_x</p:attrName>
                                        </p:attrNameLst>
                                      </p:cBhvr>
                                      <p:tavLst>
                                        <p:tav tm="0">
                                          <p:val>
                                            <p:strVal val="#ppt_x"/>
                                          </p:val>
                                        </p:tav>
                                        <p:tav tm="100000">
                                          <p:val>
                                            <p:strVal val="#ppt_x"/>
                                          </p:val>
                                        </p:tav>
                                      </p:tavLst>
                                    </p:anim>
                                    <p:anim calcmode="lin" valueType="num">
                                      <p:cBhvr>
                                        <p:cTn id="25" dur="600" fill="hold"/>
                                        <p:tgtEl>
                                          <p:spTgt spid="8"/>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anim calcmode="lin" valueType="num">
                                      <p:cBhvr>
                                        <p:cTn id="29" dur="600" fill="hold"/>
                                        <p:tgtEl>
                                          <p:spTgt spid="9"/>
                                        </p:tgtEl>
                                        <p:attrNameLst>
                                          <p:attrName>ppt_x</p:attrName>
                                        </p:attrNameLst>
                                      </p:cBhvr>
                                      <p:tavLst>
                                        <p:tav tm="0">
                                          <p:val>
                                            <p:strVal val="#ppt_x"/>
                                          </p:val>
                                        </p:tav>
                                        <p:tav tm="100000">
                                          <p:val>
                                            <p:strVal val="#ppt_x"/>
                                          </p:val>
                                        </p:tav>
                                      </p:tavLst>
                                    </p:anim>
                                    <p:anim calcmode="lin" valueType="num">
                                      <p:cBhvr>
                                        <p:cTn id="30" dur="600" fill="hold"/>
                                        <p:tgtEl>
                                          <p:spTgt spid="9"/>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600"/>
                                        <p:tgtEl>
                                          <p:spTgt spid="10"/>
                                        </p:tgtEl>
                                      </p:cBhvr>
                                    </p:animEffect>
                                    <p:anim calcmode="lin" valueType="num">
                                      <p:cBhvr>
                                        <p:cTn id="34" dur="600" fill="hold"/>
                                        <p:tgtEl>
                                          <p:spTgt spid="10"/>
                                        </p:tgtEl>
                                        <p:attrNameLst>
                                          <p:attrName>ppt_x</p:attrName>
                                        </p:attrNameLst>
                                      </p:cBhvr>
                                      <p:tavLst>
                                        <p:tav tm="0">
                                          <p:val>
                                            <p:strVal val="#ppt_x"/>
                                          </p:val>
                                        </p:tav>
                                        <p:tav tm="100000">
                                          <p:val>
                                            <p:strVal val="#ppt_x"/>
                                          </p:val>
                                        </p:tav>
                                      </p:tavLst>
                                    </p:anim>
                                    <p:anim calcmode="lin" valueType="num">
                                      <p:cBhvr>
                                        <p:cTn id="35" dur="600" fill="hold"/>
                                        <p:tgtEl>
                                          <p:spTgt spid="10"/>
                                        </p:tgtEl>
                                        <p:attrNameLst>
                                          <p:attrName>ppt_y</p:attrName>
                                        </p:attrNameLst>
                                      </p:cBhvr>
                                      <p:tavLst>
                                        <p:tav tm="0">
                                          <p:val>
                                            <p:strVal val="#ppt_y+.06"/>
                                          </p:val>
                                        </p:tav>
                                        <p:tav tm="100000">
                                          <p:val>
                                            <p:strVal val="#ppt_y"/>
                                          </p:val>
                                        </p:tav>
                                      </p:tavLst>
                                    </p:anim>
                                  </p:childTnLst>
                                </p:cTn>
                              </p:par>
                            </p:childTnLst>
                          </p:cTn>
                        </p:par>
                        <p:par>
                          <p:cTn id="36" fill="hold">
                            <p:stCondLst>
                              <p:cond delay="382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600"/>
                                        <p:tgtEl>
                                          <p:spTgt spid="11"/>
                                        </p:tgtEl>
                                      </p:cBhvr>
                                    </p:animEffect>
                                    <p:anim calcmode="lin" valueType="num">
                                      <p:cBhvr>
                                        <p:cTn id="40" dur="600" fill="hold"/>
                                        <p:tgtEl>
                                          <p:spTgt spid="11"/>
                                        </p:tgtEl>
                                        <p:attrNameLst>
                                          <p:attrName>ppt_x</p:attrName>
                                        </p:attrNameLst>
                                      </p:cBhvr>
                                      <p:tavLst>
                                        <p:tav tm="0">
                                          <p:val>
                                            <p:strVal val="#ppt_x"/>
                                          </p:val>
                                        </p:tav>
                                        <p:tav tm="100000">
                                          <p:val>
                                            <p:strVal val="#ppt_x"/>
                                          </p:val>
                                        </p:tav>
                                      </p:tavLst>
                                    </p:anim>
                                    <p:anim calcmode="lin" valueType="num">
                                      <p:cBhvr>
                                        <p:cTn id="41" dur="600" fill="hold"/>
                                        <p:tgtEl>
                                          <p:spTgt spid="11"/>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p:cTn id="45" dur="600" fill="hold"/>
                                        <p:tgtEl>
                                          <p:spTgt spid="12"/>
                                        </p:tgtEl>
                                        <p:attrNameLst>
                                          <p:attrName>ppt_x</p:attrName>
                                        </p:attrNameLst>
                                      </p:cBhvr>
                                      <p:tavLst>
                                        <p:tav tm="0">
                                          <p:val>
                                            <p:strVal val="#ppt_x"/>
                                          </p:val>
                                        </p:tav>
                                        <p:tav tm="100000">
                                          <p:val>
                                            <p:strVal val="#ppt_x"/>
                                          </p:val>
                                        </p:tav>
                                      </p:tavLst>
                                    </p:anim>
                                    <p:anim calcmode="lin" valueType="num">
                                      <p:cBhvr>
                                        <p:cTn id="46" dur="600" fill="hold"/>
                                        <p:tgtEl>
                                          <p:spTgt spid="12"/>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anim calcmode="lin" valueType="num">
                                      <p:cBhvr>
                                        <p:cTn id="50" dur="600" fill="hold"/>
                                        <p:tgtEl>
                                          <p:spTgt spid="13"/>
                                        </p:tgtEl>
                                        <p:attrNameLst>
                                          <p:attrName>ppt_x</p:attrName>
                                        </p:attrNameLst>
                                      </p:cBhvr>
                                      <p:tavLst>
                                        <p:tav tm="0">
                                          <p:val>
                                            <p:strVal val="#ppt_x"/>
                                          </p:val>
                                        </p:tav>
                                        <p:tav tm="100000">
                                          <p:val>
                                            <p:strVal val="#ppt_x"/>
                                          </p:val>
                                        </p:tav>
                                      </p:tavLst>
                                    </p:anim>
                                    <p:anim calcmode="lin" valueType="num">
                                      <p:cBhvr>
                                        <p:cTn id="51" dur="600" fill="hold"/>
                                        <p:tgtEl>
                                          <p:spTgt spid="13"/>
                                        </p:tgtEl>
                                        <p:attrNameLst>
                                          <p:attrName>ppt_y</p:attrName>
                                        </p:attrNameLst>
                                      </p:cBhvr>
                                      <p:tavLst>
                                        <p:tav tm="0">
                                          <p:val>
                                            <p:strVal val="#ppt_y+.06"/>
                                          </p:val>
                                        </p:tav>
                                        <p:tav tm="100000">
                                          <p:val>
                                            <p:strVal val="#ppt_y"/>
                                          </p:val>
                                        </p:tav>
                                      </p:tavLst>
                                    </p:anim>
                                  </p:childTnLst>
                                </p:cTn>
                              </p:par>
                            </p:childTnLst>
                          </p:cTn>
                        </p:par>
                        <p:par>
                          <p:cTn id="52" fill="hold">
                            <p:stCondLst>
                              <p:cond delay="4420"/>
                            </p:stCondLst>
                            <p:childTnLst>
                              <p:par>
                                <p:cTn id="53" presetID="42"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600"/>
                                        <p:tgtEl>
                                          <p:spTgt spid="14"/>
                                        </p:tgtEl>
                                      </p:cBhvr>
                                    </p:animEffect>
                                    <p:anim calcmode="lin" valueType="num">
                                      <p:cBhvr>
                                        <p:cTn id="56" dur="600" fill="hold"/>
                                        <p:tgtEl>
                                          <p:spTgt spid="14"/>
                                        </p:tgtEl>
                                        <p:attrNameLst>
                                          <p:attrName>ppt_x</p:attrName>
                                        </p:attrNameLst>
                                      </p:cBhvr>
                                      <p:tavLst>
                                        <p:tav tm="0">
                                          <p:val>
                                            <p:strVal val="#ppt_x"/>
                                          </p:val>
                                        </p:tav>
                                        <p:tav tm="100000">
                                          <p:val>
                                            <p:strVal val="#ppt_x"/>
                                          </p:val>
                                        </p:tav>
                                      </p:tavLst>
                                    </p:anim>
                                    <p:anim calcmode="lin" valueType="num">
                                      <p:cBhvr>
                                        <p:cTn id="57" dur="600" fill="hold"/>
                                        <p:tgtEl>
                                          <p:spTgt spid="14"/>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anim calcmode="lin" valueType="num">
                                      <p:cBhvr>
                                        <p:cTn id="61" dur="600" fill="hold"/>
                                        <p:tgtEl>
                                          <p:spTgt spid="15"/>
                                        </p:tgtEl>
                                        <p:attrNameLst>
                                          <p:attrName>ppt_x</p:attrName>
                                        </p:attrNameLst>
                                      </p:cBhvr>
                                      <p:tavLst>
                                        <p:tav tm="0">
                                          <p:val>
                                            <p:strVal val="#ppt_x"/>
                                          </p:val>
                                        </p:tav>
                                        <p:tav tm="100000">
                                          <p:val>
                                            <p:strVal val="#ppt_x"/>
                                          </p:val>
                                        </p:tav>
                                      </p:tavLst>
                                    </p:anim>
                                    <p:anim calcmode="lin" valueType="num">
                                      <p:cBhvr>
                                        <p:cTn id="62" dur="600" fill="hold"/>
                                        <p:tgtEl>
                                          <p:spTgt spid="15"/>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600"/>
                                        <p:tgtEl>
                                          <p:spTgt spid="16"/>
                                        </p:tgtEl>
                                      </p:cBhvr>
                                    </p:animEffect>
                                    <p:anim calcmode="lin" valueType="num">
                                      <p:cBhvr>
                                        <p:cTn id="66" dur="600" fill="hold"/>
                                        <p:tgtEl>
                                          <p:spTgt spid="16"/>
                                        </p:tgtEl>
                                        <p:attrNameLst>
                                          <p:attrName>ppt_x</p:attrName>
                                        </p:attrNameLst>
                                      </p:cBhvr>
                                      <p:tavLst>
                                        <p:tav tm="0">
                                          <p:val>
                                            <p:strVal val="#ppt_x"/>
                                          </p:val>
                                        </p:tav>
                                        <p:tav tm="100000">
                                          <p:val>
                                            <p:strVal val="#ppt_x"/>
                                          </p:val>
                                        </p:tav>
                                      </p:tavLst>
                                    </p:anim>
                                    <p:anim calcmode="lin" valueType="num">
                                      <p:cBhvr>
                                        <p:cTn id="67" dur="600" fill="hold"/>
                                        <p:tgtEl>
                                          <p:spTgt spid="16"/>
                                        </p:tgtEl>
                                        <p:attrNameLst>
                                          <p:attrName>ppt_y</p:attrName>
                                        </p:attrNameLst>
                                      </p:cBhvr>
                                      <p:tavLst>
                                        <p:tav tm="0">
                                          <p:val>
                                            <p:strVal val="#ppt_y+.06"/>
                                          </p:val>
                                        </p:tav>
                                        <p:tav tm="100000">
                                          <p:val>
                                            <p:strVal val="#ppt_y"/>
                                          </p:val>
                                        </p:tav>
                                      </p:tavLst>
                                    </p:anim>
                                  </p:childTnLst>
                                </p:cTn>
                              </p:par>
                              <p:par>
                                <p:cTn id="68" presetID="10"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Graphic spid="6" grpId="0">
        <p:bldAsOne/>
      </p:bldGraphic>
      <p:bldP spid="7" grpId="0"/>
      <p:bldP spid="8" grpId="0" animBg="1"/>
      <p:bldP spid="9" grpId="0"/>
      <p:bldP spid="10" grpId="0"/>
      <p:bldP spid="11" grpId="0" animBg="1"/>
      <p:bldP spid="12" grpId="0"/>
      <p:bldP spid="13" grpId="0"/>
      <p:bldP spid="14" grpId="0" animBg="1"/>
      <p:bldP spid="15"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PRODUCT</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a worker actually sees.</a:t>
            </a:r>
            <a:endParaRPr lang="en-US" sz="3400" dirty="0"/>
          </a:p>
        </p:txBody>
      </p:sp>
      <p:pic>
        <p:nvPicPr>
          <p:cNvPr id="6" name="phone0" descr="/tmp/claude-0/-home-user-market-research-agent/e8d4caac-b1a5-588e-8461-832ca62ca567/scratchpad/deck/assets/app_home.png">    </p:cNvPr>
          <p:cNvPicPr>
            <a:picLocks noChangeAspect="1"/>
          </p:cNvPicPr>
          <p:nvPr/>
        </p:nvPicPr>
        <p:blipFill>
          <a:blip r:embed="rId2"/>
          <a:stretch>
            <a:fillRect/>
          </a:stretch>
        </p:blipFill>
        <p:spPr>
          <a:xfrm>
            <a:off x="1051560" y="2057400"/>
            <a:ext cx="2148840" cy="4655820"/>
          </a:xfrm>
          <a:prstGeom prst="rect">
            <a:avLst/>
          </a:prstGeom>
        </p:spPr>
      </p:pic>
      <p:sp>
        <p:nvSpPr>
          <p:cNvPr id="7" name="cap0"/>
          <p:cNvSpPr txBox="1"/>
          <p:nvPr/>
        </p:nvSpPr>
        <p:spPr>
          <a:xfrm>
            <a:off x="3383280" y="5295900"/>
            <a:ext cx="1188720" cy="1371600"/>
          </a:xfrm>
          <a:prstGeom prst="rect">
            <a:avLst/>
          </a:prstGeom>
          <a:noFill/>
          <a:ln/>
        </p:spPr>
        <p:txBody>
          <a:bodyPr wrap="square" lIns="0" tIns="0" rIns="0" bIns="0" rtlCol="0" anchor="b"/>
          <a:lstStyle/>
          <a:p>
            <a:pPr indent="0" marL="0">
              <a:buNone/>
            </a:pPr>
            <a:r>
              <a:rPr lang="en-US" sz="1250" dirty="0">
                <a:solidFill>
                  <a:srgbClr val="D7DDEA"/>
                </a:solidFill>
                <a:latin typeface="Calibri" pitchFamily="34" charset="0"/>
                <a:ea typeface="Calibri" pitchFamily="34" charset="-122"/>
                <a:cs typeface="Calibri" pitchFamily="34" charset="-120"/>
              </a:rPr>
              <a:t>1  Covered from their recharge. The ring fills as rain builds.</a:t>
            </a:r>
            <a:endParaRPr lang="en-US" sz="1250" dirty="0"/>
          </a:p>
        </p:txBody>
      </p:sp>
      <p:pic>
        <p:nvPicPr>
          <p:cNvPr id="8" name="phone1" descr="/tmp/claude-0/-home-user-market-research-agent/e8d4caac-b1a5-588e-8461-832ca62ca567/scratchpad/deck/assets/app_paid.png">    </p:cNvPr>
          <p:cNvPicPr>
            <a:picLocks noChangeAspect="1"/>
          </p:cNvPicPr>
          <p:nvPr/>
        </p:nvPicPr>
        <p:blipFill>
          <a:blip r:embed="rId3"/>
          <a:stretch>
            <a:fillRect/>
          </a:stretch>
        </p:blipFill>
        <p:spPr>
          <a:xfrm>
            <a:off x="4617720" y="2057400"/>
            <a:ext cx="2148840" cy="4655820"/>
          </a:xfrm>
          <a:prstGeom prst="rect">
            <a:avLst/>
          </a:prstGeom>
        </p:spPr>
      </p:pic>
      <p:sp>
        <p:nvSpPr>
          <p:cNvPr id="9" name="cap1"/>
          <p:cNvSpPr txBox="1"/>
          <p:nvPr/>
        </p:nvSpPr>
        <p:spPr>
          <a:xfrm>
            <a:off x="6949440" y="5295900"/>
            <a:ext cx="1188720" cy="1371600"/>
          </a:xfrm>
          <a:prstGeom prst="rect">
            <a:avLst/>
          </a:prstGeom>
          <a:noFill/>
          <a:ln/>
        </p:spPr>
        <p:txBody>
          <a:bodyPr wrap="square" lIns="0" tIns="0" rIns="0" bIns="0" rtlCol="0" anchor="b"/>
          <a:lstStyle/>
          <a:p>
            <a:pPr indent="0" marL="0">
              <a:buNone/>
            </a:pPr>
            <a:r>
              <a:rPr lang="en-US" sz="1250" dirty="0">
                <a:solidFill>
                  <a:srgbClr val="D7DDEA"/>
                </a:solidFill>
                <a:latin typeface="Calibri" pitchFamily="34" charset="0"/>
                <a:ea typeface="Calibri" pitchFamily="34" charset="-122"/>
                <a:cs typeface="Calibri" pitchFamily="34" charset="-120"/>
              </a:rPr>
              <a:t>2  The network crosses the trigger. ₹300 lands in JioPay.</a:t>
            </a:r>
            <a:endParaRPr lang="en-US" sz="1250" dirty="0"/>
          </a:p>
        </p:txBody>
      </p:sp>
      <p:pic>
        <p:nvPicPr>
          <p:cNvPr id="10" name="phone2" descr="/tmp/claude-0/-home-user-market-research-agent/e8d4caac-b1a5-588e-8461-832ca62ca567/scratchpad/deck/assets/app_plan.png">    </p:cNvPr>
          <p:cNvPicPr>
            <a:picLocks noChangeAspect="1"/>
          </p:cNvPicPr>
          <p:nvPr/>
        </p:nvPicPr>
        <p:blipFill>
          <a:blip r:embed="rId4"/>
          <a:stretch>
            <a:fillRect/>
          </a:stretch>
        </p:blipFill>
        <p:spPr>
          <a:xfrm>
            <a:off x="8183880" y="2057400"/>
            <a:ext cx="2148840" cy="4655820"/>
          </a:xfrm>
          <a:prstGeom prst="rect">
            <a:avLst/>
          </a:prstGeom>
        </p:spPr>
      </p:pic>
      <p:sp>
        <p:nvSpPr>
          <p:cNvPr id="11" name="cap2"/>
          <p:cNvSpPr txBox="1"/>
          <p:nvPr/>
        </p:nvSpPr>
        <p:spPr>
          <a:xfrm>
            <a:off x="10515600" y="5295900"/>
            <a:ext cx="1188720" cy="1371600"/>
          </a:xfrm>
          <a:prstGeom prst="rect">
            <a:avLst/>
          </a:prstGeom>
          <a:noFill/>
          <a:ln/>
        </p:spPr>
        <p:txBody>
          <a:bodyPr wrap="square" lIns="0" tIns="0" rIns="0" bIns="0" rtlCol="0" anchor="b"/>
          <a:lstStyle/>
          <a:p>
            <a:pPr indent="0" marL="0">
              <a:buNone/>
            </a:pPr>
            <a:r>
              <a:rPr lang="en-US" sz="1250" dirty="0">
                <a:solidFill>
                  <a:srgbClr val="D7DDEA"/>
                </a:solidFill>
                <a:latin typeface="Calibri" pitchFamily="34" charset="0"/>
                <a:ea typeface="Calibri" pitchFamily="34" charset="-122"/>
                <a:cs typeface="Calibri" pitchFamily="34" charset="-120"/>
              </a:rPr>
              <a:t>3  City prices, set from 25 years of IMD records.</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42" presetClass="entr" presetSubtype="0" fill="hold" grpId="0" nodeType="afterEffect">
                                  <p:stCondLst>
                                    <p:cond delay="1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900"/>
                                        <p:tgtEl>
                                          <p:spTgt spid="6"/>
                                        </p:tgtEl>
                                      </p:cBhvr>
                                    </p:animEffect>
                                    <p:anim calcmode="lin" valueType="num">
                                      <p:cBhvr>
                                        <p:cTn id="16" dur="900" fill="hold"/>
                                        <p:tgtEl>
                                          <p:spTgt spid="6"/>
                                        </p:tgtEl>
                                        <p:attrNameLst>
                                          <p:attrName>ppt_x</p:attrName>
                                        </p:attrNameLst>
                                      </p:cBhvr>
                                      <p:tavLst>
                                        <p:tav tm="0">
                                          <p:val>
                                            <p:strVal val="#ppt_x"/>
                                          </p:val>
                                        </p:tav>
                                        <p:tav tm="100000">
                                          <p:val>
                                            <p:strVal val="#ppt_x"/>
                                          </p:val>
                                        </p:tav>
                                      </p:tavLst>
                                    </p:anim>
                                    <p:anim calcmode="lin" valueType="num">
                                      <p:cBhvr>
                                        <p:cTn id="17" dur="900" fill="hold"/>
                                        <p:tgtEl>
                                          <p:spTgt spid="6"/>
                                        </p:tgtEl>
                                        <p:attrNameLst>
                                          <p:attrName>ppt_y</p:attrName>
                                        </p:attrNameLst>
                                      </p:cBhvr>
                                      <p:tavLst>
                                        <p:tav tm="0">
                                          <p:val>
                                            <p:strVal val="#ppt_y+.06"/>
                                          </p:val>
                                        </p:tav>
                                        <p:tav tm="100000">
                                          <p:val>
                                            <p:strVal val="#ppt_y"/>
                                          </p:val>
                                        </p:tav>
                                      </p:tavLst>
                                    </p:anim>
                                  </p:childTnLst>
                                </p:cTn>
                              </p:par>
                              <p:par>
                                <p:cTn id="18" presetID="10" presetClass="entr" presetSubtype="0" fill="hold" grpId="0" nodeType="withEffect">
                                  <p:stCondLst>
                                    <p:cond delay="40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childTnLst>
                                </p:cTn>
                              </p:par>
                            </p:childTnLst>
                          </p:cTn>
                        </p:par>
                        <p:par>
                          <p:cTn id="21" fill="hold">
                            <p:stCondLst>
                              <p:cond delay="1920"/>
                            </p:stCondLst>
                            <p:childTnLst>
                              <p:par>
                                <p:cTn id="22" presetID="42" presetClass="entr" presetSubtype="0" fill="hold" grpId="0" nodeType="afterEffect">
                                  <p:stCondLst>
                                    <p:cond delay="1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900"/>
                                        <p:tgtEl>
                                          <p:spTgt spid="8"/>
                                        </p:tgtEl>
                                      </p:cBhvr>
                                    </p:animEffect>
                                    <p:anim calcmode="lin" valueType="num">
                                      <p:cBhvr>
                                        <p:cTn id="25" dur="900" fill="hold"/>
                                        <p:tgtEl>
                                          <p:spTgt spid="8"/>
                                        </p:tgtEl>
                                        <p:attrNameLst>
                                          <p:attrName>ppt_x</p:attrName>
                                        </p:attrNameLst>
                                      </p:cBhvr>
                                      <p:tavLst>
                                        <p:tav tm="0">
                                          <p:val>
                                            <p:strVal val="#ppt_x"/>
                                          </p:val>
                                        </p:tav>
                                        <p:tav tm="100000">
                                          <p:val>
                                            <p:strVal val="#ppt_x"/>
                                          </p:val>
                                        </p:tav>
                                      </p:tavLst>
                                    </p:anim>
                                    <p:anim calcmode="lin" valueType="num">
                                      <p:cBhvr>
                                        <p:cTn id="26" dur="900" fill="hold"/>
                                        <p:tgtEl>
                                          <p:spTgt spid="8"/>
                                        </p:tgtEl>
                                        <p:attrNameLst>
                                          <p:attrName>ppt_y</p:attrName>
                                        </p:attrNameLst>
                                      </p:cBhvr>
                                      <p:tavLst>
                                        <p:tav tm="0">
                                          <p:val>
                                            <p:strVal val="#ppt_y+.06"/>
                                          </p:val>
                                        </p:tav>
                                        <p:tav tm="100000">
                                          <p:val>
                                            <p:strVal val="#ppt_y"/>
                                          </p:val>
                                        </p:tav>
                                      </p:tavLst>
                                    </p:anim>
                                  </p:childTnLst>
                                </p:cTn>
                              </p:par>
                              <p:par>
                                <p:cTn id="27" presetID="10" presetClass="entr" presetSubtype="0" fill="hold" grpId="0" nodeType="withEffect">
                                  <p:stCondLst>
                                    <p:cond delay="4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600"/>
                                        <p:tgtEl>
                                          <p:spTgt spid="9"/>
                                        </p:tgtEl>
                                      </p:cBhvr>
                                    </p:animEffect>
                                  </p:childTnLst>
                                </p:cTn>
                              </p:par>
                            </p:childTnLst>
                          </p:cTn>
                        </p:par>
                        <p:par>
                          <p:cTn id="30" fill="hold">
                            <p:stCondLst>
                              <p:cond delay="2920"/>
                            </p:stCondLst>
                            <p:childTnLst>
                              <p:par>
                                <p:cTn id="31" presetID="42" presetClass="entr" presetSubtype="0" fill="hold" grpId="0" nodeType="afterEffect">
                                  <p:stCondLst>
                                    <p:cond delay="10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900"/>
                                        <p:tgtEl>
                                          <p:spTgt spid="10"/>
                                        </p:tgtEl>
                                      </p:cBhvr>
                                    </p:animEffect>
                                    <p:anim calcmode="lin" valueType="num">
                                      <p:cBhvr>
                                        <p:cTn id="34" dur="900" fill="hold"/>
                                        <p:tgtEl>
                                          <p:spTgt spid="10"/>
                                        </p:tgtEl>
                                        <p:attrNameLst>
                                          <p:attrName>ppt_x</p:attrName>
                                        </p:attrNameLst>
                                      </p:cBhvr>
                                      <p:tavLst>
                                        <p:tav tm="0">
                                          <p:val>
                                            <p:strVal val="#ppt_x"/>
                                          </p:val>
                                        </p:tav>
                                        <p:tav tm="100000">
                                          <p:val>
                                            <p:strVal val="#ppt_x"/>
                                          </p:val>
                                        </p:tav>
                                      </p:tavLst>
                                    </p:anim>
                                    <p:anim calcmode="lin" valueType="num">
                                      <p:cBhvr>
                                        <p:cTn id="35" dur="900" fill="hold"/>
                                        <p:tgtEl>
                                          <p:spTgt spid="10"/>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40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BUSINESS</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Riders first. Then everyone.</a:t>
            </a:r>
            <a:endParaRPr lang="en-US" sz="3400" dirty="0"/>
          </a:p>
        </p:txBody>
      </p:sp>
      <p:sp>
        <p:nvSpPr>
          <p:cNvPr id="6" name="bignum"/>
          <p:cNvSpPr txBox="1"/>
          <p:nvPr/>
        </p:nvSpPr>
        <p:spPr>
          <a:xfrm>
            <a:off x="548640" y="2103120"/>
            <a:ext cx="4480560" cy="2377440"/>
          </a:xfrm>
          <a:prstGeom prst="rect">
            <a:avLst/>
          </a:prstGeom>
          <a:noFill/>
          <a:ln/>
        </p:spPr>
        <p:txBody>
          <a:bodyPr wrap="square" lIns="0" tIns="0" rIns="0" bIns="0" rtlCol="0" anchor="t"/>
          <a:lstStyle/>
          <a:p>
            <a:pPr indent="0" marL="0">
              <a:buNone/>
            </a:pPr>
            <a:r>
              <a:rPr lang="en-US" sz="7200" b="1" dirty="0">
                <a:solidFill>
                  <a:srgbClr val="F5A623"/>
                </a:solidFill>
                <a:latin typeface="Cambria" pitchFamily="34" charset="0"/>
                <a:ea typeface="Cambria" pitchFamily="34" charset="-122"/>
                <a:cs typeface="Cambria" pitchFamily="34" charset="-120"/>
              </a:rPr>
              <a:t>₹12.5 Cr</a:t>
            </a:r>
            <a:endParaRPr lang="en-US" sz="7200" dirty="0"/>
          </a:p>
          <a:p>
            <a:pPr indent="0" marL="0">
              <a:buNone/>
            </a:pPr>
            <a:r>
              <a:rPr lang="en-US" sz="1600" dirty="0">
                <a:solidFill>
                  <a:srgbClr val="D7DDEA"/>
                </a:solidFill>
                <a:latin typeface="Calibri" pitchFamily="34" charset="0"/>
                <a:ea typeface="Calibri" pitchFamily="34" charset="-122"/>
                <a:cs typeface="Calibri" pitchFamily="34" charset="-120"/>
              </a:rPr>
              <a:t>of premiums a year from one delivery app covering 50,000 Mumbai riders on Kavach Plus (₹208 a rider a month)</a:t>
            </a:r>
            <a:endParaRPr lang="en-US" sz="7200" dirty="0"/>
          </a:p>
        </p:txBody>
      </p:sp>
      <p:sp>
        <p:nvSpPr>
          <p:cNvPr id="7" name="why"/>
          <p:cNvSpPr txBox="1"/>
          <p:nvPr/>
        </p:nvSpPr>
        <p:spPr>
          <a:xfrm>
            <a:off x="548640" y="4572000"/>
            <a:ext cx="4206240" cy="822960"/>
          </a:xfrm>
          <a:prstGeom prst="rect">
            <a:avLst/>
          </a:prstGeom>
          <a:noFill/>
          <a:ln/>
        </p:spPr>
        <p:txBody>
          <a:bodyPr wrap="square" lIns="0" tIns="0" rIns="0" bIns="0" rtlCol="0" anchor="ctr"/>
          <a:lstStyle/>
          <a:p>
            <a:pPr indent="0" marL="0">
              <a:buNone/>
            </a:pPr>
            <a:r>
              <a:rPr lang="en-US" sz="1300" dirty="0">
                <a:solidFill>
                  <a:srgbClr val="98A2C0"/>
                </a:solidFill>
                <a:latin typeface="Calibri" pitchFamily="34" charset="0"/>
                <a:ea typeface="Calibri" pitchFamily="34" charset="-122"/>
                <a:cs typeface="Calibri" pitchFamily="34" charset="-120"/>
              </a:rPr>
              <a:t>Premiums aren’t Jio’s revenue: a licensed insurer holds them. Jio keeps 15–25% as distribution and data fees, about ₹1.9–3.1 Cr here, and carries no insurance risk.</a:t>
            </a:r>
            <a:endParaRPr lang="en-US" sz="1300" dirty="0"/>
          </a:p>
        </p:txBody>
      </p:sp>
      <p:sp>
        <p:nvSpPr>
          <p:cNvPr id="8" name="col0"/>
          <p:cNvSpPr/>
          <p:nvPr/>
        </p:nvSpPr>
        <p:spPr>
          <a:xfrm>
            <a:off x="5577840" y="2148840"/>
            <a:ext cx="6035040" cy="1024128"/>
          </a:xfrm>
          <a:prstGeom prst="roundRect">
            <a:avLst>
              <a:gd name="adj" fmla="val 10714"/>
            </a:avLst>
          </a:prstGeom>
          <a:solidFill>
            <a:srgbClr val="141B36"/>
          </a:solidFill>
          <a:ln w="9525">
            <a:solidFill>
              <a:srgbClr val="2A3357"/>
            </a:solidFill>
            <a:prstDash val="solid"/>
          </a:ln>
        </p:spPr>
      </p:sp>
      <p:sp>
        <p:nvSpPr>
          <p:cNvPr id="9" name="colT0"/>
          <p:cNvSpPr txBox="1"/>
          <p:nvPr/>
        </p:nvSpPr>
        <p:spPr>
          <a:xfrm>
            <a:off x="5852160" y="2258568"/>
            <a:ext cx="5577840" cy="8229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Kavach Plus · first</a:t>
            </a:r>
            <a:endParaRPr lang="en-US" sz="1800" dirty="0"/>
          </a:p>
          <a:p>
            <a:pPr indent="0" marL="0">
              <a:buNone/>
            </a:pPr>
            <a:r>
              <a:rPr lang="en-US" sz="1350" dirty="0">
                <a:solidFill>
                  <a:srgbClr val="B9C2D8"/>
                </a:solidFill>
                <a:latin typeface="Calibri" pitchFamily="34" charset="0"/>
                <a:ea typeface="Calibri" pitchFamily="34" charset="-122"/>
                <a:cs typeface="Calibri" pitchFamily="34" charset="-120"/>
              </a:rPr>
              <a:t>Delivery apps buy it for riders: ₹208 a rider a month in Mumbai, any work-stopping day, up to 5 a year.</a:t>
            </a:r>
            <a:endParaRPr lang="en-US" sz="1800" dirty="0"/>
          </a:p>
        </p:txBody>
      </p:sp>
      <p:sp>
        <p:nvSpPr>
          <p:cNvPr id="10" name="col1"/>
          <p:cNvSpPr/>
          <p:nvPr/>
        </p:nvSpPr>
        <p:spPr>
          <a:xfrm>
            <a:off x="5577840" y="3355848"/>
            <a:ext cx="6035040" cy="1024128"/>
          </a:xfrm>
          <a:prstGeom prst="roundRect">
            <a:avLst>
              <a:gd name="adj" fmla="val 10714"/>
            </a:avLst>
          </a:prstGeom>
          <a:solidFill>
            <a:srgbClr val="141B36"/>
          </a:solidFill>
          <a:ln w="9525">
            <a:solidFill>
              <a:srgbClr val="2A3357"/>
            </a:solidFill>
            <a:prstDash val="solid"/>
          </a:ln>
        </p:spPr>
      </p:sp>
      <p:sp>
        <p:nvSpPr>
          <p:cNvPr id="11" name="colT1"/>
          <p:cNvSpPr txBox="1"/>
          <p:nvPr/>
        </p:nvSpPr>
        <p:spPr>
          <a:xfrm>
            <a:off x="5852160" y="3465576"/>
            <a:ext cx="5577840" cy="8229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Kavach Basic · phase 3</a:t>
            </a:r>
            <a:endParaRPr lang="en-US" sz="1800" dirty="0"/>
          </a:p>
          <a:p>
            <a:pPr indent="0" marL="0">
              <a:buNone/>
            </a:pPr>
            <a:r>
              <a:rPr lang="en-US" sz="1350" dirty="0">
                <a:solidFill>
                  <a:srgbClr val="B9C2D8"/>
                </a:solidFill>
                <a:latin typeface="Calibri" pitchFamily="34" charset="0"/>
                <a:ea typeface="Calibri" pitchFamily="34" charset="-122"/>
                <a:cs typeface="Calibri" pitchFamily="34" charset="-120"/>
              </a:rPr>
              <a:t>Individuals add it at recharge for ₹29–52 a month by city. 1% of Jio’s users = ₹174 Cr of premiums; Jio’s fees ₹26–44 Cr.</a:t>
            </a:r>
            <a:endParaRPr lang="en-US" sz="1800" dirty="0"/>
          </a:p>
        </p:txBody>
      </p:sp>
      <p:sp>
        <p:nvSpPr>
          <p:cNvPr id="12" name="col2"/>
          <p:cNvSpPr/>
          <p:nvPr/>
        </p:nvSpPr>
        <p:spPr>
          <a:xfrm>
            <a:off x="5577840" y="4562856"/>
            <a:ext cx="6035040" cy="1024128"/>
          </a:xfrm>
          <a:prstGeom prst="roundRect">
            <a:avLst>
              <a:gd name="adj" fmla="val 10714"/>
            </a:avLst>
          </a:prstGeom>
          <a:solidFill>
            <a:srgbClr val="141B36"/>
          </a:solidFill>
          <a:ln w="9525">
            <a:solidFill>
              <a:srgbClr val="2A3357"/>
            </a:solidFill>
            <a:prstDash val="solid"/>
          </a:ln>
        </p:spPr>
      </p:sp>
      <p:sp>
        <p:nvSpPr>
          <p:cNvPr id="13" name="colT2"/>
          <p:cNvSpPr txBox="1"/>
          <p:nvPr/>
        </p:nvSpPr>
        <p:spPr>
          <a:xfrm>
            <a:off x="5852160" y="4672584"/>
            <a:ext cx="5577840" cy="8229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Data + customer zero</a:t>
            </a:r>
            <a:endParaRPr lang="en-US" sz="1800" dirty="0"/>
          </a:p>
          <a:p>
            <a:pPr indent="0" marL="0">
              <a:buNone/>
            </a:pPr>
            <a:r>
              <a:rPr lang="en-US" sz="1350" dirty="0">
                <a:solidFill>
                  <a:srgbClr val="B9C2D8"/>
                </a:solidFill>
                <a:latin typeface="Calibri" pitchFamily="34" charset="0"/>
                <a:ea typeface="Calibri" pitchFamily="34" charset="-122"/>
                <a:cs typeface="Calibri" pitchFamily="34" charset="-120"/>
              </a:rPr>
              <a:t>Insurers and state disaster agencies license the map: revenue that is Jio’s own. JioMart, New Energy and Jio use it first.</a:t>
            </a:r>
            <a:endParaRPr lang="en-US" sz="1800" dirty="0"/>
          </a:p>
        </p:txBody>
      </p:sp>
      <p:sp>
        <p:nvSpPr>
          <p:cNvPr id="14" name="source"/>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6F7AA0"/>
                </a:solidFill>
                <a:latin typeface="Calibri" pitchFamily="34" charset="0"/>
                <a:ea typeface="Calibri" pitchFamily="34" charset="-122"/>
                <a:cs typeface="Calibri" pitchFamily="34" charset="-120"/>
              </a:rPr>
              <a:t>Illustrative. A licensed insurer underwrites through Jio Financial Services’ partners; Jio earns distribution and data fees and carries no insurance risk.</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53" presetClass="entr" presetSubtype="16" fill="hold" grpId="0" nodeType="afterEffect">
                                  <p:stCondLst>
                                    <p:cond delay="100"/>
                                  </p:stCondLst>
                                  <p:childTnLst>
                                    <p:set>
                                      <p:cBhvr>
                                        <p:cTn id="14" dur="1" fill="hold">
                                          <p:stCondLst>
                                            <p:cond delay="0"/>
                                          </p:stCondLst>
                                        </p:cTn>
                                        <p:tgtEl>
                                          <p:spTgt spid="6"/>
                                        </p:tgtEl>
                                        <p:attrNameLst>
                                          <p:attrName>style.visibility</p:attrName>
                                        </p:attrNameLst>
                                      </p:cBhvr>
                                      <p:to>
                                        <p:strVal val="visible"/>
                                      </p:to>
                                    </p:set>
                                    <p:anim calcmode="lin" valueType="num">
                                      <p:cBhvr>
                                        <p:cTn id="15" dur="900" fill="hold"/>
                                        <p:tgtEl>
                                          <p:spTgt spid="6"/>
                                        </p:tgtEl>
                                        <p:attrNameLst>
                                          <p:attrName>ppt_w</p:attrName>
                                        </p:attrNameLst>
                                      </p:cBhvr>
                                      <p:tavLst>
                                        <p:tav tm="0">
                                          <p:val>
                                            <p:strVal val="#ppt_w*.82"/>
                                          </p:val>
                                        </p:tav>
                                        <p:tav tm="100000">
                                          <p:val>
                                            <p:strVal val="#ppt_w"/>
                                          </p:val>
                                        </p:tav>
                                      </p:tavLst>
                                    </p:anim>
                                    <p:anim calcmode="lin" valueType="num">
                                      <p:cBhvr>
                                        <p:cTn id="16" dur="900" fill="hold"/>
                                        <p:tgtEl>
                                          <p:spTgt spid="6"/>
                                        </p:tgtEl>
                                        <p:attrNameLst>
                                          <p:attrName>ppt_h</p:attrName>
                                        </p:attrNameLst>
                                      </p:cBhvr>
                                      <p:tavLst>
                                        <p:tav tm="0">
                                          <p:val>
                                            <p:strVal val="#ppt_h*.82"/>
                                          </p:val>
                                        </p:tav>
                                        <p:tav tm="100000">
                                          <p:val>
                                            <p:strVal val="#ppt_h"/>
                                          </p:val>
                                        </p:tav>
                                      </p:tavLst>
                                    </p:anim>
                                    <p:animEffect transition="in" filter="fade">
                                      <p:cBhvr>
                                        <p:cTn id="17" dur="900"/>
                                        <p:tgtEl>
                                          <p:spTgt spid="6"/>
                                        </p:tgtEl>
                                      </p:cBhvr>
                                    </p:animEffect>
                                  </p:childTnLst>
                                </p:cTn>
                              </p:par>
                            </p:childTnLst>
                          </p:cTn>
                        </p:par>
                        <p:par>
                          <p:cTn id="18" fill="hold">
                            <p:stCondLst>
                              <p:cond delay="1920"/>
                            </p:stCondLst>
                            <p:childTnLst>
                              <p:par>
                                <p:cTn id="19" presetID="10" presetClass="entr" presetSubtype="0" fill="hold" grpId="0" nodeType="afterEffect">
                                  <p:stCondLst>
                                    <p:cond delay="1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childTnLst>
                                </p:cTn>
                              </p:par>
                            </p:childTnLst>
                          </p:cTn>
                        </p:par>
                        <p:par>
                          <p:cTn id="22" fill="hold">
                            <p:stCondLst>
                              <p:cond delay="2620"/>
                            </p:stCondLst>
                            <p:childTnLst>
                              <p:par>
                                <p:cTn id="23" presetID="42"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anim calcmode="lin" valueType="num">
                                      <p:cBhvr>
                                        <p:cTn id="26" dur="600" fill="hold"/>
                                        <p:tgtEl>
                                          <p:spTgt spid="8"/>
                                        </p:tgtEl>
                                        <p:attrNameLst>
                                          <p:attrName>ppt_x</p:attrName>
                                        </p:attrNameLst>
                                      </p:cBhvr>
                                      <p:tavLst>
                                        <p:tav tm="0">
                                          <p:val>
                                            <p:strVal val="#ppt_x"/>
                                          </p:val>
                                        </p:tav>
                                        <p:tav tm="100000">
                                          <p:val>
                                            <p:strVal val="#ppt_x"/>
                                          </p:val>
                                        </p:tav>
                                      </p:tavLst>
                                    </p:anim>
                                    <p:anim calcmode="lin" valueType="num">
                                      <p:cBhvr>
                                        <p:cTn id="27" dur="600" fill="hold"/>
                                        <p:tgtEl>
                                          <p:spTgt spid="8"/>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anim calcmode="lin" valueType="num">
                                      <p:cBhvr>
                                        <p:cTn id="31" dur="600" fill="hold"/>
                                        <p:tgtEl>
                                          <p:spTgt spid="9"/>
                                        </p:tgtEl>
                                        <p:attrNameLst>
                                          <p:attrName>ppt_x</p:attrName>
                                        </p:attrNameLst>
                                      </p:cBhvr>
                                      <p:tavLst>
                                        <p:tav tm="0">
                                          <p:val>
                                            <p:strVal val="#ppt_x"/>
                                          </p:val>
                                        </p:tav>
                                        <p:tav tm="100000">
                                          <p:val>
                                            <p:strVal val="#ppt_x"/>
                                          </p:val>
                                        </p:tav>
                                      </p:tavLst>
                                    </p:anim>
                                    <p:anim calcmode="lin" valueType="num">
                                      <p:cBhvr>
                                        <p:cTn id="32" dur="600" fill="hold"/>
                                        <p:tgtEl>
                                          <p:spTgt spid="9"/>
                                        </p:tgtEl>
                                        <p:attrNameLst>
                                          <p:attrName>ppt_y</p:attrName>
                                        </p:attrNameLst>
                                      </p:cBhvr>
                                      <p:tavLst>
                                        <p:tav tm="0">
                                          <p:val>
                                            <p:strVal val="#ppt_y+.06"/>
                                          </p:val>
                                        </p:tav>
                                        <p:tav tm="100000">
                                          <p:val>
                                            <p:strVal val="#ppt_y"/>
                                          </p:val>
                                        </p:tav>
                                      </p:tavLst>
                                    </p:anim>
                                  </p:childTnLst>
                                </p:cTn>
                              </p:par>
                            </p:childTnLst>
                          </p:cTn>
                        </p:par>
                        <p:par>
                          <p:cTn id="33" fill="hold">
                            <p:stCondLst>
                              <p:cond delay="3220"/>
                            </p:stCondLst>
                            <p:childTnLst>
                              <p:par>
                                <p:cTn id="34" presetID="42"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600"/>
                                        <p:tgtEl>
                                          <p:spTgt spid="10"/>
                                        </p:tgtEl>
                                      </p:cBhvr>
                                    </p:animEffect>
                                    <p:anim calcmode="lin" valueType="num">
                                      <p:cBhvr>
                                        <p:cTn id="37" dur="600" fill="hold"/>
                                        <p:tgtEl>
                                          <p:spTgt spid="10"/>
                                        </p:tgtEl>
                                        <p:attrNameLst>
                                          <p:attrName>ppt_x</p:attrName>
                                        </p:attrNameLst>
                                      </p:cBhvr>
                                      <p:tavLst>
                                        <p:tav tm="0">
                                          <p:val>
                                            <p:strVal val="#ppt_x"/>
                                          </p:val>
                                        </p:tav>
                                        <p:tav tm="100000">
                                          <p:val>
                                            <p:strVal val="#ppt_x"/>
                                          </p:val>
                                        </p:tav>
                                      </p:tavLst>
                                    </p:anim>
                                    <p:anim calcmode="lin" valueType="num">
                                      <p:cBhvr>
                                        <p:cTn id="38" dur="600" fill="hold"/>
                                        <p:tgtEl>
                                          <p:spTgt spid="10"/>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p:cTn id="42" dur="600" fill="hold"/>
                                        <p:tgtEl>
                                          <p:spTgt spid="11"/>
                                        </p:tgtEl>
                                        <p:attrNameLst>
                                          <p:attrName>ppt_x</p:attrName>
                                        </p:attrNameLst>
                                      </p:cBhvr>
                                      <p:tavLst>
                                        <p:tav tm="0">
                                          <p:val>
                                            <p:strVal val="#ppt_x"/>
                                          </p:val>
                                        </p:tav>
                                        <p:tav tm="100000">
                                          <p:val>
                                            <p:strVal val="#ppt_x"/>
                                          </p:val>
                                        </p:tav>
                                      </p:tavLst>
                                    </p:anim>
                                    <p:anim calcmode="lin" valueType="num">
                                      <p:cBhvr>
                                        <p:cTn id="43" dur="600" fill="hold"/>
                                        <p:tgtEl>
                                          <p:spTgt spid="11"/>
                                        </p:tgtEl>
                                        <p:attrNameLst>
                                          <p:attrName>ppt_y</p:attrName>
                                        </p:attrNameLst>
                                      </p:cBhvr>
                                      <p:tavLst>
                                        <p:tav tm="0">
                                          <p:val>
                                            <p:strVal val="#ppt_y+.06"/>
                                          </p:val>
                                        </p:tav>
                                        <p:tav tm="100000">
                                          <p:val>
                                            <p:strVal val="#ppt_y"/>
                                          </p:val>
                                        </p:tav>
                                      </p:tavLst>
                                    </p:anim>
                                  </p:childTnLst>
                                </p:cTn>
                              </p:par>
                            </p:childTnLst>
                          </p:cTn>
                        </p:par>
                        <p:par>
                          <p:cTn id="44" fill="hold">
                            <p:stCondLst>
                              <p:cond delay="3820"/>
                            </p:stCondLst>
                            <p:childTnLst>
                              <p:par>
                                <p:cTn id="45" presetID="42"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anim calcmode="lin" valueType="num">
                                      <p:cBhvr>
                                        <p:cTn id="48" dur="600" fill="hold"/>
                                        <p:tgtEl>
                                          <p:spTgt spid="12"/>
                                        </p:tgtEl>
                                        <p:attrNameLst>
                                          <p:attrName>ppt_x</p:attrName>
                                        </p:attrNameLst>
                                      </p:cBhvr>
                                      <p:tavLst>
                                        <p:tav tm="0">
                                          <p:val>
                                            <p:strVal val="#ppt_x"/>
                                          </p:val>
                                        </p:tav>
                                        <p:tav tm="100000">
                                          <p:val>
                                            <p:strVal val="#ppt_x"/>
                                          </p:val>
                                        </p:tav>
                                      </p:tavLst>
                                    </p:anim>
                                    <p:anim calcmode="lin" valueType="num">
                                      <p:cBhvr>
                                        <p:cTn id="49" dur="600" fill="hold"/>
                                        <p:tgtEl>
                                          <p:spTgt spid="12"/>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anim calcmode="lin" valueType="num">
                                      <p:cBhvr>
                                        <p:cTn id="53" dur="600" fill="hold"/>
                                        <p:tgtEl>
                                          <p:spTgt spid="13"/>
                                        </p:tgtEl>
                                        <p:attrNameLst>
                                          <p:attrName>ppt_x</p:attrName>
                                        </p:attrNameLst>
                                      </p:cBhvr>
                                      <p:tavLst>
                                        <p:tav tm="0">
                                          <p:val>
                                            <p:strVal val="#ppt_x"/>
                                          </p:val>
                                        </p:tav>
                                        <p:tav tm="100000">
                                          <p:val>
                                            <p:strVal val="#ppt_x"/>
                                          </p:val>
                                        </p:tav>
                                      </p:tavLst>
                                    </p:anim>
                                    <p:anim calcmode="lin" valueType="num">
                                      <p:cBhvr>
                                        <p:cTn id="54" dur="600" fill="hold"/>
                                        <p:tgtEl>
                                          <p:spTgt spid="13"/>
                                        </p:tgtEl>
                                        <p:attrNameLst>
                                          <p:attrName>ppt_y</p:attrName>
                                        </p:attrNameLst>
                                      </p:cBhvr>
                                      <p:tavLst>
                                        <p:tav tm="0">
                                          <p:val>
                                            <p:strVal val="#ppt_y+.06"/>
                                          </p:val>
                                        </p:tav>
                                        <p:tav tm="100000">
                                          <p:val>
                                            <p:strVal val="#ppt_y"/>
                                          </p:val>
                                        </p:tav>
                                      </p:tavLst>
                                    </p:anim>
                                  </p:childTnLst>
                                </p:cTn>
                              </p:par>
                              <p:par>
                                <p:cTn id="55" presetID="10"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animBg="1"/>
      <p:bldP spid="9" grpId="0"/>
      <p:bldP spid="10" grpId="0" animBg="1"/>
      <p:bldP spid="11" grpId="0"/>
      <p:bldP spid="12" grpId="0" animBg="1"/>
      <p:bldP spid="13"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WHY RELIANCE, AND OUR ASK</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Only Reliance holds every layer.</a:t>
            </a:r>
            <a:endParaRPr lang="en-US" sz="3400" dirty="0"/>
          </a:p>
        </p:txBody>
      </p:sp>
      <p:sp>
        <p:nvSpPr>
          <p:cNvPr id="6" name="layer0"/>
          <p:cNvSpPr txBox="1"/>
          <p:nvPr/>
        </p:nvSpPr>
        <p:spPr>
          <a:xfrm>
            <a:off x="548640" y="2103120"/>
            <a:ext cx="5486400" cy="566928"/>
          </a:xfrm>
          <a:prstGeom prst="rect">
            <a:avLst/>
          </a:prstGeom>
          <a:noFill/>
          <a:ln/>
        </p:spPr>
        <p:txBody>
          <a:bodyPr wrap="square" lIns="0" tIns="0" rIns="0" bIns="0" rtlCol="0" anchor="ctr"/>
          <a:lstStyle/>
          <a:p>
            <a:pPr indent="0" marL="0">
              <a:buNone/>
            </a:pPr>
            <a:r>
              <a:rPr lang="en-US" sz="1900" b="1" dirty="0">
                <a:solidFill>
                  <a:srgbClr val="F5A623"/>
                </a:solidFill>
                <a:latin typeface="Cambria" pitchFamily="34" charset="0"/>
                <a:ea typeface="Cambria" pitchFamily="34" charset="-122"/>
                <a:cs typeface="Cambria" pitchFamily="34" charset="-120"/>
              </a:rPr>
              <a:t>Sense   </a:t>
            </a:r>
            <a:pPr indent="0" marL="0">
              <a:buNone/>
            </a:pPr>
            <a:r>
              <a:rPr lang="en-US" sz="1600" dirty="0">
                <a:solidFill>
                  <a:srgbClr val="EEF1F7"/>
                </a:solidFill>
                <a:latin typeface="Calibri" pitchFamily="34" charset="0"/>
                <a:ea typeface="Calibri" pitchFamily="34" charset="-122"/>
                <a:cs typeface="Calibri" pitchFamily="34" charset="-120"/>
              </a:rPr>
              <a:t>Jio network, lakhs of sites</a:t>
            </a:r>
            <a:endParaRPr lang="en-US" sz="1900" dirty="0"/>
          </a:p>
        </p:txBody>
      </p:sp>
      <p:sp>
        <p:nvSpPr>
          <p:cNvPr id="7" name="layer1"/>
          <p:cNvSpPr txBox="1"/>
          <p:nvPr/>
        </p:nvSpPr>
        <p:spPr>
          <a:xfrm>
            <a:off x="548640" y="2816352"/>
            <a:ext cx="5486400" cy="566928"/>
          </a:xfrm>
          <a:prstGeom prst="rect">
            <a:avLst/>
          </a:prstGeom>
          <a:noFill/>
          <a:ln/>
        </p:spPr>
        <p:txBody>
          <a:bodyPr wrap="square" lIns="0" tIns="0" rIns="0" bIns="0" rtlCol="0" anchor="ctr"/>
          <a:lstStyle/>
          <a:p>
            <a:pPr indent="0" marL="0">
              <a:buNone/>
            </a:pPr>
            <a:r>
              <a:rPr lang="en-US" sz="1900" b="1" dirty="0">
                <a:solidFill>
                  <a:srgbClr val="F5A623"/>
                </a:solidFill>
                <a:latin typeface="Cambria" pitchFamily="34" charset="0"/>
                <a:ea typeface="Cambria" pitchFamily="34" charset="-122"/>
                <a:cs typeface="Cambria" pitchFamily="34" charset="-120"/>
              </a:rPr>
              <a:t>Reach   </a:t>
            </a:r>
            <a:pPr indent="0" marL="0">
              <a:buNone/>
            </a:pPr>
            <a:r>
              <a:rPr lang="en-US" sz="1600" dirty="0">
                <a:solidFill>
                  <a:srgbClr val="EEF1F7"/>
                </a:solidFill>
                <a:latin typeface="Calibri" pitchFamily="34" charset="0"/>
                <a:ea typeface="Calibri" pitchFamily="34" charset="-122"/>
                <a:cs typeface="Calibri" pitchFamily="34" charset="-120"/>
              </a:rPr>
              <a:t>500M+ users who recharge</a:t>
            </a:r>
            <a:endParaRPr lang="en-US" sz="1900" dirty="0"/>
          </a:p>
        </p:txBody>
      </p:sp>
      <p:sp>
        <p:nvSpPr>
          <p:cNvPr id="8" name="layer2"/>
          <p:cNvSpPr txBox="1"/>
          <p:nvPr/>
        </p:nvSpPr>
        <p:spPr>
          <a:xfrm>
            <a:off x="548640" y="3529584"/>
            <a:ext cx="5486400" cy="566928"/>
          </a:xfrm>
          <a:prstGeom prst="rect">
            <a:avLst/>
          </a:prstGeom>
          <a:noFill/>
          <a:ln/>
        </p:spPr>
        <p:txBody>
          <a:bodyPr wrap="square" lIns="0" tIns="0" rIns="0" bIns="0" rtlCol="0" anchor="ctr"/>
          <a:lstStyle/>
          <a:p>
            <a:pPr indent="0" marL="0">
              <a:buNone/>
            </a:pPr>
            <a:r>
              <a:rPr lang="en-US" sz="1900" b="1" dirty="0">
                <a:solidFill>
                  <a:srgbClr val="F5A623"/>
                </a:solidFill>
                <a:latin typeface="Cambria" pitchFamily="34" charset="0"/>
                <a:ea typeface="Cambria" pitchFamily="34" charset="-122"/>
                <a:cs typeface="Cambria" pitchFamily="34" charset="-120"/>
              </a:rPr>
              <a:t>Pay   </a:t>
            </a:r>
            <a:pPr indent="0" marL="0">
              <a:buNone/>
            </a:pPr>
            <a:r>
              <a:rPr lang="en-US" sz="1600" dirty="0">
                <a:solidFill>
                  <a:srgbClr val="EEF1F7"/>
                </a:solidFill>
                <a:latin typeface="Calibri" pitchFamily="34" charset="0"/>
                <a:ea typeface="Calibri" pitchFamily="34" charset="-122"/>
                <a:cs typeface="Calibri" pitchFamily="34" charset="-120"/>
              </a:rPr>
              <a:t>JioPay and JioFinance</a:t>
            </a:r>
            <a:endParaRPr lang="en-US" sz="1900" dirty="0"/>
          </a:p>
        </p:txBody>
      </p:sp>
      <p:sp>
        <p:nvSpPr>
          <p:cNvPr id="9" name="layer3"/>
          <p:cNvSpPr txBox="1"/>
          <p:nvPr/>
        </p:nvSpPr>
        <p:spPr>
          <a:xfrm>
            <a:off x="548640" y="4242816"/>
            <a:ext cx="5486400" cy="566928"/>
          </a:xfrm>
          <a:prstGeom prst="rect">
            <a:avLst/>
          </a:prstGeom>
          <a:noFill/>
          <a:ln/>
        </p:spPr>
        <p:txBody>
          <a:bodyPr wrap="square" lIns="0" tIns="0" rIns="0" bIns="0" rtlCol="0" anchor="ctr"/>
          <a:lstStyle/>
          <a:p>
            <a:pPr indent="0" marL="0">
              <a:buNone/>
            </a:pPr>
            <a:r>
              <a:rPr lang="en-US" sz="1900" b="1" dirty="0">
                <a:solidFill>
                  <a:srgbClr val="F5A623"/>
                </a:solidFill>
                <a:latin typeface="Cambria" pitchFamily="34" charset="0"/>
                <a:ea typeface="Cambria" pitchFamily="34" charset="-122"/>
                <a:cs typeface="Cambria" pitchFamily="34" charset="-120"/>
              </a:rPr>
              <a:t>Insure   </a:t>
            </a:r>
            <a:pPr indent="0" marL="0">
              <a:buNone/>
            </a:pPr>
            <a:r>
              <a:rPr lang="en-US" sz="1600" dirty="0">
                <a:solidFill>
                  <a:srgbClr val="EEF1F7"/>
                </a:solidFill>
                <a:latin typeface="Calibri" pitchFamily="34" charset="0"/>
                <a:ea typeface="Calibri" pitchFamily="34" charset="-122"/>
                <a:cs typeface="Calibri" pitchFamily="34" charset="-120"/>
              </a:rPr>
              <a:t>Jio Financial Services partners</a:t>
            </a:r>
            <a:endParaRPr lang="en-US" sz="1900" dirty="0"/>
          </a:p>
        </p:txBody>
      </p:sp>
      <p:sp>
        <p:nvSpPr>
          <p:cNvPr id="10" name="layer4"/>
          <p:cNvSpPr txBox="1"/>
          <p:nvPr/>
        </p:nvSpPr>
        <p:spPr>
          <a:xfrm>
            <a:off x="548640" y="4956048"/>
            <a:ext cx="5486400" cy="566928"/>
          </a:xfrm>
          <a:prstGeom prst="rect">
            <a:avLst/>
          </a:prstGeom>
          <a:noFill/>
          <a:ln/>
        </p:spPr>
        <p:txBody>
          <a:bodyPr wrap="square" lIns="0" tIns="0" rIns="0" bIns="0" rtlCol="0" anchor="ctr"/>
          <a:lstStyle/>
          <a:p>
            <a:pPr indent="0" marL="0">
              <a:buNone/>
            </a:pPr>
            <a:r>
              <a:rPr lang="en-US" sz="1900" b="1" dirty="0">
                <a:solidFill>
                  <a:srgbClr val="F5A623"/>
                </a:solidFill>
                <a:latin typeface="Cambria" pitchFamily="34" charset="0"/>
                <a:ea typeface="Cambria" pitchFamily="34" charset="-122"/>
                <a:cs typeface="Cambria" pitchFamily="34" charset="-120"/>
              </a:rPr>
              <a:t>Use   </a:t>
            </a:r>
            <a:pPr indent="0" marL="0">
              <a:buNone/>
            </a:pPr>
            <a:r>
              <a:rPr lang="en-US" sz="1600" dirty="0">
                <a:solidFill>
                  <a:srgbClr val="EEF1F7"/>
                </a:solidFill>
                <a:latin typeface="Calibri" pitchFamily="34" charset="0"/>
                <a:ea typeface="Calibri" pitchFamily="34" charset="-122"/>
                <a:cs typeface="Calibri" pitchFamily="34" charset="-120"/>
              </a:rPr>
              <a:t>JioMart, New Energy, Jio</a:t>
            </a:r>
            <a:endParaRPr lang="en-US" sz="1900" dirty="0"/>
          </a:p>
        </p:txBody>
      </p:sp>
      <p:sp>
        <p:nvSpPr>
          <p:cNvPr id="11" name="askBox"/>
          <p:cNvSpPr/>
          <p:nvPr/>
        </p:nvSpPr>
        <p:spPr>
          <a:xfrm>
            <a:off x="6492240" y="2103120"/>
            <a:ext cx="5148072" cy="3886200"/>
          </a:xfrm>
          <a:prstGeom prst="roundRect">
            <a:avLst>
              <a:gd name="adj" fmla="val 3294"/>
            </a:avLst>
          </a:prstGeom>
          <a:solidFill>
            <a:srgbClr val="F5A623"/>
          </a:solidFill>
          <a:ln w="12700">
            <a:solidFill>
              <a:srgbClr val="F5A623"/>
            </a:solidFill>
            <a:prstDash val="solid"/>
          </a:ln>
        </p:spPr>
      </p:sp>
      <p:sp>
        <p:nvSpPr>
          <p:cNvPr id="12" name="askText"/>
          <p:cNvSpPr txBox="1"/>
          <p:nvPr/>
        </p:nvSpPr>
        <p:spPr>
          <a:xfrm>
            <a:off x="6766560" y="2331720"/>
            <a:ext cx="4617720" cy="3474720"/>
          </a:xfrm>
          <a:prstGeom prst="rect">
            <a:avLst/>
          </a:prstGeom>
          <a:noFill/>
          <a:ln/>
        </p:spPr>
        <p:txBody>
          <a:bodyPr wrap="square" lIns="0" tIns="0" rIns="0" bIns="0" rtlCol="0" anchor="t"/>
          <a:lstStyle/>
          <a:p>
            <a:pPr indent="0" marL="0">
              <a:spcAft>
                <a:spcPts val="400"/>
              </a:spcAft>
              <a:buNone/>
            </a:pPr>
            <a:r>
              <a:rPr lang="en-US" sz="2200" b="1" dirty="0">
                <a:solidFill>
                  <a:srgbClr val="1A1200"/>
                </a:solidFill>
                <a:latin typeface="Cambria" pitchFamily="34" charset="0"/>
                <a:ea typeface="Cambria" pitchFamily="34" charset="-122"/>
                <a:cs typeface="Cambria" pitchFamily="34" charset="-120"/>
              </a:rPr>
              <a:t>The ask: a 90-day coverage audit</a:t>
            </a:r>
            <a:endParaRPr lang="en-US" sz="2200" dirty="0"/>
          </a:p>
          <a:p>
            <a:pPr indent="0" marL="0">
              <a:spcAft>
                <a:spcPts val="400"/>
              </a:spcAft>
              <a:buNone/>
            </a:pPr>
            <a:r>
              <a:rPr lang="en-US" sz="1500" dirty="0">
                <a:solidFill>
                  <a:srgbClr val="1A1200"/>
                </a:solidFill>
                <a:latin typeface="Calibri" pitchFamily="34" charset="0"/>
                <a:ea typeface="Calibri" pitchFamily="34" charset="-122"/>
                <a:cs typeface="Calibri" pitchFamily="34" charset="-120"/>
              </a:rPr>
              <a:t>Mumbai monsoon: rain, riders, one delivery app. Payouts in shadow mode, so no money moves yet.</a:t>
            </a:r>
            <a:endParaRPr lang="en-US" sz="2200" dirty="0"/>
          </a:p>
          <a:p>
            <a:pPr indent="0" marL="0">
              <a:spcAft>
                <a:spcPts val="400"/>
              </a:spcAft>
              <a:buNone/>
            </a:pPr>
            <a:r>
              <a:rPr lang="en-US" sz="600" dirty="0">
                <a:solidFill>
                  <a:srgbClr val="000000"/>
                </a:solidFill>
              </a:rPr>
              <a:t> </a:t>
            </a:r>
            <a:endParaRPr lang="en-US" sz="2200" dirty="0"/>
          </a:p>
          <a:p>
            <a:pPr marL="342900" indent="-342900">
              <a:spcAft>
                <a:spcPts val="400"/>
              </a:spcAft>
              <a:buSzPct val="100000"/>
              <a:buChar char="•"/>
            </a:pPr>
            <a:r>
              <a:rPr lang="en-US" sz="1450" dirty="0">
                <a:solidFill>
                  <a:srgbClr val="1A1200"/>
                </a:solidFill>
                <a:latin typeface="Calibri" pitchFamily="34" charset="0"/>
                <a:ea typeface="Calibri" pitchFamily="34" charset="-122"/>
                <a:cs typeface="Calibri" pitchFamily="34" charset="-120"/>
              </a:rPr>
              <a:t>Jio link logs for Mumbai</a:t>
            </a:r>
            <a:endParaRPr lang="en-US" sz="2200" dirty="0"/>
          </a:p>
          <a:p>
            <a:pPr marL="342900" indent="-342900">
              <a:spcAft>
                <a:spcPts val="400"/>
              </a:spcAft>
              <a:buSzPct val="100000"/>
              <a:buChar char="•"/>
            </a:pPr>
            <a:r>
              <a:rPr lang="en-US" sz="1450" dirty="0">
                <a:solidFill>
                  <a:srgbClr val="1A1200"/>
                </a:solidFill>
                <a:latin typeface="Calibri" pitchFamily="34" charset="0"/>
                <a:ea typeface="Calibri" pitchFamily="34" charset="-122"/>
                <a:cs typeface="Calibri" pitchFamily="34" charset="-120"/>
              </a:rPr>
              <a:t>One JFS insurance partner and one delivery app</a:t>
            </a:r>
            <a:endParaRPr lang="en-US" sz="2200" dirty="0"/>
          </a:p>
          <a:p>
            <a:pPr marL="342900" indent="-342900">
              <a:spcAft>
                <a:spcPts val="400"/>
              </a:spcAft>
              <a:buSzPct val="100000"/>
              <a:buChar char="•"/>
            </a:pPr>
            <a:r>
              <a:rPr lang="en-US" sz="1450" dirty="0">
                <a:solidFill>
                  <a:srgbClr val="1A1200"/>
                </a:solidFill>
                <a:latin typeface="Calibri" pitchFamily="34" charset="0"/>
                <a:ea typeface="Calibri" pitchFamily="34" charset="-122"/>
                <a:cs typeface="Calibri" pitchFamily="34" charset="-120"/>
              </a:rPr>
              <a:t>A five-person team. No new hardware.</a:t>
            </a:r>
            <a:endParaRPr lang="en-US" sz="2200" dirty="0"/>
          </a:p>
          <a:p>
            <a:pPr indent="0" marL="0">
              <a:spcAft>
                <a:spcPts val="400"/>
              </a:spcAft>
              <a:buNone/>
            </a:pPr>
            <a:r>
              <a:rPr lang="en-US" sz="600" dirty="0">
                <a:solidFill>
                  <a:srgbClr val="000000"/>
                </a:solidFill>
              </a:rPr>
              <a:t> </a:t>
            </a:r>
            <a:endParaRPr lang="en-US" sz="2200" dirty="0"/>
          </a:p>
          <a:p>
            <a:pPr indent="0" marL="0">
              <a:spcAft>
                <a:spcPts val="400"/>
              </a:spcAft>
              <a:buNone/>
            </a:pPr>
            <a:r>
              <a:rPr lang="en-US" sz="1300" i="1" dirty="0">
                <a:solidFill>
                  <a:srgbClr val="3A2A00"/>
                </a:solidFill>
                <a:latin typeface="Calibri" pitchFamily="34" charset="0"/>
                <a:ea typeface="Calibri" pitchFamily="34" charset="-122"/>
                <a:cs typeface="Calibri" pitchFamily="34" charset="-120"/>
              </a:rPr>
              <a:t>Success: r ≥ 0.8 against IMD gauges, 80% of heavy-rain events caught, money in wallets within 6 hours.</a:t>
            </a:r>
            <a:endParaRPr lang="en-US" sz="22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1"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22" presetClass="entr" presetSubtype="8" fill="hold" grpId="0" nodeType="afterEffect">
                                  <p:stCondLst>
                                    <p:cond delay="6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450"/>
                                        <p:tgtEl>
                                          <p:spTgt spid="6"/>
                                        </p:tgtEl>
                                      </p:cBhvr>
                                    </p:animEffect>
                                  </p:childTnLst>
                                </p:cTn>
                              </p:par>
                            </p:childTnLst>
                          </p:cTn>
                        </p:par>
                        <p:par>
                          <p:cTn id="16" fill="hold">
                            <p:stCondLst>
                              <p:cond delay="1430"/>
                            </p:stCondLst>
                            <p:childTnLst>
                              <p:par>
                                <p:cTn id="17" presetID="22" presetClass="entr" presetSubtype="8" fill="hold" grpId="0" nodeType="afterEffect">
                                  <p:stCondLst>
                                    <p:cond delay="6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450"/>
                                        <p:tgtEl>
                                          <p:spTgt spid="7"/>
                                        </p:tgtEl>
                                      </p:cBhvr>
                                    </p:animEffect>
                                  </p:childTnLst>
                                </p:cTn>
                              </p:par>
                            </p:childTnLst>
                          </p:cTn>
                        </p:par>
                        <p:par>
                          <p:cTn id="20" fill="hold">
                            <p:stCondLst>
                              <p:cond delay="1940"/>
                            </p:stCondLst>
                            <p:childTnLst>
                              <p:par>
                                <p:cTn id="21" presetID="22" presetClass="entr" presetSubtype="8" fill="hold" grpId="0" nodeType="afterEffect">
                                  <p:stCondLst>
                                    <p:cond delay="6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450"/>
                                        <p:tgtEl>
                                          <p:spTgt spid="8"/>
                                        </p:tgtEl>
                                      </p:cBhvr>
                                    </p:animEffect>
                                  </p:childTnLst>
                                </p:cTn>
                              </p:par>
                            </p:childTnLst>
                          </p:cTn>
                        </p:par>
                        <p:par>
                          <p:cTn id="24" fill="hold">
                            <p:stCondLst>
                              <p:cond delay="2450"/>
                            </p:stCondLst>
                            <p:childTnLst>
                              <p:par>
                                <p:cTn id="25" presetID="22" presetClass="entr" presetSubtype="8" fill="hold" grpId="0" nodeType="afterEffect">
                                  <p:stCondLst>
                                    <p:cond delay="6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450"/>
                                        <p:tgtEl>
                                          <p:spTgt spid="9"/>
                                        </p:tgtEl>
                                      </p:cBhvr>
                                    </p:animEffect>
                                  </p:childTnLst>
                                </p:cTn>
                              </p:par>
                            </p:childTnLst>
                          </p:cTn>
                        </p:par>
                        <p:par>
                          <p:cTn id="28" fill="hold">
                            <p:stCondLst>
                              <p:cond delay="2960"/>
                            </p:stCondLst>
                            <p:childTnLst>
                              <p:par>
                                <p:cTn id="29" presetID="22" presetClass="entr" presetSubtype="8" fill="hold" grpId="0" nodeType="afterEffect">
                                  <p:stCondLst>
                                    <p:cond delay="6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450"/>
                                        <p:tgtEl>
                                          <p:spTgt spid="10"/>
                                        </p:tgtEl>
                                      </p:cBhvr>
                                    </p:animEffect>
                                  </p:childTnLst>
                                </p:cTn>
                              </p:par>
                            </p:childTnLst>
                          </p:cTn>
                        </p:par>
                        <p:par>
                          <p:cTn id="32" fill="hold">
                            <p:stCondLst>
                              <p:cond delay="3470"/>
                            </p:stCondLst>
                            <p:childTnLst>
                              <p:par>
                                <p:cTn id="33" presetID="53" presetClass="entr" presetSubtype="16" fill="hold" grpId="0" nodeType="afterEffect">
                                  <p:stCondLst>
                                    <p:cond delay="150"/>
                                  </p:stCondLst>
                                  <p:childTnLst>
                                    <p:set>
                                      <p:cBhvr>
                                        <p:cTn id="34" dur="1" fill="hold">
                                          <p:stCondLst>
                                            <p:cond delay="0"/>
                                          </p:stCondLst>
                                        </p:cTn>
                                        <p:tgtEl>
                                          <p:spTgt spid="11"/>
                                        </p:tgtEl>
                                        <p:attrNameLst>
                                          <p:attrName>style.visibility</p:attrName>
                                        </p:attrNameLst>
                                      </p:cBhvr>
                                      <p:to>
                                        <p:strVal val="visible"/>
                                      </p:to>
                                    </p:set>
                                    <p:anim calcmode="lin" valueType="num">
                                      <p:cBhvr>
                                        <p:cTn id="35" dur="700" fill="hold"/>
                                        <p:tgtEl>
                                          <p:spTgt spid="11"/>
                                        </p:tgtEl>
                                        <p:attrNameLst>
                                          <p:attrName>ppt_w</p:attrName>
                                        </p:attrNameLst>
                                      </p:cBhvr>
                                      <p:tavLst>
                                        <p:tav tm="0">
                                          <p:val>
                                            <p:strVal val="#ppt_w*.82"/>
                                          </p:val>
                                        </p:tav>
                                        <p:tav tm="100000">
                                          <p:val>
                                            <p:strVal val="#ppt_w"/>
                                          </p:val>
                                        </p:tav>
                                      </p:tavLst>
                                    </p:anim>
                                    <p:anim calcmode="lin" valueType="num">
                                      <p:cBhvr>
                                        <p:cTn id="36" dur="700" fill="hold"/>
                                        <p:tgtEl>
                                          <p:spTgt spid="11"/>
                                        </p:tgtEl>
                                        <p:attrNameLst>
                                          <p:attrName>ppt_h</p:attrName>
                                        </p:attrNameLst>
                                      </p:cBhvr>
                                      <p:tavLst>
                                        <p:tav tm="0">
                                          <p:val>
                                            <p:strVal val="#ppt_h*.82"/>
                                          </p:val>
                                        </p:tav>
                                        <p:tav tm="100000">
                                          <p:val>
                                            <p:strVal val="#ppt_h"/>
                                          </p:val>
                                        </p:tav>
                                      </p:tavLst>
                                    </p:anim>
                                    <p:animEffect transition="in" filter="fade">
                                      <p:cBhvr>
                                        <p:cTn id="37" dur="700"/>
                                        <p:tgtEl>
                                          <p:spTgt spid="11"/>
                                        </p:tgtEl>
                                      </p:cBhvr>
                                    </p:animEffect>
                                  </p:childTnLst>
                                </p:cTn>
                              </p:par>
                              <p:par>
                                <p:cTn id="38" presetID="10" presetClass="entr" presetSubtype="0" fill="hold" grpId="0" nodeType="withEffect">
                                  <p:stCondLst>
                                    <p:cond delay="35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rand"/>
          <p:cNvSpPr txBox="1"/>
          <p:nvPr/>
        </p:nvSpPr>
        <p:spPr>
          <a:xfrm>
            <a:off x="548640" y="292608"/>
            <a:ext cx="2743200" cy="365760"/>
          </a:xfrm>
          <a:prstGeom prst="rect">
            <a:avLst/>
          </a:prstGeom>
          <a:noFill/>
          <a:ln/>
        </p:spPr>
        <p:txBody>
          <a:bodyPr wrap="square" lIns="0" tIns="0" rIns="0" bIns="0" rtlCol="0" anchor="ctr"/>
          <a:lstStyle/>
          <a:p>
            <a:pPr indent="0" marL="0">
              <a:buNone/>
            </a:pPr>
            <a:r>
              <a:rPr lang="en-US" sz="1500" b="1" dirty="0">
                <a:solidFill>
                  <a:srgbClr val="EEF1F7"/>
                </a:solidFill>
                <a:latin typeface="Cambria" pitchFamily="34" charset="0"/>
                <a:ea typeface="Cambria" pitchFamily="34" charset="-122"/>
                <a:cs typeface="Cambria" pitchFamily="34" charset="-120"/>
              </a:rPr>
              <a:t>JioMausam</a:t>
            </a:r>
            <a:endParaRPr lang="en-US" sz="1500" dirty="0"/>
          </a:p>
        </p:txBody>
      </p:sp>
      <p:pic>
        <p:nvPicPr>
          <p:cNvPr id="3" name="!!tower" descr="/tmp/claude-0/-home-user-market-research-agent/e8d4caac-b1a5-588e-8461-832ca62ca567/scratchpad/deck/assets/tower.png">    </p:cNvPr>
          <p:cNvPicPr>
            <a:picLocks noChangeAspect="1"/>
          </p:cNvPicPr>
          <p:nvPr/>
        </p:nvPicPr>
        <p:blipFill>
          <a:blip r:embed="rId1"/>
          <a:stretch>
            <a:fillRect/>
          </a:stretch>
        </p:blipFill>
        <p:spPr>
          <a:xfrm>
            <a:off x="11259007" y="201168"/>
            <a:ext cx="384048" cy="548640"/>
          </a:xfrm>
          <a:prstGeom prst="rect">
            <a:avLst/>
          </a:prstGeom>
        </p:spPr>
      </p:pic>
      <p:sp>
        <p:nvSpPr>
          <p:cNvPr id="4" name="kicker"/>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100" b="1" spc="300" kern="0" dirty="0">
                <a:solidFill>
                  <a:srgbClr val="F5A623"/>
                </a:solidFill>
                <a:latin typeface="Calibri" pitchFamily="34" charset="0"/>
                <a:ea typeface="Calibri" pitchFamily="34" charset="-122"/>
                <a:cs typeface="Calibri" pitchFamily="34" charset="-120"/>
              </a:rPr>
              <a:t>THE ROADMAP</a:t>
            </a:r>
            <a:endParaRPr lang="en-US" sz="1100" dirty="0"/>
          </a:p>
        </p:txBody>
      </p:sp>
      <p:sp>
        <p:nvSpPr>
          <p:cNvPr id="5" name="title"/>
          <p:cNvSpPr txBox="1"/>
          <p:nvPr/>
        </p:nvSpPr>
        <p:spPr>
          <a:xfrm>
            <a:off x="548640" y="1170432"/>
            <a:ext cx="10515600" cy="8686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Four phases. Rain first.</a:t>
            </a:r>
            <a:endParaRPr lang="en-US" sz="3400" dirty="0"/>
          </a:p>
        </p:txBody>
      </p:sp>
      <p:sp>
        <p:nvSpPr>
          <p:cNvPr id="6" name="phB0"/>
          <p:cNvSpPr/>
          <p:nvPr/>
        </p:nvSpPr>
        <p:spPr>
          <a:xfrm>
            <a:off x="548640" y="2240280"/>
            <a:ext cx="2606040" cy="3383280"/>
          </a:xfrm>
          <a:prstGeom prst="roundRect">
            <a:avLst>
              <a:gd name="adj" fmla="val 4912"/>
            </a:avLst>
          </a:prstGeom>
          <a:solidFill>
            <a:srgbClr val="F5A623"/>
          </a:solidFill>
          <a:ln w="9525">
            <a:solidFill>
              <a:srgbClr val="F5A623"/>
            </a:solidFill>
            <a:prstDash val="solid"/>
          </a:ln>
        </p:spPr>
      </p:sp>
      <p:sp>
        <p:nvSpPr>
          <p:cNvPr id="7" name="phT0"/>
          <p:cNvSpPr txBox="1"/>
          <p:nvPr/>
        </p:nvSpPr>
        <p:spPr>
          <a:xfrm>
            <a:off x="777240" y="2377440"/>
            <a:ext cx="2148840" cy="3108960"/>
          </a:xfrm>
          <a:prstGeom prst="rect">
            <a:avLst/>
          </a:prstGeom>
          <a:noFill/>
          <a:ln/>
        </p:spPr>
        <p:txBody>
          <a:bodyPr wrap="square" lIns="0" tIns="0" rIns="0" bIns="0" rtlCol="0" anchor="t"/>
          <a:lstStyle/>
          <a:p>
            <a:pPr indent="0" marL="0">
              <a:spcAft>
                <a:spcPts val="400"/>
              </a:spcAft>
              <a:buNone/>
            </a:pPr>
            <a:r>
              <a:rPr lang="en-US" sz="5400" b="1" dirty="0">
                <a:solidFill>
                  <a:srgbClr val="1A1200"/>
                </a:solidFill>
                <a:latin typeface="Cambria" pitchFamily="34" charset="0"/>
                <a:ea typeface="Cambria" pitchFamily="34" charset="-122"/>
                <a:cs typeface="Cambria" pitchFamily="34" charset="-120"/>
              </a:rPr>
              <a:t>1</a:t>
            </a:r>
            <a:endParaRPr lang="en-US" sz="5400" dirty="0"/>
          </a:p>
          <a:p>
            <a:pPr indent="0" marL="0">
              <a:spcAft>
                <a:spcPts val="400"/>
              </a:spcAft>
              <a:buNone/>
            </a:pPr>
            <a:r>
              <a:rPr lang="en-US" sz="1050" b="1" spc="200" kern="0" dirty="0">
                <a:solidFill>
                  <a:srgbClr val="3A2A00"/>
                </a:solidFill>
                <a:latin typeface="Calibri" pitchFamily="34" charset="0"/>
                <a:ea typeface="Calibri" pitchFamily="34" charset="-122"/>
                <a:cs typeface="Calibri" pitchFamily="34" charset="-120"/>
              </a:rPr>
              <a:t>MONTHS 0–3</a:t>
            </a:r>
            <a:endParaRPr lang="en-US" sz="5400" dirty="0"/>
          </a:p>
          <a:p>
            <a:pPr indent="0" marL="0">
              <a:spcAft>
                <a:spcPts val="400"/>
              </a:spcAft>
              <a:buNone/>
            </a:pPr>
            <a:r>
              <a:rPr lang="en-US" sz="1900" b="1" dirty="0">
                <a:solidFill>
                  <a:srgbClr val="1A1200"/>
                </a:solidFill>
                <a:latin typeface="Cambria" pitchFamily="34" charset="0"/>
                <a:ea typeface="Cambria" pitchFamily="34" charset="-122"/>
                <a:cs typeface="Cambria" pitchFamily="34" charset="-120"/>
              </a:rPr>
              <a:t>Coverage audit + shadow pilot</a:t>
            </a:r>
            <a:endParaRPr lang="en-US" sz="5400" dirty="0"/>
          </a:p>
          <a:p>
            <a:pPr indent="0" marL="0">
              <a:spcAft>
                <a:spcPts val="400"/>
              </a:spcAft>
              <a:buNone/>
            </a:pPr>
            <a:r>
              <a:rPr lang="en-US" sz="1300" dirty="0">
                <a:solidFill>
                  <a:srgbClr val="2A1E00"/>
                </a:solidFill>
                <a:latin typeface="Calibri" pitchFamily="34" charset="0"/>
                <a:ea typeface="Calibri" pitchFamily="34" charset="-122"/>
                <a:cs typeface="Calibri" pitchFamily="34" charset="-120"/>
              </a:rPr>
              <a:t>Mumbai: rain, riders, one delivery app. Payouts simulated; measure links and accuracy against IMD.</a:t>
            </a:r>
            <a:endParaRPr lang="en-US" sz="5400" dirty="0"/>
          </a:p>
        </p:txBody>
      </p:sp>
      <p:sp>
        <p:nvSpPr>
          <p:cNvPr id="8" name="phB1"/>
          <p:cNvSpPr/>
          <p:nvPr/>
        </p:nvSpPr>
        <p:spPr>
          <a:xfrm>
            <a:off x="3346704" y="2240280"/>
            <a:ext cx="2606040" cy="3383280"/>
          </a:xfrm>
          <a:prstGeom prst="roundRect">
            <a:avLst>
              <a:gd name="adj" fmla="val 4912"/>
            </a:avLst>
          </a:prstGeom>
          <a:solidFill>
            <a:srgbClr val="141B36"/>
          </a:solidFill>
          <a:ln w="9525">
            <a:solidFill>
              <a:srgbClr val="2A3357"/>
            </a:solidFill>
            <a:prstDash val="solid"/>
          </a:ln>
        </p:spPr>
      </p:sp>
      <p:sp>
        <p:nvSpPr>
          <p:cNvPr id="9" name="phT1"/>
          <p:cNvSpPr txBox="1"/>
          <p:nvPr/>
        </p:nvSpPr>
        <p:spPr>
          <a:xfrm>
            <a:off x="3575304" y="2377440"/>
            <a:ext cx="2148840" cy="3108960"/>
          </a:xfrm>
          <a:prstGeom prst="rect">
            <a:avLst/>
          </a:prstGeom>
          <a:noFill/>
          <a:ln/>
        </p:spPr>
        <p:txBody>
          <a:bodyPr wrap="square" lIns="0" tIns="0" rIns="0" bIns="0" rtlCol="0" anchor="t"/>
          <a:lstStyle/>
          <a:p>
            <a:pPr indent="0" marL="0">
              <a:spcAft>
                <a:spcPts val="400"/>
              </a:spcAft>
              <a:buNone/>
            </a:pPr>
            <a:r>
              <a:rPr lang="en-US" sz="5400" b="1" dirty="0">
                <a:solidFill>
                  <a:srgbClr val="F5A623"/>
                </a:solidFill>
                <a:latin typeface="Cambria" pitchFamily="34" charset="0"/>
                <a:ea typeface="Cambria" pitchFamily="34" charset="-122"/>
                <a:cs typeface="Cambria" pitchFamily="34" charset="-120"/>
              </a:rPr>
              <a:t>2</a:t>
            </a:r>
            <a:endParaRPr lang="en-US" sz="5400" dirty="0"/>
          </a:p>
          <a:p>
            <a:pPr indent="0" marL="0">
              <a:spcAft>
                <a:spcPts val="400"/>
              </a:spcAft>
              <a:buNone/>
            </a:pPr>
            <a:r>
              <a:rPr lang="en-US" sz="1050" b="1" spc="200" kern="0" dirty="0">
                <a:solidFill>
                  <a:srgbClr val="98A2C0"/>
                </a:solidFill>
                <a:latin typeface="Calibri" pitchFamily="34" charset="0"/>
                <a:ea typeface="Calibri" pitchFamily="34" charset="-122"/>
                <a:cs typeface="Calibri" pitchFamily="34" charset="-120"/>
              </a:rPr>
              <a:t>MONTHS 4–12</a:t>
            </a:r>
            <a:endParaRPr lang="en-US" sz="5400" dirty="0"/>
          </a:p>
          <a:p>
            <a:pPr indent="0" marL="0">
              <a:spcAft>
                <a:spcPts val="400"/>
              </a:spcAft>
              <a:buNone/>
            </a:pPr>
            <a:r>
              <a:rPr lang="en-US" sz="1900" b="1" dirty="0">
                <a:solidFill>
                  <a:srgbClr val="FFFFFF"/>
                </a:solidFill>
                <a:latin typeface="Cambria" pitchFamily="34" charset="0"/>
                <a:ea typeface="Cambria" pitchFamily="34" charset="-122"/>
                <a:cs typeface="Cambria" pitchFamily="34" charset="-120"/>
              </a:rPr>
              <a:t>Sandbox + heat</a:t>
            </a:r>
            <a:endParaRPr lang="en-US" sz="5400" dirty="0"/>
          </a:p>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Real payouts for one app’s riders in IRDAI’s sandbox. Heat module in Nagpur and Ahmedabad.</a:t>
            </a:r>
            <a:endParaRPr lang="en-US" sz="5400" dirty="0"/>
          </a:p>
        </p:txBody>
      </p:sp>
      <p:sp>
        <p:nvSpPr>
          <p:cNvPr id="10" name="phB2"/>
          <p:cNvSpPr/>
          <p:nvPr/>
        </p:nvSpPr>
        <p:spPr>
          <a:xfrm>
            <a:off x="6144768" y="2240280"/>
            <a:ext cx="2606040" cy="3383280"/>
          </a:xfrm>
          <a:prstGeom prst="roundRect">
            <a:avLst>
              <a:gd name="adj" fmla="val 4912"/>
            </a:avLst>
          </a:prstGeom>
          <a:solidFill>
            <a:srgbClr val="141B36"/>
          </a:solidFill>
          <a:ln w="9525">
            <a:solidFill>
              <a:srgbClr val="2A3357"/>
            </a:solidFill>
            <a:prstDash val="solid"/>
          </a:ln>
        </p:spPr>
      </p:sp>
      <p:sp>
        <p:nvSpPr>
          <p:cNvPr id="11" name="phT2"/>
          <p:cNvSpPr txBox="1"/>
          <p:nvPr/>
        </p:nvSpPr>
        <p:spPr>
          <a:xfrm>
            <a:off x="6373368" y="2377440"/>
            <a:ext cx="2148840" cy="3108960"/>
          </a:xfrm>
          <a:prstGeom prst="rect">
            <a:avLst/>
          </a:prstGeom>
          <a:noFill/>
          <a:ln/>
        </p:spPr>
        <p:txBody>
          <a:bodyPr wrap="square" lIns="0" tIns="0" rIns="0" bIns="0" rtlCol="0" anchor="t"/>
          <a:lstStyle/>
          <a:p>
            <a:pPr indent="0" marL="0">
              <a:spcAft>
                <a:spcPts val="400"/>
              </a:spcAft>
              <a:buNone/>
            </a:pPr>
            <a:r>
              <a:rPr lang="en-US" sz="5400" b="1" dirty="0">
                <a:solidFill>
                  <a:srgbClr val="F5A623"/>
                </a:solidFill>
                <a:latin typeface="Cambria" pitchFamily="34" charset="0"/>
                <a:ea typeface="Cambria" pitchFamily="34" charset="-122"/>
                <a:cs typeface="Cambria" pitchFamily="34" charset="-120"/>
              </a:rPr>
              <a:t>3</a:t>
            </a:r>
            <a:endParaRPr lang="en-US" sz="5400" dirty="0"/>
          </a:p>
          <a:p>
            <a:pPr indent="0" marL="0">
              <a:spcAft>
                <a:spcPts val="400"/>
              </a:spcAft>
              <a:buNone/>
            </a:pPr>
            <a:r>
              <a:rPr lang="en-US" sz="1050" b="1" spc="200" kern="0" dirty="0">
                <a:solidFill>
                  <a:srgbClr val="98A2C0"/>
                </a:solidFill>
                <a:latin typeface="Calibri" pitchFamily="34" charset="0"/>
                <a:ea typeface="Calibri" pitchFamily="34" charset="-122"/>
                <a:cs typeface="Calibri" pitchFamily="34" charset="-120"/>
              </a:rPr>
              <a:t>YEAR 2</a:t>
            </a:r>
            <a:endParaRPr lang="en-US" sz="5400" dirty="0"/>
          </a:p>
          <a:p>
            <a:pPr indent="0" marL="0">
              <a:spcAft>
                <a:spcPts val="400"/>
              </a:spcAft>
              <a:buNone/>
            </a:pPr>
            <a:r>
              <a:rPr lang="en-US" sz="1900" b="1" dirty="0">
                <a:solidFill>
                  <a:srgbClr val="FFFFFF"/>
                </a:solidFill>
                <a:latin typeface="Cambria" pitchFamily="34" charset="0"/>
                <a:ea typeface="Cambria" pitchFamily="34" charset="-122"/>
                <a:cs typeface="Cambria" pitchFamily="34" charset="-120"/>
              </a:rPr>
              <a:t>Kavach Basic</a:t>
            </a:r>
            <a:endParaRPr lang="en-US" sz="5400" dirty="0"/>
          </a:p>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At every recharge, priced city by city: ₹29–52 a month.</a:t>
            </a:r>
            <a:endParaRPr lang="en-US" sz="5400" dirty="0"/>
          </a:p>
        </p:txBody>
      </p:sp>
      <p:sp>
        <p:nvSpPr>
          <p:cNvPr id="12" name="phB3"/>
          <p:cNvSpPr/>
          <p:nvPr/>
        </p:nvSpPr>
        <p:spPr>
          <a:xfrm>
            <a:off x="8942832" y="2240280"/>
            <a:ext cx="2606040" cy="3383280"/>
          </a:xfrm>
          <a:prstGeom prst="roundRect">
            <a:avLst>
              <a:gd name="adj" fmla="val 4912"/>
            </a:avLst>
          </a:prstGeom>
          <a:solidFill>
            <a:srgbClr val="141B36"/>
          </a:solidFill>
          <a:ln w="9525">
            <a:solidFill>
              <a:srgbClr val="2A3357"/>
            </a:solidFill>
            <a:prstDash val="solid"/>
          </a:ln>
        </p:spPr>
      </p:sp>
      <p:sp>
        <p:nvSpPr>
          <p:cNvPr id="13" name="phT3"/>
          <p:cNvSpPr txBox="1"/>
          <p:nvPr/>
        </p:nvSpPr>
        <p:spPr>
          <a:xfrm>
            <a:off x="9171432" y="2377440"/>
            <a:ext cx="2148840" cy="3108960"/>
          </a:xfrm>
          <a:prstGeom prst="rect">
            <a:avLst/>
          </a:prstGeom>
          <a:noFill/>
          <a:ln/>
        </p:spPr>
        <p:txBody>
          <a:bodyPr wrap="square" lIns="0" tIns="0" rIns="0" bIns="0" rtlCol="0" anchor="t"/>
          <a:lstStyle/>
          <a:p>
            <a:pPr indent="0" marL="0">
              <a:spcAft>
                <a:spcPts val="400"/>
              </a:spcAft>
              <a:buNone/>
            </a:pPr>
            <a:r>
              <a:rPr lang="en-US" sz="5400" b="1" dirty="0">
                <a:solidFill>
                  <a:srgbClr val="F5A623"/>
                </a:solidFill>
                <a:latin typeface="Cambria" pitchFamily="34" charset="0"/>
                <a:ea typeface="Cambria" pitchFamily="34" charset="-122"/>
                <a:cs typeface="Cambria" pitchFamily="34" charset="-120"/>
              </a:rPr>
              <a:t>4</a:t>
            </a:r>
            <a:endParaRPr lang="en-US" sz="5400" dirty="0"/>
          </a:p>
          <a:p>
            <a:pPr indent="0" marL="0">
              <a:spcAft>
                <a:spcPts val="400"/>
              </a:spcAft>
              <a:buNone/>
            </a:pPr>
            <a:r>
              <a:rPr lang="en-US" sz="1050" b="1" spc="200" kern="0" dirty="0">
                <a:solidFill>
                  <a:srgbClr val="98A2C0"/>
                </a:solidFill>
                <a:latin typeface="Calibri" pitchFamily="34" charset="0"/>
                <a:ea typeface="Calibri" pitchFamily="34" charset="-122"/>
                <a:cs typeface="Calibri" pitchFamily="34" charset="-120"/>
              </a:rPr>
              <a:t>YEAR 3</a:t>
            </a:r>
            <a:endParaRPr lang="en-US" sz="5400" dirty="0"/>
          </a:p>
          <a:p>
            <a:pPr indent="0" marL="0">
              <a:spcAft>
                <a:spcPts val="400"/>
              </a:spcAft>
              <a:buNone/>
            </a:pPr>
            <a:r>
              <a:rPr lang="en-US" sz="1900" b="1" dirty="0">
                <a:solidFill>
                  <a:srgbClr val="FFFFFF"/>
                </a:solidFill>
                <a:latin typeface="Cambria" pitchFamily="34" charset="0"/>
                <a:ea typeface="Cambria" pitchFamily="34" charset="-122"/>
                <a:cs typeface="Cambria" pitchFamily="34" charset="-120"/>
              </a:rPr>
              <a:t>National map</a:t>
            </a:r>
            <a:endParaRPr lang="en-US" sz="5400" dirty="0"/>
          </a:p>
          <a:p>
            <a:pPr indent="0" marL="0">
              <a:spcAft>
                <a:spcPts val="400"/>
              </a:spcAft>
              <a:buNone/>
            </a:pPr>
            <a:r>
              <a:rPr lang="en-US" sz="1300" dirty="0">
                <a:solidFill>
                  <a:srgbClr val="B9C2D8"/>
                </a:solidFill>
                <a:latin typeface="Calibri" pitchFamily="34" charset="0"/>
                <a:ea typeface="Calibri" pitchFamily="34" charset="-122"/>
                <a:cs typeface="Calibri" pitchFamily="34" charset="-120"/>
              </a:rPr>
              <a:t>Every district. Data API for insurers, states and Reliance.</a:t>
            </a:r>
            <a:endParaRPr lang="en-US" sz="5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presetID="42"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800"/>
                                        <p:tgtEl>
                                          <p:spTgt spid="5"/>
                                        </p:tgtEl>
                                      </p:cBhvr>
                                    </p:animEffect>
                                    <p:anim calcmode="lin" valueType="num">
                                      <p:cBhvr>
                                        <p:cTn id="10" dur="800" fill="hold"/>
                                        <p:tgtEl>
                                          <p:spTgt spid="5"/>
                                        </p:tgtEl>
                                        <p:attrNameLst>
                                          <p:attrName>ppt_x</p:attrName>
                                        </p:attrNameLst>
                                      </p:cBhvr>
                                      <p:tavLst>
                                        <p:tav tm="0">
                                          <p:val>
                                            <p:strVal val="#ppt_x"/>
                                          </p:val>
                                        </p:tav>
                                        <p:tav tm="100000">
                                          <p:val>
                                            <p:strVal val="#ppt_x"/>
                                          </p:val>
                                        </p:tav>
                                      </p:tavLst>
                                    </p:anim>
                                    <p:anim calcmode="lin" valueType="num">
                                      <p:cBhvr>
                                        <p:cTn id="11" dur="800" fill="hold"/>
                                        <p:tgtEl>
                                          <p:spTgt spid="5"/>
                                        </p:tgtEl>
                                        <p:attrNameLst>
                                          <p:attrName>ppt_y</p:attrName>
                                        </p:attrNameLst>
                                      </p:cBhvr>
                                      <p:tavLst>
                                        <p:tav tm="0">
                                          <p:val>
                                            <p:strVal val="#ppt_y+.06"/>
                                          </p:val>
                                        </p:tav>
                                        <p:tav tm="100000">
                                          <p:val>
                                            <p:strVal val="#ppt_y"/>
                                          </p:val>
                                        </p:tav>
                                      </p:tavLst>
                                    </p:anim>
                                  </p:childTnLst>
                                </p:cTn>
                              </p:par>
                            </p:childTnLst>
                          </p:cTn>
                        </p:par>
                        <p:par>
                          <p:cTn id="12" fill="hold">
                            <p:stCondLst>
                              <p:cond delay="920"/>
                            </p:stCondLst>
                            <p:childTnLst>
                              <p:par>
                                <p:cTn id="13" presetID="42" presetClass="entr" presetSubtype="0" fill="hold" grpId="0" nodeType="afterEffect">
                                  <p:stCondLst>
                                    <p:cond delay="8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anim calcmode="lin" valueType="num">
                                      <p:cBhvr>
                                        <p:cTn id="16" dur="600" fill="hold"/>
                                        <p:tgtEl>
                                          <p:spTgt spid="6"/>
                                        </p:tgtEl>
                                        <p:attrNameLst>
                                          <p:attrName>ppt_x</p:attrName>
                                        </p:attrNameLst>
                                      </p:cBhvr>
                                      <p:tavLst>
                                        <p:tav tm="0">
                                          <p:val>
                                            <p:strVal val="#ppt_x"/>
                                          </p:val>
                                        </p:tav>
                                        <p:tav tm="100000">
                                          <p:val>
                                            <p:strVal val="#ppt_x"/>
                                          </p:val>
                                        </p:tav>
                                      </p:tavLst>
                                    </p:anim>
                                    <p:anim calcmode="lin" valueType="num">
                                      <p:cBhvr>
                                        <p:cTn id="17" dur="6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600"/>
                                        <p:tgtEl>
                                          <p:spTgt spid="7"/>
                                        </p:tgtEl>
                                      </p:cBhvr>
                                    </p:animEffect>
                                    <p:anim calcmode="lin" valueType="num">
                                      <p:cBhvr>
                                        <p:cTn id="21" dur="600" fill="hold"/>
                                        <p:tgtEl>
                                          <p:spTgt spid="7"/>
                                        </p:tgtEl>
                                        <p:attrNameLst>
                                          <p:attrName>ppt_x</p:attrName>
                                        </p:attrNameLst>
                                      </p:cBhvr>
                                      <p:tavLst>
                                        <p:tav tm="0">
                                          <p:val>
                                            <p:strVal val="#ppt_x"/>
                                          </p:val>
                                        </p:tav>
                                        <p:tav tm="100000">
                                          <p:val>
                                            <p:strVal val="#ppt_x"/>
                                          </p:val>
                                        </p:tav>
                                      </p:tavLst>
                                    </p:anim>
                                    <p:anim calcmode="lin" valueType="num">
                                      <p:cBhvr>
                                        <p:cTn id="22" dur="600" fill="hold"/>
                                        <p:tgtEl>
                                          <p:spTgt spid="7"/>
                                        </p:tgtEl>
                                        <p:attrNameLst>
                                          <p:attrName>ppt_y</p:attrName>
                                        </p:attrNameLst>
                                      </p:cBhvr>
                                      <p:tavLst>
                                        <p:tav tm="0">
                                          <p:val>
                                            <p:strVal val="#ppt_y+.06"/>
                                          </p:val>
                                        </p:tav>
                                        <p:tav tm="100000">
                                          <p:val>
                                            <p:strVal val="#ppt_y"/>
                                          </p:val>
                                        </p:tav>
                                      </p:tavLst>
                                    </p:anim>
                                  </p:childTnLst>
                                </p:cTn>
                              </p:par>
                            </p:childTnLst>
                          </p:cTn>
                        </p:par>
                        <p:par>
                          <p:cTn id="23" fill="hold">
                            <p:stCondLst>
                              <p:cond delay="1600"/>
                            </p:stCondLst>
                            <p:childTnLst>
                              <p:par>
                                <p:cTn id="24" presetID="42" presetClass="entr" presetSubtype="0" fill="hold" grpId="0" nodeType="afterEffect">
                                  <p:stCondLst>
                                    <p:cond delay="8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anim calcmode="lin" valueType="num">
                                      <p:cBhvr>
                                        <p:cTn id="27" dur="600" fill="hold"/>
                                        <p:tgtEl>
                                          <p:spTgt spid="8"/>
                                        </p:tgtEl>
                                        <p:attrNameLst>
                                          <p:attrName>ppt_x</p:attrName>
                                        </p:attrNameLst>
                                      </p:cBhvr>
                                      <p:tavLst>
                                        <p:tav tm="0">
                                          <p:val>
                                            <p:strVal val="#ppt_x"/>
                                          </p:val>
                                        </p:tav>
                                        <p:tav tm="100000">
                                          <p:val>
                                            <p:strVal val="#ppt_x"/>
                                          </p:val>
                                        </p:tav>
                                      </p:tavLst>
                                    </p:anim>
                                    <p:anim calcmode="lin" valueType="num">
                                      <p:cBhvr>
                                        <p:cTn id="28" dur="600" fill="hold"/>
                                        <p:tgtEl>
                                          <p:spTgt spid="8"/>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600"/>
                                        <p:tgtEl>
                                          <p:spTgt spid="9"/>
                                        </p:tgtEl>
                                      </p:cBhvr>
                                    </p:animEffect>
                                    <p:anim calcmode="lin" valueType="num">
                                      <p:cBhvr>
                                        <p:cTn id="32" dur="600" fill="hold"/>
                                        <p:tgtEl>
                                          <p:spTgt spid="9"/>
                                        </p:tgtEl>
                                        <p:attrNameLst>
                                          <p:attrName>ppt_x</p:attrName>
                                        </p:attrNameLst>
                                      </p:cBhvr>
                                      <p:tavLst>
                                        <p:tav tm="0">
                                          <p:val>
                                            <p:strVal val="#ppt_x"/>
                                          </p:val>
                                        </p:tav>
                                        <p:tav tm="100000">
                                          <p:val>
                                            <p:strVal val="#ppt_x"/>
                                          </p:val>
                                        </p:tav>
                                      </p:tavLst>
                                    </p:anim>
                                    <p:anim calcmode="lin" valueType="num">
                                      <p:cBhvr>
                                        <p:cTn id="33" dur="600" fill="hold"/>
                                        <p:tgtEl>
                                          <p:spTgt spid="9"/>
                                        </p:tgtEl>
                                        <p:attrNameLst>
                                          <p:attrName>ppt_y</p:attrName>
                                        </p:attrNameLst>
                                      </p:cBhvr>
                                      <p:tavLst>
                                        <p:tav tm="0">
                                          <p:val>
                                            <p:strVal val="#ppt_y+.06"/>
                                          </p:val>
                                        </p:tav>
                                        <p:tav tm="100000">
                                          <p:val>
                                            <p:strVal val="#ppt_y"/>
                                          </p:val>
                                        </p:tav>
                                      </p:tavLst>
                                    </p:anim>
                                  </p:childTnLst>
                                </p:cTn>
                              </p:par>
                            </p:childTnLst>
                          </p:cTn>
                        </p:par>
                        <p:par>
                          <p:cTn id="34" fill="hold">
                            <p:stCondLst>
                              <p:cond delay="2280"/>
                            </p:stCondLst>
                            <p:childTnLst>
                              <p:par>
                                <p:cTn id="35" presetID="42" presetClass="entr" presetSubtype="0" fill="hold" grpId="0" nodeType="afterEffect">
                                  <p:stCondLst>
                                    <p:cond delay="8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600"/>
                                        <p:tgtEl>
                                          <p:spTgt spid="10"/>
                                        </p:tgtEl>
                                      </p:cBhvr>
                                    </p:animEffect>
                                    <p:anim calcmode="lin" valueType="num">
                                      <p:cBhvr>
                                        <p:cTn id="38" dur="600" fill="hold"/>
                                        <p:tgtEl>
                                          <p:spTgt spid="10"/>
                                        </p:tgtEl>
                                        <p:attrNameLst>
                                          <p:attrName>ppt_x</p:attrName>
                                        </p:attrNameLst>
                                      </p:cBhvr>
                                      <p:tavLst>
                                        <p:tav tm="0">
                                          <p:val>
                                            <p:strVal val="#ppt_x"/>
                                          </p:val>
                                        </p:tav>
                                        <p:tav tm="100000">
                                          <p:val>
                                            <p:strVal val="#ppt_x"/>
                                          </p:val>
                                        </p:tav>
                                      </p:tavLst>
                                    </p:anim>
                                    <p:anim calcmode="lin" valueType="num">
                                      <p:cBhvr>
                                        <p:cTn id="39" dur="600" fill="hold"/>
                                        <p:tgtEl>
                                          <p:spTgt spid="10"/>
                                        </p:tgtEl>
                                        <p:attrNameLst>
                                          <p:attrName>ppt_y</p:attrName>
                                        </p:attrNameLst>
                                      </p:cBhvr>
                                      <p:tavLst>
                                        <p:tav tm="0">
                                          <p:val>
                                            <p:strVal val="#ppt_y+.06"/>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600"/>
                                        <p:tgtEl>
                                          <p:spTgt spid="11"/>
                                        </p:tgtEl>
                                      </p:cBhvr>
                                    </p:animEffect>
                                    <p:anim calcmode="lin" valueType="num">
                                      <p:cBhvr>
                                        <p:cTn id="43" dur="600" fill="hold"/>
                                        <p:tgtEl>
                                          <p:spTgt spid="11"/>
                                        </p:tgtEl>
                                        <p:attrNameLst>
                                          <p:attrName>ppt_x</p:attrName>
                                        </p:attrNameLst>
                                      </p:cBhvr>
                                      <p:tavLst>
                                        <p:tav tm="0">
                                          <p:val>
                                            <p:strVal val="#ppt_x"/>
                                          </p:val>
                                        </p:tav>
                                        <p:tav tm="100000">
                                          <p:val>
                                            <p:strVal val="#ppt_x"/>
                                          </p:val>
                                        </p:tav>
                                      </p:tavLst>
                                    </p:anim>
                                    <p:anim calcmode="lin" valueType="num">
                                      <p:cBhvr>
                                        <p:cTn id="44" dur="600" fill="hold"/>
                                        <p:tgtEl>
                                          <p:spTgt spid="11"/>
                                        </p:tgtEl>
                                        <p:attrNameLst>
                                          <p:attrName>ppt_y</p:attrName>
                                        </p:attrNameLst>
                                      </p:cBhvr>
                                      <p:tavLst>
                                        <p:tav tm="0">
                                          <p:val>
                                            <p:strVal val="#ppt_y+.06"/>
                                          </p:val>
                                        </p:tav>
                                        <p:tav tm="100000">
                                          <p:val>
                                            <p:strVal val="#ppt_y"/>
                                          </p:val>
                                        </p:tav>
                                      </p:tavLst>
                                    </p:anim>
                                  </p:childTnLst>
                                </p:cTn>
                              </p:par>
                            </p:childTnLst>
                          </p:cTn>
                        </p:par>
                        <p:par>
                          <p:cTn id="45" fill="hold">
                            <p:stCondLst>
                              <p:cond delay="2960"/>
                            </p:stCondLst>
                            <p:childTnLst>
                              <p:par>
                                <p:cTn id="46" presetID="42" presetClass="entr" presetSubtype="0" fill="hold" grpId="0" nodeType="afterEffect">
                                  <p:stCondLst>
                                    <p:cond delay="8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600"/>
                                        <p:tgtEl>
                                          <p:spTgt spid="12"/>
                                        </p:tgtEl>
                                      </p:cBhvr>
                                    </p:animEffect>
                                    <p:anim calcmode="lin" valueType="num">
                                      <p:cBhvr>
                                        <p:cTn id="49" dur="600" fill="hold"/>
                                        <p:tgtEl>
                                          <p:spTgt spid="12"/>
                                        </p:tgtEl>
                                        <p:attrNameLst>
                                          <p:attrName>ppt_x</p:attrName>
                                        </p:attrNameLst>
                                      </p:cBhvr>
                                      <p:tavLst>
                                        <p:tav tm="0">
                                          <p:val>
                                            <p:strVal val="#ppt_x"/>
                                          </p:val>
                                        </p:tav>
                                        <p:tav tm="100000">
                                          <p:val>
                                            <p:strVal val="#ppt_x"/>
                                          </p:val>
                                        </p:tav>
                                      </p:tavLst>
                                    </p:anim>
                                    <p:anim calcmode="lin" valueType="num">
                                      <p:cBhvr>
                                        <p:cTn id="50" dur="6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600"/>
                                        <p:tgtEl>
                                          <p:spTgt spid="13"/>
                                        </p:tgtEl>
                                      </p:cBhvr>
                                    </p:animEffect>
                                    <p:anim calcmode="lin" valueType="num">
                                      <p:cBhvr>
                                        <p:cTn id="54" dur="600" fill="hold"/>
                                        <p:tgtEl>
                                          <p:spTgt spid="13"/>
                                        </p:tgtEl>
                                        <p:attrNameLst>
                                          <p:attrName>ppt_x</p:attrName>
                                        </p:attrNameLst>
                                      </p:cBhvr>
                                      <p:tavLst>
                                        <p:tav tm="0">
                                          <p:val>
                                            <p:strVal val="#ppt_x"/>
                                          </p:val>
                                        </p:tav>
                                        <p:tav tm="100000">
                                          <p:val>
                                            <p:strVal val="#ppt_x"/>
                                          </p:val>
                                        </p:tav>
                                      </p:tavLst>
                                    </p:anim>
                                    <p:anim calcmode="lin" valueType="num">
                                      <p:cBhvr>
                                        <p:cTn id="55" dur="600" fill="hold"/>
                                        <p:tgtEl>
                                          <p:spTgt spid="1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animBg="1"/>
      <p:bldP spid="9" grpId="0"/>
      <p:bldP spid="10" grpId="0" animBg="1"/>
      <p:bldP spid="11" grpId="0"/>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ine1"/>
          <p:cNvSpPr txBox="1"/>
          <p:nvPr/>
        </p:nvSpPr>
        <p:spPr>
          <a:xfrm>
            <a:off x="548640" y="2011680"/>
            <a:ext cx="11091672" cy="731520"/>
          </a:xfrm>
          <a:prstGeom prst="rect">
            <a:avLst/>
          </a:prstGeom>
          <a:noFill/>
          <a:ln/>
        </p:spPr>
        <p:txBody>
          <a:bodyPr wrap="square" lIns="0" tIns="0" rIns="0" bIns="0" rtlCol="0" anchor="ctr"/>
          <a:lstStyle/>
          <a:p>
            <a:pPr algn="ctr" indent="0" marL="0">
              <a:buNone/>
            </a:pPr>
            <a:r>
              <a:rPr lang="en-US" sz="2800" dirty="0">
                <a:solidFill>
                  <a:srgbClr val="B9C2D8"/>
                </a:solidFill>
                <a:latin typeface="Cambria" pitchFamily="34" charset="0"/>
                <a:ea typeface="Cambria" pitchFamily="34" charset="-122"/>
                <a:cs typeface="Cambria" pitchFamily="34" charset="-120"/>
              </a:rPr>
              <a:t>India won’t adapt to climate change by building more.</a:t>
            </a:r>
            <a:endParaRPr lang="en-US" sz="2800" dirty="0"/>
          </a:p>
        </p:txBody>
      </p:sp>
      <p:sp>
        <p:nvSpPr>
          <p:cNvPr id="3" name="line2"/>
          <p:cNvSpPr txBox="1"/>
          <p:nvPr/>
        </p:nvSpPr>
        <p:spPr>
          <a:xfrm>
            <a:off x="548640" y="2788920"/>
            <a:ext cx="11091672"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It will adapt by listening to what it already has.</a:t>
            </a:r>
            <a:endParaRPr lang="en-US" sz="2800" dirty="0"/>
          </a:p>
        </p:txBody>
      </p:sp>
      <p:sp>
        <p:nvSpPr>
          <p:cNvPr id="4" name="!!brand"/>
          <p:cNvSpPr txBox="1"/>
          <p:nvPr/>
        </p:nvSpPr>
        <p:spPr>
          <a:xfrm>
            <a:off x="4023360" y="4251960"/>
            <a:ext cx="4114800" cy="822960"/>
          </a:xfrm>
          <a:prstGeom prst="rect">
            <a:avLst/>
          </a:prstGeom>
          <a:noFill/>
          <a:ln/>
        </p:spPr>
        <p:txBody>
          <a:bodyPr wrap="square" lIns="0" tIns="0" rIns="0" bIns="0" rtlCol="0" anchor="ctr"/>
          <a:lstStyle/>
          <a:p>
            <a:pPr algn="ctr" indent="0" marL="0">
              <a:buNone/>
            </a:pPr>
            <a:r>
              <a:rPr lang="en-US" sz="4000" b="1" dirty="0">
                <a:solidFill>
                  <a:srgbClr val="F5A623"/>
                </a:solidFill>
                <a:latin typeface="Cambria" pitchFamily="34" charset="0"/>
                <a:ea typeface="Cambria" pitchFamily="34" charset="-122"/>
                <a:cs typeface="Cambria" pitchFamily="34" charset="-120"/>
              </a:rPr>
              <a:t>JioMausam</a:t>
            </a:r>
            <a:endParaRPr lang="en-US" sz="4000" dirty="0"/>
          </a:p>
        </p:txBody>
      </p:sp>
      <p:sp>
        <p:nvSpPr>
          <p:cNvPr id="5" name="tag"/>
          <p:cNvSpPr txBox="1"/>
          <p:nvPr/>
        </p:nvSpPr>
        <p:spPr>
          <a:xfrm>
            <a:off x="4023360" y="5029200"/>
            <a:ext cx="4114800" cy="320040"/>
          </a:xfrm>
          <a:prstGeom prst="rect">
            <a:avLst/>
          </a:prstGeom>
          <a:noFill/>
          <a:ln/>
        </p:spPr>
        <p:txBody>
          <a:bodyPr wrap="square" lIns="0" tIns="0" rIns="0" bIns="0" rtlCol="0" anchor="ctr"/>
          <a:lstStyle/>
          <a:p>
            <a:pPr algn="ctr" indent="0" marL="0">
              <a:buNone/>
            </a:pPr>
            <a:r>
              <a:rPr lang="en-US" sz="1200" b="1" spc="400" kern="0" dirty="0">
                <a:solidFill>
                  <a:srgbClr val="98A2C0"/>
                </a:solidFill>
                <a:latin typeface="Calibri" pitchFamily="34" charset="0"/>
                <a:ea typeface="Calibri" pitchFamily="34" charset="-122"/>
                <a:cs typeface="Calibri" pitchFamily="34" charset="-120"/>
              </a:rPr>
              <a:t>DIFFERENT BY DESIGN</a:t>
            </a:r>
            <a:endParaRPr lang="en-US" sz="1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0" fill="hold">
                      <p:stCondLst>
                        <p:cond delay="indefinite"/>
                        <p:cond evt="onBegin" delay="0">
                          <p:tn val="2"/>
                        </p:cond>
                      </p:stCondLst>
                      <p:childTnLst>
                        <p:par>
                          <p:cTn id="3" fill="hold">
                            <p:stCondLst>
                              <p:cond delay="0"/>
                            </p:stCondLst>
                            <p:childTnLst>
                              <p:par>
                                <p:cTn id="4" presetID="10" presetClass="entr" presetSubtype="0" fill="hold" grpId="0" nodeType="afterEffect">
                                  <p:stCondLst>
                                    <p:cond delay="40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300"/>
                                        <p:tgtEl>
                                          <p:spTgt spid="2"/>
                                        </p:tgtEl>
                                      </p:cBhvr>
                                    </p:animEffect>
                                  </p:childTnLst>
                                </p:cTn>
                              </p:par>
                            </p:childTnLst>
                          </p:cTn>
                        </p:par>
                        <p:par>
                          <p:cTn id="7" fill="hold">
                            <p:stCondLst>
                              <p:cond delay="1700"/>
                            </p:stCondLst>
                            <p:childTnLst>
                              <p:par>
                                <p:cTn id="8" presetID="10" presetClass="entr" presetSubtype="0" fill="hold" grpId="0" nodeType="after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300"/>
                                        <p:tgtEl>
                                          <p:spTgt spid="3"/>
                                        </p:tgtEl>
                                      </p:cBhvr>
                                    </p:animEffect>
                                  </p:childTnLst>
                                </p:cTn>
                              </p:par>
                            </p:childTnLst>
                          </p:cTn>
                        </p:par>
                        <p:par>
                          <p:cTn id="11" fill="hold">
                            <p:stCondLst>
                              <p:cond delay="3500"/>
                            </p:stCondLst>
                            <p:childTnLst>
                              <p:par>
                                <p:cTn id="12" presetID="53" presetClass="entr" presetSubtype="16" fill="hold" grpId="0" nodeType="afterEffect">
                                  <p:stCondLst>
                                    <p:cond delay="400"/>
                                  </p:stCondLst>
                                  <p:childTnLst>
                                    <p:set>
                                      <p:cBhvr>
                                        <p:cTn id="13" dur="1" fill="hold">
                                          <p:stCondLst>
                                            <p:cond delay="0"/>
                                          </p:stCondLst>
                                        </p:cTn>
                                        <p:tgtEl>
                                          <p:spTgt spid="4"/>
                                        </p:tgtEl>
                                        <p:attrNameLst>
                                          <p:attrName>style.visibility</p:attrName>
                                        </p:attrNameLst>
                                      </p:cBhvr>
                                      <p:to>
                                        <p:strVal val="visible"/>
                                      </p:to>
                                    </p:set>
                                    <p:anim calcmode="lin" valueType="num">
                                      <p:cBhvr>
                                        <p:cTn id="14" dur="900" fill="hold"/>
                                        <p:tgtEl>
                                          <p:spTgt spid="4"/>
                                        </p:tgtEl>
                                        <p:attrNameLst>
                                          <p:attrName>ppt_w</p:attrName>
                                        </p:attrNameLst>
                                      </p:cBhvr>
                                      <p:tavLst>
                                        <p:tav tm="0">
                                          <p:val>
                                            <p:strVal val="#ppt_w*.82"/>
                                          </p:val>
                                        </p:tav>
                                        <p:tav tm="100000">
                                          <p:val>
                                            <p:strVal val="#ppt_w"/>
                                          </p:val>
                                        </p:tav>
                                      </p:tavLst>
                                    </p:anim>
                                    <p:anim calcmode="lin" valueType="num">
                                      <p:cBhvr>
                                        <p:cTn id="15" dur="900" fill="hold"/>
                                        <p:tgtEl>
                                          <p:spTgt spid="4"/>
                                        </p:tgtEl>
                                        <p:attrNameLst>
                                          <p:attrName>ppt_h</p:attrName>
                                        </p:attrNameLst>
                                      </p:cBhvr>
                                      <p:tavLst>
                                        <p:tav tm="0">
                                          <p:val>
                                            <p:strVal val="#ppt_h*.82"/>
                                          </p:val>
                                        </p:tav>
                                        <p:tav tm="100000">
                                          <p:val>
                                            <p:strVal val="#ppt_h"/>
                                          </p:val>
                                        </p:tav>
                                      </p:tavLst>
                                    </p:anim>
                                    <p:animEffect transition="in" filter="fade">
                                      <p:cBhvr>
                                        <p:cTn id="16" dur="900"/>
                                        <p:tgtEl>
                                          <p:spTgt spid="4"/>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JioMausam Night">
  <a:themeElements>
    <a:clrScheme name="JioMausam Night">
      <a:dk1>
        <a:srgbClr val="0B1020"/>
      </a:dk1>
      <a:lt1>
        <a:srgbClr val="FFFFFF"/>
      </a:lt1>
      <a:dk2>
        <a:srgbClr val="1A2246"/>
      </a:dk2>
      <a:lt2>
        <a:srgbClr val="EEF1F7"/>
      </a:lt2>
      <a:accent1>
        <a:srgbClr val="F5A623"/>
      </a:accent1>
      <a:accent2>
        <a:srgbClr val="3987E5"/>
      </a:accent2>
      <a:accent3>
        <a:srgbClr val="D95926"/>
      </a:accent3>
      <a:accent4>
        <a:srgbClr val="1BAF7A"/>
      </a:accent4>
      <a:accent5>
        <a:srgbClr val="E5484D"/>
      </a:accent5>
      <a:accent6>
        <a:srgbClr val="98A2C0"/>
      </a:accent6>
      <a:hlink>
        <a:srgbClr val="F5A623"/>
      </a:hlink>
      <a:folHlink>
        <a:srgbClr val="C98500"/>
      </a:folHlink>
    </a:clrScheme>
    <a:fontScheme name="JioMausam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Reliance T.U.P XII</dc:title>
  <dc:subject>PptxGenJS Presentation</dc:subject>
  <dc:creator>JioMausam team</dc:creator>
  <cp:lastModifiedBy>JioMausam team</cp:lastModifiedBy>
  <cp:revision>1</cp:revision>
  <dcterms:created xsi:type="dcterms:W3CDTF">2026-10-02T20:32:31Z</dcterms:created>
  <dcterms:modified xsi:type="dcterms:W3CDTF">2026-10-02T20:32:31Z</dcterms:modified>
</cp:coreProperties>
</file>